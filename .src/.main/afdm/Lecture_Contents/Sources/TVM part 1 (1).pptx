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notesSlides/notesSlide6.xml" ContentType="application/vnd.openxmlformats-officedocument.presentationml.notesSlide+xml"/>
  <Override PartName="/ppt/ink/ink3.xml" ContentType="application/inkml+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5"/>
    <p:sldMasterId id="2147483980" r:id="rId6"/>
  </p:sldMasterIdLst>
  <p:notesMasterIdLst>
    <p:notesMasterId r:id="rId26"/>
  </p:notesMasterIdLst>
  <p:handoutMasterIdLst>
    <p:handoutMasterId r:id="rId27"/>
  </p:handoutMasterIdLst>
  <p:sldIdLst>
    <p:sldId id="256" r:id="rId7"/>
    <p:sldId id="287" r:id="rId8"/>
    <p:sldId id="531" r:id="rId9"/>
    <p:sldId id="530" r:id="rId10"/>
    <p:sldId id="311" r:id="rId11"/>
    <p:sldId id="315" r:id="rId12"/>
    <p:sldId id="317" r:id="rId13"/>
    <p:sldId id="465" r:id="rId14"/>
    <p:sldId id="470" r:id="rId15"/>
    <p:sldId id="484" r:id="rId16"/>
    <p:sldId id="485" r:id="rId17"/>
    <p:sldId id="319" r:id="rId18"/>
    <p:sldId id="487" r:id="rId19"/>
    <p:sldId id="488" r:id="rId20"/>
    <p:sldId id="492" r:id="rId21"/>
    <p:sldId id="264" r:id="rId22"/>
    <p:sldId id="524" r:id="rId23"/>
    <p:sldId id="651" r:id="rId24"/>
    <p:sldId id="462" r:id="rId25"/>
  </p:sldIdLst>
  <p:sldSz cx="9144000" cy="6858000" type="screen4x3"/>
  <p:notesSz cx="6669088" cy="9926638"/>
  <p:custDataLst>
    <p:tags r:id="rId28"/>
  </p:custDataLst>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56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28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00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72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521415D9-36F7-43E2-AB2F-B90AF26B5E84}">
      <p14:sectionLst xmlns:p14="http://schemas.microsoft.com/office/powerpoint/2010/main">
        <p14:section name="Untitled Section" id="{4284EADD-FE41-494D-A42C-2B60CCFC2DE6}">
          <p14:sldIdLst>
            <p14:sldId id="256"/>
            <p14:sldId id="287"/>
            <p14:sldId id="531"/>
            <p14:sldId id="530"/>
            <p14:sldId id="311"/>
            <p14:sldId id="315"/>
            <p14:sldId id="317"/>
            <p14:sldId id="465"/>
            <p14:sldId id="470"/>
            <p14:sldId id="484"/>
            <p14:sldId id="485"/>
            <p14:sldId id="319"/>
            <p14:sldId id="487"/>
            <p14:sldId id="488"/>
            <p14:sldId id="492"/>
            <p14:sldId id="264"/>
            <p14:sldId id="524"/>
            <p14:sldId id="651"/>
            <p14:sldId id="462"/>
          </p14:sldIdLst>
        </p14:section>
      </p14:sectionLst>
    </p:ext>
    <p:ext uri="{EFAFB233-063F-42B5-8137-9DF3F51BA10A}">
      <p15:sldGuideLst xmlns:p15="http://schemas.microsoft.com/office/powerpoint/2012/main">
        <p15:guide id="4" orient="horz" pos="3838">
          <p15:clr>
            <a:srgbClr val="A4A3A4"/>
          </p15:clr>
        </p15:guide>
        <p15:guide id="5" pos="2880">
          <p15:clr>
            <a:srgbClr val="A4A3A4"/>
          </p15:clr>
        </p15:guide>
        <p15:guide id="7" pos="5103">
          <p15:clr>
            <a:srgbClr val="A4A3A4"/>
          </p15:clr>
        </p15:guide>
        <p15:guide id="12" pos="65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199DAC"/>
    <a:srgbClr val="1A9DAC"/>
    <a:srgbClr val="16818D"/>
    <a:srgbClr val="1C9DAC"/>
    <a:srgbClr val="7A7392"/>
    <a:srgbClr val="598752"/>
    <a:srgbClr val="6DA463"/>
    <a:srgbClr val="A65C45"/>
    <a:srgbClr val="CC705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453F75-1C9C-4F91-84BC-A401C4CEB638}" v="36" dt="2025-08-14T15:39:24.0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66883" autoAdjust="0"/>
  </p:normalViewPr>
  <p:slideViewPr>
    <p:cSldViewPr showGuides="1">
      <p:cViewPr varScale="1">
        <p:scale>
          <a:sx n="74" d="100"/>
          <a:sy n="74" d="100"/>
        </p:scale>
        <p:origin x="246" y="54"/>
      </p:cViewPr>
      <p:guideLst>
        <p:guide orient="horz" pos="3838"/>
        <p:guide pos="2880"/>
        <p:guide pos="5103"/>
        <p:guide pos="657"/>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183" d="100"/>
          <a:sy n="183" d="100"/>
        </p:scale>
        <p:origin x="208" y="32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5.xml"/><Relationship Id="rId34" Type="http://schemas.microsoft.com/office/2015/10/relationships/revisionInfo" Target="revisionInfo.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ableStyles" Target="tableStyle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tags" Target="tags/tag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melza Pilgrim" userId="9b1f39d4-236b-4377-9a8d-dccbd2a774dd" providerId="ADAL" clId="{A9C9E576-8527-4F21-935E-878A03FF8409}"/>
    <pc:docChg chg="undo custSel addSld delSld modSld modSection modNotesMaster modHandout">
      <pc:chgData name="Demelza Pilgrim" userId="9b1f39d4-236b-4377-9a8d-dccbd2a774dd" providerId="ADAL" clId="{A9C9E576-8527-4F21-935E-878A03FF8409}" dt="2024-10-03T08:03:17.302" v="498"/>
      <pc:docMkLst>
        <pc:docMk/>
      </pc:docMkLst>
      <pc:sldChg chg="modSp mod">
        <pc:chgData name="Demelza Pilgrim" userId="9b1f39d4-236b-4377-9a8d-dccbd2a774dd" providerId="ADAL" clId="{A9C9E576-8527-4F21-935E-878A03FF8409}" dt="2024-10-01T12:51:35.958" v="42" actId="20577"/>
        <pc:sldMkLst>
          <pc:docMk/>
          <pc:sldMk cId="3764760811" sldId="256"/>
        </pc:sldMkLst>
      </pc:sldChg>
      <pc:sldChg chg="addSp delSp modSp mod">
        <pc:chgData name="Demelza Pilgrim" userId="9b1f39d4-236b-4377-9a8d-dccbd2a774dd" providerId="ADAL" clId="{A9C9E576-8527-4F21-935E-878A03FF8409}" dt="2024-10-01T12:58:49.913" v="45" actId="20577"/>
        <pc:sldMkLst>
          <pc:docMk/>
          <pc:sldMk cId="1719998758" sldId="258"/>
        </pc:sldMkLst>
      </pc:sldChg>
      <pc:sldChg chg="del">
        <pc:chgData name="Demelza Pilgrim" userId="9b1f39d4-236b-4377-9a8d-dccbd2a774dd" providerId="ADAL" clId="{A9C9E576-8527-4F21-935E-878A03FF8409}" dt="2024-10-01T13:03:29.996" v="223" actId="47"/>
        <pc:sldMkLst>
          <pc:docMk/>
          <pc:sldMk cId="4110888640" sldId="269"/>
        </pc:sldMkLst>
      </pc:sldChg>
      <pc:sldChg chg="del">
        <pc:chgData name="Demelza Pilgrim" userId="9b1f39d4-236b-4377-9a8d-dccbd2a774dd" providerId="ADAL" clId="{A9C9E576-8527-4F21-935E-878A03FF8409}" dt="2024-10-01T13:02:11.224" v="104" actId="47"/>
        <pc:sldMkLst>
          <pc:docMk/>
          <pc:sldMk cId="965057282" sldId="270"/>
        </pc:sldMkLst>
      </pc:sldChg>
      <pc:sldChg chg="del">
        <pc:chgData name="Demelza Pilgrim" userId="9b1f39d4-236b-4377-9a8d-dccbd2a774dd" providerId="ADAL" clId="{A9C9E576-8527-4F21-935E-878A03FF8409}" dt="2024-10-01T13:02:11.224" v="104" actId="47"/>
        <pc:sldMkLst>
          <pc:docMk/>
          <pc:sldMk cId="3927429579" sldId="271"/>
        </pc:sldMkLst>
      </pc:sldChg>
      <pc:sldChg chg="del">
        <pc:chgData name="Demelza Pilgrim" userId="9b1f39d4-236b-4377-9a8d-dccbd2a774dd" providerId="ADAL" clId="{A9C9E576-8527-4F21-935E-878A03FF8409}" dt="2024-10-01T13:02:11.224" v="104" actId="47"/>
        <pc:sldMkLst>
          <pc:docMk/>
          <pc:sldMk cId="2516794833" sldId="272"/>
        </pc:sldMkLst>
      </pc:sldChg>
      <pc:sldChg chg="modSp mod">
        <pc:chgData name="Demelza Pilgrim" userId="9b1f39d4-236b-4377-9a8d-dccbd2a774dd" providerId="ADAL" clId="{A9C9E576-8527-4F21-935E-878A03FF8409}" dt="2024-10-01T13:05:19.815" v="225" actId="1076"/>
        <pc:sldMkLst>
          <pc:docMk/>
          <pc:sldMk cId="2150232074" sldId="311"/>
        </pc:sldMkLst>
      </pc:sldChg>
      <pc:sldChg chg="del">
        <pc:chgData name="Demelza Pilgrim" userId="9b1f39d4-236b-4377-9a8d-dccbd2a774dd" providerId="ADAL" clId="{A9C9E576-8527-4F21-935E-878A03FF8409}" dt="2024-10-01T13:02:11.224" v="104" actId="47"/>
        <pc:sldMkLst>
          <pc:docMk/>
          <pc:sldMk cId="1565525678" sldId="472"/>
        </pc:sldMkLst>
      </pc:sldChg>
      <pc:sldChg chg="del">
        <pc:chgData name="Demelza Pilgrim" userId="9b1f39d4-236b-4377-9a8d-dccbd2a774dd" providerId="ADAL" clId="{A9C9E576-8527-4F21-935E-878A03FF8409}" dt="2024-10-01T13:02:11.224" v="104" actId="47"/>
        <pc:sldMkLst>
          <pc:docMk/>
          <pc:sldMk cId="2669918263" sldId="499"/>
        </pc:sldMkLst>
      </pc:sldChg>
      <pc:sldChg chg="del">
        <pc:chgData name="Demelza Pilgrim" userId="9b1f39d4-236b-4377-9a8d-dccbd2a774dd" providerId="ADAL" clId="{A9C9E576-8527-4F21-935E-878A03FF8409}" dt="2024-10-01T13:02:11.224" v="104" actId="47"/>
        <pc:sldMkLst>
          <pc:docMk/>
          <pc:sldMk cId="598425097" sldId="503"/>
        </pc:sldMkLst>
      </pc:sldChg>
      <pc:sldChg chg="del">
        <pc:chgData name="Demelza Pilgrim" userId="9b1f39d4-236b-4377-9a8d-dccbd2a774dd" providerId="ADAL" clId="{A9C9E576-8527-4F21-935E-878A03FF8409}" dt="2024-10-01T13:02:11.224" v="104" actId="47"/>
        <pc:sldMkLst>
          <pc:docMk/>
          <pc:sldMk cId="1981765104" sldId="505"/>
        </pc:sldMkLst>
      </pc:sldChg>
      <pc:sldChg chg="del">
        <pc:chgData name="Demelza Pilgrim" userId="9b1f39d4-236b-4377-9a8d-dccbd2a774dd" providerId="ADAL" clId="{A9C9E576-8527-4F21-935E-878A03FF8409}" dt="2024-10-01T13:02:11.224" v="104" actId="47"/>
        <pc:sldMkLst>
          <pc:docMk/>
          <pc:sldMk cId="1964684804" sldId="506"/>
        </pc:sldMkLst>
      </pc:sldChg>
      <pc:sldChg chg="del">
        <pc:chgData name="Demelza Pilgrim" userId="9b1f39d4-236b-4377-9a8d-dccbd2a774dd" providerId="ADAL" clId="{A9C9E576-8527-4F21-935E-878A03FF8409}" dt="2024-10-01T13:02:11.224" v="104" actId="47"/>
        <pc:sldMkLst>
          <pc:docMk/>
          <pc:sldMk cId="3443007308" sldId="508"/>
        </pc:sldMkLst>
      </pc:sldChg>
      <pc:sldChg chg="del">
        <pc:chgData name="Demelza Pilgrim" userId="9b1f39d4-236b-4377-9a8d-dccbd2a774dd" providerId="ADAL" clId="{A9C9E576-8527-4F21-935E-878A03FF8409}" dt="2024-10-01T13:02:11.224" v="104" actId="47"/>
        <pc:sldMkLst>
          <pc:docMk/>
          <pc:sldMk cId="3737012107" sldId="512"/>
        </pc:sldMkLst>
      </pc:sldChg>
      <pc:sldChg chg="del">
        <pc:chgData name="Demelza Pilgrim" userId="9b1f39d4-236b-4377-9a8d-dccbd2a774dd" providerId="ADAL" clId="{A9C9E576-8527-4F21-935E-878A03FF8409}" dt="2024-10-01T13:02:11.224" v="104" actId="47"/>
        <pc:sldMkLst>
          <pc:docMk/>
          <pc:sldMk cId="3345234329" sldId="514"/>
        </pc:sldMkLst>
      </pc:sldChg>
      <pc:sldChg chg="del">
        <pc:chgData name="Demelza Pilgrim" userId="9b1f39d4-236b-4377-9a8d-dccbd2a774dd" providerId="ADAL" clId="{A9C9E576-8527-4F21-935E-878A03FF8409}" dt="2024-10-01T13:02:11.224" v="104" actId="47"/>
        <pc:sldMkLst>
          <pc:docMk/>
          <pc:sldMk cId="116053867" sldId="515"/>
        </pc:sldMkLst>
      </pc:sldChg>
      <pc:sldChg chg="del">
        <pc:chgData name="Demelza Pilgrim" userId="9b1f39d4-236b-4377-9a8d-dccbd2a774dd" providerId="ADAL" clId="{A9C9E576-8527-4F21-935E-878A03FF8409}" dt="2024-10-01T13:02:11.224" v="104" actId="47"/>
        <pc:sldMkLst>
          <pc:docMk/>
          <pc:sldMk cId="1377519106" sldId="518"/>
        </pc:sldMkLst>
      </pc:sldChg>
      <pc:sldChg chg="del">
        <pc:chgData name="Demelza Pilgrim" userId="9b1f39d4-236b-4377-9a8d-dccbd2a774dd" providerId="ADAL" clId="{A9C9E576-8527-4F21-935E-878A03FF8409}" dt="2024-10-01T13:02:11.224" v="104" actId="47"/>
        <pc:sldMkLst>
          <pc:docMk/>
          <pc:sldMk cId="1370906699" sldId="527"/>
        </pc:sldMkLst>
      </pc:sldChg>
      <pc:sldChg chg="del">
        <pc:chgData name="Demelza Pilgrim" userId="9b1f39d4-236b-4377-9a8d-dccbd2a774dd" providerId="ADAL" clId="{A9C9E576-8527-4F21-935E-878A03FF8409}" dt="2024-10-01T13:02:11.224" v="104" actId="47"/>
        <pc:sldMkLst>
          <pc:docMk/>
          <pc:sldMk cId="3870721501" sldId="528"/>
        </pc:sldMkLst>
      </pc:sldChg>
      <pc:sldChg chg="modSp mod">
        <pc:chgData name="Demelza Pilgrim" userId="9b1f39d4-236b-4377-9a8d-dccbd2a774dd" providerId="ADAL" clId="{A9C9E576-8527-4F21-935E-878A03FF8409}" dt="2024-10-01T13:22:45.756" v="495" actId="122"/>
        <pc:sldMkLst>
          <pc:docMk/>
          <pc:sldMk cId="3523664881" sldId="529"/>
        </pc:sldMkLst>
      </pc:sldChg>
      <pc:sldChg chg="addSp delSp modSp new mod addAnim delAnim modAnim">
        <pc:chgData name="Demelza Pilgrim" userId="9b1f39d4-236b-4377-9a8d-dccbd2a774dd" providerId="ADAL" clId="{A9C9E576-8527-4F21-935E-878A03FF8409}" dt="2024-10-01T13:21:09.217" v="493"/>
        <pc:sldMkLst>
          <pc:docMk/>
          <pc:sldMk cId="2953707951" sldId="530"/>
        </pc:sldMkLst>
      </pc:sldChg>
      <pc:sldChg chg="del">
        <pc:chgData name="Demelza Pilgrim" userId="9b1f39d4-236b-4377-9a8d-dccbd2a774dd" providerId="ADAL" clId="{A9C9E576-8527-4F21-935E-878A03FF8409}" dt="2024-10-01T13:02:11.224" v="104" actId="47"/>
        <pc:sldMkLst>
          <pc:docMk/>
          <pc:sldMk cId="3923701960" sldId="530"/>
        </pc:sldMkLst>
      </pc:sldChg>
      <pc:sldChg chg="del">
        <pc:chgData name="Demelza Pilgrim" userId="9b1f39d4-236b-4377-9a8d-dccbd2a774dd" providerId="ADAL" clId="{A9C9E576-8527-4F21-935E-878A03FF8409}" dt="2024-10-01T13:02:11.224" v="104" actId="47"/>
        <pc:sldMkLst>
          <pc:docMk/>
          <pc:sldMk cId="4033833479" sldId="531"/>
        </pc:sldMkLst>
      </pc:sldChg>
      <pc:sldChg chg="del">
        <pc:chgData name="Demelza Pilgrim" userId="9b1f39d4-236b-4377-9a8d-dccbd2a774dd" providerId="ADAL" clId="{A9C9E576-8527-4F21-935E-878A03FF8409}" dt="2024-10-01T13:02:11.224" v="104" actId="47"/>
        <pc:sldMkLst>
          <pc:docMk/>
          <pc:sldMk cId="2904601472" sldId="533"/>
        </pc:sldMkLst>
      </pc:sldChg>
    </pc:docChg>
  </pc:docChgLst>
  <pc:docChgLst>
    <pc:chgData name="Demelza Pilgrim" userId="9b1f39d4-236b-4377-9a8d-dccbd2a774dd" providerId="ADAL" clId="{12453F75-1C9C-4F91-84BC-A401C4CEB638}"/>
    <pc:docChg chg="undo custSel addSld delSld modSld modSection">
      <pc:chgData name="Demelza Pilgrim" userId="9b1f39d4-236b-4377-9a8d-dccbd2a774dd" providerId="ADAL" clId="{12453F75-1C9C-4F91-84BC-A401C4CEB638}" dt="2025-08-14T15:39:24.071" v="225" actId="108"/>
      <pc:docMkLst>
        <pc:docMk/>
      </pc:docMkLst>
      <pc:sldChg chg="addSp delSp modSp mod">
        <pc:chgData name="Demelza Pilgrim" userId="9b1f39d4-236b-4377-9a8d-dccbd2a774dd" providerId="ADAL" clId="{12453F75-1C9C-4F91-84BC-A401C4CEB638}" dt="2025-08-14T15:32:41.995" v="13" actId="20577"/>
        <pc:sldMkLst>
          <pc:docMk/>
          <pc:sldMk cId="3764760811" sldId="256"/>
        </pc:sldMkLst>
        <pc:spChg chg="mod">
          <ac:chgData name="Demelza Pilgrim" userId="9b1f39d4-236b-4377-9a8d-dccbd2a774dd" providerId="ADAL" clId="{12453F75-1C9C-4F91-84BC-A401C4CEB638}" dt="2025-08-14T15:32:41.995" v="13" actId="20577"/>
          <ac:spMkLst>
            <pc:docMk/>
            <pc:sldMk cId="3764760811" sldId="256"/>
            <ac:spMk id="2" creationId="{60EF4C6A-CA2E-4C35-8BA5-916C10203F2E}"/>
          </ac:spMkLst>
        </pc:spChg>
        <pc:spChg chg="mod">
          <ac:chgData name="Demelza Pilgrim" userId="9b1f39d4-236b-4377-9a8d-dccbd2a774dd" providerId="ADAL" clId="{12453F75-1C9C-4F91-84BC-A401C4CEB638}" dt="2025-08-14T15:31:44.723" v="6" actId="6549"/>
          <ac:spMkLst>
            <pc:docMk/>
            <pc:sldMk cId="3764760811" sldId="256"/>
            <ac:spMk id="4" creationId="{FA5FC82F-1F0B-4D11-BC78-0C43FDE0F394}"/>
          </ac:spMkLst>
        </pc:spChg>
        <pc:spChg chg="del">
          <ac:chgData name="Demelza Pilgrim" userId="9b1f39d4-236b-4377-9a8d-dccbd2a774dd" providerId="ADAL" clId="{12453F75-1C9C-4F91-84BC-A401C4CEB638}" dt="2025-08-14T15:31:46.937" v="7" actId="478"/>
          <ac:spMkLst>
            <pc:docMk/>
            <pc:sldMk cId="3764760811" sldId="256"/>
            <ac:spMk id="6" creationId="{8AF42F57-4342-4892-B2AD-019DCDCB61B2}"/>
          </ac:spMkLst>
        </pc:spChg>
        <pc:spChg chg="add mod">
          <ac:chgData name="Demelza Pilgrim" userId="9b1f39d4-236b-4377-9a8d-dccbd2a774dd" providerId="ADAL" clId="{12453F75-1C9C-4F91-84BC-A401C4CEB638}" dt="2025-08-14T15:31:46.937" v="7" actId="478"/>
          <ac:spMkLst>
            <pc:docMk/>
            <pc:sldMk cId="3764760811" sldId="256"/>
            <ac:spMk id="9" creationId="{7C56A0A1-98C6-6986-F281-3EC8468C72E7}"/>
          </ac:spMkLst>
        </pc:spChg>
      </pc:sldChg>
      <pc:sldChg chg="del">
        <pc:chgData name="Demelza Pilgrim" userId="9b1f39d4-236b-4377-9a8d-dccbd2a774dd" providerId="ADAL" clId="{12453F75-1C9C-4F91-84BC-A401C4CEB638}" dt="2025-08-14T15:34:59.161" v="118" actId="47"/>
        <pc:sldMkLst>
          <pc:docMk/>
          <pc:sldMk cId="1719998758" sldId="258"/>
        </pc:sldMkLst>
      </pc:sldChg>
      <pc:sldChg chg="modSp add mod modNotesTx">
        <pc:chgData name="Demelza Pilgrim" userId="9b1f39d4-236b-4377-9a8d-dccbd2a774dd" providerId="ADAL" clId="{12453F75-1C9C-4F91-84BC-A401C4CEB638}" dt="2025-08-14T15:34:30.928" v="115" actId="6549"/>
        <pc:sldMkLst>
          <pc:docMk/>
          <pc:sldMk cId="591890035" sldId="287"/>
        </pc:sldMkLst>
        <pc:spChg chg="mod">
          <ac:chgData name="Demelza Pilgrim" userId="9b1f39d4-236b-4377-9a8d-dccbd2a774dd" providerId="ADAL" clId="{12453F75-1C9C-4F91-84BC-A401C4CEB638}" dt="2025-08-14T15:34:17.751" v="114" actId="20577"/>
          <ac:spMkLst>
            <pc:docMk/>
            <pc:sldMk cId="591890035" sldId="287"/>
            <ac:spMk id="3" creationId="{FF9B3823-0605-807A-5635-4865E10F2BE4}"/>
          </ac:spMkLst>
        </pc:spChg>
      </pc:sldChg>
      <pc:sldChg chg="modSp add mod">
        <pc:chgData name="Demelza Pilgrim" userId="9b1f39d4-236b-4377-9a8d-dccbd2a774dd" providerId="ADAL" clId="{12453F75-1C9C-4F91-84BC-A401C4CEB638}" dt="2025-08-14T15:38:03.343" v="221" actId="2711"/>
        <pc:sldMkLst>
          <pc:docMk/>
          <pc:sldMk cId="1668558411" sldId="462"/>
        </pc:sldMkLst>
        <pc:spChg chg="mod">
          <ac:chgData name="Demelza Pilgrim" userId="9b1f39d4-236b-4377-9a8d-dccbd2a774dd" providerId="ADAL" clId="{12453F75-1C9C-4F91-84BC-A401C4CEB638}" dt="2025-08-14T15:38:03.343" v="221" actId="2711"/>
          <ac:spMkLst>
            <pc:docMk/>
            <pc:sldMk cId="1668558411" sldId="462"/>
            <ac:spMk id="3" creationId="{7393D38A-6D63-08BB-0FBC-2882D1231479}"/>
          </ac:spMkLst>
        </pc:spChg>
      </pc:sldChg>
      <pc:sldChg chg="modSp mod">
        <pc:chgData name="Demelza Pilgrim" userId="9b1f39d4-236b-4377-9a8d-dccbd2a774dd" providerId="ADAL" clId="{12453F75-1C9C-4F91-84BC-A401C4CEB638}" dt="2025-08-14T15:31:34.294" v="2" actId="27636"/>
        <pc:sldMkLst>
          <pc:docMk/>
          <pc:sldMk cId="1268492068" sldId="524"/>
        </pc:sldMkLst>
        <pc:spChg chg="mod">
          <ac:chgData name="Demelza Pilgrim" userId="9b1f39d4-236b-4377-9a8d-dccbd2a774dd" providerId="ADAL" clId="{12453F75-1C9C-4F91-84BC-A401C4CEB638}" dt="2025-08-14T15:31:34.294" v="2" actId="27636"/>
          <ac:spMkLst>
            <pc:docMk/>
            <pc:sldMk cId="1268492068" sldId="524"/>
            <ac:spMk id="4" creationId="{9C1BEA48-5988-1868-8C99-544570DFE959}"/>
          </ac:spMkLst>
        </pc:spChg>
      </pc:sldChg>
      <pc:sldChg chg="del">
        <pc:chgData name="Demelza Pilgrim" userId="9b1f39d4-236b-4377-9a8d-dccbd2a774dd" providerId="ADAL" clId="{12453F75-1C9C-4F91-84BC-A401C4CEB638}" dt="2025-08-14T15:38:11.621" v="222" actId="47"/>
        <pc:sldMkLst>
          <pc:docMk/>
          <pc:sldMk cId="3523664881" sldId="529"/>
        </pc:sldMkLst>
      </pc:sldChg>
      <pc:sldChg chg="modSp mod">
        <pc:chgData name="Demelza Pilgrim" userId="9b1f39d4-236b-4377-9a8d-dccbd2a774dd" providerId="ADAL" clId="{12453F75-1C9C-4F91-84BC-A401C4CEB638}" dt="2025-08-14T15:36:12.255" v="178" actId="20577"/>
        <pc:sldMkLst>
          <pc:docMk/>
          <pc:sldMk cId="2953707951" sldId="530"/>
        </pc:sldMkLst>
        <pc:spChg chg="mod">
          <ac:chgData name="Demelza Pilgrim" userId="9b1f39d4-236b-4377-9a8d-dccbd2a774dd" providerId="ADAL" clId="{12453F75-1C9C-4F91-84BC-A401C4CEB638}" dt="2025-08-14T15:36:12.255" v="178" actId="20577"/>
          <ac:spMkLst>
            <pc:docMk/>
            <pc:sldMk cId="2953707951" sldId="530"/>
            <ac:spMk id="2" creationId="{9E69A7D8-D1AF-EE9D-7E8D-5ADA863020D3}"/>
          </ac:spMkLst>
        </pc:spChg>
      </pc:sldChg>
      <pc:sldChg chg="modSp add mod">
        <pc:chgData name="Demelza Pilgrim" userId="9b1f39d4-236b-4377-9a8d-dccbd2a774dd" providerId="ADAL" clId="{12453F75-1C9C-4F91-84BC-A401C4CEB638}" dt="2025-08-14T15:39:24.071" v="225" actId="108"/>
        <pc:sldMkLst>
          <pc:docMk/>
          <pc:sldMk cId="0" sldId="531"/>
        </pc:sldMkLst>
        <pc:spChg chg="mod">
          <ac:chgData name="Demelza Pilgrim" userId="9b1f39d4-236b-4377-9a8d-dccbd2a774dd" providerId="ADAL" clId="{12453F75-1C9C-4F91-84BC-A401C4CEB638}" dt="2025-08-14T15:34:47.771" v="117" actId="27636"/>
          <ac:spMkLst>
            <pc:docMk/>
            <pc:sldMk cId="0" sldId="531"/>
            <ac:spMk id="13319" creationId="{B54CC29E-BA68-10E6-2F39-FA1EBE0C99F6}"/>
          </ac:spMkLst>
        </pc:spChg>
        <pc:graphicFrameChg chg="mod">
          <ac:chgData name="Demelza Pilgrim" userId="9b1f39d4-236b-4377-9a8d-dccbd2a774dd" providerId="ADAL" clId="{12453F75-1C9C-4F91-84BC-A401C4CEB638}" dt="2025-08-14T15:39:24.071" v="225" actId="108"/>
          <ac:graphicFrameMkLst>
            <pc:docMk/>
            <pc:sldMk cId="0" sldId="531"/>
            <ac:graphicFrameMk id="13315" creationId="{C2855CC1-6974-FD0F-632A-C97A1652BB10}"/>
          </ac:graphicFrameMkLst>
        </pc:graphicFrameChg>
      </pc:sldChg>
      <pc:sldChg chg="modSp add del mod">
        <pc:chgData name="Demelza Pilgrim" userId="9b1f39d4-236b-4377-9a8d-dccbd2a774dd" providerId="ADAL" clId="{12453F75-1C9C-4F91-84BC-A401C4CEB638}" dt="2025-08-14T15:37:19.381" v="190" actId="47"/>
        <pc:sldMkLst>
          <pc:docMk/>
          <pc:sldMk cId="3138774001" sldId="650"/>
        </pc:sldMkLst>
        <pc:spChg chg="mod">
          <ac:chgData name="Demelza Pilgrim" userId="9b1f39d4-236b-4377-9a8d-dccbd2a774dd" providerId="ADAL" clId="{12453F75-1C9C-4F91-84BC-A401C4CEB638}" dt="2025-08-14T15:36:41.075" v="180" actId="27636"/>
          <ac:spMkLst>
            <pc:docMk/>
            <pc:sldMk cId="3138774001" sldId="650"/>
            <ac:spMk id="13319" creationId="{2F05CE75-A456-5D93-6E87-C28B14245456}"/>
          </ac:spMkLst>
        </pc:spChg>
      </pc:sldChg>
      <pc:sldChg chg="modSp add mod">
        <pc:chgData name="Demelza Pilgrim" userId="9b1f39d4-236b-4377-9a8d-dccbd2a774dd" providerId="ADAL" clId="{12453F75-1C9C-4F91-84BC-A401C4CEB638}" dt="2025-08-14T15:37:09.158" v="189" actId="20577"/>
        <pc:sldMkLst>
          <pc:docMk/>
          <pc:sldMk cId="2382464942" sldId="651"/>
        </pc:sldMkLst>
        <pc:spChg chg="mod">
          <ac:chgData name="Demelza Pilgrim" userId="9b1f39d4-236b-4377-9a8d-dccbd2a774dd" providerId="ADAL" clId="{12453F75-1C9C-4F91-84BC-A401C4CEB638}" dt="2025-08-14T15:37:09.158" v="189" actId="20577"/>
          <ac:spMkLst>
            <pc:docMk/>
            <pc:sldMk cId="2382464942" sldId="651"/>
            <ac:spMk id="13319" creationId="{A7AA4F31-B649-7AEA-5C67-D9B4BAE6A838}"/>
          </ac:spMkLst>
        </pc:spChg>
      </pc:sldChg>
    </pc:docChg>
  </pc:docChgLst>
  <pc:docChgLst>
    <pc:chgData name="Demelza Pilgrim" userId="9b1f39d4-236b-4377-9a8d-dccbd2a774dd" providerId="ADAL" clId="{EDD1E5CE-5F76-465B-8DCD-D965CF7C7E97}"/>
    <pc:docChg chg="undo custSel addSld delSld modSld sldOrd modSection">
      <pc:chgData name="Demelza Pilgrim" userId="9b1f39d4-236b-4377-9a8d-dccbd2a774dd" providerId="ADAL" clId="{EDD1E5CE-5F76-465B-8DCD-D965CF7C7E97}" dt="2023-10-11T11:03:09.182" v="2824"/>
      <pc:docMkLst>
        <pc:docMk/>
      </pc:docMkLst>
      <pc:sldChg chg="modSp mod">
        <pc:chgData name="Demelza Pilgrim" userId="9b1f39d4-236b-4377-9a8d-dccbd2a774dd" providerId="ADAL" clId="{EDD1E5CE-5F76-465B-8DCD-D965CF7C7E97}" dt="2023-10-11T10:45:02.255" v="2626" actId="27636"/>
        <pc:sldMkLst>
          <pc:docMk/>
          <pc:sldMk cId="2895756478" sldId="264"/>
        </pc:sldMkLst>
      </pc:sldChg>
      <pc:sldChg chg="modSp mod modNotesTx">
        <pc:chgData name="Demelza Pilgrim" userId="9b1f39d4-236b-4377-9a8d-dccbd2a774dd" providerId="ADAL" clId="{EDD1E5CE-5F76-465B-8DCD-D965CF7C7E97}" dt="2023-10-11T08:55:21.099" v="621" actId="1076"/>
        <pc:sldMkLst>
          <pc:docMk/>
          <pc:sldMk cId="965057282" sldId="270"/>
        </pc:sldMkLst>
      </pc:sldChg>
      <pc:sldChg chg="modSp modAnim modNotesTx">
        <pc:chgData name="Demelza Pilgrim" userId="9b1f39d4-236b-4377-9a8d-dccbd2a774dd" providerId="ADAL" clId="{EDD1E5CE-5F76-465B-8DCD-D965CF7C7E97}" dt="2023-10-11T08:54:04.947" v="620" actId="20577"/>
        <pc:sldMkLst>
          <pc:docMk/>
          <pc:sldMk cId="2516794833" sldId="272"/>
        </pc:sldMkLst>
      </pc:sldChg>
      <pc:sldChg chg="modAnim">
        <pc:chgData name="Demelza Pilgrim" userId="9b1f39d4-236b-4377-9a8d-dccbd2a774dd" providerId="ADAL" clId="{EDD1E5CE-5F76-465B-8DCD-D965CF7C7E97}" dt="2023-10-11T10:34:42.859" v="2602"/>
        <pc:sldMkLst>
          <pc:docMk/>
          <pc:sldMk cId="2424054170" sldId="315"/>
        </pc:sldMkLst>
      </pc:sldChg>
      <pc:sldChg chg="modSp mod modAnim">
        <pc:chgData name="Demelza Pilgrim" userId="9b1f39d4-236b-4377-9a8d-dccbd2a774dd" providerId="ADAL" clId="{EDD1E5CE-5F76-465B-8DCD-D965CF7C7E97}" dt="2023-10-11T10:38:24.676" v="2611"/>
        <pc:sldMkLst>
          <pc:docMk/>
          <pc:sldMk cId="29461589" sldId="317"/>
        </pc:sldMkLst>
      </pc:sldChg>
      <pc:sldChg chg="addSp delSp modSp mod ord delAnim">
        <pc:chgData name="Demelza Pilgrim" userId="9b1f39d4-236b-4377-9a8d-dccbd2a774dd" providerId="ADAL" clId="{EDD1E5CE-5F76-465B-8DCD-D965CF7C7E97}" dt="2023-10-11T08:45:53.237" v="586" actId="20577"/>
        <pc:sldMkLst>
          <pc:docMk/>
          <pc:sldMk cId="3954842818" sldId="319"/>
        </pc:sldMkLst>
      </pc:sldChg>
      <pc:sldChg chg="del">
        <pc:chgData name="Demelza Pilgrim" userId="9b1f39d4-236b-4377-9a8d-dccbd2a774dd" providerId="ADAL" clId="{EDD1E5CE-5F76-465B-8DCD-D965CF7C7E97}" dt="2023-10-11T10:32:45.333" v="2566" actId="47"/>
        <pc:sldMkLst>
          <pc:docMk/>
          <pc:sldMk cId="2655089031" sldId="320"/>
        </pc:sldMkLst>
      </pc:sldChg>
      <pc:sldChg chg="modSp mod modNotesTx">
        <pc:chgData name="Demelza Pilgrim" userId="9b1f39d4-236b-4377-9a8d-dccbd2a774dd" providerId="ADAL" clId="{EDD1E5CE-5F76-465B-8DCD-D965CF7C7E97}" dt="2023-10-11T10:39:38.996" v="2612" actId="1076"/>
        <pc:sldMkLst>
          <pc:docMk/>
          <pc:sldMk cId="3339292555" sldId="465"/>
        </pc:sldMkLst>
      </pc:sldChg>
      <pc:sldChg chg="addSp delSp modSp del mod addAnim delAnim">
        <pc:chgData name="Demelza Pilgrim" userId="9b1f39d4-236b-4377-9a8d-dccbd2a774dd" providerId="ADAL" clId="{EDD1E5CE-5F76-465B-8DCD-D965CF7C7E97}" dt="2023-10-11T08:38:39.093" v="325" actId="47"/>
        <pc:sldMkLst>
          <pc:docMk/>
          <pc:sldMk cId="741463230" sldId="468"/>
        </pc:sldMkLst>
      </pc:sldChg>
      <pc:sldChg chg="modSp mod modNotesTx">
        <pc:chgData name="Demelza Pilgrim" userId="9b1f39d4-236b-4377-9a8d-dccbd2a774dd" providerId="ADAL" clId="{EDD1E5CE-5F76-465B-8DCD-D965CF7C7E97}" dt="2023-10-11T08:42:52.333" v="471" actId="20577"/>
        <pc:sldMkLst>
          <pc:docMk/>
          <pc:sldMk cId="857883704" sldId="470"/>
        </pc:sldMkLst>
      </pc:sldChg>
      <pc:sldChg chg="modSp mod modAnim">
        <pc:chgData name="Demelza Pilgrim" userId="9b1f39d4-236b-4377-9a8d-dccbd2a774dd" providerId="ADAL" clId="{EDD1E5CE-5F76-465B-8DCD-D965CF7C7E97}" dt="2023-10-11T10:48:32.150" v="2653"/>
        <pc:sldMkLst>
          <pc:docMk/>
          <pc:sldMk cId="1565525678" sldId="472"/>
        </pc:sldMkLst>
      </pc:sldChg>
      <pc:sldChg chg="modSp">
        <pc:chgData name="Demelza Pilgrim" userId="9b1f39d4-236b-4377-9a8d-dccbd2a774dd" providerId="ADAL" clId="{EDD1E5CE-5F76-465B-8DCD-D965CF7C7E97}" dt="2023-10-11T08:43:36.842" v="510" actId="115"/>
        <pc:sldMkLst>
          <pc:docMk/>
          <pc:sldMk cId="3091848781" sldId="485"/>
        </pc:sldMkLst>
      </pc:sldChg>
      <pc:sldChg chg="modSp del mod">
        <pc:chgData name="Demelza Pilgrim" userId="9b1f39d4-236b-4377-9a8d-dccbd2a774dd" providerId="ADAL" clId="{EDD1E5CE-5F76-465B-8DCD-D965CF7C7E97}" dt="2023-10-11T08:47:41.803" v="588" actId="47"/>
        <pc:sldMkLst>
          <pc:docMk/>
          <pc:sldMk cId="2809477272" sldId="486"/>
        </pc:sldMkLst>
      </pc:sldChg>
      <pc:sldChg chg="modSp modAnim">
        <pc:chgData name="Demelza Pilgrim" userId="9b1f39d4-236b-4377-9a8d-dccbd2a774dd" providerId="ADAL" clId="{EDD1E5CE-5F76-465B-8DCD-D965CF7C7E97}" dt="2023-10-11T10:44:32.807" v="2620"/>
        <pc:sldMkLst>
          <pc:docMk/>
          <pc:sldMk cId="2069579970" sldId="488"/>
        </pc:sldMkLst>
      </pc:sldChg>
      <pc:sldChg chg="modAnim">
        <pc:chgData name="Demelza Pilgrim" userId="9b1f39d4-236b-4377-9a8d-dccbd2a774dd" providerId="ADAL" clId="{EDD1E5CE-5F76-465B-8DCD-D965CF7C7E97}" dt="2023-10-11T10:44:45.781" v="2621"/>
        <pc:sldMkLst>
          <pc:docMk/>
          <pc:sldMk cId="2829936154" sldId="492"/>
        </pc:sldMkLst>
      </pc:sldChg>
      <pc:sldChg chg="addSp delSp modSp mod delAnim modAnim">
        <pc:chgData name="Demelza Pilgrim" userId="9b1f39d4-236b-4377-9a8d-dccbd2a774dd" providerId="ADAL" clId="{EDD1E5CE-5F76-465B-8DCD-D965CF7C7E97}" dt="2023-10-11T10:50:06.401" v="2658"/>
        <pc:sldMkLst>
          <pc:docMk/>
          <pc:sldMk cId="598425097" sldId="503"/>
        </pc:sldMkLst>
      </pc:sldChg>
      <pc:sldChg chg="delSp modSp del mod delAnim modAnim">
        <pc:chgData name="Demelza Pilgrim" userId="9b1f39d4-236b-4377-9a8d-dccbd2a774dd" providerId="ADAL" clId="{EDD1E5CE-5F76-465B-8DCD-D965CF7C7E97}" dt="2023-10-11T09:00:40.170" v="819" actId="47"/>
        <pc:sldMkLst>
          <pc:docMk/>
          <pc:sldMk cId="3573402697" sldId="504"/>
        </pc:sldMkLst>
      </pc:sldChg>
      <pc:sldChg chg="modSp mod modAnim">
        <pc:chgData name="Demelza Pilgrim" userId="9b1f39d4-236b-4377-9a8d-dccbd2a774dd" providerId="ADAL" clId="{EDD1E5CE-5F76-465B-8DCD-D965CF7C7E97}" dt="2023-10-11T10:51:09.447" v="2662"/>
        <pc:sldMkLst>
          <pc:docMk/>
          <pc:sldMk cId="1981765104" sldId="505"/>
        </pc:sldMkLst>
      </pc:sldChg>
      <pc:sldChg chg="addSp delSp modSp mod delAnim modAnim">
        <pc:chgData name="Demelza Pilgrim" userId="9b1f39d4-236b-4377-9a8d-dccbd2a774dd" providerId="ADAL" clId="{EDD1E5CE-5F76-465B-8DCD-D965CF7C7E97}" dt="2023-10-11T10:52:18.919" v="2671"/>
        <pc:sldMkLst>
          <pc:docMk/>
          <pc:sldMk cId="1964684804" sldId="506"/>
        </pc:sldMkLst>
      </pc:sldChg>
      <pc:sldChg chg="delSp modSp mod delAnim modAnim">
        <pc:chgData name="Demelza Pilgrim" userId="9b1f39d4-236b-4377-9a8d-dccbd2a774dd" providerId="ADAL" clId="{EDD1E5CE-5F76-465B-8DCD-D965CF7C7E97}" dt="2023-10-11T09:06:39.204" v="941" actId="1076"/>
        <pc:sldMkLst>
          <pc:docMk/>
          <pc:sldMk cId="3443007308" sldId="508"/>
        </pc:sldMkLst>
      </pc:sldChg>
      <pc:sldChg chg="delSp modSp mod">
        <pc:chgData name="Demelza Pilgrim" userId="9b1f39d4-236b-4377-9a8d-dccbd2a774dd" providerId="ADAL" clId="{EDD1E5CE-5F76-465B-8DCD-D965CF7C7E97}" dt="2023-10-11T10:53:05.073" v="2672" actId="478"/>
        <pc:sldMkLst>
          <pc:docMk/>
          <pc:sldMk cId="3737012107" sldId="512"/>
        </pc:sldMkLst>
      </pc:sldChg>
      <pc:sldChg chg="modSp mod modAnim">
        <pc:chgData name="Demelza Pilgrim" userId="9b1f39d4-236b-4377-9a8d-dccbd2a774dd" providerId="ADAL" clId="{EDD1E5CE-5F76-465B-8DCD-D965CF7C7E97}" dt="2023-10-11T10:53:16.887" v="2673"/>
        <pc:sldMkLst>
          <pc:docMk/>
          <pc:sldMk cId="3345234329" sldId="514"/>
        </pc:sldMkLst>
      </pc:sldChg>
      <pc:sldChg chg="addSp delSp modSp mod delAnim modAnim">
        <pc:chgData name="Demelza Pilgrim" userId="9b1f39d4-236b-4377-9a8d-dccbd2a774dd" providerId="ADAL" clId="{EDD1E5CE-5F76-465B-8DCD-D965CF7C7E97}" dt="2023-10-11T10:53:46.488" v="2674"/>
        <pc:sldMkLst>
          <pc:docMk/>
          <pc:sldMk cId="116053867" sldId="515"/>
        </pc:sldMkLst>
      </pc:sldChg>
      <pc:sldChg chg="addSp modSp mod modAnim">
        <pc:chgData name="Demelza Pilgrim" userId="9b1f39d4-236b-4377-9a8d-dccbd2a774dd" providerId="ADAL" clId="{EDD1E5CE-5F76-465B-8DCD-D965CF7C7E97}" dt="2023-10-11T10:56:39.346" v="2703"/>
        <pc:sldMkLst>
          <pc:docMk/>
          <pc:sldMk cId="1377519106" sldId="518"/>
        </pc:sldMkLst>
      </pc:sldChg>
      <pc:sldChg chg="modSp del mod modAnim">
        <pc:chgData name="Demelza Pilgrim" userId="9b1f39d4-236b-4377-9a8d-dccbd2a774dd" providerId="ADAL" clId="{EDD1E5CE-5F76-465B-8DCD-D965CF7C7E97}" dt="2023-10-11T09:09:31.497" v="966" actId="47"/>
        <pc:sldMkLst>
          <pc:docMk/>
          <pc:sldMk cId="516047945" sldId="520"/>
        </pc:sldMkLst>
      </pc:sldChg>
      <pc:sldChg chg="del">
        <pc:chgData name="Demelza Pilgrim" userId="9b1f39d4-236b-4377-9a8d-dccbd2a774dd" providerId="ADAL" clId="{EDD1E5CE-5F76-465B-8DCD-D965CF7C7E97}" dt="2023-10-11T10:32:46.746" v="2567" actId="47"/>
        <pc:sldMkLst>
          <pc:docMk/>
          <pc:sldMk cId="3505227460" sldId="521"/>
        </pc:sldMkLst>
      </pc:sldChg>
      <pc:sldChg chg="modAnim">
        <pc:chgData name="Demelza Pilgrim" userId="9b1f39d4-236b-4377-9a8d-dccbd2a774dd" providerId="ADAL" clId="{EDD1E5CE-5F76-465B-8DCD-D965CF7C7E97}" dt="2023-10-11T10:46:25.588" v="2627"/>
        <pc:sldMkLst>
          <pc:docMk/>
          <pc:sldMk cId="1370906699" sldId="527"/>
        </pc:sldMkLst>
      </pc:sldChg>
      <pc:sldChg chg="delSp modSp mod delAnim modAnim">
        <pc:chgData name="Demelza Pilgrim" userId="9b1f39d4-236b-4377-9a8d-dccbd2a774dd" providerId="ADAL" clId="{EDD1E5CE-5F76-465B-8DCD-D965CF7C7E97}" dt="2023-10-11T10:58:15.526" v="2714" actId="1035"/>
        <pc:sldMkLst>
          <pc:docMk/>
          <pc:sldMk cId="3870721501" sldId="528"/>
        </pc:sldMkLst>
      </pc:sldChg>
      <pc:sldChg chg="modSp mod modAnim">
        <pc:chgData name="Demelza Pilgrim" userId="9b1f39d4-236b-4377-9a8d-dccbd2a774dd" providerId="ADAL" clId="{EDD1E5CE-5F76-465B-8DCD-D965CF7C7E97}" dt="2023-10-11T11:02:32.694" v="2819" actId="20577"/>
        <pc:sldMkLst>
          <pc:docMk/>
          <pc:sldMk cId="3923701960" sldId="530"/>
        </pc:sldMkLst>
      </pc:sldChg>
      <pc:sldChg chg="modSp mod modAnim">
        <pc:chgData name="Demelza Pilgrim" userId="9b1f39d4-236b-4377-9a8d-dccbd2a774dd" providerId="ADAL" clId="{EDD1E5CE-5F76-465B-8DCD-D965CF7C7E97}" dt="2023-10-11T10:32:24.256" v="2565" actId="6549"/>
        <pc:sldMkLst>
          <pc:docMk/>
          <pc:sldMk cId="4033833479" sldId="531"/>
        </pc:sldMkLst>
      </pc:sldChg>
      <pc:sldChg chg="modSp new del mod">
        <pc:chgData name="Demelza Pilgrim" userId="9b1f39d4-236b-4377-9a8d-dccbd2a774dd" providerId="ADAL" clId="{EDD1E5CE-5F76-465B-8DCD-D965CF7C7E97}" dt="2023-10-11T09:53:04.255" v="1973" actId="47"/>
        <pc:sldMkLst>
          <pc:docMk/>
          <pc:sldMk cId="1552507792" sldId="532"/>
        </pc:sldMkLst>
      </pc:sldChg>
      <pc:sldChg chg="modSp new mod modAnim modNotesTx">
        <pc:chgData name="Demelza Pilgrim" userId="9b1f39d4-236b-4377-9a8d-dccbd2a774dd" providerId="ADAL" clId="{EDD1E5CE-5F76-465B-8DCD-D965CF7C7E97}" dt="2023-10-11T11:03:09.182" v="2824"/>
        <pc:sldMkLst>
          <pc:docMk/>
          <pc:sldMk cId="2904601472" sldId="533"/>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Book4"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Sheet1!$C$7</c:f>
              <c:strCache>
                <c:ptCount val="1"/>
                <c:pt idx="0">
                  <c:v>Principal</c:v>
                </c:pt>
              </c:strCache>
            </c:strRef>
          </c:tx>
          <c:spPr>
            <a:solidFill>
              <a:schemeClr val="accent5">
                <a:lumMod val="40000"/>
                <a:lumOff val="60000"/>
              </a:schemeClr>
            </a:solidFill>
            <a:ln>
              <a:solidFill>
                <a:schemeClr val="accent5">
                  <a:lumMod val="60000"/>
                  <a:lumOff val="40000"/>
                </a:schemeClr>
              </a:solidFill>
            </a:ln>
            <a:effectLst/>
          </c:spPr>
          <c:invertIfNegative val="0"/>
          <c:cat>
            <c:numRef>
              <c:f>Sheet1!$B$8:$B$13</c:f>
              <c:numCache>
                <c:formatCode>General</c:formatCode>
                <c:ptCount val="6"/>
                <c:pt idx="0">
                  <c:v>1</c:v>
                </c:pt>
                <c:pt idx="1">
                  <c:v>2</c:v>
                </c:pt>
                <c:pt idx="2">
                  <c:v>3</c:v>
                </c:pt>
                <c:pt idx="3">
                  <c:v>4</c:v>
                </c:pt>
                <c:pt idx="4">
                  <c:v>5</c:v>
                </c:pt>
                <c:pt idx="5">
                  <c:v>6</c:v>
                </c:pt>
              </c:numCache>
            </c:numRef>
          </c:cat>
          <c:val>
            <c:numRef>
              <c:f>Sheet1!$C$8:$C$13</c:f>
              <c:numCache>
                <c:formatCode>General</c:formatCode>
                <c:ptCount val="6"/>
                <c:pt idx="0">
                  <c:v>1000</c:v>
                </c:pt>
                <c:pt idx="1">
                  <c:v>1000</c:v>
                </c:pt>
                <c:pt idx="2">
                  <c:v>1000</c:v>
                </c:pt>
                <c:pt idx="3">
                  <c:v>1000</c:v>
                </c:pt>
                <c:pt idx="4">
                  <c:v>1000</c:v>
                </c:pt>
                <c:pt idx="5">
                  <c:v>1000</c:v>
                </c:pt>
              </c:numCache>
            </c:numRef>
          </c:val>
          <c:extLst>
            <c:ext xmlns:c16="http://schemas.microsoft.com/office/drawing/2014/chart" uri="{C3380CC4-5D6E-409C-BE32-E72D297353CC}">
              <c16:uniqueId val="{00000000-E6D2-4C36-B3F0-E70E6F9679DC}"/>
            </c:ext>
          </c:extLst>
        </c:ser>
        <c:ser>
          <c:idx val="1"/>
          <c:order val="1"/>
          <c:tx>
            <c:strRef>
              <c:f>Sheet1!$D$7</c:f>
              <c:strCache>
                <c:ptCount val="1"/>
                <c:pt idx="0">
                  <c:v>Simple Interest</c:v>
                </c:pt>
              </c:strCache>
            </c:strRef>
          </c:tx>
          <c:spPr>
            <a:solidFill>
              <a:schemeClr val="accent4">
                <a:lumMod val="60000"/>
                <a:lumOff val="40000"/>
              </a:schemeClr>
            </a:solidFill>
            <a:ln>
              <a:solidFill>
                <a:schemeClr val="accent4">
                  <a:lumMod val="75000"/>
                </a:schemeClr>
              </a:solidFill>
            </a:ln>
            <a:effectLst/>
          </c:spPr>
          <c:invertIfNegative val="0"/>
          <c:cat>
            <c:numRef>
              <c:f>Sheet1!$B$8:$B$13</c:f>
              <c:numCache>
                <c:formatCode>General</c:formatCode>
                <c:ptCount val="6"/>
                <c:pt idx="0">
                  <c:v>1</c:v>
                </c:pt>
                <c:pt idx="1">
                  <c:v>2</c:v>
                </c:pt>
                <c:pt idx="2">
                  <c:v>3</c:v>
                </c:pt>
                <c:pt idx="3">
                  <c:v>4</c:v>
                </c:pt>
                <c:pt idx="4">
                  <c:v>5</c:v>
                </c:pt>
                <c:pt idx="5">
                  <c:v>6</c:v>
                </c:pt>
              </c:numCache>
            </c:numRef>
          </c:cat>
          <c:val>
            <c:numRef>
              <c:f>Sheet1!$D$8:$D$13</c:f>
              <c:numCache>
                <c:formatCode>0</c:formatCode>
                <c:ptCount val="6"/>
                <c:pt idx="0">
                  <c:v>50</c:v>
                </c:pt>
                <c:pt idx="1">
                  <c:v>100</c:v>
                </c:pt>
                <c:pt idx="2">
                  <c:v>150</c:v>
                </c:pt>
                <c:pt idx="3">
                  <c:v>200</c:v>
                </c:pt>
                <c:pt idx="4">
                  <c:v>250</c:v>
                </c:pt>
                <c:pt idx="5">
                  <c:v>300</c:v>
                </c:pt>
              </c:numCache>
            </c:numRef>
          </c:val>
          <c:extLst>
            <c:ext xmlns:c16="http://schemas.microsoft.com/office/drawing/2014/chart" uri="{C3380CC4-5D6E-409C-BE32-E72D297353CC}">
              <c16:uniqueId val="{00000001-E6D2-4C36-B3F0-E70E6F9679DC}"/>
            </c:ext>
          </c:extLst>
        </c:ser>
        <c:ser>
          <c:idx val="2"/>
          <c:order val="2"/>
          <c:tx>
            <c:strRef>
              <c:f>Sheet1!$E$7</c:f>
              <c:strCache>
                <c:ptCount val="1"/>
                <c:pt idx="0">
                  <c:v>Compound Interest</c:v>
                </c:pt>
              </c:strCache>
            </c:strRef>
          </c:tx>
          <c:spPr>
            <a:solidFill>
              <a:schemeClr val="accent2">
                <a:lumMod val="40000"/>
                <a:lumOff val="60000"/>
              </a:schemeClr>
            </a:solidFill>
            <a:ln>
              <a:solidFill>
                <a:schemeClr val="accent2">
                  <a:lumMod val="75000"/>
                </a:schemeClr>
              </a:solidFill>
            </a:ln>
            <a:effectLst/>
          </c:spPr>
          <c:invertIfNegative val="0"/>
          <c:val>
            <c:numRef>
              <c:f>Sheet1!$E$8:$E$13</c:f>
              <c:numCache>
                <c:formatCode>0</c:formatCode>
                <c:ptCount val="6"/>
                <c:pt idx="0">
                  <c:v>0</c:v>
                </c:pt>
                <c:pt idx="1">
                  <c:v>2.5</c:v>
                </c:pt>
                <c:pt idx="2">
                  <c:v>7.6250000000002274</c:v>
                </c:pt>
                <c:pt idx="3">
                  <c:v>15.506249999999909</c:v>
                </c:pt>
                <c:pt idx="4">
                  <c:v>26.281562500000064</c:v>
                </c:pt>
                <c:pt idx="5">
                  <c:v>40.095640624999987</c:v>
                </c:pt>
              </c:numCache>
            </c:numRef>
          </c:val>
          <c:extLst>
            <c:ext xmlns:c16="http://schemas.microsoft.com/office/drawing/2014/chart" uri="{C3380CC4-5D6E-409C-BE32-E72D297353CC}">
              <c16:uniqueId val="{00000002-E6D2-4C36-B3F0-E70E6F9679DC}"/>
            </c:ext>
          </c:extLst>
        </c:ser>
        <c:dLbls>
          <c:showLegendKey val="0"/>
          <c:showVal val="0"/>
          <c:showCatName val="0"/>
          <c:showSerName val="0"/>
          <c:showPercent val="0"/>
          <c:showBubbleSize val="0"/>
        </c:dLbls>
        <c:gapWidth val="0"/>
        <c:overlap val="100"/>
        <c:axId val="627436192"/>
        <c:axId val="627436520"/>
      </c:barChart>
      <c:catAx>
        <c:axId val="627436192"/>
        <c:scaling>
          <c:orientation val="minMax"/>
        </c:scaling>
        <c:delete val="0"/>
        <c:axPos val="b"/>
        <c:title>
          <c:tx>
            <c:rich>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GB" b="1" dirty="0"/>
                  <a:t>Years</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65000"/>
                <a:lumOff val="35000"/>
              </a:schemeClr>
            </a:solidFill>
            <a:round/>
            <a:tailEnd type="arrow"/>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627436520"/>
        <c:crosses val="autoZero"/>
        <c:auto val="1"/>
        <c:lblAlgn val="ctr"/>
        <c:lblOffset val="100"/>
        <c:noMultiLvlLbl val="0"/>
      </c:catAx>
      <c:valAx>
        <c:axId val="627436520"/>
        <c:scaling>
          <c:orientation val="minMax"/>
          <c:min val="900"/>
        </c:scaling>
        <c:delete val="0"/>
        <c:axPos val="l"/>
        <c:title>
          <c:tx>
            <c:rich>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r>
                  <a:rPr lang="en-GB" b="1" dirty="0"/>
                  <a:t>Future Value (£)</a:t>
                </a:r>
              </a:p>
            </c:rich>
          </c:tx>
          <c:overlay val="0"/>
          <c:spPr>
            <a:noFill/>
            <a:ln>
              <a:noFill/>
            </a:ln>
            <a:effectLst/>
          </c:spPr>
          <c:txPr>
            <a:bodyPr rot="-54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a:solidFill>
              <a:schemeClr val="tx1">
                <a:lumMod val="65000"/>
                <a:lumOff val="35000"/>
              </a:schemeClr>
            </a:solidFill>
            <a:tailEnd type="arrow"/>
          </a:ln>
          <a:effectLst/>
        </c:spPr>
        <c:txPr>
          <a:bodyPr rot="-6000000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crossAx val="627436192"/>
        <c:crosses val="autoZero"/>
        <c:crossBetween val="between"/>
        <c:majorUnit val="100"/>
      </c:valAx>
      <c:spPr>
        <a:no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w="9525" cap="flat" cmpd="sng" algn="ctr">
      <a:solidFill>
        <a:schemeClr val="tx1">
          <a:lumMod val="15000"/>
          <a:lumOff val="85000"/>
        </a:schemeClr>
      </a:solidFill>
      <a:round/>
    </a:ln>
    <a:effectLst/>
  </c:spPr>
  <c:txPr>
    <a:bodyPr/>
    <a:lstStyle/>
    <a:p>
      <a:pPr>
        <a:defRPr sz="18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5D820D-3F6A-4169-933B-89B3B07AC473}" type="doc">
      <dgm:prSet loTypeId="urn:microsoft.com/office/officeart/2018/2/layout/IconVerticalSolidList" loCatId="icon" qsTypeId="urn:microsoft.com/office/officeart/2005/8/quickstyle/simple1" qsCatId="simple" csTypeId="urn:microsoft.com/office/officeart/2005/8/colors/colorful5" csCatId="colorful" phldr="1"/>
      <dgm:spPr/>
      <dgm:t>
        <a:bodyPr/>
        <a:lstStyle/>
        <a:p>
          <a:endParaRPr lang="en-US"/>
        </a:p>
      </dgm:t>
    </dgm:pt>
    <dgm:pt modelId="{EDEBDDA8-C6BE-41AD-9C88-6DCC29B9FC6B}">
      <dgm:prSet custT="1"/>
      <dgm:spPr/>
      <dgm:t>
        <a:bodyPr/>
        <a:lstStyle/>
        <a:p>
          <a:pPr>
            <a:lnSpc>
              <a:spcPct val="100000"/>
            </a:lnSpc>
          </a:pPr>
          <a:r>
            <a:rPr lang="en-GB" sz="1600" kern="1200" dirty="0">
              <a:solidFill>
                <a:prstClr val="black">
                  <a:hueOff val="0"/>
                  <a:satOff val="0"/>
                  <a:lumOff val="0"/>
                  <a:alphaOff val="0"/>
                </a:prstClr>
              </a:solidFill>
              <a:latin typeface="Calibri Light" panose="020F0302020204030204"/>
              <a:ea typeface="+mn-ea"/>
              <a:cs typeface="+mn-cs"/>
            </a:rPr>
            <a:t>Understand the </a:t>
          </a:r>
          <a:r>
            <a:rPr lang="en-GB" sz="1600" kern="1200" dirty="0"/>
            <a:t>concept of time in finance</a:t>
          </a:r>
          <a:endParaRPr lang="en-GB" sz="1600" kern="1200" dirty="0">
            <a:latin typeface="Arial" panose="020B0604020202020204" pitchFamily="34" charset="0"/>
            <a:cs typeface="Arial" panose="020B0604020202020204" pitchFamily="34" charset="0"/>
          </a:endParaRPr>
        </a:p>
        <a:p>
          <a:pPr>
            <a:lnSpc>
              <a:spcPct val="100000"/>
            </a:lnSpc>
          </a:pPr>
          <a:endParaRPr lang="en-US" sz="1600" kern="1200" dirty="0">
            <a:latin typeface="Arial" panose="020B0604020202020204" pitchFamily="34" charset="0"/>
            <a:cs typeface="Arial" panose="020B0604020202020204" pitchFamily="34" charset="0"/>
          </a:endParaRPr>
        </a:p>
      </dgm:t>
    </dgm:pt>
    <dgm:pt modelId="{B9154201-B759-466A-B062-DA0D74D8BD6C}" type="parTrans" cxnId="{B75E0ABB-BBC1-48E4-8C86-96B2B612EFF0}">
      <dgm:prSet/>
      <dgm:spPr/>
      <dgm:t>
        <a:bodyPr/>
        <a:lstStyle/>
        <a:p>
          <a:endParaRPr lang="en-US"/>
        </a:p>
      </dgm:t>
    </dgm:pt>
    <dgm:pt modelId="{70076E80-E76B-4BBC-A0F0-817393568234}" type="sibTrans" cxnId="{B75E0ABB-BBC1-48E4-8C86-96B2B612EFF0}">
      <dgm:prSet/>
      <dgm:spPr/>
      <dgm:t>
        <a:bodyPr/>
        <a:lstStyle/>
        <a:p>
          <a:endParaRPr lang="en-US"/>
        </a:p>
      </dgm:t>
    </dgm:pt>
    <dgm:pt modelId="{6FCEFAE3-8161-433C-96FD-675211A5634D}">
      <dgm:prSet custT="1"/>
      <dgm:spPr/>
      <dgm:t>
        <a:bodyPr/>
        <a:lstStyle/>
        <a:p>
          <a:pPr marL="0" lvl="0" indent="0" algn="l" defTabSz="844550">
            <a:lnSpc>
              <a:spcPct val="100000"/>
            </a:lnSpc>
            <a:spcBef>
              <a:spcPct val="0"/>
            </a:spcBef>
            <a:spcAft>
              <a:spcPct val="35000"/>
            </a:spcAft>
            <a:buNone/>
          </a:pPr>
          <a:r>
            <a:rPr lang="en-GB" sz="1600" kern="1200" dirty="0"/>
            <a:t>The present value and discounting</a:t>
          </a:r>
          <a:endParaRPr lang="en-US" sz="1600" kern="1200" dirty="0">
            <a:solidFill>
              <a:prstClr val="black">
                <a:hueOff val="0"/>
                <a:satOff val="0"/>
                <a:lumOff val="0"/>
                <a:alphaOff val="0"/>
              </a:prstClr>
            </a:solidFill>
            <a:latin typeface="Segoe Sans"/>
            <a:ea typeface="+mn-ea"/>
            <a:cs typeface="+mn-cs"/>
          </a:endParaRPr>
        </a:p>
      </dgm:t>
    </dgm:pt>
    <dgm:pt modelId="{E86817DB-1B76-45C8-82CF-C2BE7F451B71}" type="parTrans" cxnId="{2C813CBA-5909-427A-809B-31A305DAEF20}">
      <dgm:prSet/>
      <dgm:spPr/>
      <dgm:t>
        <a:bodyPr/>
        <a:lstStyle/>
        <a:p>
          <a:endParaRPr lang="en-US"/>
        </a:p>
      </dgm:t>
    </dgm:pt>
    <dgm:pt modelId="{081FE379-0C72-4144-B3F0-AC4E41F2EAA0}" type="sibTrans" cxnId="{2C813CBA-5909-427A-809B-31A305DAEF20}">
      <dgm:prSet/>
      <dgm:spPr/>
      <dgm:t>
        <a:bodyPr/>
        <a:lstStyle/>
        <a:p>
          <a:endParaRPr lang="en-US"/>
        </a:p>
      </dgm:t>
    </dgm:pt>
    <dgm:pt modelId="{0B7FDDFD-655F-4966-93A7-ACED2D6758D8}">
      <dgm:prSet custT="1"/>
      <dgm:spPr/>
      <dgm:t>
        <a:bodyPr/>
        <a:lstStyle/>
        <a:p>
          <a:pPr marL="0" lvl="0" indent="0" algn="l" defTabSz="844550">
            <a:lnSpc>
              <a:spcPct val="100000"/>
            </a:lnSpc>
            <a:spcBef>
              <a:spcPct val="0"/>
            </a:spcBef>
            <a:spcAft>
              <a:spcPct val="35000"/>
            </a:spcAft>
            <a:buNone/>
          </a:pPr>
          <a:r>
            <a:rPr lang="en-GB" sz="1600" kern="1200" dirty="0"/>
            <a:t>The future value and compounding</a:t>
          </a:r>
          <a:endParaRPr lang="en-GB" sz="1600" kern="1200" dirty="0">
            <a:solidFill>
              <a:prstClr val="black">
                <a:hueOff val="0"/>
                <a:satOff val="0"/>
                <a:lumOff val="0"/>
                <a:alphaOff val="0"/>
              </a:prstClr>
            </a:solidFill>
            <a:latin typeface="Segoe Sans"/>
            <a:ea typeface="+mn-ea"/>
            <a:cs typeface="+mn-cs"/>
          </a:endParaRPr>
        </a:p>
      </dgm:t>
    </dgm:pt>
    <dgm:pt modelId="{258CD603-77CE-4064-9B6B-534C5EBBC6DC}" type="parTrans" cxnId="{9C223AC8-BE62-4707-A47E-7DBCDE2CFA92}">
      <dgm:prSet/>
      <dgm:spPr/>
      <dgm:t>
        <a:bodyPr/>
        <a:lstStyle/>
        <a:p>
          <a:endParaRPr lang="en-US"/>
        </a:p>
      </dgm:t>
    </dgm:pt>
    <dgm:pt modelId="{83F64753-43F2-43F3-80A6-21115A980F6B}" type="sibTrans" cxnId="{9C223AC8-BE62-4707-A47E-7DBCDE2CFA92}">
      <dgm:prSet/>
      <dgm:spPr/>
      <dgm:t>
        <a:bodyPr/>
        <a:lstStyle/>
        <a:p>
          <a:endParaRPr lang="en-US"/>
        </a:p>
      </dgm:t>
    </dgm:pt>
    <dgm:pt modelId="{8F3D7864-A67E-4980-8EEC-F096E4A5A33B}">
      <dgm:prSet custT="1"/>
      <dgm:spPr/>
      <dgm:t>
        <a:bodyPr/>
        <a:lstStyle/>
        <a:p>
          <a:pPr marL="0" lvl="0" indent="0" algn="l" defTabSz="844550">
            <a:lnSpc>
              <a:spcPct val="100000"/>
            </a:lnSpc>
            <a:spcBef>
              <a:spcPct val="0"/>
            </a:spcBef>
            <a:spcAft>
              <a:spcPct val="35000"/>
            </a:spcAft>
            <a:buNone/>
          </a:pPr>
          <a:r>
            <a:rPr lang="en-GB" sz="1600" kern="1200" dirty="0"/>
            <a:t>Simple vs Compounding Interest</a:t>
          </a:r>
          <a:endParaRPr lang="en-US" sz="1600" kern="1200" dirty="0">
            <a:solidFill>
              <a:prstClr val="black">
                <a:hueOff val="0"/>
                <a:satOff val="0"/>
                <a:lumOff val="0"/>
                <a:alphaOff val="0"/>
              </a:prstClr>
            </a:solidFill>
            <a:latin typeface="Segoe Sans"/>
            <a:ea typeface="+mn-ea"/>
            <a:cs typeface="+mn-cs"/>
          </a:endParaRPr>
        </a:p>
      </dgm:t>
    </dgm:pt>
    <dgm:pt modelId="{148FEDAC-1DFF-4A8C-B751-90B79D2B38D7}" type="sibTrans" cxnId="{D3F1B6B4-CFFA-4F0C-8151-F35EFDF0B8BB}">
      <dgm:prSet/>
      <dgm:spPr/>
      <dgm:t>
        <a:bodyPr/>
        <a:lstStyle/>
        <a:p>
          <a:endParaRPr lang="en-US"/>
        </a:p>
      </dgm:t>
    </dgm:pt>
    <dgm:pt modelId="{9F1A70AA-84AE-4B3D-8E2C-3BD6C668A859}" type="parTrans" cxnId="{D3F1B6B4-CFFA-4F0C-8151-F35EFDF0B8BB}">
      <dgm:prSet/>
      <dgm:spPr/>
      <dgm:t>
        <a:bodyPr/>
        <a:lstStyle/>
        <a:p>
          <a:endParaRPr lang="en-US"/>
        </a:p>
      </dgm:t>
    </dgm:pt>
    <dgm:pt modelId="{262CDA82-1192-443A-AA18-C2D1343BD67D}" type="pres">
      <dgm:prSet presAssocID="{635D820D-3F6A-4169-933B-89B3B07AC473}" presName="root" presStyleCnt="0">
        <dgm:presLayoutVars>
          <dgm:dir/>
          <dgm:resizeHandles val="exact"/>
        </dgm:presLayoutVars>
      </dgm:prSet>
      <dgm:spPr/>
    </dgm:pt>
    <dgm:pt modelId="{103A7B21-BA1E-4E44-B158-72F7A07E09F7}" type="pres">
      <dgm:prSet presAssocID="{EDEBDDA8-C6BE-41AD-9C88-6DCC29B9FC6B}" presName="compNode" presStyleCnt="0"/>
      <dgm:spPr/>
    </dgm:pt>
    <dgm:pt modelId="{B69CCFB0-6C1F-4790-8677-D5F70B93E05D}" type="pres">
      <dgm:prSet presAssocID="{EDEBDDA8-C6BE-41AD-9C88-6DCC29B9FC6B}" presName="bgRect" presStyleLbl="bgShp" presStyleIdx="0" presStyleCnt="4"/>
      <dgm:spPr/>
    </dgm:pt>
    <dgm:pt modelId="{6AE7B6DA-DCF0-4941-B35E-FED592CAD9C7}" type="pres">
      <dgm:prSet presAssocID="{EDEBDDA8-C6BE-41AD-9C88-6DCC29B9FC6B}"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oardroom with solid fill"/>
        </a:ext>
      </dgm:extLst>
    </dgm:pt>
    <dgm:pt modelId="{29FE1B13-E724-485C-A200-D60CBEE67033}" type="pres">
      <dgm:prSet presAssocID="{EDEBDDA8-C6BE-41AD-9C88-6DCC29B9FC6B}" presName="spaceRect" presStyleCnt="0"/>
      <dgm:spPr/>
    </dgm:pt>
    <dgm:pt modelId="{B7AF9EC2-7666-4444-BBD8-9355F2C63196}" type="pres">
      <dgm:prSet presAssocID="{EDEBDDA8-C6BE-41AD-9C88-6DCC29B9FC6B}" presName="parTx" presStyleLbl="revTx" presStyleIdx="0" presStyleCnt="4" custLinFactNeighborY="20382">
        <dgm:presLayoutVars>
          <dgm:chMax val="0"/>
          <dgm:chPref val="0"/>
        </dgm:presLayoutVars>
      </dgm:prSet>
      <dgm:spPr/>
    </dgm:pt>
    <dgm:pt modelId="{D5A2CA2C-F765-4434-A84E-2FD85DAF1E86}" type="pres">
      <dgm:prSet presAssocID="{70076E80-E76B-4BBC-A0F0-817393568234}" presName="sibTrans" presStyleCnt="0"/>
      <dgm:spPr/>
    </dgm:pt>
    <dgm:pt modelId="{E514EAFE-FC11-4B3F-8013-4D4292B72485}" type="pres">
      <dgm:prSet presAssocID="{8F3D7864-A67E-4980-8EEC-F096E4A5A33B}" presName="compNode" presStyleCnt="0"/>
      <dgm:spPr/>
    </dgm:pt>
    <dgm:pt modelId="{61B30C71-B6B1-4EDB-8941-25699A6AA799}" type="pres">
      <dgm:prSet presAssocID="{8F3D7864-A67E-4980-8EEC-F096E4A5A33B}" presName="bgRect" presStyleLbl="bgShp" presStyleIdx="1" presStyleCnt="4"/>
      <dgm:spPr/>
    </dgm:pt>
    <dgm:pt modelId="{06FD45ED-93A9-4CB5-BBC6-41722BB2CC37}" type="pres">
      <dgm:prSet presAssocID="{8F3D7864-A67E-4980-8EEC-F096E4A5A33B}"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Target Audience with solid fill"/>
        </a:ext>
      </dgm:extLst>
    </dgm:pt>
    <dgm:pt modelId="{9B4B4641-26DA-4FEC-B665-84241DB0B22C}" type="pres">
      <dgm:prSet presAssocID="{8F3D7864-A67E-4980-8EEC-F096E4A5A33B}" presName="spaceRect" presStyleCnt="0"/>
      <dgm:spPr/>
    </dgm:pt>
    <dgm:pt modelId="{48B4CC27-4AE8-44EB-98DC-4F45EE52C0EB}" type="pres">
      <dgm:prSet presAssocID="{8F3D7864-A67E-4980-8EEC-F096E4A5A33B}" presName="parTx" presStyleLbl="revTx" presStyleIdx="1" presStyleCnt="4" custLinFactNeighborX="-461" custLinFactNeighborY="-3925">
        <dgm:presLayoutVars>
          <dgm:chMax val="0"/>
          <dgm:chPref val="0"/>
        </dgm:presLayoutVars>
      </dgm:prSet>
      <dgm:spPr/>
    </dgm:pt>
    <dgm:pt modelId="{F684393D-6534-4779-B93F-403378B5349D}" type="pres">
      <dgm:prSet presAssocID="{148FEDAC-1DFF-4A8C-B751-90B79D2B38D7}" presName="sibTrans" presStyleCnt="0"/>
      <dgm:spPr/>
    </dgm:pt>
    <dgm:pt modelId="{0ED59449-DEDB-47C9-87BE-C02FF337188B}" type="pres">
      <dgm:prSet presAssocID="{6FCEFAE3-8161-433C-96FD-675211A5634D}" presName="compNode" presStyleCnt="0"/>
      <dgm:spPr/>
    </dgm:pt>
    <dgm:pt modelId="{D9483691-DD36-405D-BB66-9F59F2F1E989}" type="pres">
      <dgm:prSet presAssocID="{6FCEFAE3-8161-433C-96FD-675211A5634D}" presName="bgRect" presStyleLbl="bgShp" presStyleIdx="2" presStyleCnt="4"/>
      <dgm:spPr/>
    </dgm:pt>
    <dgm:pt modelId="{5E20F1DA-74F8-4710-885C-433C2757E97E}" type="pres">
      <dgm:prSet presAssocID="{6FCEFAE3-8161-433C-96FD-675211A5634D}"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User network with solid fill"/>
        </a:ext>
      </dgm:extLst>
    </dgm:pt>
    <dgm:pt modelId="{1B73FCB2-5DE4-4B2F-A030-B78C1995B2EB}" type="pres">
      <dgm:prSet presAssocID="{6FCEFAE3-8161-433C-96FD-675211A5634D}" presName="spaceRect" presStyleCnt="0"/>
      <dgm:spPr/>
    </dgm:pt>
    <dgm:pt modelId="{D6AAB94E-82BD-4674-9EC8-70CF34F5480A}" type="pres">
      <dgm:prSet presAssocID="{6FCEFAE3-8161-433C-96FD-675211A5634D}" presName="parTx" presStyleLbl="revTx" presStyleIdx="2" presStyleCnt="4" custLinFactNeighborY="1826">
        <dgm:presLayoutVars>
          <dgm:chMax val="0"/>
          <dgm:chPref val="0"/>
        </dgm:presLayoutVars>
      </dgm:prSet>
      <dgm:spPr/>
    </dgm:pt>
    <dgm:pt modelId="{92BD4CB9-700E-4D5A-8EBF-0A5B80174042}" type="pres">
      <dgm:prSet presAssocID="{081FE379-0C72-4144-B3F0-AC4E41F2EAA0}" presName="sibTrans" presStyleCnt="0"/>
      <dgm:spPr/>
    </dgm:pt>
    <dgm:pt modelId="{131DC94B-195B-497B-9296-A32FBF036EC7}" type="pres">
      <dgm:prSet presAssocID="{0B7FDDFD-655F-4966-93A7-ACED2D6758D8}" presName="compNode" presStyleCnt="0"/>
      <dgm:spPr/>
    </dgm:pt>
    <dgm:pt modelId="{CF075505-E8EA-4669-BABA-401DC8E15F63}" type="pres">
      <dgm:prSet presAssocID="{0B7FDDFD-655F-4966-93A7-ACED2D6758D8}" presName="bgRect" presStyleLbl="bgShp" presStyleIdx="3" presStyleCnt="4" custLinFactNeighborX="-109" custLinFactNeighborY="7790"/>
      <dgm:spPr/>
    </dgm:pt>
    <dgm:pt modelId="{20AA3712-49CF-4236-AB50-E8F4285D1C0B}" type="pres">
      <dgm:prSet presAssocID="{0B7FDDFD-655F-4966-93A7-ACED2D6758D8}" presName="iconRect" presStyleLbl="node1" presStyleIdx="3" presStyleCnt="4" custLinFactNeighborX="-139" custLinFactNeighborY="-366"/>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Desk with solid fill"/>
        </a:ext>
      </dgm:extLst>
    </dgm:pt>
    <dgm:pt modelId="{2B860609-9F78-462C-A57A-62C3C1BEF49A}" type="pres">
      <dgm:prSet presAssocID="{0B7FDDFD-655F-4966-93A7-ACED2D6758D8}" presName="spaceRect" presStyleCnt="0"/>
      <dgm:spPr/>
    </dgm:pt>
    <dgm:pt modelId="{0AE4A487-9A78-4477-AD2C-F1EA03B28256}" type="pres">
      <dgm:prSet presAssocID="{0B7FDDFD-655F-4966-93A7-ACED2D6758D8}" presName="parTx" presStyleLbl="revTx" presStyleIdx="3" presStyleCnt="4" custScaleX="95490" custLinFactNeighborX="-1873" custLinFactNeighborY="-2251">
        <dgm:presLayoutVars>
          <dgm:chMax val="0"/>
          <dgm:chPref val="0"/>
        </dgm:presLayoutVars>
      </dgm:prSet>
      <dgm:spPr/>
    </dgm:pt>
  </dgm:ptLst>
  <dgm:cxnLst>
    <dgm:cxn modelId="{075EE424-D9B4-4E46-9665-4C6F4605B129}" type="presOf" srcId="{0B7FDDFD-655F-4966-93A7-ACED2D6758D8}" destId="{0AE4A487-9A78-4477-AD2C-F1EA03B28256}" srcOrd="0" destOrd="0" presId="urn:microsoft.com/office/officeart/2018/2/layout/IconVerticalSolidList"/>
    <dgm:cxn modelId="{0D9EBC52-F8D5-4A84-99DA-3C84F70E032E}" type="presOf" srcId="{8F3D7864-A67E-4980-8EEC-F096E4A5A33B}" destId="{48B4CC27-4AE8-44EB-98DC-4F45EE52C0EB}" srcOrd="0" destOrd="0" presId="urn:microsoft.com/office/officeart/2018/2/layout/IconVerticalSolidList"/>
    <dgm:cxn modelId="{4F1F945A-D164-481A-9009-F98C2D505015}" type="presOf" srcId="{6FCEFAE3-8161-433C-96FD-675211A5634D}" destId="{D6AAB94E-82BD-4674-9EC8-70CF34F5480A}" srcOrd="0" destOrd="0" presId="urn:microsoft.com/office/officeart/2018/2/layout/IconVerticalSolidList"/>
    <dgm:cxn modelId="{33868E94-7799-41F0-B23B-1D6D3C531263}" type="presOf" srcId="{EDEBDDA8-C6BE-41AD-9C88-6DCC29B9FC6B}" destId="{B7AF9EC2-7666-4444-BBD8-9355F2C63196}" srcOrd="0" destOrd="0" presId="urn:microsoft.com/office/officeart/2018/2/layout/IconVerticalSolidList"/>
    <dgm:cxn modelId="{1FCE48A7-2CA1-4F98-9830-092517DC53B3}" type="presOf" srcId="{635D820D-3F6A-4169-933B-89B3B07AC473}" destId="{262CDA82-1192-443A-AA18-C2D1343BD67D}" srcOrd="0" destOrd="0" presId="urn:microsoft.com/office/officeart/2018/2/layout/IconVerticalSolidList"/>
    <dgm:cxn modelId="{D3F1B6B4-CFFA-4F0C-8151-F35EFDF0B8BB}" srcId="{635D820D-3F6A-4169-933B-89B3B07AC473}" destId="{8F3D7864-A67E-4980-8EEC-F096E4A5A33B}" srcOrd="1" destOrd="0" parTransId="{9F1A70AA-84AE-4B3D-8E2C-3BD6C668A859}" sibTransId="{148FEDAC-1DFF-4A8C-B751-90B79D2B38D7}"/>
    <dgm:cxn modelId="{2C813CBA-5909-427A-809B-31A305DAEF20}" srcId="{635D820D-3F6A-4169-933B-89B3B07AC473}" destId="{6FCEFAE3-8161-433C-96FD-675211A5634D}" srcOrd="2" destOrd="0" parTransId="{E86817DB-1B76-45C8-82CF-C2BE7F451B71}" sibTransId="{081FE379-0C72-4144-B3F0-AC4E41F2EAA0}"/>
    <dgm:cxn modelId="{B75E0ABB-BBC1-48E4-8C86-96B2B612EFF0}" srcId="{635D820D-3F6A-4169-933B-89B3B07AC473}" destId="{EDEBDDA8-C6BE-41AD-9C88-6DCC29B9FC6B}" srcOrd="0" destOrd="0" parTransId="{B9154201-B759-466A-B062-DA0D74D8BD6C}" sibTransId="{70076E80-E76B-4BBC-A0F0-817393568234}"/>
    <dgm:cxn modelId="{9C223AC8-BE62-4707-A47E-7DBCDE2CFA92}" srcId="{635D820D-3F6A-4169-933B-89B3B07AC473}" destId="{0B7FDDFD-655F-4966-93A7-ACED2D6758D8}" srcOrd="3" destOrd="0" parTransId="{258CD603-77CE-4064-9B6B-534C5EBBC6DC}" sibTransId="{83F64753-43F2-43F3-80A6-21115A980F6B}"/>
    <dgm:cxn modelId="{21DCF06F-C3EF-4F6D-A62D-35A90CD59FED}" type="presParOf" srcId="{262CDA82-1192-443A-AA18-C2D1343BD67D}" destId="{103A7B21-BA1E-4E44-B158-72F7A07E09F7}" srcOrd="0" destOrd="0" presId="urn:microsoft.com/office/officeart/2018/2/layout/IconVerticalSolidList"/>
    <dgm:cxn modelId="{4B379F65-8981-4924-9B46-A3B537F9D450}" type="presParOf" srcId="{103A7B21-BA1E-4E44-B158-72F7A07E09F7}" destId="{B69CCFB0-6C1F-4790-8677-D5F70B93E05D}" srcOrd="0" destOrd="0" presId="urn:microsoft.com/office/officeart/2018/2/layout/IconVerticalSolidList"/>
    <dgm:cxn modelId="{DB353766-8969-4534-83AF-B43BC4E49965}" type="presParOf" srcId="{103A7B21-BA1E-4E44-B158-72F7A07E09F7}" destId="{6AE7B6DA-DCF0-4941-B35E-FED592CAD9C7}" srcOrd="1" destOrd="0" presId="urn:microsoft.com/office/officeart/2018/2/layout/IconVerticalSolidList"/>
    <dgm:cxn modelId="{6269B74B-1301-4833-9703-D932628A3A3B}" type="presParOf" srcId="{103A7B21-BA1E-4E44-B158-72F7A07E09F7}" destId="{29FE1B13-E724-485C-A200-D60CBEE67033}" srcOrd="2" destOrd="0" presId="urn:microsoft.com/office/officeart/2018/2/layout/IconVerticalSolidList"/>
    <dgm:cxn modelId="{14628E5F-7952-4A71-ACBA-EFC6276CEDD4}" type="presParOf" srcId="{103A7B21-BA1E-4E44-B158-72F7A07E09F7}" destId="{B7AF9EC2-7666-4444-BBD8-9355F2C63196}" srcOrd="3" destOrd="0" presId="urn:microsoft.com/office/officeart/2018/2/layout/IconVerticalSolidList"/>
    <dgm:cxn modelId="{283CA498-7987-47C5-8D49-8756A82686FB}" type="presParOf" srcId="{262CDA82-1192-443A-AA18-C2D1343BD67D}" destId="{D5A2CA2C-F765-4434-A84E-2FD85DAF1E86}" srcOrd="1" destOrd="0" presId="urn:microsoft.com/office/officeart/2018/2/layout/IconVerticalSolidList"/>
    <dgm:cxn modelId="{91EA6BA5-B900-4C79-80B3-96A690F7AD57}" type="presParOf" srcId="{262CDA82-1192-443A-AA18-C2D1343BD67D}" destId="{E514EAFE-FC11-4B3F-8013-4D4292B72485}" srcOrd="2" destOrd="0" presId="urn:microsoft.com/office/officeart/2018/2/layout/IconVerticalSolidList"/>
    <dgm:cxn modelId="{AACC2D05-E9E6-4932-93DB-780CE60FDD29}" type="presParOf" srcId="{E514EAFE-FC11-4B3F-8013-4D4292B72485}" destId="{61B30C71-B6B1-4EDB-8941-25699A6AA799}" srcOrd="0" destOrd="0" presId="urn:microsoft.com/office/officeart/2018/2/layout/IconVerticalSolidList"/>
    <dgm:cxn modelId="{B80BAD75-D809-4911-8F0E-C03DB4EF3503}" type="presParOf" srcId="{E514EAFE-FC11-4B3F-8013-4D4292B72485}" destId="{06FD45ED-93A9-4CB5-BBC6-41722BB2CC37}" srcOrd="1" destOrd="0" presId="urn:microsoft.com/office/officeart/2018/2/layout/IconVerticalSolidList"/>
    <dgm:cxn modelId="{8F9A2F4C-FA5F-411C-8359-A5C03DD1409D}" type="presParOf" srcId="{E514EAFE-FC11-4B3F-8013-4D4292B72485}" destId="{9B4B4641-26DA-4FEC-B665-84241DB0B22C}" srcOrd="2" destOrd="0" presId="urn:microsoft.com/office/officeart/2018/2/layout/IconVerticalSolidList"/>
    <dgm:cxn modelId="{E037BD84-E667-4373-A6F1-B3F3E65C7279}" type="presParOf" srcId="{E514EAFE-FC11-4B3F-8013-4D4292B72485}" destId="{48B4CC27-4AE8-44EB-98DC-4F45EE52C0EB}" srcOrd="3" destOrd="0" presId="urn:microsoft.com/office/officeart/2018/2/layout/IconVerticalSolidList"/>
    <dgm:cxn modelId="{97094181-0CF2-4033-945B-69E9823F3D78}" type="presParOf" srcId="{262CDA82-1192-443A-AA18-C2D1343BD67D}" destId="{F684393D-6534-4779-B93F-403378B5349D}" srcOrd="3" destOrd="0" presId="urn:microsoft.com/office/officeart/2018/2/layout/IconVerticalSolidList"/>
    <dgm:cxn modelId="{E23A5A8E-CB2E-4FDA-8AD2-BDC3EF098ECE}" type="presParOf" srcId="{262CDA82-1192-443A-AA18-C2D1343BD67D}" destId="{0ED59449-DEDB-47C9-87BE-C02FF337188B}" srcOrd="4" destOrd="0" presId="urn:microsoft.com/office/officeart/2018/2/layout/IconVerticalSolidList"/>
    <dgm:cxn modelId="{ACC97681-673D-4D57-A074-5BF69A33231D}" type="presParOf" srcId="{0ED59449-DEDB-47C9-87BE-C02FF337188B}" destId="{D9483691-DD36-405D-BB66-9F59F2F1E989}" srcOrd="0" destOrd="0" presId="urn:microsoft.com/office/officeart/2018/2/layout/IconVerticalSolidList"/>
    <dgm:cxn modelId="{E4C6731B-1E11-42E0-8F2B-D929B7BF6748}" type="presParOf" srcId="{0ED59449-DEDB-47C9-87BE-C02FF337188B}" destId="{5E20F1DA-74F8-4710-885C-433C2757E97E}" srcOrd="1" destOrd="0" presId="urn:microsoft.com/office/officeart/2018/2/layout/IconVerticalSolidList"/>
    <dgm:cxn modelId="{0E24B4D6-EC5D-49D4-8184-81BE0187E8BB}" type="presParOf" srcId="{0ED59449-DEDB-47C9-87BE-C02FF337188B}" destId="{1B73FCB2-5DE4-4B2F-A030-B78C1995B2EB}" srcOrd="2" destOrd="0" presId="urn:microsoft.com/office/officeart/2018/2/layout/IconVerticalSolidList"/>
    <dgm:cxn modelId="{1182BB39-B651-47DD-9581-BD60B78C9020}" type="presParOf" srcId="{0ED59449-DEDB-47C9-87BE-C02FF337188B}" destId="{D6AAB94E-82BD-4674-9EC8-70CF34F5480A}" srcOrd="3" destOrd="0" presId="urn:microsoft.com/office/officeart/2018/2/layout/IconVerticalSolidList"/>
    <dgm:cxn modelId="{4FB3DBDA-14A2-458D-8077-D42FEEEE1D47}" type="presParOf" srcId="{262CDA82-1192-443A-AA18-C2D1343BD67D}" destId="{92BD4CB9-700E-4D5A-8EBF-0A5B80174042}" srcOrd="5" destOrd="0" presId="urn:microsoft.com/office/officeart/2018/2/layout/IconVerticalSolidList"/>
    <dgm:cxn modelId="{DE2C3D9F-EE7C-40AC-94A3-8AE16BFF50BD}" type="presParOf" srcId="{262CDA82-1192-443A-AA18-C2D1343BD67D}" destId="{131DC94B-195B-497B-9296-A32FBF036EC7}" srcOrd="6" destOrd="0" presId="urn:microsoft.com/office/officeart/2018/2/layout/IconVerticalSolidList"/>
    <dgm:cxn modelId="{62E6F1BC-2E4C-45F2-8944-79E026AEA07D}" type="presParOf" srcId="{131DC94B-195B-497B-9296-A32FBF036EC7}" destId="{CF075505-E8EA-4669-BABA-401DC8E15F63}" srcOrd="0" destOrd="0" presId="urn:microsoft.com/office/officeart/2018/2/layout/IconVerticalSolidList"/>
    <dgm:cxn modelId="{C360F8A3-D138-4C6E-87E3-8A4F11BB6A66}" type="presParOf" srcId="{131DC94B-195B-497B-9296-A32FBF036EC7}" destId="{20AA3712-49CF-4236-AB50-E8F4285D1C0B}" srcOrd="1" destOrd="0" presId="urn:microsoft.com/office/officeart/2018/2/layout/IconVerticalSolidList"/>
    <dgm:cxn modelId="{07F8E530-9F36-4A29-A187-0C5E7768D7A5}" type="presParOf" srcId="{131DC94B-195B-497B-9296-A32FBF036EC7}" destId="{2B860609-9F78-462C-A57A-62C3C1BEF49A}" srcOrd="2" destOrd="0" presId="urn:microsoft.com/office/officeart/2018/2/layout/IconVerticalSolidList"/>
    <dgm:cxn modelId="{23D652CF-3805-47CF-83AA-4A4C394309E8}" type="presParOf" srcId="{131DC94B-195B-497B-9296-A32FBF036EC7}" destId="{0AE4A487-9A78-4477-AD2C-F1EA03B2825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5D820D-3F6A-4169-933B-89B3B07AC473}" type="doc">
      <dgm:prSet loTypeId="urn:microsoft.com/office/officeart/2018/2/layout/IconVerticalSolidList" loCatId="icon" qsTypeId="urn:microsoft.com/office/officeart/2005/8/quickstyle/simple1" qsCatId="simple" csTypeId="urn:microsoft.com/office/officeart/2005/8/colors/colorful5" csCatId="colorful" phldr="1"/>
      <dgm:spPr/>
      <dgm:t>
        <a:bodyPr/>
        <a:lstStyle/>
        <a:p>
          <a:endParaRPr lang="en-US"/>
        </a:p>
      </dgm:t>
    </dgm:pt>
    <dgm:pt modelId="{EDEBDDA8-C6BE-41AD-9C88-6DCC29B9FC6B}">
      <dgm:prSet custT="1"/>
      <dgm:spPr/>
      <dgm:t>
        <a:bodyPr/>
        <a:lstStyle/>
        <a:p>
          <a:pPr>
            <a:lnSpc>
              <a:spcPct val="100000"/>
            </a:lnSpc>
          </a:pPr>
          <a:r>
            <a:rPr lang="en-GB" sz="1600" dirty="0">
              <a:latin typeface="Arial" panose="020B0604020202020204" pitchFamily="34" charset="0"/>
              <a:cs typeface="Arial" panose="020B0604020202020204" pitchFamily="34" charset="0"/>
            </a:rPr>
            <a:t>Understand the</a:t>
          </a:r>
          <a:r>
            <a:rPr lang="en-GB" sz="1600" dirty="0"/>
            <a:t> concept of time in finance</a:t>
          </a:r>
          <a:endParaRPr lang="en-GB" sz="1600" dirty="0">
            <a:latin typeface="Arial" panose="020B0604020202020204" pitchFamily="34" charset="0"/>
            <a:cs typeface="Arial" panose="020B0604020202020204" pitchFamily="34" charset="0"/>
          </a:endParaRPr>
        </a:p>
        <a:p>
          <a:pPr>
            <a:lnSpc>
              <a:spcPct val="100000"/>
            </a:lnSpc>
          </a:pPr>
          <a:endParaRPr lang="en-US" sz="1600" dirty="0">
            <a:latin typeface="Arial" panose="020B0604020202020204" pitchFamily="34" charset="0"/>
            <a:cs typeface="Arial" panose="020B0604020202020204" pitchFamily="34" charset="0"/>
          </a:endParaRPr>
        </a:p>
      </dgm:t>
    </dgm:pt>
    <dgm:pt modelId="{B9154201-B759-466A-B062-DA0D74D8BD6C}" type="parTrans" cxnId="{B75E0ABB-BBC1-48E4-8C86-96B2B612EFF0}">
      <dgm:prSet/>
      <dgm:spPr/>
      <dgm:t>
        <a:bodyPr/>
        <a:lstStyle/>
        <a:p>
          <a:endParaRPr lang="en-US"/>
        </a:p>
      </dgm:t>
    </dgm:pt>
    <dgm:pt modelId="{70076E80-E76B-4BBC-A0F0-817393568234}" type="sibTrans" cxnId="{B75E0ABB-BBC1-48E4-8C86-96B2B612EFF0}">
      <dgm:prSet/>
      <dgm:spPr/>
      <dgm:t>
        <a:bodyPr/>
        <a:lstStyle/>
        <a:p>
          <a:endParaRPr lang="en-US"/>
        </a:p>
      </dgm:t>
    </dgm:pt>
    <dgm:pt modelId="{6FCEFAE3-8161-433C-96FD-675211A5634D}">
      <dgm:prSet custT="1"/>
      <dgm:spPr/>
      <dgm:t>
        <a:bodyPr/>
        <a:lstStyle/>
        <a:p>
          <a:pPr marL="0" lvl="0" indent="0" algn="l" defTabSz="844550">
            <a:lnSpc>
              <a:spcPct val="100000"/>
            </a:lnSpc>
            <a:spcBef>
              <a:spcPct val="0"/>
            </a:spcBef>
            <a:spcAft>
              <a:spcPct val="35000"/>
            </a:spcAft>
            <a:buNone/>
          </a:pPr>
          <a:r>
            <a:rPr lang="en-GB" sz="1600" kern="1200" dirty="0"/>
            <a:t>The present value and discounting</a:t>
          </a:r>
          <a:endParaRPr lang="en-US" sz="1600" kern="1200" dirty="0">
            <a:solidFill>
              <a:prstClr val="black">
                <a:hueOff val="0"/>
                <a:satOff val="0"/>
                <a:lumOff val="0"/>
                <a:alphaOff val="0"/>
              </a:prstClr>
            </a:solidFill>
            <a:latin typeface="Segoe Sans"/>
            <a:ea typeface="+mn-ea"/>
            <a:cs typeface="+mn-cs"/>
          </a:endParaRPr>
        </a:p>
      </dgm:t>
    </dgm:pt>
    <dgm:pt modelId="{E86817DB-1B76-45C8-82CF-C2BE7F451B71}" type="parTrans" cxnId="{2C813CBA-5909-427A-809B-31A305DAEF20}">
      <dgm:prSet/>
      <dgm:spPr/>
      <dgm:t>
        <a:bodyPr/>
        <a:lstStyle/>
        <a:p>
          <a:endParaRPr lang="en-US"/>
        </a:p>
      </dgm:t>
    </dgm:pt>
    <dgm:pt modelId="{081FE379-0C72-4144-B3F0-AC4E41F2EAA0}" type="sibTrans" cxnId="{2C813CBA-5909-427A-809B-31A305DAEF20}">
      <dgm:prSet/>
      <dgm:spPr/>
      <dgm:t>
        <a:bodyPr/>
        <a:lstStyle/>
        <a:p>
          <a:endParaRPr lang="en-US"/>
        </a:p>
      </dgm:t>
    </dgm:pt>
    <dgm:pt modelId="{0B7FDDFD-655F-4966-93A7-ACED2D6758D8}">
      <dgm:prSet custT="1"/>
      <dgm:spPr/>
      <dgm:t>
        <a:bodyPr/>
        <a:lstStyle/>
        <a:p>
          <a:pPr marL="0" lvl="0" indent="0" algn="l" defTabSz="844550">
            <a:lnSpc>
              <a:spcPct val="100000"/>
            </a:lnSpc>
            <a:spcBef>
              <a:spcPct val="0"/>
            </a:spcBef>
            <a:spcAft>
              <a:spcPct val="35000"/>
            </a:spcAft>
            <a:buNone/>
          </a:pPr>
          <a:r>
            <a:rPr lang="en-GB" sz="1600" kern="1200" dirty="0"/>
            <a:t>The future value and compounding</a:t>
          </a:r>
          <a:endParaRPr lang="en-GB" sz="1600" kern="1200" dirty="0">
            <a:solidFill>
              <a:prstClr val="black">
                <a:hueOff val="0"/>
                <a:satOff val="0"/>
                <a:lumOff val="0"/>
                <a:alphaOff val="0"/>
              </a:prstClr>
            </a:solidFill>
            <a:latin typeface="Segoe Sans"/>
            <a:ea typeface="+mn-ea"/>
            <a:cs typeface="+mn-cs"/>
          </a:endParaRPr>
        </a:p>
      </dgm:t>
    </dgm:pt>
    <dgm:pt modelId="{258CD603-77CE-4064-9B6B-534C5EBBC6DC}" type="parTrans" cxnId="{9C223AC8-BE62-4707-A47E-7DBCDE2CFA92}">
      <dgm:prSet/>
      <dgm:spPr/>
      <dgm:t>
        <a:bodyPr/>
        <a:lstStyle/>
        <a:p>
          <a:endParaRPr lang="en-US"/>
        </a:p>
      </dgm:t>
    </dgm:pt>
    <dgm:pt modelId="{83F64753-43F2-43F3-80A6-21115A980F6B}" type="sibTrans" cxnId="{9C223AC8-BE62-4707-A47E-7DBCDE2CFA92}">
      <dgm:prSet/>
      <dgm:spPr/>
      <dgm:t>
        <a:bodyPr/>
        <a:lstStyle/>
        <a:p>
          <a:endParaRPr lang="en-US"/>
        </a:p>
      </dgm:t>
    </dgm:pt>
    <dgm:pt modelId="{8F3D7864-A67E-4980-8EEC-F096E4A5A33B}">
      <dgm:prSet custT="1"/>
      <dgm:spPr/>
      <dgm:t>
        <a:bodyPr/>
        <a:lstStyle/>
        <a:p>
          <a:pPr marL="0" lvl="0" indent="0" algn="l" defTabSz="844550">
            <a:lnSpc>
              <a:spcPct val="100000"/>
            </a:lnSpc>
            <a:spcBef>
              <a:spcPct val="0"/>
            </a:spcBef>
            <a:spcAft>
              <a:spcPct val="35000"/>
            </a:spcAft>
            <a:buNone/>
          </a:pPr>
          <a:r>
            <a:rPr lang="en-GB" sz="1600" kern="1200" dirty="0"/>
            <a:t>Simple vs Compounding Interest</a:t>
          </a:r>
          <a:endParaRPr lang="en-US" sz="1600" kern="1200" dirty="0">
            <a:solidFill>
              <a:prstClr val="black">
                <a:hueOff val="0"/>
                <a:satOff val="0"/>
                <a:lumOff val="0"/>
                <a:alphaOff val="0"/>
              </a:prstClr>
            </a:solidFill>
            <a:latin typeface="Segoe Sans"/>
            <a:ea typeface="+mn-ea"/>
            <a:cs typeface="+mn-cs"/>
          </a:endParaRPr>
        </a:p>
      </dgm:t>
    </dgm:pt>
    <dgm:pt modelId="{148FEDAC-1DFF-4A8C-B751-90B79D2B38D7}" type="sibTrans" cxnId="{D3F1B6B4-CFFA-4F0C-8151-F35EFDF0B8BB}">
      <dgm:prSet/>
      <dgm:spPr/>
      <dgm:t>
        <a:bodyPr/>
        <a:lstStyle/>
        <a:p>
          <a:endParaRPr lang="en-US"/>
        </a:p>
      </dgm:t>
    </dgm:pt>
    <dgm:pt modelId="{9F1A70AA-84AE-4B3D-8E2C-3BD6C668A859}" type="parTrans" cxnId="{D3F1B6B4-CFFA-4F0C-8151-F35EFDF0B8BB}">
      <dgm:prSet/>
      <dgm:spPr/>
      <dgm:t>
        <a:bodyPr/>
        <a:lstStyle/>
        <a:p>
          <a:endParaRPr lang="en-US"/>
        </a:p>
      </dgm:t>
    </dgm:pt>
    <dgm:pt modelId="{262CDA82-1192-443A-AA18-C2D1343BD67D}" type="pres">
      <dgm:prSet presAssocID="{635D820D-3F6A-4169-933B-89B3B07AC473}" presName="root" presStyleCnt="0">
        <dgm:presLayoutVars>
          <dgm:dir/>
          <dgm:resizeHandles val="exact"/>
        </dgm:presLayoutVars>
      </dgm:prSet>
      <dgm:spPr/>
    </dgm:pt>
    <dgm:pt modelId="{103A7B21-BA1E-4E44-B158-72F7A07E09F7}" type="pres">
      <dgm:prSet presAssocID="{EDEBDDA8-C6BE-41AD-9C88-6DCC29B9FC6B}" presName="compNode" presStyleCnt="0"/>
      <dgm:spPr/>
    </dgm:pt>
    <dgm:pt modelId="{B69CCFB0-6C1F-4790-8677-D5F70B93E05D}" type="pres">
      <dgm:prSet presAssocID="{EDEBDDA8-C6BE-41AD-9C88-6DCC29B9FC6B}" presName="bgRect" presStyleLbl="bgShp" presStyleIdx="0" presStyleCnt="4"/>
      <dgm:spPr/>
    </dgm:pt>
    <dgm:pt modelId="{6AE7B6DA-DCF0-4941-B35E-FED592CAD9C7}" type="pres">
      <dgm:prSet presAssocID="{EDEBDDA8-C6BE-41AD-9C88-6DCC29B9FC6B}" presName="iconRect" presStyleLbl="node1" presStyleIdx="0" presStyleCnt="4"/>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oardroom with solid fill"/>
        </a:ext>
      </dgm:extLst>
    </dgm:pt>
    <dgm:pt modelId="{29FE1B13-E724-485C-A200-D60CBEE67033}" type="pres">
      <dgm:prSet presAssocID="{EDEBDDA8-C6BE-41AD-9C88-6DCC29B9FC6B}" presName="spaceRect" presStyleCnt="0"/>
      <dgm:spPr/>
    </dgm:pt>
    <dgm:pt modelId="{B7AF9EC2-7666-4444-BBD8-9355F2C63196}" type="pres">
      <dgm:prSet presAssocID="{EDEBDDA8-C6BE-41AD-9C88-6DCC29B9FC6B}" presName="parTx" presStyleLbl="revTx" presStyleIdx="0" presStyleCnt="4" custLinFactNeighborY="20382">
        <dgm:presLayoutVars>
          <dgm:chMax val="0"/>
          <dgm:chPref val="0"/>
        </dgm:presLayoutVars>
      </dgm:prSet>
      <dgm:spPr/>
    </dgm:pt>
    <dgm:pt modelId="{D5A2CA2C-F765-4434-A84E-2FD85DAF1E86}" type="pres">
      <dgm:prSet presAssocID="{70076E80-E76B-4BBC-A0F0-817393568234}" presName="sibTrans" presStyleCnt="0"/>
      <dgm:spPr/>
    </dgm:pt>
    <dgm:pt modelId="{E514EAFE-FC11-4B3F-8013-4D4292B72485}" type="pres">
      <dgm:prSet presAssocID="{8F3D7864-A67E-4980-8EEC-F096E4A5A33B}" presName="compNode" presStyleCnt="0"/>
      <dgm:spPr/>
    </dgm:pt>
    <dgm:pt modelId="{61B30C71-B6B1-4EDB-8941-25699A6AA799}" type="pres">
      <dgm:prSet presAssocID="{8F3D7864-A67E-4980-8EEC-F096E4A5A33B}" presName="bgRect" presStyleLbl="bgShp" presStyleIdx="1" presStyleCnt="4"/>
      <dgm:spPr/>
    </dgm:pt>
    <dgm:pt modelId="{06FD45ED-93A9-4CB5-BBC6-41722BB2CC37}" type="pres">
      <dgm:prSet presAssocID="{8F3D7864-A67E-4980-8EEC-F096E4A5A33B}"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Target Audience with solid fill"/>
        </a:ext>
      </dgm:extLst>
    </dgm:pt>
    <dgm:pt modelId="{9B4B4641-26DA-4FEC-B665-84241DB0B22C}" type="pres">
      <dgm:prSet presAssocID="{8F3D7864-A67E-4980-8EEC-F096E4A5A33B}" presName="spaceRect" presStyleCnt="0"/>
      <dgm:spPr/>
    </dgm:pt>
    <dgm:pt modelId="{48B4CC27-4AE8-44EB-98DC-4F45EE52C0EB}" type="pres">
      <dgm:prSet presAssocID="{8F3D7864-A67E-4980-8EEC-F096E4A5A33B}" presName="parTx" presStyleLbl="revTx" presStyleIdx="1" presStyleCnt="4" custLinFactNeighborX="-461" custLinFactNeighborY="-3925">
        <dgm:presLayoutVars>
          <dgm:chMax val="0"/>
          <dgm:chPref val="0"/>
        </dgm:presLayoutVars>
      </dgm:prSet>
      <dgm:spPr/>
    </dgm:pt>
    <dgm:pt modelId="{F684393D-6534-4779-B93F-403378B5349D}" type="pres">
      <dgm:prSet presAssocID="{148FEDAC-1DFF-4A8C-B751-90B79D2B38D7}" presName="sibTrans" presStyleCnt="0"/>
      <dgm:spPr/>
    </dgm:pt>
    <dgm:pt modelId="{0ED59449-DEDB-47C9-87BE-C02FF337188B}" type="pres">
      <dgm:prSet presAssocID="{6FCEFAE3-8161-433C-96FD-675211A5634D}" presName="compNode" presStyleCnt="0"/>
      <dgm:spPr/>
    </dgm:pt>
    <dgm:pt modelId="{D9483691-DD36-405D-BB66-9F59F2F1E989}" type="pres">
      <dgm:prSet presAssocID="{6FCEFAE3-8161-433C-96FD-675211A5634D}" presName="bgRect" presStyleLbl="bgShp" presStyleIdx="2" presStyleCnt="4"/>
      <dgm:spPr/>
    </dgm:pt>
    <dgm:pt modelId="{5E20F1DA-74F8-4710-885C-433C2757E97E}" type="pres">
      <dgm:prSet presAssocID="{6FCEFAE3-8161-433C-96FD-675211A5634D}"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User network with solid fill"/>
        </a:ext>
      </dgm:extLst>
    </dgm:pt>
    <dgm:pt modelId="{1B73FCB2-5DE4-4B2F-A030-B78C1995B2EB}" type="pres">
      <dgm:prSet presAssocID="{6FCEFAE3-8161-433C-96FD-675211A5634D}" presName="spaceRect" presStyleCnt="0"/>
      <dgm:spPr/>
    </dgm:pt>
    <dgm:pt modelId="{D6AAB94E-82BD-4674-9EC8-70CF34F5480A}" type="pres">
      <dgm:prSet presAssocID="{6FCEFAE3-8161-433C-96FD-675211A5634D}" presName="parTx" presStyleLbl="revTx" presStyleIdx="2" presStyleCnt="4" custLinFactNeighborY="1826">
        <dgm:presLayoutVars>
          <dgm:chMax val="0"/>
          <dgm:chPref val="0"/>
        </dgm:presLayoutVars>
      </dgm:prSet>
      <dgm:spPr/>
    </dgm:pt>
    <dgm:pt modelId="{92BD4CB9-700E-4D5A-8EBF-0A5B80174042}" type="pres">
      <dgm:prSet presAssocID="{081FE379-0C72-4144-B3F0-AC4E41F2EAA0}" presName="sibTrans" presStyleCnt="0"/>
      <dgm:spPr/>
    </dgm:pt>
    <dgm:pt modelId="{131DC94B-195B-497B-9296-A32FBF036EC7}" type="pres">
      <dgm:prSet presAssocID="{0B7FDDFD-655F-4966-93A7-ACED2D6758D8}" presName="compNode" presStyleCnt="0"/>
      <dgm:spPr/>
    </dgm:pt>
    <dgm:pt modelId="{CF075505-E8EA-4669-BABA-401DC8E15F63}" type="pres">
      <dgm:prSet presAssocID="{0B7FDDFD-655F-4966-93A7-ACED2D6758D8}" presName="bgRect" presStyleLbl="bgShp" presStyleIdx="3" presStyleCnt="4" custLinFactNeighborX="-109" custLinFactNeighborY="7790"/>
      <dgm:spPr/>
    </dgm:pt>
    <dgm:pt modelId="{20AA3712-49CF-4236-AB50-E8F4285D1C0B}" type="pres">
      <dgm:prSet presAssocID="{0B7FDDFD-655F-4966-93A7-ACED2D6758D8}" presName="iconRect" presStyleLbl="node1" presStyleIdx="3" presStyleCnt="4" custLinFactNeighborX="-139" custLinFactNeighborY="-366"/>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Desk with solid fill"/>
        </a:ext>
      </dgm:extLst>
    </dgm:pt>
    <dgm:pt modelId="{2B860609-9F78-462C-A57A-62C3C1BEF49A}" type="pres">
      <dgm:prSet presAssocID="{0B7FDDFD-655F-4966-93A7-ACED2D6758D8}" presName="spaceRect" presStyleCnt="0"/>
      <dgm:spPr/>
    </dgm:pt>
    <dgm:pt modelId="{0AE4A487-9A78-4477-AD2C-F1EA03B28256}" type="pres">
      <dgm:prSet presAssocID="{0B7FDDFD-655F-4966-93A7-ACED2D6758D8}" presName="parTx" presStyleLbl="revTx" presStyleIdx="3" presStyleCnt="4" custScaleX="95490" custLinFactNeighborX="-1873" custLinFactNeighborY="-2251">
        <dgm:presLayoutVars>
          <dgm:chMax val="0"/>
          <dgm:chPref val="0"/>
        </dgm:presLayoutVars>
      </dgm:prSet>
      <dgm:spPr/>
    </dgm:pt>
  </dgm:ptLst>
  <dgm:cxnLst>
    <dgm:cxn modelId="{075EE424-D9B4-4E46-9665-4C6F4605B129}" type="presOf" srcId="{0B7FDDFD-655F-4966-93A7-ACED2D6758D8}" destId="{0AE4A487-9A78-4477-AD2C-F1EA03B28256}" srcOrd="0" destOrd="0" presId="urn:microsoft.com/office/officeart/2018/2/layout/IconVerticalSolidList"/>
    <dgm:cxn modelId="{0D9EBC52-F8D5-4A84-99DA-3C84F70E032E}" type="presOf" srcId="{8F3D7864-A67E-4980-8EEC-F096E4A5A33B}" destId="{48B4CC27-4AE8-44EB-98DC-4F45EE52C0EB}" srcOrd="0" destOrd="0" presId="urn:microsoft.com/office/officeart/2018/2/layout/IconVerticalSolidList"/>
    <dgm:cxn modelId="{4F1F945A-D164-481A-9009-F98C2D505015}" type="presOf" srcId="{6FCEFAE3-8161-433C-96FD-675211A5634D}" destId="{D6AAB94E-82BD-4674-9EC8-70CF34F5480A}" srcOrd="0" destOrd="0" presId="urn:microsoft.com/office/officeart/2018/2/layout/IconVerticalSolidList"/>
    <dgm:cxn modelId="{33868E94-7799-41F0-B23B-1D6D3C531263}" type="presOf" srcId="{EDEBDDA8-C6BE-41AD-9C88-6DCC29B9FC6B}" destId="{B7AF9EC2-7666-4444-BBD8-9355F2C63196}" srcOrd="0" destOrd="0" presId="urn:microsoft.com/office/officeart/2018/2/layout/IconVerticalSolidList"/>
    <dgm:cxn modelId="{1FCE48A7-2CA1-4F98-9830-092517DC53B3}" type="presOf" srcId="{635D820D-3F6A-4169-933B-89B3B07AC473}" destId="{262CDA82-1192-443A-AA18-C2D1343BD67D}" srcOrd="0" destOrd="0" presId="urn:microsoft.com/office/officeart/2018/2/layout/IconVerticalSolidList"/>
    <dgm:cxn modelId="{D3F1B6B4-CFFA-4F0C-8151-F35EFDF0B8BB}" srcId="{635D820D-3F6A-4169-933B-89B3B07AC473}" destId="{8F3D7864-A67E-4980-8EEC-F096E4A5A33B}" srcOrd="1" destOrd="0" parTransId="{9F1A70AA-84AE-4B3D-8E2C-3BD6C668A859}" sibTransId="{148FEDAC-1DFF-4A8C-B751-90B79D2B38D7}"/>
    <dgm:cxn modelId="{2C813CBA-5909-427A-809B-31A305DAEF20}" srcId="{635D820D-3F6A-4169-933B-89B3B07AC473}" destId="{6FCEFAE3-8161-433C-96FD-675211A5634D}" srcOrd="2" destOrd="0" parTransId="{E86817DB-1B76-45C8-82CF-C2BE7F451B71}" sibTransId="{081FE379-0C72-4144-B3F0-AC4E41F2EAA0}"/>
    <dgm:cxn modelId="{B75E0ABB-BBC1-48E4-8C86-96B2B612EFF0}" srcId="{635D820D-3F6A-4169-933B-89B3B07AC473}" destId="{EDEBDDA8-C6BE-41AD-9C88-6DCC29B9FC6B}" srcOrd="0" destOrd="0" parTransId="{B9154201-B759-466A-B062-DA0D74D8BD6C}" sibTransId="{70076E80-E76B-4BBC-A0F0-817393568234}"/>
    <dgm:cxn modelId="{9C223AC8-BE62-4707-A47E-7DBCDE2CFA92}" srcId="{635D820D-3F6A-4169-933B-89B3B07AC473}" destId="{0B7FDDFD-655F-4966-93A7-ACED2D6758D8}" srcOrd="3" destOrd="0" parTransId="{258CD603-77CE-4064-9B6B-534C5EBBC6DC}" sibTransId="{83F64753-43F2-43F3-80A6-21115A980F6B}"/>
    <dgm:cxn modelId="{21DCF06F-C3EF-4F6D-A62D-35A90CD59FED}" type="presParOf" srcId="{262CDA82-1192-443A-AA18-C2D1343BD67D}" destId="{103A7B21-BA1E-4E44-B158-72F7A07E09F7}" srcOrd="0" destOrd="0" presId="urn:microsoft.com/office/officeart/2018/2/layout/IconVerticalSolidList"/>
    <dgm:cxn modelId="{4B379F65-8981-4924-9B46-A3B537F9D450}" type="presParOf" srcId="{103A7B21-BA1E-4E44-B158-72F7A07E09F7}" destId="{B69CCFB0-6C1F-4790-8677-D5F70B93E05D}" srcOrd="0" destOrd="0" presId="urn:microsoft.com/office/officeart/2018/2/layout/IconVerticalSolidList"/>
    <dgm:cxn modelId="{DB353766-8969-4534-83AF-B43BC4E49965}" type="presParOf" srcId="{103A7B21-BA1E-4E44-B158-72F7A07E09F7}" destId="{6AE7B6DA-DCF0-4941-B35E-FED592CAD9C7}" srcOrd="1" destOrd="0" presId="urn:microsoft.com/office/officeart/2018/2/layout/IconVerticalSolidList"/>
    <dgm:cxn modelId="{6269B74B-1301-4833-9703-D932628A3A3B}" type="presParOf" srcId="{103A7B21-BA1E-4E44-B158-72F7A07E09F7}" destId="{29FE1B13-E724-485C-A200-D60CBEE67033}" srcOrd="2" destOrd="0" presId="urn:microsoft.com/office/officeart/2018/2/layout/IconVerticalSolidList"/>
    <dgm:cxn modelId="{14628E5F-7952-4A71-ACBA-EFC6276CEDD4}" type="presParOf" srcId="{103A7B21-BA1E-4E44-B158-72F7A07E09F7}" destId="{B7AF9EC2-7666-4444-BBD8-9355F2C63196}" srcOrd="3" destOrd="0" presId="urn:microsoft.com/office/officeart/2018/2/layout/IconVerticalSolidList"/>
    <dgm:cxn modelId="{283CA498-7987-47C5-8D49-8756A82686FB}" type="presParOf" srcId="{262CDA82-1192-443A-AA18-C2D1343BD67D}" destId="{D5A2CA2C-F765-4434-A84E-2FD85DAF1E86}" srcOrd="1" destOrd="0" presId="urn:microsoft.com/office/officeart/2018/2/layout/IconVerticalSolidList"/>
    <dgm:cxn modelId="{91EA6BA5-B900-4C79-80B3-96A690F7AD57}" type="presParOf" srcId="{262CDA82-1192-443A-AA18-C2D1343BD67D}" destId="{E514EAFE-FC11-4B3F-8013-4D4292B72485}" srcOrd="2" destOrd="0" presId="urn:microsoft.com/office/officeart/2018/2/layout/IconVerticalSolidList"/>
    <dgm:cxn modelId="{AACC2D05-E9E6-4932-93DB-780CE60FDD29}" type="presParOf" srcId="{E514EAFE-FC11-4B3F-8013-4D4292B72485}" destId="{61B30C71-B6B1-4EDB-8941-25699A6AA799}" srcOrd="0" destOrd="0" presId="urn:microsoft.com/office/officeart/2018/2/layout/IconVerticalSolidList"/>
    <dgm:cxn modelId="{B80BAD75-D809-4911-8F0E-C03DB4EF3503}" type="presParOf" srcId="{E514EAFE-FC11-4B3F-8013-4D4292B72485}" destId="{06FD45ED-93A9-4CB5-BBC6-41722BB2CC37}" srcOrd="1" destOrd="0" presId="urn:microsoft.com/office/officeart/2018/2/layout/IconVerticalSolidList"/>
    <dgm:cxn modelId="{8F9A2F4C-FA5F-411C-8359-A5C03DD1409D}" type="presParOf" srcId="{E514EAFE-FC11-4B3F-8013-4D4292B72485}" destId="{9B4B4641-26DA-4FEC-B665-84241DB0B22C}" srcOrd="2" destOrd="0" presId="urn:microsoft.com/office/officeart/2018/2/layout/IconVerticalSolidList"/>
    <dgm:cxn modelId="{E037BD84-E667-4373-A6F1-B3F3E65C7279}" type="presParOf" srcId="{E514EAFE-FC11-4B3F-8013-4D4292B72485}" destId="{48B4CC27-4AE8-44EB-98DC-4F45EE52C0EB}" srcOrd="3" destOrd="0" presId="urn:microsoft.com/office/officeart/2018/2/layout/IconVerticalSolidList"/>
    <dgm:cxn modelId="{97094181-0CF2-4033-945B-69E9823F3D78}" type="presParOf" srcId="{262CDA82-1192-443A-AA18-C2D1343BD67D}" destId="{F684393D-6534-4779-B93F-403378B5349D}" srcOrd="3" destOrd="0" presId="urn:microsoft.com/office/officeart/2018/2/layout/IconVerticalSolidList"/>
    <dgm:cxn modelId="{E23A5A8E-CB2E-4FDA-8AD2-BDC3EF098ECE}" type="presParOf" srcId="{262CDA82-1192-443A-AA18-C2D1343BD67D}" destId="{0ED59449-DEDB-47C9-87BE-C02FF337188B}" srcOrd="4" destOrd="0" presId="urn:microsoft.com/office/officeart/2018/2/layout/IconVerticalSolidList"/>
    <dgm:cxn modelId="{ACC97681-673D-4D57-A074-5BF69A33231D}" type="presParOf" srcId="{0ED59449-DEDB-47C9-87BE-C02FF337188B}" destId="{D9483691-DD36-405D-BB66-9F59F2F1E989}" srcOrd="0" destOrd="0" presId="urn:microsoft.com/office/officeart/2018/2/layout/IconVerticalSolidList"/>
    <dgm:cxn modelId="{E4C6731B-1E11-42E0-8F2B-D929B7BF6748}" type="presParOf" srcId="{0ED59449-DEDB-47C9-87BE-C02FF337188B}" destId="{5E20F1DA-74F8-4710-885C-433C2757E97E}" srcOrd="1" destOrd="0" presId="urn:microsoft.com/office/officeart/2018/2/layout/IconVerticalSolidList"/>
    <dgm:cxn modelId="{0E24B4D6-EC5D-49D4-8184-81BE0187E8BB}" type="presParOf" srcId="{0ED59449-DEDB-47C9-87BE-C02FF337188B}" destId="{1B73FCB2-5DE4-4B2F-A030-B78C1995B2EB}" srcOrd="2" destOrd="0" presId="urn:microsoft.com/office/officeart/2018/2/layout/IconVerticalSolidList"/>
    <dgm:cxn modelId="{1182BB39-B651-47DD-9581-BD60B78C9020}" type="presParOf" srcId="{0ED59449-DEDB-47C9-87BE-C02FF337188B}" destId="{D6AAB94E-82BD-4674-9EC8-70CF34F5480A}" srcOrd="3" destOrd="0" presId="urn:microsoft.com/office/officeart/2018/2/layout/IconVerticalSolidList"/>
    <dgm:cxn modelId="{4FB3DBDA-14A2-458D-8077-D42FEEEE1D47}" type="presParOf" srcId="{262CDA82-1192-443A-AA18-C2D1343BD67D}" destId="{92BD4CB9-700E-4D5A-8EBF-0A5B80174042}" srcOrd="5" destOrd="0" presId="urn:microsoft.com/office/officeart/2018/2/layout/IconVerticalSolidList"/>
    <dgm:cxn modelId="{DE2C3D9F-EE7C-40AC-94A3-8AE16BFF50BD}" type="presParOf" srcId="{262CDA82-1192-443A-AA18-C2D1343BD67D}" destId="{131DC94B-195B-497B-9296-A32FBF036EC7}" srcOrd="6" destOrd="0" presId="urn:microsoft.com/office/officeart/2018/2/layout/IconVerticalSolidList"/>
    <dgm:cxn modelId="{62E6F1BC-2E4C-45F2-8944-79E026AEA07D}" type="presParOf" srcId="{131DC94B-195B-497B-9296-A32FBF036EC7}" destId="{CF075505-E8EA-4669-BABA-401DC8E15F63}" srcOrd="0" destOrd="0" presId="urn:microsoft.com/office/officeart/2018/2/layout/IconVerticalSolidList"/>
    <dgm:cxn modelId="{C360F8A3-D138-4C6E-87E3-8A4F11BB6A66}" type="presParOf" srcId="{131DC94B-195B-497B-9296-A32FBF036EC7}" destId="{20AA3712-49CF-4236-AB50-E8F4285D1C0B}" srcOrd="1" destOrd="0" presId="urn:microsoft.com/office/officeart/2018/2/layout/IconVerticalSolidList"/>
    <dgm:cxn modelId="{07F8E530-9F36-4A29-A187-0C5E7768D7A5}" type="presParOf" srcId="{131DC94B-195B-497B-9296-A32FBF036EC7}" destId="{2B860609-9F78-462C-A57A-62C3C1BEF49A}" srcOrd="2" destOrd="0" presId="urn:microsoft.com/office/officeart/2018/2/layout/IconVerticalSolidList"/>
    <dgm:cxn modelId="{23D652CF-3805-47CF-83AA-4A4C394309E8}" type="presParOf" srcId="{131DC94B-195B-497B-9296-A32FBF036EC7}" destId="{0AE4A487-9A78-4477-AD2C-F1EA03B2825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9CCFB0-6C1F-4790-8677-D5F70B93E05D}">
      <dsp:nvSpPr>
        <dsp:cNvPr id="0" name=""/>
        <dsp:cNvSpPr/>
      </dsp:nvSpPr>
      <dsp:spPr>
        <a:xfrm>
          <a:off x="0" y="3073"/>
          <a:ext cx="7632848" cy="693568"/>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E7B6DA-DCF0-4941-B35E-FED592CAD9C7}">
      <dsp:nvSpPr>
        <dsp:cNvPr id="0" name=""/>
        <dsp:cNvSpPr/>
      </dsp:nvSpPr>
      <dsp:spPr>
        <a:xfrm>
          <a:off x="209804" y="159126"/>
          <a:ext cx="381835" cy="381462"/>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AF9EC2-7666-4444-BBD8-9355F2C63196}">
      <dsp:nvSpPr>
        <dsp:cNvPr id="0" name=""/>
        <dsp:cNvSpPr/>
      </dsp:nvSpPr>
      <dsp:spPr>
        <a:xfrm>
          <a:off x="801444" y="148853"/>
          <a:ext cx="6819061" cy="715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696" tIns="75696" rIns="75696" bIns="75696" numCol="1" spcCol="1270" anchor="ctr" anchorCtr="0">
          <a:noAutofit/>
        </a:bodyPr>
        <a:lstStyle/>
        <a:p>
          <a:pPr marL="0" lvl="0" indent="0" algn="l" defTabSz="711200">
            <a:lnSpc>
              <a:spcPct val="100000"/>
            </a:lnSpc>
            <a:spcBef>
              <a:spcPct val="0"/>
            </a:spcBef>
            <a:spcAft>
              <a:spcPct val="35000"/>
            </a:spcAft>
            <a:buNone/>
          </a:pPr>
          <a:r>
            <a:rPr lang="en-GB" sz="1600" kern="1200" dirty="0">
              <a:solidFill>
                <a:prstClr val="black">
                  <a:hueOff val="0"/>
                  <a:satOff val="0"/>
                  <a:lumOff val="0"/>
                  <a:alphaOff val="0"/>
                </a:prstClr>
              </a:solidFill>
              <a:latin typeface="Calibri Light" panose="020F0302020204030204"/>
              <a:ea typeface="+mn-ea"/>
              <a:cs typeface="+mn-cs"/>
            </a:rPr>
            <a:t>Understand the </a:t>
          </a:r>
          <a:r>
            <a:rPr lang="en-GB" sz="1600" kern="1200" dirty="0"/>
            <a:t>concept of time in finance</a:t>
          </a:r>
          <a:endParaRPr lang="en-GB" sz="1600" kern="1200" dirty="0">
            <a:latin typeface="Arial" panose="020B0604020202020204" pitchFamily="34" charset="0"/>
            <a:cs typeface="Arial" panose="020B0604020202020204" pitchFamily="34" charset="0"/>
          </a:endParaRPr>
        </a:p>
        <a:p>
          <a:pPr marL="0" lvl="0" indent="0" algn="l" defTabSz="711200">
            <a:lnSpc>
              <a:spcPct val="100000"/>
            </a:lnSpc>
            <a:spcBef>
              <a:spcPct val="0"/>
            </a:spcBef>
            <a:spcAft>
              <a:spcPct val="35000"/>
            </a:spcAft>
            <a:buNone/>
          </a:pPr>
          <a:endParaRPr lang="en-US" sz="1600" kern="1200" dirty="0">
            <a:latin typeface="Arial" panose="020B0604020202020204" pitchFamily="34" charset="0"/>
            <a:cs typeface="Arial" panose="020B0604020202020204" pitchFamily="34" charset="0"/>
          </a:endParaRPr>
        </a:p>
      </dsp:txBody>
      <dsp:txXfrm>
        <a:off x="801444" y="148853"/>
        <a:ext cx="6819061" cy="715242"/>
      </dsp:txXfrm>
    </dsp:sp>
    <dsp:sp modelId="{61B30C71-B6B1-4EDB-8941-25699A6AA799}">
      <dsp:nvSpPr>
        <dsp:cNvPr id="0" name=""/>
        <dsp:cNvSpPr/>
      </dsp:nvSpPr>
      <dsp:spPr>
        <a:xfrm>
          <a:off x="0" y="897126"/>
          <a:ext cx="7632848" cy="693568"/>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FD45ED-93A9-4CB5-BBC6-41722BB2CC37}">
      <dsp:nvSpPr>
        <dsp:cNvPr id="0" name=""/>
        <dsp:cNvSpPr/>
      </dsp:nvSpPr>
      <dsp:spPr>
        <a:xfrm>
          <a:off x="209804" y="1053179"/>
          <a:ext cx="381835" cy="381462"/>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8B4CC27-4AE8-44EB-98DC-4F45EE52C0EB}">
      <dsp:nvSpPr>
        <dsp:cNvPr id="0" name=""/>
        <dsp:cNvSpPr/>
      </dsp:nvSpPr>
      <dsp:spPr>
        <a:xfrm>
          <a:off x="770008" y="869052"/>
          <a:ext cx="6819061" cy="715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696" tIns="75696" rIns="75696" bIns="75696" numCol="1" spcCol="1270" anchor="ctr" anchorCtr="0">
          <a:noAutofit/>
        </a:bodyPr>
        <a:lstStyle/>
        <a:p>
          <a:pPr marL="0" lvl="0" indent="0" algn="l" defTabSz="844550">
            <a:lnSpc>
              <a:spcPct val="100000"/>
            </a:lnSpc>
            <a:spcBef>
              <a:spcPct val="0"/>
            </a:spcBef>
            <a:spcAft>
              <a:spcPct val="35000"/>
            </a:spcAft>
            <a:buNone/>
          </a:pPr>
          <a:r>
            <a:rPr lang="en-GB" sz="1600" kern="1200" dirty="0"/>
            <a:t>Simple vs Compounding Interest</a:t>
          </a:r>
          <a:endParaRPr lang="en-US" sz="1600" kern="1200" dirty="0">
            <a:solidFill>
              <a:prstClr val="black">
                <a:hueOff val="0"/>
                <a:satOff val="0"/>
                <a:lumOff val="0"/>
                <a:alphaOff val="0"/>
              </a:prstClr>
            </a:solidFill>
            <a:latin typeface="Segoe Sans"/>
            <a:ea typeface="+mn-ea"/>
            <a:cs typeface="+mn-cs"/>
          </a:endParaRPr>
        </a:p>
      </dsp:txBody>
      <dsp:txXfrm>
        <a:off x="770008" y="869052"/>
        <a:ext cx="6819061" cy="715242"/>
      </dsp:txXfrm>
    </dsp:sp>
    <dsp:sp modelId="{D9483691-DD36-405D-BB66-9F59F2F1E989}">
      <dsp:nvSpPr>
        <dsp:cNvPr id="0" name=""/>
        <dsp:cNvSpPr/>
      </dsp:nvSpPr>
      <dsp:spPr>
        <a:xfrm>
          <a:off x="0" y="1791179"/>
          <a:ext cx="7632848" cy="693568"/>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20F1DA-74F8-4710-885C-433C2757E97E}">
      <dsp:nvSpPr>
        <dsp:cNvPr id="0" name=""/>
        <dsp:cNvSpPr/>
      </dsp:nvSpPr>
      <dsp:spPr>
        <a:xfrm>
          <a:off x="209804" y="1947232"/>
          <a:ext cx="381835" cy="381462"/>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AAB94E-82BD-4674-9EC8-70CF34F5480A}">
      <dsp:nvSpPr>
        <dsp:cNvPr id="0" name=""/>
        <dsp:cNvSpPr/>
      </dsp:nvSpPr>
      <dsp:spPr>
        <a:xfrm>
          <a:off x="801444" y="1804239"/>
          <a:ext cx="6819061" cy="715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696" tIns="75696" rIns="75696" bIns="75696" numCol="1" spcCol="1270" anchor="ctr" anchorCtr="0">
          <a:noAutofit/>
        </a:bodyPr>
        <a:lstStyle/>
        <a:p>
          <a:pPr marL="0" lvl="0" indent="0" algn="l" defTabSz="844550">
            <a:lnSpc>
              <a:spcPct val="100000"/>
            </a:lnSpc>
            <a:spcBef>
              <a:spcPct val="0"/>
            </a:spcBef>
            <a:spcAft>
              <a:spcPct val="35000"/>
            </a:spcAft>
            <a:buNone/>
          </a:pPr>
          <a:r>
            <a:rPr lang="en-GB" sz="1600" kern="1200" dirty="0"/>
            <a:t>The present value and discounting</a:t>
          </a:r>
          <a:endParaRPr lang="en-US" sz="1600" kern="1200" dirty="0">
            <a:solidFill>
              <a:prstClr val="black">
                <a:hueOff val="0"/>
                <a:satOff val="0"/>
                <a:lumOff val="0"/>
                <a:alphaOff val="0"/>
              </a:prstClr>
            </a:solidFill>
            <a:latin typeface="Segoe Sans"/>
            <a:ea typeface="+mn-ea"/>
            <a:cs typeface="+mn-cs"/>
          </a:endParaRPr>
        </a:p>
      </dsp:txBody>
      <dsp:txXfrm>
        <a:off x="801444" y="1804239"/>
        <a:ext cx="6819061" cy="715242"/>
      </dsp:txXfrm>
    </dsp:sp>
    <dsp:sp modelId="{CF075505-E8EA-4669-BABA-401DC8E15F63}">
      <dsp:nvSpPr>
        <dsp:cNvPr id="0" name=""/>
        <dsp:cNvSpPr/>
      </dsp:nvSpPr>
      <dsp:spPr>
        <a:xfrm>
          <a:off x="0" y="2709979"/>
          <a:ext cx="7632848" cy="693568"/>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AA3712-49CF-4236-AB50-E8F4285D1C0B}">
      <dsp:nvSpPr>
        <dsp:cNvPr id="0" name=""/>
        <dsp:cNvSpPr/>
      </dsp:nvSpPr>
      <dsp:spPr>
        <a:xfrm>
          <a:off x="209273" y="2839889"/>
          <a:ext cx="381835" cy="381462"/>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E4A487-9A78-4477-AD2C-F1EA03B28256}">
      <dsp:nvSpPr>
        <dsp:cNvPr id="0" name=""/>
        <dsp:cNvSpPr/>
      </dsp:nvSpPr>
      <dsp:spPr>
        <a:xfrm>
          <a:off x="827493" y="2669132"/>
          <a:ext cx="6511521" cy="715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696" tIns="75696" rIns="75696" bIns="75696" numCol="1" spcCol="1270" anchor="ctr" anchorCtr="0">
          <a:noAutofit/>
        </a:bodyPr>
        <a:lstStyle/>
        <a:p>
          <a:pPr marL="0" lvl="0" indent="0" algn="l" defTabSz="844550">
            <a:lnSpc>
              <a:spcPct val="100000"/>
            </a:lnSpc>
            <a:spcBef>
              <a:spcPct val="0"/>
            </a:spcBef>
            <a:spcAft>
              <a:spcPct val="35000"/>
            </a:spcAft>
            <a:buNone/>
          </a:pPr>
          <a:r>
            <a:rPr lang="en-GB" sz="1600" kern="1200" dirty="0"/>
            <a:t>The future value and compounding</a:t>
          </a:r>
          <a:endParaRPr lang="en-GB" sz="1600" kern="1200" dirty="0">
            <a:solidFill>
              <a:prstClr val="black">
                <a:hueOff val="0"/>
                <a:satOff val="0"/>
                <a:lumOff val="0"/>
                <a:alphaOff val="0"/>
              </a:prstClr>
            </a:solidFill>
            <a:latin typeface="Segoe Sans"/>
            <a:ea typeface="+mn-ea"/>
            <a:cs typeface="+mn-cs"/>
          </a:endParaRPr>
        </a:p>
      </dsp:txBody>
      <dsp:txXfrm>
        <a:off x="827493" y="2669132"/>
        <a:ext cx="6511521" cy="7152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9CCFB0-6C1F-4790-8677-D5F70B93E05D}">
      <dsp:nvSpPr>
        <dsp:cNvPr id="0" name=""/>
        <dsp:cNvSpPr/>
      </dsp:nvSpPr>
      <dsp:spPr>
        <a:xfrm>
          <a:off x="0" y="3073"/>
          <a:ext cx="7632848" cy="693568"/>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E7B6DA-DCF0-4941-B35E-FED592CAD9C7}">
      <dsp:nvSpPr>
        <dsp:cNvPr id="0" name=""/>
        <dsp:cNvSpPr/>
      </dsp:nvSpPr>
      <dsp:spPr>
        <a:xfrm>
          <a:off x="209804" y="159126"/>
          <a:ext cx="381835" cy="381462"/>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AF9EC2-7666-4444-BBD8-9355F2C63196}">
      <dsp:nvSpPr>
        <dsp:cNvPr id="0" name=""/>
        <dsp:cNvSpPr/>
      </dsp:nvSpPr>
      <dsp:spPr>
        <a:xfrm>
          <a:off x="801444" y="148853"/>
          <a:ext cx="6819061" cy="715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696" tIns="75696" rIns="75696" bIns="75696" numCol="1" spcCol="1270" anchor="ctr" anchorCtr="0">
          <a:noAutofit/>
        </a:bodyPr>
        <a:lstStyle/>
        <a:p>
          <a:pPr marL="0" lvl="0" indent="0" algn="l" defTabSz="711200">
            <a:lnSpc>
              <a:spcPct val="100000"/>
            </a:lnSpc>
            <a:spcBef>
              <a:spcPct val="0"/>
            </a:spcBef>
            <a:spcAft>
              <a:spcPct val="35000"/>
            </a:spcAft>
            <a:buNone/>
          </a:pPr>
          <a:r>
            <a:rPr lang="en-GB" sz="1600" kern="1200" dirty="0">
              <a:latin typeface="Arial" panose="020B0604020202020204" pitchFamily="34" charset="0"/>
              <a:cs typeface="Arial" panose="020B0604020202020204" pitchFamily="34" charset="0"/>
            </a:rPr>
            <a:t>Understand the</a:t>
          </a:r>
          <a:r>
            <a:rPr lang="en-GB" sz="1600" kern="1200" dirty="0"/>
            <a:t> concept of time in finance</a:t>
          </a:r>
          <a:endParaRPr lang="en-GB" sz="1600" kern="1200" dirty="0">
            <a:latin typeface="Arial" panose="020B0604020202020204" pitchFamily="34" charset="0"/>
            <a:cs typeface="Arial" panose="020B0604020202020204" pitchFamily="34" charset="0"/>
          </a:endParaRPr>
        </a:p>
        <a:p>
          <a:pPr marL="0" lvl="0" indent="0" algn="l" defTabSz="711200">
            <a:lnSpc>
              <a:spcPct val="100000"/>
            </a:lnSpc>
            <a:spcBef>
              <a:spcPct val="0"/>
            </a:spcBef>
            <a:spcAft>
              <a:spcPct val="35000"/>
            </a:spcAft>
            <a:buNone/>
          </a:pPr>
          <a:endParaRPr lang="en-US" sz="1600" kern="1200" dirty="0">
            <a:latin typeface="Arial" panose="020B0604020202020204" pitchFamily="34" charset="0"/>
            <a:cs typeface="Arial" panose="020B0604020202020204" pitchFamily="34" charset="0"/>
          </a:endParaRPr>
        </a:p>
      </dsp:txBody>
      <dsp:txXfrm>
        <a:off x="801444" y="148853"/>
        <a:ext cx="6819061" cy="715242"/>
      </dsp:txXfrm>
    </dsp:sp>
    <dsp:sp modelId="{61B30C71-B6B1-4EDB-8941-25699A6AA799}">
      <dsp:nvSpPr>
        <dsp:cNvPr id="0" name=""/>
        <dsp:cNvSpPr/>
      </dsp:nvSpPr>
      <dsp:spPr>
        <a:xfrm>
          <a:off x="0" y="897126"/>
          <a:ext cx="7632848" cy="693568"/>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FD45ED-93A9-4CB5-BBC6-41722BB2CC37}">
      <dsp:nvSpPr>
        <dsp:cNvPr id="0" name=""/>
        <dsp:cNvSpPr/>
      </dsp:nvSpPr>
      <dsp:spPr>
        <a:xfrm>
          <a:off x="209804" y="1053179"/>
          <a:ext cx="381835" cy="381462"/>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8B4CC27-4AE8-44EB-98DC-4F45EE52C0EB}">
      <dsp:nvSpPr>
        <dsp:cNvPr id="0" name=""/>
        <dsp:cNvSpPr/>
      </dsp:nvSpPr>
      <dsp:spPr>
        <a:xfrm>
          <a:off x="770008" y="869052"/>
          <a:ext cx="6819061" cy="715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696" tIns="75696" rIns="75696" bIns="75696" numCol="1" spcCol="1270" anchor="ctr" anchorCtr="0">
          <a:noAutofit/>
        </a:bodyPr>
        <a:lstStyle/>
        <a:p>
          <a:pPr marL="0" lvl="0" indent="0" algn="l" defTabSz="844550">
            <a:lnSpc>
              <a:spcPct val="100000"/>
            </a:lnSpc>
            <a:spcBef>
              <a:spcPct val="0"/>
            </a:spcBef>
            <a:spcAft>
              <a:spcPct val="35000"/>
            </a:spcAft>
            <a:buNone/>
          </a:pPr>
          <a:r>
            <a:rPr lang="en-GB" sz="1600" kern="1200" dirty="0"/>
            <a:t>Simple vs Compounding Interest</a:t>
          </a:r>
          <a:endParaRPr lang="en-US" sz="1600" kern="1200" dirty="0">
            <a:solidFill>
              <a:prstClr val="black">
                <a:hueOff val="0"/>
                <a:satOff val="0"/>
                <a:lumOff val="0"/>
                <a:alphaOff val="0"/>
              </a:prstClr>
            </a:solidFill>
            <a:latin typeface="Segoe Sans"/>
            <a:ea typeface="+mn-ea"/>
            <a:cs typeface="+mn-cs"/>
          </a:endParaRPr>
        </a:p>
      </dsp:txBody>
      <dsp:txXfrm>
        <a:off x="770008" y="869052"/>
        <a:ext cx="6819061" cy="715242"/>
      </dsp:txXfrm>
    </dsp:sp>
    <dsp:sp modelId="{D9483691-DD36-405D-BB66-9F59F2F1E989}">
      <dsp:nvSpPr>
        <dsp:cNvPr id="0" name=""/>
        <dsp:cNvSpPr/>
      </dsp:nvSpPr>
      <dsp:spPr>
        <a:xfrm>
          <a:off x="0" y="1791179"/>
          <a:ext cx="7632848" cy="693568"/>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20F1DA-74F8-4710-885C-433C2757E97E}">
      <dsp:nvSpPr>
        <dsp:cNvPr id="0" name=""/>
        <dsp:cNvSpPr/>
      </dsp:nvSpPr>
      <dsp:spPr>
        <a:xfrm>
          <a:off x="209804" y="1947232"/>
          <a:ext cx="381835" cy="381462"/>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AAB94E-82BD-4674-9EC8-70CF34F5480A}">
      <dsp:nvSpPr>
        <dsp:cNvPr id="0" name=""/>
        <dsp:cNvSpPr/>
      </dsp:nvSpPr>
      <dsp:spPr>
        <a:xfrm>
          <a:off x="801444" y="1804239"/>
          <a:ext cx="6819061" cy="715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696" tIns="75696" rIns="75696" bIns="75696" numCol="1" spcCol="1270" anchor="ctr" anchorCtr="0">
          <a:noAutofit/>
        </a:bodyPr>
        <a:lstStyle/>
        <a:p>
          <a:pPr marL="0" lvl="0" indent="0" algn="l" defTabSz="844550">
            <a:lnSpc>
              <a:spcPct val="100000"/>
            </a:lnSpc>
            <a:spcBef>
              <a:spcPct val="0"/>
            </a:spcBef>
            <a:spcAft>
              <a:spcPct val="35000"/>
            </a:spcAft>
            <a:buNone/>
          </a:pPr>
          <a:r>
            <a:rPr lang="en-GB" sz="1600" kern="1200" dirty="0"/>
            <a:t>The present value and discounting</a:t>
          </a:r>
          <a:endParaRPr lang="en-US" sz="1600" kern="1200" dirty="0">
            <a:solidFill>
              <a:prstClr val="black">
                <a:hueOff val="0"/>
                <a:satOff val="0"/>
                <a:lumOff val="0"/>
                <a:alphaOff val="0"/>
              </a:prstClr>
            </a:solidFill>
            <a:latin typeface="Segoe Sans"/>
            <a:ea typeface="+mn-ea"/>
            <a:cs typeface="+mn-cs"/>
          </a:endParaRPr>
        </a:p>
      </dsp:txBody>
      <dsp:txXfrm>
        <a:off x="801444" y="1804239"/>
        <a:ext cx="6819061" cy="715242"/>
      </dsp:txXfrm>
    </dsp:sp>
    <dsp:sp modelId="{CF075505-E8EA-4669-BABA-401DC8E15F63}">
      <dsp:nvSpPr>
        <dsp:cNvPr id="0" name=""/>
        <dsp:cNvSpPr/>
      </dsp:nvSpPr>
      <dsp:spPr>
        <a:xfrm>
          <a:off x="0" y="2709979"/>
          <a:ext cx="7632848" cy="693568"/>
        </a:xfrm>
        <a:prstGeom prst="roundRect">
          <a:avLst>
            <a:gd name="adj" fmla="val 1000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AA3712-49CF-4236-AB50-E8F4285D1C0B}">
      <dsp:nvSpPr>
        <dsp:cNvPr id="0" name=""/>
        <dsp:cNvSpPr/>
      </dsp:nvSpPr>
      <dsp:spPr>
        <a:xfrm>
          <a:off x="209273" y="2839889"/>
          <a:ext cx="381835" cy="381462"/>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E4A487-9A78-4477-AD2C-F1EA03B28256}">
      <dsp:nvSpPr>
        <dsp:cNvPr id="0" name=""/>
        <dsp:cNvSpPr/>
      </dsp:nvSpPr>
      <dsp:spPr>
        <a:xfrm>
          <a:off x="827493" y="2669132"/>
          <a:ext cx="6511521" cy="715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696" tIns="75696" rIns="75696" bIns="75696" numCol="1" spcCol="1270" anchor="ctr" anchorCtr="0">
          <a:noAutofit/>
        </a:bodyPr>
        <a:lstStyle/>
        <a:p>
          <a:pPr marL="0" lvl="0" indent="0" algn="l" defTabSz="844550">
            <a:lnSpc>
              <a:spcPct val="100000"/>
            </a:lnSpc>
            <a:spcBef>
              <a:spcPct val="0"/>
            </a:spcBef>
            <a:spcAft>
              <a:spcPct val="35000"/>
            </a:spcAft>
            <a:buNone/>
          </a:pPr>
          <a:r>
            <a:rPr lang="en-GB" sz="1600" kern="1200" dirty="0"/>
            <a:t>The future value and compounding</a:t>
          </a:r>
          <a:endParaRPr lang="en-GB" sz="1600" kern="1200" dirty="0">
            <a:solidFill>
              <a:prstClr val="black">
                <a:hueOff val="0"/>
                <a:satOff val="0"/>
                <a:lumOff val="0"/>
                <a:alphaOff val="0"/>
              </a:prstClr>
            </a:solidFill>
            <a:latin typeface="Segoe Sans"/>
            <a:ea typeface="+mn-ea"/>
            <a:cs typeface="+mn-cs"/>
          </a:endParaRPr>
        </a:p>
      </dsp:txBody>
      <dsp:txXfrm>
        <a:off x="827493" y="2669132"/>
        <a:ext cx="6511521" cy="71524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43CF07-9307-6C48-9A7D-CFB6D27789B3}"/>
              </a:ext>
            </a:extLst>
          </p:cNvPr>
          <p:cNvSpPr>
            <a:spLocks noGrp="1"/>
          </p:cNvSpPr>
          <p:nvPr>
            <p:ph type="hdr" sz="quarter"/>
          </p:nvPr>
        </p:nvSpPr>
        <p:spPr>
          <a:xfrm>
            <a:off x="0" y="0"/>
            <a:ext cx="2889938" cy="498631"/>
          </a:xfrm>
          <a:prstGeom prst="rect">
            <a:avLst/>
          </a:prstGeom>
        </p:spPr>
        <p:txBody>
          <a:bodyPr vert="horz" lIns="91440" tIns="45720" rIns="91440" bIns="45720" rtlCol="0"/>
          <a:lstStyle>
            <a:lvl1pPr algn="l">
              <a:defRPr sz="1200"/>
            </a:lvl1pPr>
          </a:lstStyle>
          <a:p>
            <a:endParaRPr lang="en-US" dirty="0"/>
          </a:p>
        </p:txBody>
      </p:sp>
      <p:sp>
        <p:nvSpPr>
          <p:cNvPr id="4" name="Footer Placeholder 3">
            <a:extLst>
              <a:ext uri="{FF2B5EF4-FFF2-40B4-BE49-F238E27FC236}">
                <a16:creationId xmlns:a16="http://schemas.microsoft.com/office/drawing/2014/main" id="{3757DB75-BAF4-B743-9A92-74B92A91E0A3}"/>
              </a:ext>
            </a:extLst>
          </p:cNvPr>
          <p:cNvSpPr>
            <a:spLocks noGrp="1"/>
          </p:cNvSpPr>
          <p:nvPr>
            <p:ph type="ftr" sz="quarter" idx="2"/>
          </p:nvPr>
        </p:nvSpPr>
        <p:spPr>
          <a:xfrm>
            <a:off x="0" y="9428011"/>
            <a:ext cx="2889938" cy="498629"/>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B22C6B3-A39F-7849-8137-15C55F281F8E}"/>
              </a:ext>
            </a:extLst>
          </p:cNvPr>
          <p:cNvSpPr>
            <a:spLocks noGrp="1"/>
          </p:cNvSpPr>
          <p:nvPr>
            <p:ph type="sldNum" sz="quarter" idx="3"/>
          </p:nvPr>
        </p:nvSpPr>
        <p:spPr>
          <a:xfrm>
            <a:off x="3777993" y="9428011"/>
            <a:ext cx="2889938" cy="498629"/>
          </a:xfrm>
          <a:prstGeom prst="rect">
            <a:avLst/>
          </a:prstGeom>
        </p:spPr>
        <p:txBody>
          <a:bodyPr vert="horz" lIns="91440" tIns="45720" rIns="91440" bIns="45720" rtlCol="0" anchor="b"/>
          <a:lstStyle>
            <a:lvl1pPr algn="r">
              <a:defRPr sz="1200"/>
            </a:lvl1pPr>
          </a:lstStyle>
          <a:p>
            <a:fld id="{DA11F245-9DFC-A14D-946D-EB14F66A9135}" type="slidenum">
              <a:rPr lang="en-US" smtClean="0"/>
              <a:t>‹#›</a:t>
            </a:fld>
            <a:endParaRPr lang="en-US" dirty="0"/>
          </a:p>
        </p:txBody>
      </p:sp>
    </p:spTree>
    <p:extLst>
      <p:ext uri="{BB962C8B-B14F-4D97-AF65-F5344CB8AC3E}">
        <p14:creationId xmlns:p14="http://schemas.microsoft.com/office/powerpoint/2010/main" val="128790257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07T10:11:30.990"/>
    </inkml:context>
    <inkml:brush xml:id="br0">
      <inkml:brushProperty name="width" value="0.1" units="cm"/>
      <inkml:brushProperty name="height" value="0.1" units="cm"/>
      <inkml:brushProperty name="color" value="#AB008B"/>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0-07T10:11:35.253"/>
    </inkml:context>
    <inkml:brush xml:id="br0">
      <inkml:brushProperty name="width" value="0.1" units="cm"/>
      <inkml:brushProperty name="height" value="0.1" units="cm"/>
      <inkml:brushProperty name="color" value="#AB008B"/>
    </inkml:brush>
  </inkml:definitions>
  <inkml:trace contextRef="#ctx0" brushRef="#br0">1 0 24575,'0'0'-8191</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5.30612" units="1/cm"/>
          <inkml:channelProperty channel="Y" name="resolution" value="65.45454" units="1/cm"/>
          <inkml:channelProperty channel="T" name="resolution" value="1" units="1/dev"/>
        </inkml:channelProperties>
      </inkml:inkSource>
      <inkml:timestamp xml:id="ts0" timeString="2020-10-16T19:52:34.049"/>
    </inkml:context>
    <inkml:brush xml:id="br0">
      <inkml:brushProperty name="width" value="0.05292" units="cm"/>
      <inkml:brushProperty name="height" value="0.05292" units="cm"/>
      <inkml:brushProperty name="color" value="#FF0000"/>
    </inkml:brush>
  </inkml:definitions>
  <inkml:trace contextRef="#ctx0" brushRef="#br0">11624 9984 0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889938" cy="49633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dirty="0"/>
          </a:p>
        </p:txBody>
      </p:sp>
      <p:sp>
        <p:nvSpPr>
          <p:cNvPr id="11267" name="Rectangle 3"/>
          <p:cNvSpPr>
            <a:spLocks noGrp="1" noChangeArrowheads="1"/>
          </p:cNvSpPr>
          <p:nvPr>
            <p:ph type="dt" idx="1"/>
          </p:nvPr>
        </p:nvSpPr>
        <p:spPr bwMode="auto">
          <a:xfrm>
            <a:off x="3777993" y="0"/>
            <a:ext cx="2889938" cy="49633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ea typeface="ＭＳ Ｐゴシック" charset="0"/>
                <a:cs typeface="ＭＳ Ｐゴシック" charset="0"/>
              </a:defRPr>
            </a:lvl1pPr>
          </a:lstStyle>
          <a:p>
            <a:pPr>
              <a:defRPr/>
            </a:pPr>
            <a:endParaRPr lang="en-US" dirty="0"/>
          </a:p>
        </p:txBody>
      </p:sp>
      <p:sp>
        <p:nvSpPr>
          <p:cNvPr id="12292" name="Rectangle 4"/>
          <p:cNvSpPr>
            <a:spLocks noGrp="1" noRot="1" noChangeAspect="1" noChangeArrowheads="1" noTextEdit="1"/>
          </p:cNvSpPr>
          <p:nvPr>
            <p:ph type="sldImg" idx="2"/>
          </p:nvPr>
        </p:nvSpPr>
        <p:spPr bwMode="auto">
          <a:xfrm>
            <a:off x="854075" y="744538"/>
            <a:ext cx="4960938"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1269" name="Rectangle 5"/>
          <p:cNvSpPr>
            <a:spLocks noGrp="1" noChangeArrowheads="1"/>
          </p:cNvSpPr>
          <p:nvPr>
            <p:ph type="body" sz="quarter" idx="3"/>
          </p:nvPr>
        </p:nvSpPr>
        <p:spPr bwMode="auto">
          <a:xfrm>
            <a:off x="666909" y="4715154"/>
            <a:ext cx="5335270" cy="44669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p:cNvSpPr>
            <a:spLocks noGrp="1" noChangeArrowheads="1"/>
          </p:cNvSpPr>
          <p:nvPr>
            <p:ph type="ftr" sz="quarter" idx="4"/>
          </p:nvPr>
        </p:nvSpPr>
        <p:spPr bwMode="auto">
          <a:xfrm>
            <a:off x="0" y="9428009"/>
            <a:ext cx="2889938" cy="49633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dirty="0"/>
          </a:p>
        </p:txBody>
      </p:sp>
      <p:sp>
        <p:nvSpPr>
          <p:cNvPr id="11271" name="Rectangle 7"/>
          <p:cNvSpPr>
            <a:spLocks noGrp="1" noChangeArrowheads="1"/>
          </p:cNvSpPr>
          <p:nvPr>
            <p:ph type="sldNum" sz="quarter" idx="5"/>
          </p:nvPr>
        </p:nvSpPr>
        <p:spPr bwMode="auto">
          <a:xfrm>
            <a:off x="3777993" y="9428009"/>
            <a:ext cx="2889938" cy="49633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5360570-2B09-DB43-BBE0-DA076DA911F1}" type="slidenum">
              <a:rPr lang="en-US" altLang="en-US"/>
              <a:pPr>
                <a:defRPr/>
              </a:pPr>
              <a:t>‹#›</a:t>
            </a:fld>
            <a:endParaRPr lang="en-US" altLang="en-US" dirty="0"/>
          </a:p>
        </p:txBody>
      </p:sp>
    </p:spTree>
    <p:extLst>
      <p:ext uri="{BB962C8B-B14F-4D97-AF65-F5344CB8AC3E}">
        <p14:creationId xmlns:p14="http://schemas.microsoft.com/office/powerpoint/2010/main" val="2004877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5613"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2813"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0013"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7213"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5943" algn="l" defTabSz="914378" rtl="0" eaLnBrk="1" latinLnBrk="0" hangingPunct="1">
      <a:defRPr sz="1200" kern="1200">
        <a:solidFill>
          <a:schemeClr val="tx1"/>
        </a:solidFill>
        <a:latin typeface="+mn-lt"/>
        <a:ea typeface="+mn-ea"/>
        <a:cs typeface="+mn-cs"/>
      </a:defRPr>
    </a:lvl6pPr>
    <a:lvl7pPr marL="2743132" algn="l" defTabSz="914378" rtl="0" eaLnBrk="1" latinLnBrk="0" hangingPunct="1">
      <a:defRPr sz="1200" kern="1200">
        <a:solidFill>
          <a:schemeClr val="tx1"/>
        </a:solidFill>
        <a:latin typeface="+mn-lt"/>
        <a:ea typeface="+mn-ea"/>
        <a:cs typeface="+mn-cs"/>
      </a:defRPr>
    </a:lvl7pPr>
    <a:lvl8pPr marL="3200320" algn="l" defTabSz="914378" rtl="0" eaLnBrk="1" latinLnBrk="0" hangingPunct="1">
      <a:defRPr sz="1200" kern="1200">
        <a:solidFill>
          <a:schemeClr val="tx1"/>
        </a:solidFill>
        <a:latin typeface="+mn-lt"/>
        <a:ea typeface="+mn-ea"/>
        <a:cs typeface="+mn-cs"/>
      </a:defRPr>
    </a:lvl8pPr>
    <a:lvl9pPr marL="3657509" algn="l" defTabSz="91437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NOTE TO STUDENTS: Please see last weeks lecture slides and make sure you review them so that you understand how you will be assessed and what resources we provide to support you in success.</a:t>
            </a:r>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2</a:t>
            </a:fld>
            <a:endParaRPr lang="en-US" altLang="en-US" dirty="0"/>
          </a:p>
        </p:txBody>
      </p:sp>
    </p:spTree>
    <p:extLst>
      <p:ext uri="{BB962C8B-B14F-4D97-AF65-F5344CB8AC3E}">
        <p14:creationId xmlns:p14="http://schemas.microsoft.com/office/powerpoint/2010/main" val="2745746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52425" indent="-342900">
              <a:buFont typeface="+mj-lt"/>
              <a:buAutoNum type="arabicPeriod"/>
            </a:pPr>
            <a:r>
              <a:rPr lang="en-GB" dirty="0"/>
              <a:t>The concept of time in finance</a:t>
            </a:r>
          </a:p>
          <a:p>
            <a:pPr marL="352425" indent="-342900">
              <a:buFont typeface="+mj-lt"/>
              <a:buAutoNum type="arabicPeriod"/>
            </a:pPr>
            <a:r>
              <a:rPr lang="en-GB" dirty="0"/>
              <a:t>Simple vs Compounding Interest</a:t>
            </a:r>
          </a:p>
          <a:p>
            <a:pPr marL="352425" indent="-342900">
              <a:buFont typeface="+mj-lt"/>
              <a:buAutoNum type="arabicPeriod"/>
            </a:pPr>
            <a:r>
              <a:rPr lang="en-GB" dirty="0"/>
              <a:t>The present value and discounting</a:t>
            </a:r>
          </a:p>
          <a:p>
            <a:pPr marL="352425" indent="-342900">
              <a:buFont typeface="+mj-lt"/>
              <a:buAutoNum type="arabicPeriod"/>
            </a:pPr>
            <a:r>
              <a:rPr lang="en-GB" dirty="0"/>
              <a:t>The future value and compounding</a:t>
            </a:r>
          </a:p>
          <a:p>
            <a:pPr marL="457200" indent="-457200" algn="just">
              <a:buFont typeface="Arial" panose="020B0604020202020204" pitchFamily="34" charset="0"/>
              <a:buChar char="•"/>
            </a:pPr>
            <a:endParaRPr lang="en-GB"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3</a:t>
            </a:fld>
            <a:endParaRPr lang="en-US" altLang="en-US" dirty="0"/>
          </a:p>
        </p:txBody>
      </p:sp>
    </p:spTree>
    <p:extLst>
      <p:ext uri="{BB962C8B-B14F-4D97-AF65-F5344CB8AC3E}">
        <p14:creationId xmlns:p14="http://schemas.microsoft.com/office/powerpoint/2010/main" val="19437035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Use a market rate to convert across currencies, can use a market interest rate to convert it across points in time too.</a:t>
            </a:r>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5</a:t>
            </a:fld>
            <a:endParaRPr lang="en-US" altLang="en-US" dirty="0"/>
          </a:p>
        </p:txBody>
      </p:sp>
    </p:spTree>
    <p:extLst>
      <p:ext uri="{BB962C8B-B14F-4D97-AF65-F5344CB8AC3E}">
        <p14:creationId xmlns:p14="http://schemas.microsoft.com/office/powerpoint/2010/main" val="3560841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Clr>
                <a:srgbClr val="0070C0"/>
              </a:buClr>
              <a:buSzPct val="90000"/>
            </a:pPr>
            <a:r>
              <a:rPr lang="en-GB" sz="1400" dirty="0">
                <a:solidFill>
                  <a:srgbClr val="0070C0"/>
                </a:solidFill>
                <a:latin typeface="Arial" panose="020B0604020202020204" pitchFamily="34" charset="0"/>
                <a:cs typeface="Arial" panose="020B0604020202020204" pitchFamily="34" charset="0"/>
              </a:rPr>
              <a:t>Consumption Preference </a:t>
            </a:r>
            <a:r>
              <a:rPr lang="en-GB" sz="1400" dirty="0">
                <a:solidFill>
                  <a:schemeClr val="tx1"/>
                </a:solidFill>
                <a:latin typeface="Arial" panose="020B0604020202020204" pitchFamily="34" charset="0"/>
                <a:cs typeface="Arial" panose="020B0604020202020204" pitchFamily="34" charset="0"/>
              </a:rPr>
              <a:t>– </a:t>
            </a:r>
            <a:r>
              <a:rPr lang="en-GB" sz="1400" dirty="0">
                <a:latin typeface="Arial" panose="020B0604020202020204" pitchFamily="34" charset="0"/>
                <a:cs typeface="Arial" panose="020B0604020202020204" pitchFamily="34" charset="0"/>
              </a:rPr>
              <a:t>individuals prefer present to future consumption</a:t>
            </a:r>
          </a:p>
          <a:p>
            <a:pPr lvl="3">
              <a:buClr>
                <a:srgbClr val="C00000"/>
              </a:buClr>
              <a:buSzPct val="90000"/>
              <a:buFont typeface="Calibri" panose="020F0502020204030204" pitchFamily="34" charset="0"/>
              <a:buChar char="─"/>
            </a:pPr>
            <a:r>
              <a:rPr lang="en-GB" sz="1400" dirty="0">
                <a:latin typeface="Arial" panose="020B0604020202020204" pitchFamily="34" charset="0"/>
                <a:cs typeface="Arial" panose="020B0604020202020204" pitchFamily="34" charset="0"/>
              </a:rPr>
              <a:t>You can deposit those £100 today and earn interest on them</a:t>
            </a:r>
          </a:p>
          <a:p>
            <a:pPr lvl="3">
              <a:buClr>
                <a:srgbClr val="C00000"/>
              </a:buClr>
              <a:buSzPct val="90000"/>
              <a:buFont typeface="Calibri" panose="020F0502020204030204" pitchFamily="34" charset="0"/>
              <a:buChar char="─"/>
            </a:pPr>
            <a:r>
              <a:rPr lang="en-GB" sz="1400" dirty="0">
                <a:latin typeface="Arial" panose="020B0604020202020204" pitchFamily="34" charset="0"/>
                <a:cs typeface="Arial" panose="020B0604020202020204" pitchFamily="34" charset="0"/>
              </a:rPr>
              <a:t>You are unsure about the future quality/availability of goods and services</a:t>
            </a:r>
          </a:p>
          <a:p>
            <a:endParaRPr lang="en-GB" dirty="0"/>
          </a:p>
          <a:p>
            <a:pPr>
              <a:buClr>
                <a:srgbClr val="0070C0"/>
              </a:buClr>
              <a:buSzPct val="90000"/>
            </a:pPr>
            <a:r>
              <a:rPr lang="en-GB" sz="1400" dirty="0">
                <a:solidFill>
                  <a:srgbClr val="0070C0"/>
                </a:solidFill>
                <a:latin typeface="Arial" panose="020B0604020202020204" pitchFamily="34" charset="0"/>
                <a:cs typeface="Arial" panose="020B0604020202020204" pitchFamily="34" charset="0"/>
              </a:rPr>
              <a:t>Monetary Inflation </a:t>
            </a:r>
            <a:r>
              <a:rPr lang="en-GB" sz="1400" dirty="0">
                <a:solidFill>
                  <a:schemeClr val="accent5">
                    <a:lumMod val="75000"/>
                  </a:schemeClr>
                </a:solidFill>
                <a:latin typeface="Arial" panose="020B0604020202020204" pitchFamily="34" charset="0"/>
                <a:cs typeface="Arial" panose="020B0604020202020204" pitchFamily="34" charset="0"/>
              </a:rPr>
              <a:t>– </a:t>
            </a:r>
            <a:r>
              <a:rPr lang="en-GB" sz="1400" dirty="0">
                <a:latin typeface="Arial" panose="020B0604020202020204" pitchFamily="34" charset="0"/>
                <a:cs typeface="Arial" panose="020B0604020202020204" pitchFamily="34" charset="0"/>
              </a:rPr>
              <a:t>the value of currency decreases over time due to inflation</a:t>
            </a:r>
          </a:p>
          <a:p>
            <a:pPr lvl="3">
              <a:buClr>
                <a:srgbClr val="C00000"/>
              </a:buClr>
              <a:buSzPct val="90000"/>
              <a:buFont typeface="Calibri" panose="020F0502020204030204" pitchFamily="34" charset="0"/>
              <a:buChar char="─"/>
            </a:pPr>
            <a:r>
              <a:rPr lang="en-GB" sz="1400" dirty="0">
                <a:latin typeface="Arial" panose="020B0604020202020204" pitchFamily="34" charset="0"/>
                <a:cs typeface="Arial" panose="020B0604020202020204" pitchFamily="34" charset="0"/>
              </a:rPr>
              <a:t>Inflation reduces the purchasing power of money </a:t>
            </a:r>
          </a:p>
          <a:p>
            <a:pPr lvl="3">
              <a:buClr>
                <a:srgbClr val="C00000"/>
              </a:buClr>
              <a:buSzPct val="90000"/>
              <a:buFont typeface="Calibri" panose="020F0502020204030204" pitchFamily="34" charset="0"/>
              <a:buChar char="─"/>
            </a:pPr>
            <a:r>
              <a:rPr lang="en-GB" sz="1400" dirty="0">
                <a:latin typeface="Arial" panose="020B0604020202020204" pitchFamily="34" charset="0"/>
                <a:cs typeface="Arial" panose="020B0604020202020204" pitchFamily="34" charset="0"/>
              </a:rPr>
              <a:t>higher the inflation expected, the less goods and services you could buy in the future</a:t>
            </a:r>
          </a:p>
          <a:p>
            <a:pPr lvl="3">
              <a:buClr>
                <a:srgbClr val="C00000"/>
              </a:buClr>
              <a:buSzPct val="90000"/>
              <a:buFont typeface="Calibri" panose="020F0502020204030204" pitchFamily="34" charset="0"/>
              <a:buChar char="─"/>
            </a:pPr>
            <a:endParaRPr lang="en-GB" sz="1400" dirty="0">
              <a:latin typeface="Arial" panose="020B0604020202020204" pitchFamily="34" charset="0"/>
              <a:cs typeface="Arial" panose="020B0604020202020204" pitchFamily="34" charset="0"/>
            </a:endParaRPr>
          </a:p>
          <a:p>
            <a:pPr>
              <a:buClr>
                <a:srgbClr val="0070C0"/>
              </a:buClr>
              <a:buSzPct val="90000"/>
            </a:pPr>
            <a:r>
              <a:rPr lang="en-GB" sz="1400" dirty="0">
                <a:solidFill>
                  <a:srgbClr val="0070C0"/>
                </a:solidFill>
                <a:latin typeface="Arial" panose="020B0604020202020204" pitchFamily="34" charset="0"/>
                <a:cs typeface="Arial" panose="020B0604020202020204" pitchFamily="34" charset="0"/>
              </a:rPr>
              <a:t>Risk</a:t>
            </a:r>
            <a:r>
              <a:rPr lang="en-GB" sz="1400" dirty="0">
                <a:solidFill>
                  <a:schemeClr val="accent5">
                    <a:lumMod val="75000"/>
                  </a:schemeClr>
                </a:solidFill>
                <a:latin typeface="Arial" panose="020B0604020202020204" pitchFamily="34" charset="0"/>
                <a:cs typeface="Arial" panose="020B0604020202020204" pitchFamily="34" charset="0"/>
              </a:rPr>
              <a:t> – </a:t>
            </a:r>
            <a:r>
              <a:rPr lang="en-GB" sz="1400" dirty="0">
                <a:latin typeface="Arial" panose="020B0604020202020204" pitchFamily="34" charset="0"/>
                <a:cs typeface="Arial" panose="020B0604020202020204" pitchFamily="34" charset="0"/>
              </a:rPr>
              <a:t>the uncertainty associated with the cash flows decreases their value</a:t>
            </a:r>
          </a:p>
          <a:p>
            <a:pPr lvl="3">
              <a:buClr>
                <a:srgbClr val="C00000"/>
              </a:buClr>
              <a:buSzPct val="90000"/>
              <a:buFont typeface="Calibri" panose="020F0502020204030204" pitchFamily="34" charset="0"/>
              <a:buChar char="─"/>
            </a:pPr>
            <a:r>
              <a:rPr lang="en-GB" sz="1400" dirty="0">
                <a:latin typeface="Arial" panose="020B0604020202020204" pitchFamily="34" charset="0"/>
                <a:cs typeface="Arial" panose="020B0604020202020204" pitchFamily="34" charset="0"/>
              </a:rPr>
              <a:t>The promised cash flow might not be delivered if, for example, the bank defaults, you miss the redemption date…</a:t>
            </a:r>
          </a:p>
          <a:p>
            <a:pPr lvl="3">
              <a:buClr>
                <a:srgbClr val="C00000"/>
              </a:buClr>
              <a:buSzPct val="90000"/>
              <a:buFont typeface="Calibri" panose="020F0502020204030204" pitchFamily="34" charset="0"/>
              <a:buChar char="─"/>
            </a:pPr>
            <a:r>
              <a:rPr lang="en-GB" sz="1400" dirty="0">
                <a:latin typeface="Arial" panose="020B0604020202020204" pitchFamily="34" charset="0"/>
                <a:cs typeface="Arial" panose="020B0604020202020204" pitchFamily="34" charset="0"/>
              </a:rPr>
              <a:t>Risk decreases the likelihood of receiving the cash flow</a:t>
            </a:r>
          </a:p>
          <a:p>
            <a:pPr lvl="3">
              <a:buClr>
                <a:srgbClr val="C00000"/>
              </a:buClr>
              <a:buSzPct val="90000"/>
              <a:buFont typeface="Calibri" panose="020F0502020204030204" pitchFamily="34" charset="0"/>
              <a:buChar char="─"/>
            </a:pPr>
            <a:endParaRPr lang="en-GB" sz="1400" dirty="0">
              <a:latin typeface="Arial" panose="020B0604020202020204" pitchFamily="34" charset="0"/>
              <a:cs typeface="Arial" panose="020B0604020202020204" pitchFamily="34" charset="0"/>
            </a:endParaRPr>
          </a:p>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6</a:t>
            </a:fld>
            <a:endParaRPr lang="en-US" altLang="en-US" dirty="0"/>
          </a:p>
        </p:txBody>
      </p:sp>
    </p:spTree>
    <p:extLst>
      <p:ext uri="{BB962C8B-B14F-4D97-AF65-F5344CB8AC3E}">
        <p14:creationId xmlns:p14="http://schemas.microsoft.com/office/powerpoint/2010/main" val="3227925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rPr>
                        <m:t>𝐹𝑉</m:t>
                      </m:r>
                      <m:r>
                        <a:rPr lang="en-GB" i="1" smtClean="0">
                          <a:latin typeface="Cambria Math" panose="02040503050406030204" pitchFamily="18" charset="0"/>
                        </a:rPr>
                        <m:t>=1,000+1,000×5%×5=1,000×</m:t>
                      </m:r>
                      <m:d>
                        <m:dPr>
                          <m:ctrlPr>
                            <a:rPr lang="en-GB" i="1">
                              <a:latin typeface="Cambria Math" panose="02040503050406030204" pitchFamily="18" charset="0"/>
                              <a:ea typeface="Cambria Math" panose="02040503050406030204" pitchFamily="18" charset="0"/>
                            </a:rPr>
                          </m:ctrlPr>
                        </m:dPr>
                        <m:e>
                          <m:r>
                            <a:rPr lang="en-GB" i="1">
                              <a:latin typeface="Cambria Math" panose="02040503050406030204" pitchFamily="18" charset="0"/>
                              <a:ea typeface="Cambria Math" panose="02040503050406030204" pitchFamily="18" charset="0"/>
                            </a:rPr>
                            <m:t>1+5%×5</m:t>
                          </m:r>
                        </m:e>
                      </m:d>
                      <m:r>
                        <a:rPr lang="en-GB" i="1">
                          <a:latin typeface="Cambria Math" panose="02040503050406030204" pitchFamily="18" charset="0"/>
                          <a:ea typeface="Cambria Math" panose="02040503050406030204" pitchFamily="18" charset="0"/>
                        </a:rPr>
                        <m:t>=</m:t>
                      </m:r>
                      <m:r>
                        <a:rPr lang="en-GB" i="1">
                          <a:solidFill>
                            <a:schemeClr val="accent5">
                              <a:lumMod val="75000"/>
                            </a:schemeClr>
                          </a:solidFill>
                          <a:latin typeface="Cambria Math" panose="02040503050406030204" pitchFamily="18" charset="0"/>
                          <a:ea typeface="Cambria Math" panose="02040503050406030204" pitchFamily="18" charset="0"/>
                        </a:rPr>
                        <m:t>£1,250</m:t>
                      </m:r>
                    </m:oMath>
                  </m:oMathPara>
                </a14:m>
                <a:endParaRPr lang="en-GB" dirty="0"/>
              </a:p>
              <a:p>
                <a:endParaRPr lang="en-GB" dirty="0"/>
              </a:p>
              <a:p>
                <a:r>
                  <a:rPr lang="en-GB" dirty="0"/>
                  <a:t>Only earn interest on the principle</a:t>
                </a:r>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i="0">
                    <a:latin typeface="Cambria Math" panose="02040503050406030204" pitchFamily="18" charset="0"/>
                  </a:rPr>
                  <a:t>𝐹𝑉=1,000+1,000×5%×5=1,000×</a:t>
                </a:r>
                <a:r>
                  <a:rPr lang="en-GB" i="0">
                    <a:latin typeface="Cambria Math" panose="02040503050406030204" pitchFamily="18" charset="0"/>
                    <a:ea typeface="Cambria Math" panose="02040503050406030204" pitchFamily="18" charset="0"/>
                  </a:rPr>
                  <a:t>(1+5%×5)=</a:t>
                </a:r>
                <a:r>
                  <a:rPr lang="en-GB" i="0">
                    <a:solidFill>
                      <a:schemeClr val="accent5">
                        <a:lumMod val="75000"/>
                      </a:schemeClr>
                    </a:solidFill>
                    <a:latin typeface="Cambria Math" panose="02040503050406030204" pitchFamily="18" charset="0"/>
                    <a:ea typeface="Cambria Math" panose="02040503050406030204" pitchFamily="18" charset="0"/>
                  </a:rPr>
                  <a:t>£1,250</a:t>
                </a:r>
                <a:endParaRPr lang="en-GB" dirty="0"/>
              </a:p>
              <a:p>
                <a:endParaRPr lang="en-GB" dirty="0"/>
              </a:p>
              <a:p>
                <a:r>
                  <a:rPr lang="en-GB" dirty="0"/>
                  <a:t>Only earn interest on the principle</a:t>
                </a:r>
              </a:p>
            </p:txBody>
          </p:sp>
        </mc:Fallback>
      </mc:AlternateContent>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A34707-E474-48EA-B54D-5816D158094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84161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earning interest on the interest</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A34707-E474-48EA-B54D-5816D158094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442851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A34707-E474-48EA-B54D-5816D158094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68971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lvl="1" indent="0">
                  <a:spcAft>
                    <a:spcPts val="900"/>
                  </a:spcAft>
                  <a:buClr>
                    <a:srgbClr val="C00000"/>
                  </a:buClr>
                  <a:buSzPct val="90000"/>
                </a:pPr>
                <a:r>
                  <a:rPr lang="en-GB" dirty="0"/>
                  <a:t>1 - </a:t>
                </a:r>
                <a14:m>
                  <m:oMath xmlns:m="http://schemas.openxmlformats.org/officeDocument/2006/math">
                    <m:r>
                      <a:rPr lang="en-GB" b="0" i="1" smtClean="0">
                        <a:latin typeface="Cambria Math" panose="02040503050406030204" pitchFamily="18" charset="0"/>
                        <a:ea typeface="Cambria Math" panose="02040503050406030204" pitchFamily="18" charset="0"/>
                      </a:rPr>
                      <m:t>𝑃𝑉</m:t>
                    </m:r>
                    <m:r>
                      <a:rPr lang="en-GB" b="0" i="1" smtClean="0">
                        <a:latin typeface="Cambria Math" panose="02040503050406030204" pitchFamily="18" charset="0"/>
                        <a:ea typeface="Cambria Math" panose="02040503050406030204" pitchFamily="18" charset="0"/>
                      </a:rPr>
                      <m:t>=£10,000</m:t>
                    </m:r>
                  </m:oMath>
                </a14:m>
                <a:endParaRPr lang="en-GB" b="0" dirty="0">
                  <a:ea typeface="Cambria Math" panose="02040503050406030204" pitchFamily="18" charset="0"/>
                </a:endParaRPr>
              </a:p>
              <a:p>
                <a:pPr marL="0" lvl="1" indent="0">
                  <a:spcAft>
                    <a:spcPts val="900"/>
                  </a:spcAft>
                  <a:buClr>
                    <a:srgbClr val="C00000"/>
                  </a:buClr>
                  <a:buSzPct val="90000"/>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ea typeface="Cambria Math" panose="02040503050406030204" pitchFamily="18" charset="0"/>
                        </a:rPr>
                        <m:t>𝐹𝑉</m:t>
                      </m:r>
                      <m:r>
                        <a:rPr lang="en-GB" b="0" i="1" smtClean="0">
                          <a:latin typeface="Cambria Math" panose="02040503050406030204" pitchFamily="18" charset="0"/>
                          <a:ea typeface="Cambria Math" panose="02040503050406030204" pitchFamily="18" charset="0"/>
                        </a:rPr>
                        <m:t>=£10,000 </m:t>
                      </m:r>
                      <m:r>
                        <a:rPr lang="en-GB" b="0" i="1" smtClean="0">
                          <a:latin typeface="Cambria Math" panose="02040503050406030204" pitchFamily="18" charset="0"/>
                          <a:ea typeface="Cambria Math" panose="02040503050406030204" pitchFamily="18" charset="0"/>
                        </a:rPr>
                        <m:t>𝑥</m:t>
                      </m:r>
                      <m:r>
                        <a:rPr lang="en-GB" b="0" i="1" smtClean="0">
                          <a:latin typeface="Cambria Math" panose="02040503050406030204" pitchFamily="18" charset="0"/>
                          <a:ea typeface="Cambria Math" panose="02040503050406030204" pitchFamily="18" charset="0"/>
                        </a:rPr>
                        <m:t> 2=£20,000</m:t>
                      </m:r>
                    </m:oMath>
                  </m:oMathPara>
                </a14:m>
                <a:endParaRPr lang="en-GB" b="0" dirty="0">
                  <a:ea typeface="Cambria Math" panose="02040503050406030204" pitchFamily="18" charset="0"/>
                </a:endParaRPr>
              </a:p>
              <a:p>
                <a:pPr marL="0" lvl="1" indent="0">
                  <a:spcAft>
                    <a:spcPts val="900"/>
                  </a:spcAft>
                  <a:buClr>
                    <a:srgbClr val="C00000"/>
                  </a:buClr>
                  <a:buSzPct val="90000"/>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ea typeface="Cambria Math" panose="02040503050406030204" pitchFamily="18" charset="0"/>
                        </a:rPr>
                        <m:t>𝑡</m:t>
                      </m:r>
                      <m:r>
                        <a:rPr lang="en-GB" b="0" i="1" smtClean="0">
                          <a:latin typeface="Cambria Math" panose="02040503050406030204" pitchFamily="18" charset="0"/>
                          <a:ea typeface="Cambria Math" panose="02040503050406030204" pitchFamily="18" charset="0"/>
                        </a:rPr>
                        <m:t>=?</m:t>
                      </m:r>
                    </m:oMath>
                  </m:oMathPara>
                </a14:m>
                <a:endParaRPr lang="en-GB" b="0" dirty="0">
                  <a:ea typeface="Cambria Math" panose="02040503050406030204" pitchFamily="18" charset="0"/>
                </a:endParaRPr>
              </a:p>
              <a:p>
                <a:pPr marL="0" lvl="1" indent="0">
                  <a:spcAft>
                    <a:spcPts val="900"/>
                  </a:spcAft>
                  <a:buClr>
                    <a:srgbClr val="C00000"/>
                  </a:buClr>
                  <a:buSzPct val="90000"/>
                </a:pPr>
                <a14:m>
                  <m:oMath xmlns:m="http://schemas.openxmlformats.org/officeDocument/2006/math">
                    <m:r>
                      <a:rPr lang="en-GB" b="0" i="1" smtClean="0">
                        <a:latin typeface="Cambria Math" panose="02040503050406030204" pitchFamily="18" charset="0"/>
                        <a:ea typeface="Cambria Math" panose="02040503050406030204" pitchFamily="18" charset="0"/>
                      </a:rPr>
                      <m:t>𝑟</m:t>
                    </m:r>
                    <m:r>
                      <a:rPr lang="en-GB" b="0" i="1" smtClean="0">
                        <a:latin typeface="Cambria Math" panose="02040503050406030204" pitchFamily="18" charset="0"/>
                        <a:ea typeface="Cambria Math" panose="02040503050406030204" pitchFamily="18" charset="0"/>
                      </a:rPr>
                      <m:t>=</m:t>
                    </m:r>
                  </m:oMath>
                </a14:m>
                <a:r>
                  <a:rPr lang="en-GB" dirty="0">
                    <a:ea typeface="Cambria Math" panose="02040503050406030204" pitchFamily="18" charset="0"/>
                  </a:rPr>
                  <a:t> 5%</a:t>
                </a:r>
              </a:p>
              <a:p>
                <a:pPr marL="0" lvl="1" indent="0">
                  <a:spcAft>
                    <a:spcPts val="900"/>
                  </a:spcAft>
                  <a:buClr>
                    <a:srgbClr val="C00000"/>
                  </a:buClr>
                  <a:buSzPct val="90000"/>
                </a:pPr>
                <a:endParaRPr lang="en-GB" dirty="0">
                  <a:ea typeface="Cambria Math" panose="02040503050406030204" pitchFamily="18" charset="0"/>
                </a:endParaRPr>
              </a:p>
              <a:p>
                <a:pPr marL="0" marR="0" lvl="1" indent="0" algn="l" defTabSz="914400" rtl="0" eaLnBrk="0" fontAlgn="base" latinLnBrk="0" hangingPunct="0">
                  <a:lnSpc>
                    <a:spcPct val="100000"/>
                  </a:lnSpc>
                  <a:spcBef>
                    <a:spcPct val="30000"/>
                  </a:spcBef>
                  <a:spcAft>
                    <a:spcPts val="900"/>
                  </a:spcAft>
                  <a:buClr>
                    <a:srgbClr val="C00000"/>
                  </a:buClr>
                  <a:buSzPct val="90000"/>
                  <a:buFontTx/>
                  <a:buNone/>
                  <a:tabLst/>
                  <a:defRPr/>
                </a:pPr>
                <a14:m>
                  <m:oMathPara xmlns:m="http://schemas.openxmlformats.org/officeDocument/2006/math">
                    <m:oMathParaPr>
                      <m:jc m:val="centerGroup"/>
                    </m:oMathParaPr>
                    <m:oMath xmlns:m="http://schemas.openxmlformats.org/officeDocument/2006/math">
                      <m:r>
                        <a:rPr lang="en-GB" i="1" smtClean="0">
                          <a:solidFill>
                            <a:srgbClr val="C00000"/>
                          </a:solidFill>
                          <a:latin typeface="Cambria Math" panose="02040503050406030204" pitchFamily="18" charset="0"/>
                          <a:ea typeface="Cambria Math" panose="02040503050406030204" pitchFamily="18" charset="0"/>
                        </a:rPr>
                        <m:t>𝑡</m:t>
                      </m:r>
                      <m:r>
                        <a:rPr lang="en-GB" i="1">
                          <a:latin typeface="Cambria Math" panose="02040503050406030204" pitchFamily="18" charset="0"/>
                          <a:ea typeface="Cambria Math" panose="02040503050406030204" pitchFamily="18" charset="0"/>
                        </a:rPr>
                        <m:t>=</m:t>
                      </m:r>
                      <m:f>
                        <m:fPr>
                          <m:ctrlPr>
                            <a:rPr lang="en-GB" i="1">
                              <a:latin typeface="Cambria Math" panose="02040503050406030204" pitchFamily="18" charset="0"/>
                            </a:rPr>
                          </m:ctrlPr>
                        </m:fPr>
                        <m:num>
                          <m:func>
                            <m:funcPr>
                              <m:ctrlPr>
                                <a:rPr lang="en-GB" i="1">
                                  <a:latin typeface="Cambria Math" panose="02040503050406030204" pitchFamily="18" charset="0"/>
                                </a:rPr>
                              </m:ctrlPr>
                            </m:funcPr>
                            <m:fName>
                              <m:r>
                                <m:rPr>
                                  <m:sty m:val="p"/>
                                </m:rPr>
                                <a:rPr lang="en-GB">
                                  <a:latin typeface="Cambria Math" panose="02040503050406030204" pitchFamily="18" charset="0"/>
                                </a:rPr>
                                <m:t>ln</m:t>
                              </m:r>
                            </m:fName>
                            <m:e>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20,000</m:t>
                                      </m:r>
                                    </m:num>
                                    <m:den>
                                      <m:r>
                                        <a:rPr lang="en-GB" i="1">
                                          <a:latin typeface="Cambria Math" panose="02040503050406030204" pitchFamily="18" charset="0"/>
                                        </a:rPr>
                                        <m:t>10,000</m:t>
                                      </m:r>
                                    </m:den>
                                  </m:f>
                                </m:e>
                              </m:d>
                            </m:e>
                          </m:func>
                        </m:num>
                        <m:den>
                          <m:r>
                            <m:rPr>
                              <m:sty m:val="p"/>
                            </m:rPr>
                            <a:rPr lang="en-GB">
                              <a:latin typeface="Cambria Math" panose="02040503050406030204" pitchFamily="18" charset="0"/>
                            </a:rPr>
                            <m:t>ln</m:t>
                          </m:r>
                          <m:r>
                            <a:rPr lang="en-GB" i="1">
                              <a:latin typeface="Cambria Math" panose="02040503050406030204" pitchFamily="18" charset="0"/>
                            </a:rPr>
                            <m:t>⁡(1+5%)</m:t>
                          </m:r>
                        </m:den>
                      </m:f>
                      <m:r>
                        <a:rPr lang="en-GB" i="1">
                          <a:latin typeface="Cambria Math" panose="02040503050406030204" pitchFamily="18" charset="0"/>
                        </a:rPr>
                        <m:t>=14.21 ≈</m:t>
                      </m:r>
                      <m:r>
                        <a:rPr lang="en-GB" i="1">
                          <a:latin typeface="Cambria Math" panose="02040503050406030204" pitchFamily="18" charset="0"/>
                          <a:ea typeface="Cambria Math" panose="02040503050406030204" pitchFamily="18" charset="0"/>
                        </a:rPr>
                        <m:t>14 </m:t>
                      </m:r>
                      <m:r>
                        <a:rPr lang="en-GB" i="1">
                          <a:latin typeface="Cambria Math" panose="02040503050406030204" pitchFamily="18" charset="0"/>
                          <a:ea typeface="Cambria Math" panose="02040503050406030204" pitchFamily="18" charset="0"/>
                        </a:rPr>
                        <m:t>𝑦𝑒𝑎𝑟𝑠</m:t>
                      </m:r>
                      <m:r>
                        <a:rPr lang="en-GB" i="1">
                          <a:latin typeface="Cambria Math" panose="02040503050406030204" pitchFamily="18" charset="0"/>
                          <a:ea typeface="Cambria Math" panose="02040503050406030204" pitchFamily="18" charset="0"/>
                        </a:rPr>
                        <m:t> </m:t>
                      </m:r>
                    </m:oMath>
                  </m:oMathPara>
                </a14:m>
                <a:endParaRPr lang="en-GB" dirty="0">
                  <a:ea typeface="Cambria Math" panose="02040503050406030204" pitchFamily="18" charset="0"/>
                </a:endParaRPr>
              </a:p>
              <a:p>
                <a:pPr marL="0" lvl="1" indent="0">
                  <a:spcAft>
                    <a:spcPts val="900"/>
                  </a:spcAft>
                  <a:buClr>
                    <a:srgbClr val="C00000"/>
                  </a:buClr>
                  <a:buSzPct val="90000"/>
                </a:pPr>
                <a:endParaRPr lang="en-GB" dirty="0">
                  <a:ea typeface="Cambria Math" panose="02040503050406030204" pitchFamily="18" charset="0"/>
                </a:endParaRPr>
              </a:p>
              <a:p>
                <a:endParaRPr lang="en-GB" dirty="0"/>
              </a:p>
            </p:txBody>
          </p:sp>
        </mc:Choice>
        <mc:Fallback xmlns="">
          <p:sp>
            <p:nvSpPr>
              <p:cNvPr id="3" name="Notes Placeholder 2"/>
              <p:cNvSpPr>
                <a:spLocks noGrp="1"/>
              </p:cNvSpPr>
              <p:nvPr>
                <p:ph type="body" idx="1"/>
              </p:nvPr>
            </p:nvSpPr>
            <p:spPr/>
            <p:txBody>
              <a:bodyPr/>
              <a:lstStyle/>
              <a:p>
                <a:pPr marL="0" lvl="1" indent="0">
                  <a:spcAft>
                    <a:spcPts val="900"/>
                  </a:spcAft>
                  <a:buClr>
                    <a:srgbClr val="C00000"/>
                  </a:buClr>
                  <a:buSzPct val="90000"/>
                </a:pPr>
                <a:r>
                  <a:rPr lang="en-GB" dirty="0"/>
                  <a:t>1 - </a:t>
                </a:r>
                <a:r>
                  <a:rPr lang="en-GB" b="0" i="0">
                    <a:latin typeface="Cambria Math" panose="02040503050406030204" pitchFamily="18" charset="0"/>
                    <a:ea typeface="Cambria Math" panose="02040503050406030204" pitchFamily="18" charset="0"/>
                  </a:rPr>
                  <a:t>𝑃𝑉=£10,000</a:t>
                </a:r>
                <a:endParaRPr lang="en-GB" b="0" dirty="0">
                  <a:ea typeface="Cambria Math" panose="02040503050406030204" pitchFamily="18" charset="0"/>
                </a:endParaRPr>
              </a:p>
              <a:p>
                <a:pPr marL="0" lvl="1" indent="0">
                  <a:spcAft>
                    <a:spcPts val="900"/>
                  </a:spcAft>
                  <a:buClr>
                    <a:srgbClr val="C00000"/>
                  </a:buClr>
                  <a:buSzPct val="90000"/>
                </a:pPr>
                <a:r>
                  <a:rPr lang="en-GB" b="0" i="0">
                    <a:latin typeface="Cambria Math" panose="02040503050406030204" pitchFamily="18" charset="0"/>
                    <a:ea typeface="Cambria Math" panose="02040503050406030204" pitchFamily="18" charset="0"/>
                  </a:rPr>
                  <a:t>𝐹𝑉=£10,000 𝑥 2=£20,000</a:t>
                </a:r>
                <a:endParaRPr lang="en-GB" b="0" dirty="0">
                  <a:ea typeface="Cambria Math" panose="02040503050406030204" pitchFamily="18" charset="0"/>
                </a:endParaRPr>
              </a:p>
              <a:p>
                <a:pPr marL="0" lvl="1" indent="0">
                  <a:spcAft>
                    <a:spcPts val="900"/>
                  </a:spcAft>
                  <a:buClr>
                    <a:srgbClr val="C00000"/>
                  </a:buClr>
                  <a:buSzPct val="90000"/>
                </a:pPr>
                <a:r>
                  <a:rPr lang="en-GB" b="0" i="0">
                    <a:latin typeface="Cambria Math" panose="02040503050406030204" pitchFamily="18" charset="0"/>
                    <a:ea typeface="Cambria Math" panose="02040503050406030204" pitchFamily="18" charset="0"/>
                  </a:rPr>
                  <a:t>𝑡=?</a:t>
                </a:r>
                <a:endParaRPr lang="en-GB" b="0" dirty="0">
                  <a:ea typeface="Cambria Math" panose="02040503050406030204" pitchFamily="18" charset="0"/>
                </a:endParaRPr>
              </a:p>
              <a:p>
                <a:pPr marL="0" lvl="1" indent="0">
                  <a:spcAft>
                    <a:spcPts val="900"/>
                  </a:spcAft>
                  <a:buClr>
                    <a:srgbClr val="C00000"/>
                  </a:buClr>
                  <a:buSzPct val="90000"/>
                </a:pPr>
                <a:r>
                  <a:rPr lang="en-GB" b="0" i="0">
                    <a:latin typeface="Cambria Math" panose="02040503050406030204" pitchFamily="18" charset="0"/>
                    <a:ea typeface="Cambria Math" panose="02040503050406030204" pitchFamily="18" charset="0"/>
                  </a:rPr>
                  <a:t>𝑟=</a:t>
                </a:r>
                <a:r>
                  <a:rPr lang="en-GB" dirty="0">
                    <a:ea typeface="Cambria Math" panose="02040503050406030204" pitchFamily="18" charset="0"/>
                  </a:rPr>
                  <a:t> 5%</a:t>
                </a:r>
              </a:p>
              <a:p>
                <a:pPr marL="0" lvl="1" indent="0">
                  <a:spcAft>
                    <a:spcPts val="900"/>
                  </a:spcAft>
                  <a:buClr>
                    <a:srgbClr val="C00000"/>
                  </a:buClr>
                  <a:buSzPct val="90000"/>
                </a:pPr>
                <a:endParaRPr lang="en-GB" dirty="0">
                  <a:ea typeface="Cambria Math" panose="02040503050406030204" pitchFamily="18" charset="0"/>
                </a:endParaRPr>
              </a:p>
              <a:p>
                <a:pPr marL="0" marR="0" lvl="1" indent="0" algn="l" defTabSz="914400" rtl="0" eaLnBrk="0" fontAlgn="base" latinLnBrk="0" hangingPunct="0">
                  <a:lnSpc>
                    <a:spcPct val="100000"/>
                  </a:lnSpc>
                  <a:spcBef>
                    <a:spcPct val="30000"/>
                  </a:spcBef>
                  <a:spcAft>
                    <a:spcPts val="900"/>
                  </a:spcAft>
                  <a:buClr>
                    <a:srgbClr val="C00000"/>
                  </a:buClr>
                  <a:buSzPct val="90000"/>
                  <a:buFontTx/>
                  <a:buNone/>
                  <a:tabLst/>
                  <a:defRPr/>
                </a:pPr>
                <a:r>
                  <a:rPr lang="en-GB" i="0">
                    <a:solidFill>
                      <a:srgbClr val="C00000"/>
                    </a:solidFill>
                    <a:latin typeface="Cambria Math" panose="02040503050406030204" pitchFamily="18" charset="0"/>
                    <a:ea typeface="Cambria Math" panose="02040503050406030204" pitchFamily="18" charset="0"/>
                  </a:rPr>
                  <a:t>𝑡</a:t>
                </a:r>
                <a:r>
                  <a:rPr lang="en-GB" i="0">
                    <a:latin typeface="Cambria Math" panose="02040503050406030204" pitchFamily="18" charset="0"/>
                    <a:ea typeface="Cambria Math" panose="02040503050406030204" pitchFamily="18" charset="0"/>
                  </a:rPr>
                  <a:t>=</a:t>
                </a:r>
                <a:r>
                  <a:rPr lang="en-GB" i="0">
                    <a:latin typeface="Cambria Math" panose="02040503050406030204" pitchFamily="18" charset="0"/>
                  </a:rPr>
                  <a:t>ln⁡(20,000/10,000)/(ln⁡(1+5%))=14.21 ≈</a:t>
                </a:r>
                <a:r>
                  <a:rPr lang="en-GB" i="0">
                    <a:latin typeface="Cambria Math" panose="02040503050406030204" pitchFamily="18" charset="0"/>
                    <a:ea typeface="Cambria Math" panose="02040503050406030204" pitchFamily="18" charset="0"/>
                  </a:rPr>
                  <a:t>14 𝑦𝑒𝑎𝑟𝑠 </a:t>
                </a:r>
                <a:endParaRPr lang="en-GB" dirty="0">
                  <a:ea typeface="Cambria Math" panose="02040503050406030204" pitchFamily="18" charset="0"/>
                </a:endParaRPr>
              </a:p>
              <a:p>
                <a:pPr marL="0" lvl="1" indent="0">
                  <a:spcAft>
                    <a:spcPts val="900"/>
                  </a:spcAft>
                  <a:buClr>
                    <a:srgbClr val="C00000"/>
                  </a:buClr>
                  <a:buSzPct val="90000"/>
                </a:pPr>
                <a:endParaRPr lang="en-GB" dirty="0">
                  <a:ea typeface="Cambria Math" panose="02040503050406030204" pitchFamily="18" charset="0"/>
                </a:endParaRPr>
              </a:p>
              <a:p>
                <a:endParaRPr lang="en-GB" dirty="0"/>
              </a:p>
            </p:txBody>
          </p:sp>
        </mc:Fallback>
      </mc:AlternateContent>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15</a:t>
            </a:fld>
            <a:endParaRPr lang="en-US" altLang="en-US" dirty="0"/>
          </a:p>
        </p:txBody>
      </p:sp>
    </p:spTree>
    <p:extLst>
      <p:ext uri="{BB962C8B-B14F-4D97-AF65-F5344CB8AC3E}">
        <p14:creationId xmlns:p14="http://schemas.microsoft.com/office/powerpoint/2010/main" val="1911862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42DE7-B21B-4C72-EA3A-81DFE33A14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FFEE34-F461-BCBB-44D2-2D74C523F4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A2A48B-CC3B-5413-77A1-96A1A8858814}"/>
              </a:ext>
            </a:extLst>
          </p:cNvPr>
          <p:cNvSpPr>
            <a:spLocks noGrp="1"/>
          </p:cNvSpPr>
          <p:nvPr>
            <p:ph type="body" idx="1"/>
          </p:nvPr>
        </p:nvSpPr>
        <p:spPr/>
        <p:txBody>
          <a:bodyPr/>
          <a:lstStyle/>
          <a:p>
            <a:pPr marL="352425" indent="-342900">
              <a:buFont typeface="+mj-lt"/>
              <a:buAutoNum type="arabicPeriod"/>
            </a:pPr>
            <a:r>
              <a:rPr lang="en-GB" dirty="0"/>
              <a:t>The concept of time in finance</a:t>
            </a:r>
          </a:p>
          <a:p>
            <a:pPr marL="352425" indent="-342900">
              <a:buFont typeface="+mj-lt"/>
              <a:buAutoNum type="arabicPeriod"/>
            </a:pPr>
            <a:r>
              <a:rPr lang="en-GB" dirty="0"/>
              <a:t>Simple vs Compounding Interest</a:t>
            </a:r>
          </a:p>
          <a:p>
            <a:pPr marL="352425" indent="-342900">
              <a:buFont typeface="+mj-lt"/>
              <a:buAutoNum type="arabicPeriod"/>
            </a:pPr>
            <a:r>
              <a:rPr lang="en-GB" dirty="0"/>
              <a:t>The present value and discounting</a:t>
            </a:r>
          </a:p>
          <a:p>
            <a:pPr marL="352425" indent="-342900">
              <a:buFont typeface="+mj-lt"/>
              <a:buAutoNum type="arabicPeriod"/>
            </a:pPr>
            <a:r>
              <a:rPr lang="en-GB" dirty="0"/>
              <a:t>The future value and compounding</a:t>
            </a:r>
          </a:p>
          <a:p>
            <a:pPr marL="457200" indent="-457200" algn="just">
              <a:buFont typeface="Arial" panose="020B0604020202020204" pitchFamily="34" charset="0"/>
              <a:buChar char="•"/>
            </a:pPr>
            <a:endParaRPr lang="en-GB" sz="12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E4D3E4A-3090-A747-2FCA-7AA6A583E460}"/>
              </a:ext>
            </a:extLst>
          </p:cNvPr>
          <p:cNvSpPr>
            <a:spLocks noGrp="1"/>
          </p:cNvSpPr>
          <p:nvPr>
            <p:ph type="sldNum" sz="quarter" idx="5"/>
          </p:nvPr>
        </p:nvSpPr>
        <p:spPr/>
        <p:txBody>
          <a:bodyPr/>
          <a:lstStyle/>
          <a:p>
            <a:pPr>
              <a:defRPr/>
            </a:pPr>
            <a:fld id="{85360570-2B09-DB43-BBE0-DA076DA911F1}" type="slidenum">
              <a:rPr lang="en-US" altLang="en-US" smtClean="0"/>
              <a:pPr>
                <a:defRPr/>
              </a:pPr>
              <a:t>18</a:t>
            </a:fld>
            <a:endParaRPr lang="en-US" altLang="en-US" dirty="0"/>
          </a:p>
        </p:txBody>
      </p:sp>
    </p:spTree>
    <p:extLst>
      <p:ext uri="{BB962C8B-B14F-4D97-AF65-F5344CB8AC3E}">
        <p14:creationId xmlns:p14="http://schemas.microsoft.com/office/powerpoint/2010/main" val="11418570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A7A708D-0180-424B-8170-B8C7498B3081}" type="slidenum">
              <a:rPr lang="en-GB" smtClean="0"/>
              <a:t>19</a:t>
            </a:fld>
            <a:endParaRPr lang="en-GB"/>
          </a:p>
        </p:txBody>
      </p:sp>
    </p:spTree>
    <p:extLst>
      <p:ext uri="{BB962C8B-B14F-4D97-AF65-F5344CB8AC3E}">
        <p14:creationId xmlns:p14="http://schemas.microsoft.com/office/powerpoint/2010/main" val="18497832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1A9DAC"/>
        </a:solidFill>
        <a:effectLst/>
      </p:bgPr>
    </p:bg>
    <p:spTree>
      <p:nvGrpSpPr>
        <p:cNvPr id="1" name=""/>
        <p:cNvGrpSpPr/>
        <p:nvPr/>
      </p:nvGrpSpPr>
      <p:grpSpPr>
        <a:xfrm>
          <a:off x="0" y="0"/>
          <a:ext cx="0" cy="0"/>
          <a:chOff x="0" y="0"/>
          <a:chExt cx="0" cy="0"/>
        </a:xfrm>
      </p:grpSpPr>
      <p:pic>
        <p:nvPicPr>
          <p:cNvPr id="6" name="Picture 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7584" y="0"/>
            <a:ext cx="1787872" cy="89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6FE3B5BC-7C7D-A745-8158-A53C466DA14C}"/>
              </a:ext>
            </a:extLst>
          </p:cNvPr>
          <p:cNvSpPr>
            <a:spLocks noGrp="1"/>
          </p:cNvSpPr>
          <p:nvPr>
            <p:ph type="title"/>
          </p:nvPr>
        </p:nvSpPr>
        <p:spPr>
          <a:xfrm>
            <a:off x="2050826" y="1915479"/>
            <a:ext cx="5689524" cy="2089585"/>
          </a:xfrm>
          <a:prstGeom prst="rect">
            <a:avLst/>
          </a:prstGeom>
        </p:spPr>
        <p:txBody>
          <a:bodyPr lIns="0" tIns="0" rIns="0" bIns="0"/>
          <a:lstStyle>
            <a:lvl1pPr>
              <a:defRPr>
                <a:solidFill>
                  <a:schemeClr val="bg1"/>
                </a:solidFill>
              </a:defRPr>
            </a:lvl1pPr>
          </a:lstStyle>
          <a:p>
            <a:r>
              <a:rPr lang="en-US"/>
              <a:t>Click to edit Master title style</a:t>
            </a:r>
            <a:endParaRPr lang="en-US" dirty="0"/>
          </a:p>
        </p:txBody>
      </p:sp>
      <p:sp>
        <p:nvSpPr>
          <p:cNvPr id="16" name="Text Placeholder 14">
            <a:extLst>
              <a:ext uri="{FF2B5EF4-FFF2-40B4-BE49-F238E27FC236}">
                <a16:creationId xmlns:a16="http://schemas.microsoft.com/office/drawing/2014/main" id="{69EC6F0B-C9B0-464E-ABF8-505FA2B99A36}"/>
              </a:ext>
            </a:extLst>
          </p:cNvPr>
          <p:cNvSpPr>
            <a:spLocks noGrp="1"/>
          </p:cNvSpPr>
          <p:nvPr>
            <p:ph type="body" sz="quarter" idx="15" hasCustomPrompt="1"/>
          </p:nvPr>
        </p:nvSpPr>
        <p:spPr>
          <a:xfrm>
            <a:off x="586421" y="1916832"/>
            <a:ext cx="1219139" cy="269081"/>
          </a:xfrm>
          <a:prstGeom prst="rect">
            <a:avLst/>
          </a:prstGeom>
        </p:spPr>
        <p:txBody>
          <a:bodyPr lIns="0" tIns="0" rIns="0" bIns="0"/>
          <a:lstStyle>
            <a:lvl1pPr marL="0" indent="0">
              <a:lnSpc>
                <a:spcPts val="1300"/>
              </a:lnSpc>
              <a:spcBef>
                <a:spcPts val="0"/>
              </a:spcBef>
              <a:buFontTx/>
              <a:buNone/>
              <a:defRPr sz="1600" b="0" i="0">
                <a:solidFill>
                  <a:schemeClr val="bg1"/>
                </a:solidFill>
                <a:latin typeface="+mj-lt"/>
                <a:ea typeface="Tahoma" charset="0"/>
                <a:cs typeface="Tahoma" charset="0"/>
              </a:defRPr>
            </a:lvl1pPr>
          </a:lstStyle>
          <a:p>
            <a:pPr lvl="0"/>
            <a:r>
              <a:rPr lang="en-US" dirty="0"/>
              <a:t>Presented by</a:t>
            </a:r>
          </a:p>
        </p:txBody>
      </p:sp>
      <p:sp>
        <p:nvSpPr>
          <p:cNvPr id="17" name="Text Placeholder 14">
            <a:extLst>
              <a:ext uri="{FF2B5EF4-FFF2-40B4-BE49-F238E27FC236}">
                <a16:creationId xmlns:a16="http://schemas.microsoft.com/office/drawing/2014/main" id="{C1E2BFEE-0AD7-C548-92B3-DE639BB40C8B}"/>
              </a:ext>
            </a:extLst>
          </p:cNvPr>
          <p:cNvSpPr>
            <a:spLocks noGrp="1"/>
          </p:cNvSpPr>
          <p:nvPr>
            <p:ph type="body" sz="quarter" idx="16"/>
          </p:nvPr>
        </p:nvSpPr>
        <p:spPr>
          <a:xfrm>
            <a:off x="586420" y="2323737"/>
            <a:ext cx="1219139" cy="402300"/>
          </a:xfrm>
          <a:prstGeom prst="rect">
            <a:avLst/>
          </a:prstGeom>
        </p:spPr>
        <p:txBody>
          <a:bodyPr lIns="0" tIns="0" rIns="0" bIns="0"/>
          <a:lstStyle>
            <a:lvl1pPr marL="0" indent="0">
              <a:lnSpc>
                <a:spcPts val="1300"/>
              </a:lnSpc>
              <a:spcBef>
                <a:spcPts val="0"/>
              </a:spcBef>
              <a:buFontTx/>
              <a:buNone/>
              <a:defRPr sz="1800" b="1" i="0">
                <a:solidFill>
                  <a:schemeClr val="bg1"/>
                </a:solidFill>
                <a:latin typeface="+mj-lt"/>
                <a:ea typeface="Tahoma" charset="0"/>
                <a:cs typeface="Tahoma" charset="0"/>
              </a:defRPr>
            </a:lvl1pPr>
          </a:lstStyle>
          <a:p>
            <a:pPr lvl="0"/>
            <a:r>
              <a:rPr lang="en-US"/>
              <a:t>Edit Master text styles</a:t>
            </a:r>
          </a:p>
        </p:txBody>
      </p:sp>
      <p:sp>
        <p:nvSpPr>
          <p:cNvPr id="18" name="Text Placeholder 14">
            <a:extLst>
              <a:ext uri="{FF2B5EF4-FFF2-40B4-BE49-F238E27FC236}">
                <a16:creationId xmlns:a16="http://schemas.microsoft.com/office/drawing/2014/main" id="{FE54718D-4C22-E94B-A4C0-C34A3A4257A2}"/>
              </a:ext>
            </a:extLst>
          </p:cNvPr>
          <p:cNvSpPr>
            <a:spLocks noGrp="1"/>
          </p:cNvSpPr>
          <p:nvPr>
            <p:ph type="body" sz="quarter" idx="17"/>
          </p:nvPr>
        </p:nvSpPr>
        <p:spPr>
          <a:xfrm>
            <a:off x="598505" y="2913639"/>
            <a:ext cx="1219139" cy="371345"/>
          </a:xfrm>
          <a:prstGeom prst="rect">
            <a:avLst/>
          </a:prstGeom>
        </p:spPr>
        <p:txBody>
          <a:bodyPr lIns="0" tIns="0" rIns="0" bIns="0"/>
          <a:lstStyle>
            <a:lvl1pPr marL="0" indent="0">
              <a:lnSpc>
                <a:spcPts val="1300"/>
              </a:lnSpc>
              <a:spcBef>
                <a:spcPts val="0"/>
              </a:spcBef>
              <a:buFontTx/>
              <a:buNone/>
              <a:defRPr sz="1800" b="1" i="0">
                <a:solidFill>
                  <a:schemeClr val="bg1"/>
                </a:solidFill>
                <a:latin typeface="+mj-lt"/>
                <a:ea typeface="Tahoma" charset="0"/>
                <a:cs typeface="Tahoma" charset="0"/>
              </a:defRPr>
            </a:lvl1pPr>
          </a:lstStyle>
          <a:p>
            <a:pPr lvl="0"/>
            <a:r>
              <a:rPr lang="en-US"/>
              <a:t>Edit Master text styles</a:t>
            </a:r>
          </a:p>
        </p:txBody>
      </p:sp>
      <p:cxnSp>
        <p:nvCxnSpPr>
          <p:cNvPr id="27" name="Straight Connector 26">
            <a:extLst>
              <a:ext uri="{FF2B5EF4-FFF2-40B4-BE49-F238E27FC236}">
                <a16:creationId xmlns:a16="http://schemas.microsoft.com/office/drawing/2014/main" id="{763A8BFE-74A7-E94B-8A00-4CD70EAFA367}"/>
              </a:ext>
            </a:extLst>
          </p:cNvPr>
          <p:cNvCxnSpPr>
            <a:cxnSpLocks/>
          </p:cNvCxnSpPr>
          <p:nvPr userDrawn="1"/>
        </p:nvCxnSpPr>
        <p:spPr>
          <a:xfrm>
            <a:off x="1919288" y="1916832"/>
            <a:ext cx="0" cy="3802212"/>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sp>
        <p:nvSpPr>
          <p:cNvPr id="19" name="Text Placeholder 14">
            <a:extLst>
              <a:ext uri="{FF2B5EF4-FFF2-40B4-BE49-F238E27FC236}">
                <a16:creationId xmlns:a16="http://schemas.microsoft.com/office/drawing/2014/main" id="{55B2378F-7E74-5649-B1F7-5BE87863FDAE}"/>
              </a:ext>
            </a:extLst>
          </p:cNvPr>
          <p:cNvSpPr>
            <a:spLocks noGrp="1"/>
          </p:cNvSpPr>
          <p:nvPr>
            <p:ph type="body" sz="quarter" idx="18" hasCustomPrompt="1"/>
          </p:nvPr>
        </p:nvSpPr>
        <p:spPr>
          <a:xfrm>
            <a:off x="598505" y="5373216"/>
            <a:ext cx="1219139" cy="345828"/>
          </a:xfrm>
          <a:prstGeom prst="rect">
            <a:avLst/>
          </a:prstGeom>
        </p:spPr>
        <p:txBody>
          <a:bodyPr lIns="0" tIns="0" rIns="0" bIns="0"/>
          <a:lstStyle>
            <a:lvl1pPr marL="0" indent="0">
              <a:lnSpc>
                <a:spcPts val="1300"/>
              </a:lnSpc>
              <a:spcBef>
                <a:spcPts val="0"/>
              </a:spcBef>
              <a:buFontTx/>
              <a:buNone/>
              <a:defRPr sz="1600" b="0" i="0">
                <a:solidFill>
                  <a:schemeClr val="bg1"/>
                </a:solidFill>
                <a:latin typeface="+mn-lt"/>
                <a:ea typeface="Tahoma"/>
                <a:cs typeface="Tahoma"/>
              </a:defRPr>
            </a:lvl1pPr>
          </a:lstStyle>
          <a:p>
            <a:pPr lvl="0"/>
            <a:r>
              <a:rPr lang="en-US" dirty="0"/>
              <a:t>Presentation date</a:t>
            </a:r>
          </a:p>
        </p:txBody>
      </p:sp>
    </p:spTree>
    <p:extLst>
      <p:ext uri="{BB962C8B-B14F-4D97-AF65-F5344CB8AC3E}">
        <p14:creationId xmlns:p14="http://schemas.microsoft.com/office/powerpoint/2010/main" val="2037226853"/>
      </p:ext>
    </p:extLst>
  </p:cSld>
  <p:clrMapOvr>
    <a:masterClrMapping/>
  </p:clrMapOvr>
  <p:transition spd="slow">
    <p:fade/>
  </p:transition>
  <p:extLst>
    <p:ext uri="{DCECCB84-F9BA-43D5-87BE-67443E8EF086}">
      <p15:sldGuideLst xmlns:p15="http://schemas.microsoft.com/office/powerpoint/2012/main">
        <p15:guide id="1" orient="horz" pos="1207" userDrawn="1">
          <p15:clr>
            <a:srgbClr val="FBAE40"/>
          </p15:clr>
        </p15:guide>
        <p15:guide id="2" pos="12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899592" y="1974055"/>
            <a:ext cx="6515620" cy="1325563"/>
          </a:xfrm>
          <a:prstGeom prst="rect">
            <a:avLst/>
          </a:prstGeom>
        </p:spPr>
        <p:txBody>
          <a:bodyPr/>
          <a:lstStyle>
            <a:lvl1pPr>
              <a:defRPr>
                <a:solidFill>
                  <a:srgbClr val="1A9DAC"/>
                </a:solidFill>
              </a:defRPr>
            </a:lvl1pPr>
          </a:lstStyle>
          <a:p>
            <a:r>
              <a:rPr lang="en-US"/>
              <a:t>Click to edit Master title style</a:t>
            </a:r>
            <a:endParaRPr lang="en-US" dirty="0"/>
          </a:p>
        </p:txBody>
      </p:sp>
      <p:sp>
        <p:nvSpPr>
          <p:cNvPr id="7" name="Text Placeholder 5"/>
          <p:cNvSpPr>
            <a:spLocks noGrp="1"/>
          </p:cNvSpPr>
          <p:nvPr>
            <p:ph type="body" sz="quarter" idx="11"/>
          </p:nvPr>
        </p:nvSpPr>
        <p:spPr>
          <a:xfrm>
            <a:off x="899592" y="4221163"/>
            <a:ext cx="6515620" cy="603104"/>
          </a:xfrm>
          <a:prstGeom prst="rect">
            <a:avLst/>
          </a:prstGeom>
        </p:spPr>
        <p:txBody>
          <a:bodyPr lIns="0" tIns="0" rIns="0" bIns="0"/>
          <a:lstStyle>
            <a:lvl1pPr marL="0" indent="0">
              <a:lnSpc>
                <a:spcPct val="100000"/>
              </a:lnSpc>
              <a:buFontTx/>
              <a:buNone/>
              <a:defRPr sz="1800" b="0" i="0">
                <a:solidFill>
                  <a:schemeClr val="tx1"/>
                </a:solidFill>
                <a:latin typeface="+mn-lt"/>
                <a:ea typeface="Tahoma"/>
                <a:cs typeface="Tahoma"/>
              </a:defRPr>
            </a:lvl1pPr>
          </a:lstStyle>
          <a:p>
            <a:pPr lvl="0"/>
            <a:r>
              <a:rPr lang="en-US"/>
              <a:t>Edit Master text styles</a:t>
            </a:r>
          </a:p>
        </p:txBody>
      </p:sp>
    </p:spTree>
    <p:extLst>
      <p:ext uri="{BB962C8B-B14F-4D97-AF65-F5344CB8AC3E}">
        <p14:creationId xmlns:p14="http://schemas.microsoft.com/office/powerpoint/2010/main" val="192450603"/>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in headings, text and bullet poin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4AAA3-E9D4-B544-B77B-0789573E9C02}"/>
              </a:ext>
            </a:extLst>
          </p:cNvPr>
          <p:cNvSpPr>
            <a:spLocks noGrp="1"/>
          </p:cNvSpPr>
          <p:nvPr>
            <p:ph type="title" hasCustomPrompt="1"/>
          </p:nvPr>
        </p:nvSpPr>
        <p:spPr>
          <a:xfrm>
            <a:off x="899591" y="689701"/>
            <a:ext cx="7886700" cy="1011108"/>
          </a:xfrm>
          <a:prstGeom prst="rect">
            <a:avLst/>
          </a:prstGeom>
        </p:spPr>
        <p:txBody>
          <a:bodyPr lIns="0" tIns="0" rIns="0" bIns="0"/>
          <a:lstStyle>
            <a:lvl1pPr>
              <a:defRPr>
                <a:solidFill>
                  <a:srgbClr val="1A9DAC"/>
                </a:solidFill>
              </a:defRPr>
            </a:lvl1pPr>
          </a:lstStyle>
          <a:p>
            <a:pPr lvl="0"/>
            <a:r>
              <a:rPr lang="en-GB" dirty="0"/>
              <a:t>Click to edit Master text styles</a:t>
            </a:r>
          </a:p>
        </p:txBody>
      </p:sp>
      <p:sp>
        <p:nvSpPr>
          <p:cNvPr id="6" name="Text Placeholder 5"/>
          <p:cNvSpPr>
            <a:spLocks noGrp="1"/>
          </p:cNvSpPr>
          <p:nvPr>
            <p:ph type="body" sz="quarter" idx="11" hasCustomPrompt="1"/>
          </p:nvPr>
        </p:nvSpPr>
        <p:spPr>
          <a:xfrm>
            <a:off x="899591" y="1700808"/>
            <a:ext cx="6551612" cy="4608512"/>
          </a:xfrm>
          <a:prstGeom prst="rect">
            <a:avLst/>
          </a:prstGeom>
        </p:spPr>
        <p:txBody>
          <a:bodyPr lIns="0" tIns="0" rIns="0" bIns="0"/>
          <a:lstStyle>
            <a:lvl1pPr marL="266700" indent="-257175">
              <a:buClr>
                <a:srgbClr val="1A9DAC"/>
              </a:buClr>
              <a:tabLst/>
              <a:defRPr sz="1800">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406912239"/>
      </p:ext>
    </p:extLst>
  </p:cSld>
  <p:clrMapOvr>
    <a:masterClrMapping/>
  </p:clrMapOvr>
  <p:transition spd="slow">
    <p:fade/>
  </p:transition>
  <p:extLst>
    <p:ext uri="{DCECCB84-F9BA-43D5-87BE-67443E8EF086}">
      <p15:sldGuideLst xmlns:p15="http://schemas.microsoft.com/office/powerpoint/2012/main">
        <p15:guide id="1" orient="horz" pos="436" userDrawn="1">
          <p15:clr>
            <a:srgbClr val="FBAE40"/>
          </p15:clr>
        </p15:guide>
        <p15:guide id="2" pos="56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headings, text and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4AA9-9B1B-7D49-821B-E768D4FEE2D2}"/>
              </a:ext>
            </a:extLst>
          </p:cNvPr>
          <p:cNvSpPr>
            <a:spLocks noGrp="1"/>
          </p:cNvSpPr>
          <p:nvPr>
            <p:ph type="title"/>
          </p:nvPr>
        </p:nvSpPr>
        <p:spPr>
          <a:xfrm>
            <a:off x="900113" y="687614"/>
            <a:ext cx="7886700" cy="1012599"/>
          </a:xfrm>
        </p:spPr>
        <p:txBody>
          <a:bodyPr/>
          <a:lstStyle>
            <a:lvl1pPr>
              <a:defRPr>
                <a:solidFill>
                  <a:srgbClr val="1A9DAC"/>
                </a:solidFill>
              </a:defRPr>
            </a:lvl1pPr>
          </a:lstStyle>
          <a:p>
            <a:r>
              <a:rPr lang="en-US" dirty="0"/>
              <a:t>Click to edit Master title style</a:t>
            </a:r>
          </a:p>
        </p:txBody>
      </p:sp>
      <p:sp>
        <p:nvSpPr>
          <p:cNvPr id="3" name="Text Placeholder 2"/>
          <p:cNvSpPr>
            <a:spLocks noGrp="1"/>
          </p:cNvSpPr>
          <p:nvPr>
            <p:ph type="body" sz="quarter" idx="11"/>
          </p:nvPr>
        </p:nvSpPr>
        <p:spPr>
          <a:xfrm>
            <a:off x="900113" y="1700213"/>
            <a:ext cx="6551612" cy="4465637"/>
          </a:xfrm>
          <a:prstGeom prst="rect">
            <a:avLst/>
          </a:prstGeom>
        </p:spPr>
        <p:txBody>
          <a:bodyPr lIns="0" tIns="0" rIns="0" bIns="0"/>
          <a:lstStyle>
            <a:lvl1pPr marL="266700" indent="-266700">
              <a:buClr>
                <a:srgbClr val="1A9DAC"/>
              </a:buClr>
              <a:buFont typeface="+mj-lt"/>
              <a:buAutoNum type="arabicPeriod"/>
              <a:defRPr sz="1800">
                <a:latin typeface="+mn-lt"/>
                <a:ea typeface="Tahoma" panose="020B0604030504040204" pitchFamily="34" charset="0"/>
                <a:cs typeface="Tahoma" panose="020B0604030504040204" pitchFamily="34" charset="0"/>
              </a:defRPr>
            </a:lvl1pPr>
            <a:lvl2pPr marL="609600" indent="-342900">
              <a:buClr>
                <a:srgbClr val="1A9DAC"/>
              </a:buClr>
              <a:buFont typeface="+mj-lt"/>
              <a:buAutoNum type="romanLcPeriod"/>
              <a:defRPr sz="1800">
                <a:latin typeface="+mn-lt"/>
                <a:ea typeface="Tahoma" panose="020B0604030504040204" pitchFamily="34" charset="0"/>
                <a:cs typeface="Tahoma" panose="020B0604030504040204" pitchFamily="34" charset="0"/>
              </a:defRPr>
            </a:lvl2pPr>
            <a:lvl3pPr marL="915988" marR="0" indent="-285750" algn="l" defTabSz="606425" rtl="0" eaLnBrk="1" fontAlgn="base" latinLnBrk="0" hangingPunct="1">
              <a:lnSpc>
                <a:spcPct val="100000"/>
              </a:lnSpc>
              <a:spcBef>
                <a:spcPct val="20000"/>
              </a:spcBef>
              <a:spcAft>
                <a:spcPct val="0"/>
              </a:spcAft>
              <a:buClr>
                <a:srgbClr val="1A9DAC"/>
              </a:buClr>
              <a:buSzTx/>
              <a:buFont typeface="Arial" panose="020B0604020202020204" pitchFamily="34" charset="0"/>
              <a:buChar char="•"/>
              <a:tabLst/>
              <a:defRPr sz="1800">
                <a:latin typeface="+mn-lt"/>
                <a:ea typeface="Tahoma" panose="020B0604030504040204" pitchFamily="34" charset="0"/>
                <a:cs typeface="Tahoma" panose="020B0604030504040204" pitchFamily="34" charset="0"/>
              </a:defRPr>
            </a:lvl3pPr>
            <a:lvl4pPr marL="23431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4pPr>
            <a:lvl5pPr marL="29527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386068825"/>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text sty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D85A6-D158-2E49-90B4-F2441730F410}"/>
              </a:ext>
            </a:extLst>
          </p:cNvPr>
          <p:cNvSpPr>
            <a:spLocks noGrp="1"/>
          </p:cNvSpPr>
          <p:nvPr>
            <p:ph type="title"/>
          </p:nvPr>
        </p:nvSpPr>
        <p:spPr>
          <a:xfrm>
            <a:off x="899591" y="692697"/>
            <a:ext cx="7886700" cy="936104"/>
          </a:xfrm>
        </p:spPr>
        <p:txBody>
          <a:bodyPr/>
          <a:lstStyle/>
          <a:p>
            <a:r>
              <a:rPr lang="en-US" dirty="0"/>
              <a:t>Click to edit Master title style</a:t>
            </a:r>
          </a:p>
        </p:txBody>
      </p:sp>
      <p:sp>
        <p:nvSpPr>
          <p:cNvPr id="6" name="Text Placeholder 5"/>
          <p:cNvSpPr>
            <a:spLocks noGrp="1"/>
          </p:cNvSpPr>
          <p:nvPr>
            <p:ph type="body" sz="quarter" idx="11"/>
          </p:nvPr>
        </p:nvSpPr>
        <p:spPr>
          <a:xfrm>
            <a:off x="899592"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US" dirty="0"/>
              <a:t>Edit Master text styles</a:t>
            </a:r>
          </a:p>
        </p:txBody>
      </p:sp>
      <p:sp>
        <p:nvSpPr>
          <p:cNvPr id="7" name="Text Placeholder 6"/>
          <p:cNvSpPr>
            <a:spLocks noGrp="1"/>
          </p:cNvSpPr>
          <p:nvPr>
            <p:ph type="body" sz="quarter" idx="12"/>
          </p:nvPr>
        </p:nvSpPr>
        <p:spPr>
          <a:xfrm>
            <a:off x="4284663"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US" dirty="0"/>
              <a:t>Edit Master text styles</a:t>
            </a:r>
          </a:p>
        </p:txBody>
      </p:sp>
    </p:spTree>
    <p:extLst>
      <p:ext uri="{BB962C8B-B14F-4D97-AF65-F5344CB8AC3E}">
        <p14:creationId xmlns:p14="http://schemas.microsoft.com/office/powerpoint/2010/main" val="1903622766"/>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text style with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63C3-2B19-3E4C-861A-2B5A52BA7233}"/>
              </a:ext>
            </a:extLst>
          </p:cNvPr>
          <p:cNvSpPr>
            <a:spLocks noGrp="1"/>
          </p:cNvSpPr>
          <p:nvPr>
            <p:ph type="title"/>
          </p:nvPr>
        </p:nvSpPr>
        <p:spPr>
          <a:xfrm>
            <a:off x="899591" y="692697"/>
            <a:ext cx="7886700" cy="936104"/>
          </a:xfrm>
        </p:spPr>
        <p:txBody>
          <a:bodyPr/>
          <a:lstStyle>
            <a:lvl1pPr>
              <a:defRPr>
                <a:solidFill>
                  <a:srgbClr val="1A9DAC"/>
                </a:solidFill>
              </a:defRPr>
            </a:lvl1pPr>
          </a:lstStyle>
          <a:p>
            <a:r>
              <a:rPr lang="en-US" dirty="0"/>
              <a:t>Click to edit Master title style</a:t>
            </a:r>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US" dirty="0"/>
              <a:t>Click to add text</a:t>
            </a:r>
          </a:p>
          <a:p>
            <a:pPr lvl="1"/>
            <a:r>
              <a:rPr lang="en-US" dirty="0"/>
              <a:t>Second Bullet Point</a:t>
            </a:r>
          </a:p>
          <a:p>
            <a:pPr lvl="2"/>
            <a:r>
              <a:rPr lang="en-US" dirty="0"/>
              <a:t>Third Bullet Point</a:t>
            </a:r>
          </a:p>
          <a:p>
            <a:pPr lvl="3"/>
            <a:endParaRPr lang="en-US" dirty="0"/>
          </a:p>
          <a:p>
            <a:pPr lvl="0"/>
            <a:endParaRPr lang="en-GB" dirty="0"/>
          </a:p>
        </p:txBody>
      </p:sp>
    </p:spTree>
    <p:extLst>
      <p:ext uri="{BB962C8B-B14F-4D97-AF65-F5344CB8AC3E}">
        <p14:creationId xmlns:p14="http://schemas.microsoft.com/office/powerpoint/2010/main" val="976455156"/>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text style with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AA39C-6E99-FE4F-B641-F44C7B4B4DB4}"/>
              </a:ext>
            </a:extLst>
          </p:cNvPr>
          <p:cNvSpPr>
            <a:spLocks noGrp="1"/>
          </p:cNvSpPr>
          <p:nvPr>
            <p:ph type="title"/>
          </p:nvPr>
        </p:nvSpPr>
        <p:spPr>
          <a:xfrm>
            <a:off x="899592" y="692697"/>
            <a:ext cx="7886700" cy="936104"/>
          </a:xfrm>
        </p:spPr>
        <p:txBody>
          <a:bodyPr/>
          <a:lstStyle>
            <a:lvl1pPr>
              <a:defRPr>
                <a:solidFill>
                  <a:srgbClr val="1A9DAC"/>
                </a:solidFill>
              </a:defRPr>
            </a:lvl1pPr>
          </a:lstStyle>
          <a:p>
            <a:r>
              <a:rPr lang="en-US" dirty="0"/>
              <a:t>Click to edit Master title style</a:t>
            </a:r>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A9DAC"/>
              </a:buClr>
              <a:buSzTx/>
              <a:buFont typeface="+mj-lt"/>
              <a:buAutoNum type="arabicPeriod"/>
              <a:tabLst/>
              <a:defRPr sz="1800" b="0" i="0" baseline="0">
                <a:solidFill>
                  <a:schemeClr val="tx1"/>
                </a:solidFill>
                <a:latin typeface="+mn-lt"/>
                <a:ea typeface="Tahoma"/>
                <a:cs typeface="Tahoma"/>
              </a:defRPr>
            </a:lvl1pPr>
            <a:lvl2pPr marL="541338" indent="-274638">
              <a:buClr>
                <a:srgbClr val="1A9DAC"/>
              </a:buClr>
              <a:buFont typeface="+mj-lt"/>
              <a:buAutoNum type="romanLcPeriod"/>
              <a:defRPr sz="1800" baseline="0">
                <a:latin typeface="+mn-lt"/>
                <a:ea typeface="Tahoma" panose="020B0604030504040204" pitchFamily="34" charset="0"/>
                <a:cs typeface="Tahoma" panose="020B0604030504040204" pitchFamily="34" charset="0"/>
              </a:defRPr>
            </a:lvl2pPr>
            <a:lvl3pPr marL="8969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a:p>
            <a:pPr lvl="3"/>
            <a:endParaRPr lang="en-GB" dirty="0"/>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A9DAC"/>
              </a:buClr>
              <a:buSzTx/>
              <a:buFont typeface="+mj-lt"/>
              <a:buAutoNum type="arabicPeriod"/>
              <a:tabLst/>
              <a:defRPr sz="1800" b="0" i="0" baseline="0">
                <a:solidFill>
                  <a:schemeClr val="tx1"/>
                </a:solidFill>
                <a:latin typeface="+mn-lt"/>
                <a:ea typeface="Tahoma"/>
                <a:cs typeface="Tahoma"/>
              </a:defRPr>
            </a:lvl1pPr>
            <a:lvl2pPr marL="541338" indent="-274638">
              <a:buClr>
                <a:srgbClr val="1A9DAC"/>
              </a:buClr>
              <a:buFont typeface="+mj-lt"/>
              <a:buAutoNum type="romanLcPeriod"/>
              <a:defRPr sz="1800">
                <a:latin typeface="+mn-lt"/>
                <a:ea typeface="Tahoma" panose="020B0604030504040204" pitchFamily="34" charset="0"/>
                <a:cs typeface="Tahoma" panose="020B0604030504040204" pitchFamily="34" charset="0"/>
              </a:defRPr>
            </a:lvl2pPr>
            <a:lvl3pPr marL="8969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966788" indent="0">
              <a:buFont typeface="Arial" panose="020B0604020202020204" pitchFamily="34" charset="0"/>
              <a:buNone/>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0"/>
            <a:endParaRPr lang="en-GB" dirty="0"/>
          </a:p>
        </p:txBody>
      </p:sp>
    </p:spTree>
    <p:extLst>
      <p:ext uri="{BB962C8B-B14F-4D97-AF65-F5344CB8AC3E}">
        <p14:creationId xmlns:p14="http://schemas.microsoft.com/office/powerpoint/2010/main" val="211776518"/>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and graph pos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C80B-5DE2-104C-BCD7-114FA55CDFA5}"/>
              </a:ext>
            </a:extLst>
          </p:cNvPr>
          <p:cNvSpPr>
            <a:spLocks noGrp="1"/>
          </p:cNvSpPr>
          <p:nvPr>
            <p:ph type="title"/>
          </p:nvPr>
        </p:nvSpPr>
        <p:spPr>
          <a:xfrm>
            <a:off x="892515" y="692697"/>
            <a:ext cx="7886700" cy="862064"/>
          </a:xfrm>
        </p:spPr>
        <p:txBody>
          <a:bodyPr/>
          <a:lstStyle>
            <a:lvl1pPr>
              <a:defRPr>
                <a:solidFill>
                  <a:srgbClr val="1A9DAC"/>
                </a:solidFill>
              </a:defRPr>
            </a:lvl1pPr>
          </a:lstStyle>
          <a:p>
            <a:r>
              <a:rPr lang="en-US"/>
              <a:t>Click to edit Master title style</a:t>
            </a:r>
            <a:endParaRPr lang="en-US" dirty="0"/>
          </a:p>
        </p:txBody>
      </p:sp>
      <p:sp>
        <p:nvSpPr>
          <p:cNvPr id="3" name="Chart Placeholder 2"/>
          <p:cNvSpPr>
            <a:spLocks noGrp="1"/>
          </p:cNvSpPr>
          <p:nvPr>
            <p:ph type="chart" sz="quarter" idx="11"/>
          </p:nvPr>
        </p:nvSpPr>
        <p:spPr>
          <a:xfrm>
            <a:off x="899592" y="1554760"/>
            <a:ext cx="6515620" cy="4538065"/>
          </a:xfrm>
          <a:prstGeom prst="rect">
            <a:avLst/>
          </a:prstGeom>
        </p:spPr>
        <p:txBody>
          <a:bodyPr/>
          <a:lstStyle/>
          <a:p>
            <a:pPr lvl="0"/>
            <a:r>
              <a:rPr lang="en-US" noProof="0" dirty="0"/>
              <a:t>Click icon to add chart</a:t>
            </a:r>
          </a:p>
        </p:txBody>
      </p:sp>
    </p:spTree>
    <p:extLst>
      <p:ext uri="{BB962C8B-B14F-4D97-AF65-F5344CB8AC3E}">
        <p14:creationId xmlns:p14="http://schemas.microsoft.com/office/powerpoint/2010/main" val="947534947"/>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arrow column text style with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65AE-FBB8-C547-A863-8ACFC537D477}"/>
              </a:ext>
            </a:extLst>
          </p:cNvPr>
          <p:cNvSpPr>
            <a:spLocks noGrp="1"/>
          </p:cNvSpPr>
          <p:nvPr>
            <p:ph type="title"/>
          </p:nvPr>
        </p:nvSpPr>
        <p:spPr>
          <a:xfrm>
            <a:off x="899591" y="692696"/>
            <a:ext cx="7886700" cy="936103"/>
          </a:xfrm>
        </p:spPr>
        <p:txBody>
          <a:bodyPr/>
          <a:lstStyle>
            <a:lvl1pPr>
              <a:defRPr>
                <a:solidFill>
                  <a:srgbClr val="1A9DAC"/>
                </a:solidFill>
              </a:defRPr>
            </a:lvl1pPr>
          </a:lstStyle>
          <a:p>
            <a:r>
              <a:rPr lang="en-US"/>
              <a:t>Click to edit Master title style</a:t>
            </a:r>
            <a:endParaRPr lang="en-US" dirty="0"/>
          </a:p>
        </p:txBody>
      </p:sp>
      <p:sp>
        <p:nvSpPr>
          <p:cNvPr id="6" name="Text Placeholder 5"/>
          <p:cNvSpPr>
            <a:spLocks noGrp="1"/>
          </p:cNvSpPr>
          <p:nvPr>
            <p:ph type="body" sz="quarter" idx="11"/>
          </p:nvPr>
        </p:nvSpPr>
        <p:spPr>
          <a:xfrm>
            <a:off x="899592" y="1628800"/>
            <a:ext cx="3312368"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US" dirty="0"/>
              <a:t>Edit Master text styles</a:t>
            </a:r>
          </a:p>
        </p:txBody>
      </p:sp>
      <p:sp>
        <p:nvSpPr>
          <p:cNvPr id="3" name="Chart Placeholder 2"/>
          <p:cNvSpPr>
            <a:spLocks noGrp="1"/>
          </p:cNvSpPr>
          <p:nvPr>
            <p:ph type="chart" sz="quarter" idx="12"/>
          </p:nvPr>
        </p:nvSpPr>
        <p:spPr>
          <a:xfrm>
            <a:off x="4284663" y="1628799"/>
            <a:ext cx="3816350" cy="4464025"/>
          </a:xfrm>
          <a:prstGeom prst="rect">
            <a:avLst/>
          </a:prstGeom>
        </p:spPr>
        <p:txBody>
          <a:bodyPr/>
          <a:lstStyle/>
          <a:p>
            <a:pPr lvl="0"/>
            <a:r>
              <a:rPr lang="en-US" noProof="0" dirty="0"/>
              <a:t>Click icon to add chart</a:t>
            </a:r>
          </a:p>
        </p:txBody>
      </p:sp>
    </p:spTree>
    <p:extLst>
      <p:ext uri="{BB962C8B-B14F-4D97-AF65-F5344CB8AC3E}">
        <p14:creationId xmlns:p14="http://schemas.microsoft.com/office/powerpoint/2010/main" val="1628611724"/>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D979-55B4-3C48-802B-10CF449D32FC}"/>
              </a:ext>
            </a:extLst>
          </p:cNvPr>
          <p:cNvSpPr>
            <a:spLocks noGrp="1"/>
          </p:cNvSpPr>
          <p:nvPr>
            <p:ph type="title"/>
          </p:nvPr>
        </p:nvSpPr>
        <p:spPr>
          <a:xfrm>
            <a:off x="899592" y="692697"/>
            <a:ext cx="7886700" cy="720080"/>
          </a:xfrm>
        </p:spPr>
        <p:txBody>
          <a:bodyPr/>
          <a:lstStyle>
            <a:lvl1pPr>
              <a:defRPr>
                <a:solidFill>
                  <a:srgbClr val="1A9DAC"/>
                </a:solidFill>
              </a:defRPr>
            </a:lvl1pPr>
          </a:lstStyle>
          <a:p>
            <a:r>
              <a:rPr lang="en-US"/>
              <a:t>Click to edit Master title style</a:t>
            </a:r>
            <a:endParaRPr lang="en-US" dirty="0"/>
          </a:p>
        </p:txBody>
      </p:sp>
      <p:sp>
        <p:nvSpPr>
          <p:cNvPr id="4" name="Picture Placeholder 12">
            <a:extLst>
              <a:ext uri="{C183D7F6-B498-43B3-948B-1728B52AA6E4}">
                <adec:decorative xmlns:adec="http://schemas.microsoft.com/office/drawing/2017/decorative" val="1"/>
              </a:ext>
            </a:extLst>
          </p:cNvPr>
          <p:cNvSpPr>
            <a:spLocks noGrp="1"/>
          </p:cNvSpPr>
          <p:nvPr>
            <p:ph type="pic" sz="quarter" idx="13"/>
          </p:nvPr>
        </p:nvSpPr>
        <p:spPr>
          <a:xfrm>
            <a:off x="11215" y="1412776"/>
            <a:ext cx="9144000" cy="5951190"/>
          </a:xfrm>
          <a:prstGeom prst="rect">
            <a:avLst/>
          </a:prstGeom>
        </p:spPr>
        <p:txBody>
          <a:bodyPr/>
          <a:lstStyle/>
          <a:p>
            <a:r>
              <a:rPr lang="en-US" dirty="0"/>
              <a:t>Click icon to add picture</a:t>
            </a:r>
          </a:p>
        </p:txBody>
      </p:sp>
    </p:spTree>
    <p:extLst>
      <p:ext uri="{BB962C8B-B14F-4D97-AF65-F5344CB8AC3E}">
        <p14:creationId xmlns:p14="http://schemas.microsoft.com/office/powerpoint/2010/main" val="250680606"/>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AD231-0526-BA4B-A751-485A68D4F146}"/>
              </a:ext>
            </a:extLst>
          </p:cNvPr>
          <p:cNvSpPr>
            <a:spLocks noGrp="1"/>
          </p:cNvSpPr>
          <p:nvPr>
            <p:ph type="title"/>
          </p:nvPr>
        </p:nvSpPr>
        <p:spPr>
          <a:xfrm>
            <a:off x="900112" y="692697"/>
            <a:ext cx="7454131" cy="768356"/>
          </a:xfrm>
        </p:spPr>
        <p:txBody>
          <a:bodyPr/>
          <a:lstStyle>
            <a:lvl1pPr>
              <a:defRPr>
                <a:solidFill>
                  <a:srgbClr val="1A9DAC"/>
                </a:solidFill>
              </a:defRPr>
            </a:lvl1pPr>
          </a:lstStyle>
          <a:p>
            <a:r>
              <a:rPr lang="en-US"/>
              <a:t>Click to edit Master title style</a:t>
            </a:r>
            <a:endParaRPr lang="en-US" dirty="0"/>
          </a:p>
        </p:txBody>
      </p:sp>
      <p:sp>
        <p:nvSpPr>
          <p:cNvPr id="14" name="Picture Placeholder 12">
            <a:extLst>
              <a:ext uri="{C183D7F6-B498-43B3-948B-1728B52AA6E4}">
                <adec:decorative xmlns:adec="http://schemas.microsoft.com/office/drawing/2017/decorative" val="1"/>
              </a:ext>
            </a:extLst>
          </p:cNvPr>
          <p:cNvSpPr>
            <a:spLocks noGrp="1"/>
          </p:cNvSpPr>
          <p:nvPr>
            <p:ph type="pic" sz="quarter" idx="12"/>
          </p:nvPr>
        </p:nvSpPr>
        <p:spPr>
          <a:xfrm>
            <a:off x="0" y="1461052"/>
            <a:ext cx="3024188" cy="5396948"/>
          </a:xfrm>
          <a:prstGeom prst="rect">
            <a:avLst/>
          </a:prstGeom>
        </p:spPr>
        <p:txBody>
          <a:bodyPr/>
          <a:lstStyle/>
          <a:p>
            <a:r>
              <a:rPr lang="en-US" dirty="0"/>
              <a:t>Click icon to add picture</a:t>
            </a:r>
          </a:p>
        </p:txBody>
      </p:sp>
      <p:sp>
        <p:nvSpPr>
          <p:cNvPr id="15" name="Picture Placeholder 12">
            <a:extLst>
              <a:ext uri="{C183D7F6-B498-43B3-948B-1728B52AA6E4}">
                <adec:decorative xmlns:adec="http://schemas.microsoft.com/office/drawing/2017/decorative" val="1"/>
              </a:ext>
            </a:extLst>
          </p:cNvPr>
          <p:cNvSpPr>
            <a:spLocks noGrp="1"/>
          </p:cNvSpPr>
          <p:nvPr>
            <p:ph type="pic" sz="quarter" idx="13"/>
          </p:nvPr>
        </p:nvSpPr>
        <p:spPr>
          <a:xfrm>
            <a:off x="3059113" y="1461053"/>
            <a:ext cx="3020316" cy="2650572"/>
          </a:xfrm>
          <a:prstGeom prst="rect">
            <a:avLst/>
          </a:prstGeom>
        </p:spPr>
        <p:txBody>
          <a:bodyPr/>
          <a:lstStyle/>
          <a:p>
            <a:r>
              <a:rPr lang="en-US" dirty="0"/>
              <a:t>Click icon to add picture</a:t>
            </a:r>
          </a:p>
        </p:txBody>
      </p:sp>
      <p:sp>
        <p:nvSpPr>
          <p:cNvPr id="17" name="Picture Placeholder 12">
            <a:extLst>
              <a:ext uri="{C183D7F6-B498-43B3-948B-1728B52AA6E4}">
                <adec:decorative xmlns:adec="http://schemas.microsoft.com/office/drawing/2017/decorative" val="1"/>
              </a:ext>
            </a:extLst>
          </p:cNvPr>
          <p:cNvSpPr>
            <a:spLocks noGrp="1"/>
          </p:cNvSpPr>
          <p:nvPr>
            <p:ph type="pic" sz="quarter" idx="14"/>
          </p:nvPr>
        </p:nvSpPr>
        <p:spPr>
          <a:xfrm>
            <a:off x="3059113" y="4149725"/>
            <a:ext cx="3020316" cy="2708275"/>
          </a:xfrm>
          <a:prstGeom prst="rect">
            <a:avLst/>
          </a:prstGeom>
        </p:spPr>
        <p:txBody>
          <a:bodyPr/>
          <a:lstStyle/>
          <a:p>
            <a:r>
              <a:rPr lang="en-US" dirty="0"/>
              <a:t>Click icon to add picture</a:t>
            </a:r>
          </a:p>
        </p:txBody>
      </p:sp>
      <p:sp>
        <p:nvSpPr>
          <p:cNvPr id="13" name="Picture Placeholder 12">
            <a:extLst>
              <a:ext uri="{C183D7F6-B498-43B3-948B-1728B52AA6E4}">
                <adec:decorative xmlns:adec="http://schemas.microsoft.com/office/drawing/2017/decorative" val="1"/>
              </a:ext>
            </a:extLst>
          </p:cNvPr>
          <p:cNvSpPr>
            <a:spLocks noGrp="1"/>
          </p:cNvSpPr>
          <p:nvPr>
            <p:ph type="pic" sz="quarter" idx="11"/>
          </p:nvPr>
        </p:nvSpPr>
        <p:spPr>
          <a:xfrm>
            <a:off x="6118225" y="1461052"/>
            <a:ext cx="3025775" cy="5396948"/>
          </a:xfrm>
          <a:prstGeom prst="rect">
            <a:avLst/>
          </a:prstGeom>
        </p:spPr>
        <p:txBody>
          <a:bodyPr/>
          <a:lstStyle/>
          <a:p>
            <a:r>
              <a:rPr lang="en-US" dirty="0"/>
              <a:t>Click icon to add picture</a:t>
            </a:r>
          </a:p>
        </p:txBody>
      </p:sp>
    </p:spTree>
    <p:extLst>
      <p:ext uri="{BB962C8B-B14F-4D97-AF65-F5344CB8AC3E}">
        <p14:creationId xmlns:p14="http://schemas.microsoft.com/office/powerpoint/2010/main" val="1974219801"/>
      </p:ext>
    </p:extLst>
  </p:cSld>
  <p:clrMapOvr>
    <a:masterClrMapping/>
  </p:clrMapOvr>
  <p:transition spd="slow">
    <p:fade/>
  </p:transition>
  <p:extLst>
    <p:ext uri="{DCECCB84-F9BA-43D5-87BE-67443E8EF086}">
      <p15:sldGuideLst xmlns:p15="http://schemas.microsoft.com/office/powerpoint/2012/main">
        <p15:guide id="1" orient="horz" pos="332" userDrawn="1">
          <p15:clr>
            <a:srgbClr val="FBAE40"/>
          </p15:clr>
        </p15:guide>
        <p15:guide id="2" pos="2880" userDrawn="1">
          <p15:clr>
            <a:srgbClr val="FBAE40"/>
          </p15:clr>
        </p15:guide>
        <p15:guide id="4" pos="3833" userDrawn="1">
          <p15:clr>
            <a:srgbClr val="FBAE40"/>
          </p15:clr>
        </p15:guide>
        <p15:guide id="5" orient="horz" pos="2614" userDrawn="1">
          <p15:clr>
            <a:srgbClr val="FBAE40"/>
          </p15:clr>
        </p15:guide>
        <p15:guide id="6" pos="567" userDrawn="1">
          <p15:clr>
            <a:srgbClr val="FBAE40"/>
          </p15:clr>
        </p15:guide>
        <p15:guide id="8" pos="1927" userDrawn="1">
          <p15:clr>
            <a:srgbClr val="FBAE40"/>
          </p15:clr>
        </p15:guide>
        <p15:guide id="9" pos="3854" userDrawn="1">
          <p15:clr>
            <a:srgbClr val="FBAE40"/>
          </p15:clr>
        </p15:guide>
        <p15:guide id="10" orient="horz" pos="259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2A74-33A9-1E47-9EBD-B4B8BA3C3C75}"/>
              </a:ext>
            </a:extLst>
          </p:cNvPr>
          <p:cNvSpPr>
            <a:spLocks noGrp="1"/>
          </p:cNvSpPr>
          <p:nvPr>
            <p:ph type="title"/>
          </p:nvPr>
        </p:nvSpPr>
        <p:spPr>
          <a:xfrm>
            <a:off x="458065" y="692696"/>
            <a:ext cx="7886700" cy="768356"/>
          </a:xfrm>
        </p:spPr>
        <p:txBody>
          <a:bodyPr/>
          <a:lstStyle/>
          <a:p>
            <a:r>
              <a:rPr lang="en-US" dirty="0"/>
              <a:t>Click to edit Master title style</a:t>
            </a:r>
          </a:p>
        </p:txBody>
      </p:sp>
      <p:sp>
        <p:nvSpPr>
          <p:cNvPr id="8" name="Text Placeholder 5"/>
          <p:cNvSpPr>
            <a:spLocks noGrp="1"/>
          </p:cNvSpPr>
          <p:nvPr>
            <p:ph type="body" sz="quarter" idx="15" hasCustomPrompt="1"/>
          </p:nvPr>
        </p:nvSpPr>
        <p:spPr>
          <a:xfrm>
            <a:off x="458065" y="1461052"/>
            <a:ext cx="254707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5" name="Picture Placeholder 12">
            <a:extLst>
              <a:ext uri="{C183D7F6-B498-43B3-948B-1728B52AA6E4}">
                <adec:decorative xmlns:adec="http://schemas.microsoft.com/office/drawing/2017/decorative" val="1"/>
              </a:ext>
            </a:extLst>
          </p:cNvPr>
          <p:cNvSpPr>
            <a:spLocks noGrp="1"/>
          </p:cNvSpPr>
          <p:nvPr>
            <p:ph type="pic" sz="quarter" idx="11"/>
          </p:nvPr>
        </p:nvSpPr>
        <p:spPr>
          <a:xfrm>
            <a:off x="3041650" y="1461052"/>
            <a:ext cx="3043238" cy="5396948"/>
          </a:xfrm>
          <a:prstGeom prst="rect">
            <a:avLst/>
          </a:prstGeom>
        </p:spPr>
        <p:txBody>
          <a:bodyPr/>
          <a:lstStyle/>
          <a:p>
            <a:r>
              <a:rPr lang="en-US" dirty="0"/>
              <a:t>Click icon to add picture</a:t>
            </a:r>
          </a:p>
        </p:txBody>
      </p:sp>
      <p:sp>
        <p:nvSpPr>
          <p:cNvPr id="6" name="Picture Placeholder 12">
            <a:extLst>
              <a:ext uri="{C183D7F6-B498-43B3-948B-1728B52AA6E4}">
                <adec:decorative xmlns:adec="http://schemas.microsoft.com/office/drawing/2017/decorative" val="1"/>
              </a:ext>
            </a:extLst>
          </p:cNvPr>
          <p:cNvSpPr>
            <a:spLocks noGrp="1"/>
          </p:cNvSpPr>
          <p:nvPr>
            <p:ph type="pic" sz="quarter" idx="13"/>
          </p:nvPr>
        </p:nvSpPr>
        <p:spPr>
          <a:xfrm>
            <a:off x="6121400" y="1461053"/>
            <a:ext cx="3022599" cy="2650572"/>
          </a:xfrm>
          <a:prstGeom prst="rect">
            <a:avLst/>
          </a:prstGeom>
        </p:spPr>
        <p:txBody>
          <a:bodyPr/>
          <a:lstStyle/>
          <a:p>
            <a:r>
              <a:rPr lang="en-US" dirty="0"/>
              <a:t>Click icon to add picture</a:t>
            </a:r>
          </a:p>
        </p:txBody>
      </p:sp>
      <p:sp>
        <p:nvSpPr>
          <p:cNvPr id="7" name="Picture Placeholder 12">
            <a:extLst>
              <a:ext uri="{C183D7F6-B498-43B3-948B-1728B52AA6E4}">
                <adec:decorative xmlns:adec="http://schemas.microsoft.com/office/drawing/2017/decorative" val="1"/>
              </a:ext>
            </a:extLst>
          </p:cNvPr>
          <p:cNvSpPr>
            <a:spLocks noGrp="1"/>
          </p:cNvSpPr>
          <p:nvPr>
            <p:ph type="pic" sz="quarter" idx="14"/>
          </p:nvPr>
        </p:nvSpPr>
        <p:spPr>
          <a:xfrm>
            <a:off x="6121400" y="4146550"/>
            <a:ext cx="3022600" cy="2711450"/>
          </a:xfrm>
          <a:prstGeom prst="rect">
            <a:avLst/>
          </a:prstGeom>
        </p:spPr>
        <p:txBody>
          <a:bodyPr/>
          <a:lstStyle/>
          <a:p>
            <a:r>
              <a:rPr lang="en-US" dirty="0"/>
              <a:t>Click icon to add picture</a:t>
            </a:r>
          </a:p>
        </p:txBody>
      </p:sp>
    </p:spTree>
    <p:extLst>
      <p:ext uri="{BB962C8B-B14F-4D97-AF65-F5344CB8AC3E}">
        <p14:creationId xmlns:p14="http://schemas.microsoft.com/office/powerpoint/2010/main" val="27614538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pos="3856" userDrawn="1">
          <p15:clr>
            <a:srgbClr val="FBAE40"/>
          </p15:clr>
        </p15:guide>
        <p15:guide id="4" pos="3833" userDrawn="1">
          <p15:clr>
            <a:srgbClr val="FBAE40"/>
          </p15:clr>
        </p15:guide>
        <p15:guide id="6" orient="horz" pos="2590" userDrawn="1">
          <p15:clr>
            <a:srgbClr val="FBAE40"/>
          </p15:clr>
        </p15:guide>
        <p15:guide id="7" orient="horz" pos="261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FF90F4-0461-4994-8ECC-80648A92CC4D}"/>
              </a:ext>
            </a:extLst>
          </p:cNvPr>
          <p:cNvSpPr>
            <a:spLocks noGrp="1"/>
          </p:cNvSpPr>
          <p:nvPr>
            <p:ph type="title"/>
          </p:nvPr>
        </p:nvSpPr>
        <p:spPr>
          <a:xfrm>
            <a:off x="458065" y="692697"/>
            <a:ext cx="7886700" cy="1224136"/>
          </a:xfrm>
        </p:spPr>
        <p:txBody>
          <a:bodyPr/>
          <a:lstStyle/>
          <a:p>
            <a:r>
              <a:rPr lang="en-US"/>
              <a:t>Click to edit Master title style</a:t>
            </a:r>
            <a:endParaRPr lang="en-US" dirty="0"/>
          </a:p>
        </p:txBody>
      </p:sp>
      <p:sp>
        <p:nvSpPr>
          <p:cNvPr id="13" name="Text Placeholder 12"/>
          <p:cNvSpPr>
            <a:spLocks noGrp="1"/>
          </p:cNvSpPr>
          <p:nvPr>
            <p:ph type="body" sz="quarter" idx="12"/>
          </p:nvPr>
        </p:nvSpPr>
        <p:spPr>
          <a:xfrm>
            <a:off x="1042988" y="1916832"/>
            <a:ext cx="7058025" cy="3528392"/>
          </a:xfrm>
          <a:prstGeom prst="rect">
            <a:avLst/>
          </a:prstGeom>
        </p:spPr>
        <p:txBody>
          <a:bodyPr/>
          <a:lstStyle>
            <a:lvl1pPr marL="0" indent="0">
              <a:lnSpc>
                <a:spcPts val="3600"/>
              </a:lnSpc>
              <a:buNone/>
              <a:defRPr sz="2800" b="0" i="1" baseline="0">
                <a:solidFill>
                  <a:srgbClr val="1A9DAC"/>
                </a:solidFill>
                <a:latin typeface="+mj-lt"/>
              </a:defRPr>
            </a:lvl1pPr>
            <a:lvl2pPr marL="609600" indent="0">
              <a:lnSpc>
                <a:spcPts val="3600"/>
              </a:lnSpc>
              <a:buNone/>
              <a:defRPr sz="2800" b="0" i="1" baseline="0">
                <a:solidFill>
                  <a:srgbClr val="1A9DAC"/>
                </a:solidFill>
                <a:latin typeface="+mj-lt"/>
              </a:defRPr>
            </a:lvl2pPr>
            <a:lvl3pPr marL="1219200" indent="0">
              <a:lnSpc>
                <a:spcPts val="3600"/>
              </a:lnSpc>
              <a:buNone/>
              <a:defRPr sz="2800" b="0" i="1" baseline="0">
                <a:solidFill>
                  <a:srgbClr val="1A9DAC"/>
                </a:solidFill>
                <a:latin typeface="+mj-lt"/>
              </a:defRPr>
            </a:lvl3pPr>
            <a:lvl4pPr marL="1828800" indent="0">
              <a:lnSpc>
                <a:spcPts val="3600"/>
              </a:lnSpc>
              <a:buNone/>
              <a:defRPr sz="2800" b="0" i="1" baseline="0">
                <a:solidFill>
                  <a:srgbClr val="1A9DAC"/>
                </a:solidFill>
                <a:latin typeface="+mj-lt"/>
              </a:defRPr>
            </a:lvl4pPr>
            <a:lvl5pPr marL="2438400" indent="0">
              <a:lnSpc>
                <a:spcPts val="3600"/>
              </a:lnSpc>
              <a:buNone/>
              <a:defRPr sz="2800" b="0" i="1" baseline="0">
                <a:solidFill>
                  <a:srgbClr val="1A9DAC"/>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p:cNvSpPr>
            <a:spLocks noGrp="1"/>
          </p:cNvSpPr>
          <p:nvPr>
            <p:ph type="body" sz="quarter" idx="13"/>
          </p:nvPr>
        </p:nvSpPr>
        <p:spPr>
          <a:xfrm>
            <a:off x="1042988" y="5661025"/>
            <a:ext cx="7058025" cy="1196975"/>
          </a:xfrm>
          <a:prstGeom prst="rect">
            <a:avLst/>
          </a:prstGeom>
        </p:spPr>
        <p:txBody>
          <a:bodyPr/>
          <a:lstStyle>
            <a:lvl1pPr marL="0" indent="0" algn="r">
              <a:lnSpc>
                <a:spcPts val="1800"/>
              </a:lnSpc>
              <a:buNone/>
              <a:defRPr sz="1800" baseline="0">
                <a:solidFill>
                  <a:schemeClr val="tx1"/>
                </a:solidFill>
                <a:latin typeface="+mn-lt"/>
              </a:defRPr>
            </a:lvl1pPr>
            <a:lvl2pPr marL="609600" indent="0" algn="r">
              <a:lnSpc>
                <a:spcPts val="1800"/>
              </a:lnSpc>
              <a:buNone/>
              <a:defRPr sz="1800" baseline="0">
                <a:solidFill>
                  <a:schemeClr val="tx1"/>
                </a:solidFill>
                <a:latin typeface="+mn-lt"/>
              </a:defRPr>
            </a:lvl2pPr>
            <a:lvl3pPr marL="1219200" indent="0" algn="r">
              <a:lnSpc>
                <a:spcPts val="1800"/>
              </a:lnSpc>
              <a:buNone/>
              <a:defRPr sz="1800" baseline="0">
                <a:solidFill>
                  <a:schemeClr val="tx1"/>
                </a:solidFill>
                <a:latin typeface="+mn-lt"/>
              </a:defRPr>
            </a:lvl3pPr>
            <a:lvl4pPr marL="1828800" indent="0" algn="r">
              <a:lnSpc>
                <a:spcPts val="1800"/>
              </a:lnSpc>
              <a:buNone/>
              <a:defRPr sz="1800" baseline="0">
                <a:solidFill>
                  <a:schemeClr val="tx1"/>
                </a:solidFill>
                <a:latin typeface="+mn-lt"/>
              </a:defRPr>
            </a:lvl4pPr>
            <a:lvl5pPr marL="2438400" indent="0" algn="r">
              <a:lnSpc>
                <a:spcPts val="1800"/>
              </a:lnSpc>
              <a:buNone/>
              <a:defRPr sz="1800" baseline="0">
                <a:solidFill>
                  <a:schemeClr val="tx1"/>
                </a:solidFill>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120694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orient="horz" pos="57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BC024-4559-4C02-9AB3-98D956AC73B6}"/>
              </a:ext>
            </a:extLst>
          </p:cNvPr>
          <p:cNvSpPr>
            <a:spLocks noGrp="1"/>
          </p:cNvSpPr>
          <p:nvPr>
            <p:ph type="title"/>
          </p:nvPr>
        </p:nvSpPr>
        <p:spPr/>
        <p:txBody>
          <a:bodyPr/>
          <a:lstStyle/>
          <a:p>
            <a:r>
              <a:rPr lang="en-US"/>
              <a:t>Click to edit Master title style</a:t>
            </a:r>
            <a:endParaRPr lang="en-GB" dirty="0"/>
          </a:p>
        </p:txBody>
      </p:sp>
      <p:sp>
        <p:nvSpPr>
          <p:cNvPr id="4" name="Text Placeholder 3">
            <a:extLst>
              <a:ext uri="{FF2B5EF4-FFF2-40B4-BE49-F238E27FC236}">
                <a16:creationId xmlns:a16="http://schemas.microsoft.com/office/drawing/2014/main" id="{E8E056E6-17B0-445E-93EC-A3A4B42B212F}"/>
              </a:ext>
            </a:extLst>
          </p:cNvPr>
          <p:cNvSpPr>
            <a:spLocks noGrp="1"/>
          </p:cNvSpPr>
          <p:nvPr>
            <p:ph type="body" sz="quarter" idx="10" hasCustomPrompt="1"/>
          </p:nvPr>
        </p:nvSpPr>
        <p:spPr>
          <a:xfrm>
            <a:off x="467544" y="2349500"/>
            <a:ext cx="4104456" cy="2879725"/>
          </a:xfrm>
          <a:prstGeom prst="rect">
            <a:avLst/>
          </a:prstGeom>
        </p:spPr>
        <p:txBody>
          <a:bodyPr/>
          <a:lstStyle>
            <a:lvl1pPr marL="0" indent="0">
              <a:buFont typeface="Arial" panose="020B0604020202020204" pitchFamily="34" charset="0"/>
              <a:buNone/>
              <a:defRPr sz="13000">
                <a:solidFill>
                  <a:srgbClr val="199DAC"/>
                </a:solidFill>
              </a:defRPr>
            </a:lvl1pPr>
            <a:lvl2pPr marL="609600" indent="0">
              <a:buNone/>
              <a:defRPr>
                <a:solidFill>
                  <a:srgbClr val="16818D"/>
                </a:solidFill>
              </a:defRPr>
            </a:lvl2pPr>
            <a:lvl3pPr marL="1219200" indent="0">
              <a:buNone/>
              <a:defRPr>
                <a:solidFill>
                  <a:srgbClr val="16818D"/>
                </a:solidFill>
              </a:defRPr>
            </a:lvl3pPr>
            <a:lvl4pPr marL="1828800" indent="0">
              <a:buNone/>
              <a:defRPr>
                <a:solidFill>
                  <a:srgbClr val="16818D"/>
                </a:solidFill>
              </a:defRPr>
            </a:lvl4pPr>
            <a:lvl5pPr marL="2438400" indent="0">
              <a:buNone/>
              <a:defRPr>
                <a:solidFill>
                  <a:srgbClr val="16818D"/>
                </a:solidFill>
              </a:defRPr>
            </a:lvl5pPr>
          </a:lstStyle>
          <a:p>
            <a:pPr lvl="0"/>
            <a:r>
              <a:rPr lang="en-US" dirty="0"/>
              <a:t>100%</a:t>
            </a:r>
            <a:endParaRPr lang="en-GB" dirty="0"/>
          </a:p>
        </p:txBody>
      </p:sp>
      <p:sp>
        <p:nvSpPr>
          <p:cNvPr id="6" name="Text Placeholder 5">
            <a:extLst>
              <a:ext uri="{FF2B5EF4-FFF2-40B4-BE49-F238E27FC236}">
                <a16:creationId xmlns:a16="http://schemas.microsoft.com/office/drawing/2014/main" id="{0212DBA2-E4CA-4633-9C0C-58EB9F03F1E2}"/>
              </a:ext>
            </a:extLst>
          </p:cNvPr>
          <p:cNvSpPr>
            <a:spLocks noGrp="1"/>
          </p:cNvSpPr>
          <p:nvPr>
            <p:ph type="body" sz="quarter" idx="11"/>
          </p:nvPr>
        </p:nvSpPr>
        <p:spPr>
          <a:xfrm>
            <a:off x="4716016" y="2349500"/>
            <a:ext cx="3672334" cy="2879725"/>
          </a:xfrm>
          <a:prstGeom prst="rect">
            <a:avLst/>
          </a:prstGeom>
        </p:spPr>
        <p:txBody>
          <a:bodyPr/>
          <a:lstStyle>
            <a:lvl1pPr marL="0" indent="0">
              <a:buNone/>
              <a:defRPr sz="1800">
                <a:solidFill>
                  <a:srgbClr val="199DAC"/>
                </a:solidFill>
              </a:defRPr>
            </a:lvl1pPr>
            <a:lvl2pPr marL="609600" indent="0">
              <a:buNone/>
              <a:defRPr sz="1800">
                <a:solidFill>
                  <a:srgbClr val="199DAC"/>
                </a:solidFill>
              </a:defRPr>
            </a:lvl2pPr>
            <a:lvl3pPr marL="1219200" indent="0">
              <a:buNone/>
              <a:defRPr sz="1800">
                <a:solidFill>
                  <a:srgbClr val="199DAC"/>
                </a:solidFill>
              </a:defRPr>
            </a:lvl3pPr>
            <a:lvl4pPr marL="1828800" indent="0">
              <a:buNone/>
              <a:defRPr sz="1800">
                <a:solidFill>
                  <a:srgbClr val="199DAC"/>
                </a:solidFill>
              </a:defRPr>
            </a:lvl4pPr>
            <a:lvl5pPr marL="2438400" indent="0">
              <a:buNone/>
              <a:defRPr sz="1800">
                <a:solidFill>
                  <a:srgbClr val="199DAC"/>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7">
            <a:extLst>
              <a:ext uri="{FF2B5EF4-FFF2-40B4-BE49-F238E27FC236}">
                <a16:creationId xmlns:a16="http://schemas.microsoft.com/office/drawing/2014/main" id="{E6D44D0B-0878-42C4-9A43-6D580C188C57}"/>
              </a:ext>
            </a:extLst>
          </p:cNvPr>
          <p:cNvSpPr>
            <a:spLocks noGrp="1"/>
          </p:cNvSpPr>
          <p:nvPr>
            <p:ph type="body" sz="quarter" idx="12"/>
          </p:nvPr>
        </p:nvSpPr>
        <p:spPr>
          <a:xfrm>
            <a:off x="628650" y="5157192"/>
            <a:ext cx="7472363" cy="792162"/>
          </a:xfrm>
          <a:prstGeom prst="rect">
            <a:avLst/>
          </a:prstGeom>
        </p:spPr>
        <p:txBody>
          <a:bodyPr/>
          <a:lstStyle>
            <a:lvl1pPr marL="0" indent="0" algn="r">
              <a:buNone/>
              <a:defRPr sz="1800"/>
            </a:lvl1pPr>
            <a:lvl2pPr marL="609600" indent="0" algn="r">
              <a:buNone/>
              <a:defRPr sz="1800"/>
            </a:lvl2pPr>
            <a:lvl3pPr marL="1219200" indent="0" algn="r">
              <a:buNone/>
              <a:defRPr sz="1800"/>
            </a:lvl3pPr>
            <a:lvl4pPr marL="1828800" indent="0" algn="r">
              <a:buNone/>
              <a:defRPr sz="1800"/>
            </a:lvl4pPr>
            <a:lvl5pPr marL="2438400" indent="0" algn="r">
              <a:buNone/>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465793842"/>
      </p:ext>
    </p:extLst>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0A64CA-6E76-49F9-8BF2-0F9DF08F737B}" type="datetimeFigureOut">
              <a:rPr lang="en-GB" smtClean="0"/>
              <a:t>14/08/2025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AB38B850-B74B-425F-8733-0CC105AAD35D}" type="slidenum">
              <a:rPr lang="en-GB" smtClean="0"/>
              <a:t>‹#›</a:t>
            </a:fld>
            <a:endParaRPr lang="en-GB" dirty="0"/>
          </a:p>
        </p:txBody>
      </p:sp>
    </p:spTree>
    <p:extLst>
      <p:ext uri="{BB962C8B-B14F-4D97-AF65-F5344CB8AC3E}">
        <p14:creationId xmlns:p14="http://schemas.microsoft.com/office/powerpoint/2010/main" val="28798718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grpSp>
        <p:nvGrpSpPr>
          <p:cNvPr id="7" name="Group 6"/>
          <p:cNvGrpSpPr/>
          <p:nvPr/>
        </p:nvGrpSpPr>
        <p:grpSpPr>
          <a:xfrm>
            <a:off x="0" y="-8467"/>
            <a:ext cx="9144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2404534"/>
            <a:ext cx="5825202" cy="1646302"/>
          </a:xfrm>
        </p:spPr>
        <p:txBody>
          <a:bodyPr anchor="b">
            <a:noAutofit/>
          </a:bodyPr>
          <a:lstStyle>
            <a:lvl1pPr algn="r">
              <a:defRPr sz="405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300" y="4050834"/>
            <a:ext cx="5825202" cy="1096899"/>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411C444-66CB-4065-B177-AAAB97F07EA1}" type="datetime1">
              <a:rPr lang="en-GB" smtClean="0"/>
              <a:t>14/08/2025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0F99C4FB-888A-4D12-A1C4-C744D94026CD}" type="slidenum">
              <a:rPr lang="en-GB" smtClean="0"/>
              <a:t>‹#›</a:t>
            </a:fld>
            <a:endParaRPr lang="en-GB" dirty="0"/>
          </a:p>
        </p:txBody>
      </p:sp>
    </p:spTree>
    <p:extLst>
      <p:ext uri="{BB962C8B-B14F-4D97-AF65-F5344CB8AC3E}">
        <p14:creationId xmlns:p14="http://schemas.microsoft.com/office/powerpoint/2010/main" val="42627398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2628" y="770467"/>
            <a:ext cx="8086725" cy="3352800"/>
          </a:xfrm>
        </p:spPr>
        <p:txBody>
          <a:bodyPr anchor="b">
            <a:noAutofit/>
          </a:bodyPr>
          <a:lstStyle>
            <a:lvl1pPr algn="l">
              <a:lnSpc>
                <a:spcPct val="80000"/>
              </a:lnSpc>
              <a:defRPr sz="80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500634" y="4198409"/>
            <a:ext cx="6921151" cy="1645920"/>
          </a:xfrm>
        </p:spPr>
        <p:txBody>
          <a:bodyPr>
            <a:normAutofit/>
          </a:bodyPr>
          <a:lstStyle>
            <a:lvl1pPr marL="0" indent="0" algn="l">
              <a:buNone/>
              <a:defRPr sz="28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75000"/>
                  </a:srgbClr>
                </a:solidFill>
              </a:defRPr>
            </a:lvl1pPr>
          </a:lstStyle>
          <a:p>
            <a:fld id="{5586B75A-687E-405C-8A0B-8D00578BA2C3}" type="datetimeFigureOut">
              <a:rPr lang="en-US" dirty="0"/>
              <a:pPr/>
              <a:t>8/14/2025</a:t>
            </a:fld>
            <a:endParaRPr lang="en-US" dirty="0"/>
          </a:p>
        </p:txBody>
      </p:sp>
      <p:sp>
        <p:nvSpPr>
          <p:cNvPr id="8" name="Footer Placeholder 7"/>
          <p:cNvSpPr>
            <a:spLocks noGrp="1"/>
          </p:cNvSpPr>
          <p:nvPr>
            <p:ph type="ftr" sz="quarter" idx="11"/>
          </p:nvPr>
        </p:nvSpPr>
        <p:spPr/>
        <p:txBody>
          <a:bodyPr/>
          <a:lstStyle>
            <a:lvl1pPr>
              <a:defRPr>
                <a:solidFill>
                  <a:srgbClr val="FFFFFF">
                    <a:alpha val="75000"/>
                  </a:srgbClr>
                </a:solidFill>
              </a:defRPr>
            </a:lvl1pPr>
          </a:lstStyle>
          <a:p>
            <a:endParaRPr lang="en-US" dirty="0"/>
          </a:p>
        </p:txBody>
      </p:sp>
      <p:sp>
        <p:nvSpPr>
          <p:cNvPr id="9" name="Slide Number Placeholder 8"/>
          <p:cNvSpPr>
            <a:spLocks noGrp="1"/>
          </p:cNvSpPr>
          <p:nvPr>
            <p:ph type="sldNum" sz="quarter" idx="12"/>
          </p:nvPr>
        </p:nvSpPr>
        <p:spPr/>
        <p:txBody>
          <a:bodyPr/>
          <a:lstStyle>
            <a:lvl1pPr>
              <a:defRPr>
                <a:solidFill>
                  <a:srgbClr val="FFFFFF">
                    <a:alpha val="20000"/>
                  </a:srgbClr>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5510477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0A64CA-6E76-49F9-8BF2-0F9DF08F737B}" type="datetimeFigureOut">
              <a:rPr lang="en-GB" smtClean="0"/>
              <a:t>14/08/2025</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AB38B850-B74B-425F-8733-0CC105AAD35D}" type="slidenum">
              <a:rPr lang="en-GB" smtClean="0"/>
              <a:t>‹#›</a:t>
            </a:fld>
            <a:endParaRPr lang="en-GB" dirty="0"/>
          </a:p>
        </p:txBody>
      </p:sp>
    </p:spTree>
    <p:extLst>
      <p:ext uri="{BB962C8B-B14F-4D97-AF65-F5344CB8AC3E}">
        <p14:creationId xmlns:p14="http://schemas.microsoft.com/office/powerpoint/2010/main" val="33242912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2628" y="767419"/>
            <a:ext cx="8085582" cy="3355848"/>
          </a:xfrm>
        </p:spPr>
        <p:txBody>
          <a:bodyPr anchor="b">
            <a:normAutofit/>
          </a:bodyPr>
          <a:lstStyle>
            <a:lvl1pPr>
              <a:lnSpc>
                <a:spcPct val="80000"/>
              </a:lnSpc>
              <a:defRPr sz="80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00634" y="4187275"/>
            <a:ext cx="6919722" cy="1645920"/>
          </a:xfrm>
        </p:spPr>
        <p:txBody>
          <a:bodyPr anchor="t">
            <a:normAutofit/>
          </a:bodyPr>
          <a:lstStyle>
            <a:lvl1pPr marL="0" indent="0">
              <a:buNone/>
              <a:defRPr sz="28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8/14/2025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8520040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7492" y="1993392"/>
            <a:ext cx="3806190" cy="3767328"/>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7738" y="1993392"/>
            <a:ext cx="3806190" cy="3767328"/>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12952B5-7A2F-4CC8-B7CE-9234E21C2837}" type="datetimeFigureOut">
              <a:rPr lang="en-US" dirty="0"/>
              <a:t>8/14/2025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915813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507492" y="2032000"/>
            <a:ext cx="3806190" cy="723400"/>
          </a:xfrm>
        </p:spPr>
        <p:txBody>
          <a:bodyPr anchor="ctr">
            <a:normAutofit/>
          </a:bodyPr>
          <a:lstStyle>
            <a:lvl1pPr marL="0" indent="0">
              <a:spcBef>
                <a:spcPts val="0"/>
              </a:spcBef>
              <a:buNone/>
              <a:defRPr sz="20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7492" y="2736150"/>
            <a:ext cx="3806190" cy="3200400"/>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66310" y="2029968"/>
            <a:ext cx="3806190" cy="722376"/>
          </a:xfrm>
        </p:spPr>
        <p:txBody>
          <a:bodyPr anchor="ctr">
            <a:normAutofit/>
          </a:bodyPr>
          <a:lstStyle>
            <a:lvl1pPr marL="0" indent="0">
              <a:spcBef>
                <a:spcPts val="0"/>
              </a:spcBef>
              <a:buNone/>
              <a:defRPr sz="2000" b="0"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66310" y="2734056"/>
            <a:ext cx="3806190" cy="3200400"/>
          </a:xfrm>
        </p:spPr>
        <p:txBody>
          <a:bodyPr/>
          <a:lstStyle>
            <a:lvl1pPr>
              <a:defRPr sz="21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1DA07A-9201-4B4B-BAF2-015AFA30F520}" type="datetimeFigureOut">
              <a:rPr lang="en-US" dirty="0"/>
              <a:t>8/14/2025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8692857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D7E00A-486F-4252-8B1D-E32645521F49}" type="datetimeFigureOut">
              <a:rPr lang="en-US" dirty="0"/>
              <a:t>8/14/2025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7864814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DF5F92-E675-4B36-9A60-69A962A68675}" type="datetimeFigureOut">
              <a:rPr lang="en-US" dirty="0"/>
              <a:t>8/14/2025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9822680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5715000" y="0"/>
            <a:ext cx="3429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6196053" y="542282"/>
            <a:ext cx="2537460" cy="1920240"/>
          </a:xfrm>
        </p:spPr>
        <p:txBody>
          <a:bodyPr anchor="b">
            <a:noAutofit/>
          </a:bodyPr>
          <a:lstStyle>
            <a:lvl1pPr>
              <a:lnSpc>
                <a:spcPct val="85000"/>
              </a:lnSpc>
              <a:defRPr sz="36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71500" y="762000"/>
            <a:ext cx="4572000" cy="4572000"/>
          </a:xfrm>
        </p:spPr>
        <p:txBody>
          <a:bodyPr/>
          <a:lstStyle>
            <a:lvl1pPr>
              <a:defRPr sz="2200"/>
            </a:lvl1pPr>
            <a:lvl2pPr>
              <a:defRPr sz="1900"/>
            </a:lvl2pPr>
            <a:lvl3pPr>
              <a:defRPr sz="1700"/>
            </a:lvl3pPr>
            <a:lvl4pPr>
              <a:defRPr sz="15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06987" y="2511813"/>
            <a:ext cx="254889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500">
                <a:solidFill>
                  <a:srgbClr val="40404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AF6E2C9B-5FA2-460D-9BE7-B0812FC2A6FF}" type="datetimeFigureOut">
              <a:rPr lang="en-US" dirty="0"/>
              <a:t>8/14/2025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35861998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6918" y="5418668"/>
            <a:ext cx="8085582" cy="613283"/>
          </a:xfrm>
        </p:spPr>
        <p:txBody>
          <a:bodyPr anchor="b">
            <a:normAutofit/>
          </a:bodyPr>
          <a:lstStyle>
            <a:lvl1pPr>
              <a:lnSpc>
                <a:spcPct val="85000"/>
              </a:lnSpc>
              <a:defRPr sz="28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9144000" cy="5330952"/>
          </a:xfrm>
          <a:solidFill>
            <a:schemeClr val="accent1">
              <a:lumMod val="40000"/>
              <a:lumOff val="60000"/>
            </a:schemeClr>
          </a:solidFill>
        </p:spPr>
        <p:txBody>
          <a:bodyPr anchor="t"/>
          <a:lstStyle>
            <a:lvl1pPr marL="0" indent="0" algn="ctr">
              <a:spcBef>
                <a:spcPts val="800"/>
              </a:spcBef>
              <a:buNone/>
              <a:defRPr sz="3200">
                <a:solidFill>
                  <a:srgbClr val="4D4D4D"/>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07492" y="5909735"/>
            <a:ext cx="6922008" cy="533400"/>
          </a:xfrm>
        </p:spPr>
        <p:txBody>
          <a:bodyPr>
            <a:normAutofit/>
          </a:bodyPr>
          <a:lstStyle>
            <a:lvl1pPr marL="0" indent="0">
              <a:lnSpc>
                <a:spcPct val="90000"/>
              </a:lnSpc>
              <a:spcBef>
                <a:spcPts val="1200"/>
              </a:spcBef>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alpha val="75000"/>
                  </a:srgbClr>
                </a:solidFill>
              </a:defRPr>
            </a:lvl1pPr>
          </a:lstStyle>
          <a:p>
            <a:fld id="{5586B75A-687E-405C-8A0B-8D00578BA2C3}" type="datetimeFigureOut">
              <a:rPr lang="en-US" dirty="0"/>
              <a:pPr/>
              <a:t>8/14/2025</a:t>
            </a:fld>
            <a:endParaRPr lang="en-US" dirty="0"/>
          </a:p>
        </p:txBody>
      </p:sp>
      <p:sp>
        <p:nvSpPr>
          <p:cNvPr id="6" name="Footer Placeholder 5"/>
          <p:cNvSpPr>
            <a:spLocks noGrp="1"/>
          </p:cNvSpPr>
          <p:nvPr>
            <p:ph type="ftr" sz="quarter" idx="11"/>
          </p:nvPr>
        </p:nvSpPr>
        <p:spPr/>
        <p:txBody>
          <a:bodyPr/>
          <a:lstStyle>
            <a:lvl1pPr>
              <a:defRPr>
                <a:solidFill>
                  <a:srgbClr val="FFFFFF">
                    <a:alpha val="75000"/>
                  </a:srgb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1120505324"/>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4E5243-F52A-4D37-9694-EB26C6C31910}" type="datetimeFigureOut">
              <a:rPr lang="en-US" dirty="0"/>
              <a:t>8/14/2025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2718899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7963" y="695325"/>
            <a:ext cx="1971675"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78644" y="714376"/>
            <a:ext cx="5800725"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77B6E1-634A-48DC-9E8B-D894023267EF}" type="datetimeFigureOut">
              <a:rPr lang="en-US" dirty="0"/>
              <a:t>8/14/2025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486378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1_Title Slide">
    <p:bg>
      <p:bgPr>
        <a:solidFill>
          <a:srgbClr val="1A9DAC"/>
        </a:solidFill>
        <a:effectLst/>
      </p:bgPr>
    </p:bg>
    <p:spTree>
      <p:nvGrpSpPr>
        <p:cNvPr id="1" name=""/>
        <p:cNvGrpSpPr/>
        <p:nvPr/>
      </p:nvGrpSpPr>
      <p:grpSpPr>
        <a:xfrm>
          <a:off x="0" y="0"/>
          <a:ext cx="0" cy="0"/>
          <a:chOff x="0" y="0"/>
          <a:chExt cx="0" cy="0"/>
        </a:xfrm>
      </p:grpSpPr>
      <p:pic>
        <p:nvPicPr>
          <p:cNvPr id="6" name="Picture 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7584" y="0"/>
            <a:ext cx="1787872" cy="89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6FE3B5BC-7C7D-A745-8158-A53C466DA14C}"/>
              </a:ext>
            </a:extLst>
          </p:cNvPr>
          <p:cNvSpPr>
            <a:spLocks noGrp="1"/>
          </p:cNvSpPr>
          <p:nvPr>
            <p:ph type="title"/>
          </p:nvPr>
        </p:nvSpPr>
        <p:spPr>
          <a:xfrm>
            <a:off x="2050826" y="1915479"/>
            <a:ext cx="5689524" cy="2089585"/>
          </a:xfrm>
          <a:prstGeom prst="rect">
            <a:avLst/>
          </a:prstGeom>
        </p:spPr>
        <p:txBody>
          <a:bodyPr lIns="0" tIns="0" rIns="0" bIns="0"/>
          <a:lstStyle>
            <a:lvl1pPr>
              <a:defRPr>
                <a:solidFill>
                  <a:schemeClr val="bg1"/>
                </a:solidFill>
              </a:defRPr>
            </a:lvl1pPr>
          </a:lstStyle>
          <a:p>
            <a:r>
              <a:rPr lang="en-US"/>
              <a:t>Click to edit Master title style</a:t>
            </a:r>
            <a:endParaRPr lang="en-US" dirty="0"/>
          </a:p>
        </p:txBody>
      </p:sp>
      <p:sp>
        <p:nvSpPr>
          <p:cNvPr id="16" name="Text Placeholder 14">
            <a:extLst>
              <a:ext uri="{FF2B5EF4-FFF2-40B4-BE49-F238E27FC236}">
                <a16:creationId xmlns:a16="http://schemas.microsoft.com/office/drawing/2014/main" id="{69EC6F0B-C9B0-464E-ABF8-505FA2B99A36}"/>
              </a:ext>
            </a:extLst>
          </p:cNvPr>
          <p:cNvSpPr>
            <a:spLocks noGrp="1"/>
          </p:cNvSpPr>
          <p:nvPr>
            <p:ph type="body" sz="quarter" idx="15" hasCustomPrompt="1"/>
          </p:nvPr>
        </p:nvSpPr>
        <p:spPr>
          <a:xfrm>
            <a:off x="586421" y="1916832"/>
            <a:ext cx="1219139" cy="269081"/>
          </a:xfrm>
          <a:prstGeom prst="rect">
            <a:avLst/>
          </a:prstGeom>
        </p:spPr>
        <p:txBody>
          <a:bodyPr lIns="0" tIns="0" rIns="0" bIns="0"/>
          <a:lstStyle>
            <a:lvl1pPr marL="0" indent="0">
              <a:lnSpc>
                <a:spcPts val="1300"/>
              </a:lnSpc>
              <a:spcBef>
                <a:spcPts val="0"/>
              </a:spcBef>
              <a:buFontTx/>
              <a:buNone/>
              <a:defRPr sz="1600" b="0" i="0">
                <a:solidFill>
                  <a:schemeClr val="bg1"/>
                </a:solidFill>
                <a:latin typeface="+mj-lt"/>
                <a:ea typeface="Tahoma" charset="0"/>
                <a:cs typeface="Tahoma" charset="0"/>
              </a:defRPr>
            </a:lvl1pPr>
          </a:lstStyle>
          <a:p>
            <a:pPr lvl="0"/>
            <a:r>
              <a:rPr lang="en-US" dirty="0"/>
              <a:t>Presented by</a:t>
            </a:r>
          </a:p>
        </p:txBody>
      </p:sp>
      <p:sp>
        <p:nvSpPr>
          <p:cNvPr id="17" name="Text Placeholder 14">
            <a:extLst>
              <a:ext uri="{FF2B5EF4-FFF2-40B4-BE49-F238E27FC236}">
                <a16:creationId xmlns:a16="http://schemas.microsoft.com/office/drawing/2014/main" id="{C1E2BFEE-0AD7-C548-92B3-DE639BB40C8B}"/>
              </a:ext>
            </a:extLst>
          </p:cNvPr>
          <p:cNvSpPr>
            <a:spLocks noGrp="1"/>
          </p:cNvSpPr>
          <p:nvPr>
            <p:ph type="body" sz="quarter" idx="16"/>
          </p:nvPr>
        </p:nvSpPr>
        <p:spPr>
          <a:xfrm>
            <a:off x="586420" y="2323737"/>
            <a:ext cx="1219139" cy="402300"/>
          </a:xfrm>
          <a:prstGeom prst="rect">
            <a:avLst/>
          </a:prstGeom>
        </p:spPr>
        <p:txBody>
          <a:bodyPr lIns="0" tIns="0" rIns="0" bIns="0"/>
          <a:lstStyle>
            <a:lvl1pPr marL="0" indent="0">
              <a:lnSpc>
                <a:spcPts val="1300"/>
              </a:lnSpc>
              <a:spcBef>
                <a:spcPts val="0"/>
              </a:spcBef>
              <a:buFontTx/>
              <a:buNone/>
              <a:defRPr sz="1800" b="1" i="0">
                <a:solidFill>
                  <a:schemeClr val="bg1"/>
                </a:solidFill>
                <a:latin typeface="+mj-lt"/>
                <a:ea typeface="Tahoma" charset="0"/>
                <a:cs typeface="Tahoma" charset="0"/>
              </a:defRPr>
            </a:lvl1pPr>
          </a:lstStyle>
          <a:p>
            <a:pPr lvl="0"/>
            <a:r>
              <a:rPr lang="en-US"/>
              <a:t>Edit Master text styles</a:t>
            </a:r>
          </a:p>
        </p:txBody>
      </p:sp>
      <p:sp>
        <p:nvSpPr>
          <p:cNvPr id="18" name="Text Placeholder 14">
            <a:extLst>
              <a:ext uri="{FF2B5EF4-FFF2-40B4-BE49-F238E27FC236}">
                <a16:creationId xmlns:a16="http://schemas.microsoft.com/office/drawing/2014/main" id="{FE54718D-4C22-E94B-A4C0-C34A3A4257A2}"/>
              </a:ext>
            </a:extLst>
          </p:cNvPr>
          <p:cNvSpPr>
            <a:spLocks noGrp="1"/>
          </p:cNvSpPr>
          <p:nvPr>
            <p:ph type="body" sz="quarter" idx="17"/>
          </p:nvPr>
        </p:nvSpPr>
        <p:spPr>
          <a:xfrm>
            <a:off x="598505" y="2913639"/>
            <a:ext cx="1219139" cy="371345"/>
          </a:xfrm>
          <a:prstGeom prst="rect">
            <a:avLst/>
          </a:prstGeom>
        </p:spPr>
        <p:txBody>
          <a:bodyPr lIns="0" tIns="0" rIns="0" bIns="0"/>
          <a:lstStyle>
            <a:lvl1pPr marL="0" indent="0">
              <a:lnSpc>
                <a:spcPts val="1300"/>
              </a:lnSpc>
              <a:spcBef>
                <a:spcPts val="0"/>
              </a:spcBef>
              <a:buFontTx/>
              <a:buNone/>
              <a:defRPr sz="1800" b="1" i="0">
                <a:solidFill>
                  <a:schemeClr val="bg1"/>
                </a:solidFill>
                <a:latin typeface="+mj-lt"/>
                <a:ea typeface="Tahoma" charset="0"/>
                <a:cs typeface="Tahoma" charset="0"/>
              </a:defRPr>
            </a:lvl1pPr>
          </a:lstStyle>
          <a:p>
            <a:pPr lvl="0"/>
            <a:r>
              <a:rPr lang="en-US"/>
              <a:t>Edit Master text styles</a:t>
            </a:r>
          </a:p>
        </p:txBody>
      </p:sp>
      <p:cxnSp>
        <p:nvCxnSpPr>
          <p:cNvPr id="27" name="Straight Connector 26">
            <a:extLst>
              <a:ext uri="{FF2B5EF4-FFF2-40B4-BE49-F238E27FC236}">
                <a16:creationId xmlns:a16="http://schemas.microsoft.com/office/drawing/2014/main" id="{763A8BFE-74A7-E94B-8A00-4CD70EAFA367}"/>
              </a:ext>
            </a:extLst>
          </p:cNvPr>
          <p:cNvCxnSpPr>
            <a:cxnSpLocks/>
          </p:cNvCxnSpPr>
          <p:nvPr userDrawn="1"/>
        </p:nvCxnSpPr>
        <p:spPr>
          <a:xfrm>
            <a:off x="1919288" y="1916832"/>
            <a:ext cx="0" cy="3802212"/>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sp>
        <p:nvSpPr>
          <p:cNvPr id="19" name="Text Placeholder 14">
            <a:extLst>
              <a:ext uri="{FF2B5EF4-FFF2-40B4-BE49-F238E27FC236}">
                <a16:creationId xmlns:a16="http://schemas.microsoft.com/office/drawing/2014/main" id="{55B2378F-7E74-5649-B1F7-5BE87863FDAE}"/>
              </a:ext>
            </a:extLst>
          </p:cNvPr>
          <p:cNvSpPr>
            <a:spLocks noGrp="1"/>
          </p:cNvSpPr>
          <p:nvPr>
            <p:ph type="body" sz="quarter" idx="18" hasCustomPrompt="1"/>
          </p:nvPr>
        </p:nvSpPr>
        <p:spPr>
          <a:xfrm>
            <a:off x="598505" y="5373216"/>
            <a:ext cx="1219139" cy="345828"/>
          </a:xfrm>
          <a:prstGeom prst="rect">
            <a:avLst/>
          </a:prstGeom>
        </p:spPr>
        <p:txBody>
          <a:bodyPr lIns="0" tIns="0" rIns="0" bIns="0"/>
          <a:lstStyle>
            <a:lvl1pPr marL="0" indent="0">
              <a:lnSpc>
                <a:spcPts val="1300"/>
              </a:lnSpc>
              <a:spcBef>
                <a:spcPts val="0"/>
              </a:spcBef>
              <a:buFontTx/>
              <a:buNone/>
              <a:defRPr sz="1600" b="0" i="0">
                <a:solidFill>
                  <a:schemeClr val="bg1"/>
                </a:solidFill>
                <a:latin typeface="+mn-lt"/>
                <a:ea typeface="Tahoma"/>
                <a:cs typeface="Tahoma"/>
              </a:defRPr>
            </a:lvl1pPr>
          </a:lstStyle>
          <a:p>
            <a:pPr lvl="0"/>
            <a:r>
              <a:rPr lang="en-US" dirty="0"/>
              <a:t>Presentation date</a:t>
            </a:r>
          </a:p>
        </p:txBody>
      </p:sp>
    </p:spTree>
    <p:extLst>
      <p:ext uri="{BB962C8B-B14F-4D97-AF65-F5344CB8AC3E}">
        <p14:creationId xmlns:p14="http://schemas.microsoft.com/office/powerpoint/2010/main" val="1072170119"/>
      </p:ext>
    </p:extLst>
  </p:cSld>
  <p:clrMapOvr>
    <a:masterClrMapping/>
  </p:clrMapOvr>
  <p:transition spd="slow">
    <p:fade/>
  </p:transition>
  <p:extLst>
    <p:ext uri="{DCECCB84-F9BA-43D5-87BE-67443E8EF086}">
      <p15:sldGuideLst xmlns:p15="http://schemas.microsoft.com/office/powerpoint/2012/main">
        <p15:guide id="1" orient="horz" pos="1207">
          <p15:clr>
            <a:srgbClr val="FBAE40"/>
          </p15:clr>
        </p15:guide>
        <p15:guide id="2" pos="129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Main headings, text and bullet poin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4AAA3-E9D4-B544-B77B-0789573E9C02}"/>
              </a:ext>
            </a:extLst>
          </p:cNvPr>
          <p:cNvSpPr>
            <a:spLocks noGrp="1"/>
          </p:cNvSpPr>
          <p:nvPr>
            <p:ph type="title" hasCustomPrompt="1"/>
          </p:nvPr>
        </p:nvSpPr>
        <p:spPr>
          <a:xfrm>
            <a:off x="899591" y="689701"/>
            <a:ext cx="7886700" cy="1011108"/>
          </a:xfrm>
          <a:prstGeom prst="rect">
            <a:avLst/>
          </a:prstGeom>
        </p:spPr>
        <p:txBody>
          <a:bodyPr lIns="0" tIns="0" rIns="0" bIns="0"/>
          <a:lstStyle>
            <a:lvl1pPr>
              <a:defRPr>
                <a:solidFill>
                  <a:srgbClr val="1A9DAC"/>
                </a:solidFill>
              </a:defRPr>
            </a:lvl1pPr>
          </a:lstStyle>
          <a:p>
            <a:pPr lvl="0"/>
            <a:r>
              <a:rPr lang="en-GB" dirty="0"/>
              <a:t>Click to edit Master text styles</a:t>
            </a:r>
          </a:p>
        </p:txBody>
      </p:sp>
      <p:sp>
        <p:nvSpPr>
          <p:cNvPr id="6" name="Text Placeholder 5"/>
          <p:cNvSpPr>
            <a:spLocks noGrp="1"/>
          </p:cNvSpPr>
          <p:nvPr>
            <p:ph type="body" sz="quarter" idx="11" hasCustomPrompt="1"/>
          </p:nvPr>
        </p:nvSpPr>
        <p:spPr>
          <a:xfrm>
            <a:off x="899591" y="1700808"/>
            <a:ext cx="6551612" cy="4608512"/>
          </a:xfrm>
          <a:prstGeom prst="rect">
            <a:avLst/>
          </a:prstGeom>
        </p:spPr>
        <p:txBody>
          <a:bodyPr lIns="0" tIns="0" rIns="0" bIns="0"/>
          <a:lstStyle>
            <a:lvl1pPr marL="266700" indent="-257175">
              <a:buClr>
                <a:srgbClr val="1A9DAC"/>
              </a:buClr>
              <a:tabLst/>
              <a:defRPr sz="1800">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742077712"/>
      </p:ext>
    </p:extLst>
  </p:cSld>
  <p:clrMapOvr>
    <a:masterClrMapping/>
  </p:clrMapOvr>
  <p:transition spd="slow">
    <p:fade/>
  </p:transition>
  <p:extLst>
    <p:ext uri="{DCECCB84-F9BA-43D5-87BE-67443E8EF086}">
      <p15:sldGuideLst xmlns:p15="http://schemas.microsoft.com/office/powerpoint/2012/main">
        <p15:guide id="1" orient="horz" pos="436">
          <p15:clr>
            <a:srgbClr val="FBAE40"/>
          </p15:clr>
        </p15:guide>
        <p15:guide id="2" pos="56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1_Chart and graph pos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C80B-5DE2-104C-BCD7-114FA55CDFA5}"/>
              </a:ext>
            </a:extLst>
          </p:cNvPr>
          <p:cNvSpPr>
            <a:spLocks noGrp="1"/>
          </p:cNvSpPr>
          <p:nvPr>
            <p:ph type="title"/>
          </p:nvPr>
        </p:nvSpPr>
        <p:spPr>
          <a:xfrm>
            <a:off x="892515" y="692697"/>
            <a:ext cx="7886700" cy="862064"/>
          </a:xfrm>
        </p:spPr>
        <p:txBody>
          <a:bodyPr/>
          <a:lstStyle>
            <a:lvl1pPr>
              <a:defRPr>
                <a:solidFill>
                  <a:srgbClr val="1A9DAC"/>
                </a:solidFill>
              </a:defRPr>
            </a:lvl1pPr>
          </a:lstStyle>
          <a:p>
            <a:r>
              <a:rPr lang="en-US"/>
              <a:t>Click to edit Master title style</a:t>
            </a:r>
            <a:endParaRPr lang="en-US" dirty="0"/>
          </a:p>
        </p:txBody>
      </p:sp>
      <p:sp>
        <p:nvSpPr>
          <p:cNvPr id="3" name="Chart Placeholder 2"/>
          <p:cNvSpPr>
            <a:spLocks noGrp="1"/>
          </p:cNvSpPr>
          <p:nvPr>
            <p:ph type="chart" sz="quarter" idx="11"/>
          </p:nvPr>
        </p:nvSpPr>
        <p:spPr>
          <a:xfrm>
            <a:off x="899592" y="1554761"/>
            <a:ext cx="6515620" cy="4538065"/>
          </a:xfrm>
          <a:prstGeom prst="rect">
            <a:avLst/>
          </a:prstGeom>
        </p:spPr>
        <p:txBody>
          <a:bodyPr/>
          <a:lstStyle/>
          <a:p>
            <a:pPr lvl="0"/>
            <a:r>
              <a:rPr lang="en-US" noProof="0"/>
              <a:t>Click icon to add chart</a:t>
            </a:r>
            <a:endParaRPr lang="en-US" noProof="0" dirty="0"/>
          </a:p>
        </p:txBody>
      </p:sp>
    </p:spTree>
    <p:extLst>
      <p:ext uri="{BB962C8B-B14F-4D97-AF65-F5344CB8AC3E}">
        <p14:creationId xmlns:p14="http://schemas.microsoft.com/office/powerpoint/2010/main" val="1883336974"/>
      </p:ext>
    </p:extLst>
  </p:cSld>
  <p:clrMapOvr>
    <a:masterClrMapping/>
  </p:clrMapOvr>
  <p:transition spd="slow">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1_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899592" y="1974057"/>
            <a:ext cx="6515620" cy="1325563"/>
          </a:xfrm>
          <a:prstGeom prst="rect">
            <a:avLst/>
          </a:prstGeom>
        </p:spPr>
        <p:txBody>
          <a:bodyPr/>
          <a:lstStyle>
            <a:lvl1pPr>
              <a:defRPr>
                <a:solidFill>
                  <a:srgbClr val="1A9DAC"/>
                </a:solidFill>
              </a:defRPr>
            </a:lvl1pPr>
          </a:lstStyle>
          <a:p>
            <a:r>
              <a:rPr lang="en-US"/>
              <a:t>Click to edit Master title style</a:t>
            </a:r>
            <a:endParaRPr lang="en-US" dirty="0"/>
          </a:p>
        </p:txBody>
      </p:sp>
      <p:sp>
        <p:nvSpPr>
          <p:cNvPr id="7" name="Text Placeholder 5"/>
          <p:cNvSpPr>
            <a:spLocks noGrp="1"/>
          </p:cNvSpPr>
          <p:nvPr>
            <p:ph type="body" sz="quarter" idx="11"/>
          </p:nvPr>
        </p:nvSpPr>
        <p:spPr>
          <a:xfrm>
            <a:off x="899592" y="4221163"/>
            <a:ext cx="6515620" cy="603104"/>
          </a:xfrm>
          <a:prstGeom prst="rect">
            <a:avLst/>
          </a:prstGeom>
        </p:spPr>
        <p:txBody>
          <a:bodyPr lIns="0" tIns="0" rIns="0" bIns="0"/>
          <a:lstStyle>
            <a:lvl1pPr marL="0" indent="0">
              <a:lnSpc>
                <a:spcPct val="100000"/>
              </a:lnSpc>
              <a:buFontTx/>
              <a:buNone/>
              <a:defRPr sz="1350" b="0" i="0">
                <a:solidFill>
                  <a:schemeClr val="tx1"/>
                </a:solidFill>
                <a:latin typeface="+mn-lt"/>
                <a:ea typeface="Tahoma"/>
                <a:cs typeface="Tahoma"/>
              </a:defRPr>
            </a:lvl1pPr>
          </a:lstStyle>
          <a:p>
            <a:pPr lvl="0"/>
            <a:r>
              <a:rPr lang="en-US"/>
              <a:t>Click to edit Master text styles</a:t>
            </a:r>
          </a:p>
        </p:txBody>
      </p:sp>
    </p:spTree>
    <p:extLst>
      <p:ext uri="{BB962C8B-B14F-4D97-AF65-F5344CB8AC3E}">
        <p14:creationId xmlns:p14="http://schemas.microsoft.com/office/powerpoint/2010/main" val="2017938177"/>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image" Target="../media/image1.jpeg"/><Relationship Id="rId2" Type="http://schemas.openxmlformats.org/officeDocument/2006/relationships/slideLayout" Target="../slideLayouts/slideLayout18.xml"/><Relationship Id="rId16" Type="http://schemas.openxmlformats.org/officeDocument/2006/relationships/theme" Target="../theme/theme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D7E385-10D3-CC4C-B8C0-4CD9D91D4F44}"/>
              </a:ext>
              <a:ext uri="{C183D7F6-B498-43B3-948B-1728B52AA6E4}">
                <adec:decorative xmlns:adec="http://schemas.microsoft.com/office/drawing/2017/decorative" val="1"/>
              </a:ext>
            </a:extLst>
          </p:cNvPr>
          <p:cNvPicPr>
            <a:picLocks noChangeAspect="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236296"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Placeholder 3">
            <a:extLst>
              <a:ext uri="{FF2B5EF4-FFF2-40B4-BE49-F238E27FC236}">
                <a16:creationId xmlns:a16="http://schemas.microsoft.com/office/drawing/2014/main" id="{3631A212-DAA8-B544-9BA8-9F3465AA8AB6}"/>
              </a:ext>
            </a:extLst>
          </p:cNvPr>
          <p:cNvSpPr>
            <a:spLocks noGrp="1"/>
          </p:cNvSpPr>
          <p:nvPr>
            <p:ph type="title"/>
          </p:nvPr>
        </p:nvSpPr>
        <p:spPr>
          <a:xfrm>
            <a:off x="628650" y="692696"/>
            <a:ext cx="7886700" cy="1325563"/>
          </a:xfrm>
          <a:prstGeom prst="rect">
            <a:avLst/>
          </a:prstGeom>
        </p:spPr>
        <p:txBody>
          <a:bodyPr vert="horz" lIns="0" tIns="0" rIns="0" bIns="0" rtlCol="0" anchor="t" anchorCtr="0">
            <a:normAutofit/>
          </a:bodyPr>
          <a:lstStyle/>
          <a:p>
            <a:r>
              <a:rPr lang="en-US"/>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 id="2147483973" r:id="rId12"/>
    <p:sldLayoutId id="2147483974" r:id="rId13"/>
    <p:sldLayoutId id="2147483976" r:id="rId14"/>
    <p:sldLayoutId id="2147483978" r:id="rId15"/>
    <p:sldLayoutId id="2147483979" r:id="rId16"/>
  </p:sldLayoutIdLst>
  <p:transition spd="slow">
    <p:fade/>
  </p:transition>
  <p:txStyles>
    <p:titleStyle>
      <a:lvl1pPr algn="l" defTabSz="606425" rtl="0" eaLnBrk="1" fontAlgn="base" hangingPunct="1">
        <a:spcBef>
          <a:spcPct val="0"/>
        </a:spcBef>
        <a:spcAft>
          <a:spcPct val="0"/>
        </a:spcAft>
        <a:defRPr sz="3600" kern="1200">
          <a:solidFill>
            <a:srgbClr val="1A9DAC"/>
          </a:solidFill>
          <a:latin typeface="+mj-lt"/>
          <a:ea typeface="ＭＳ Ｐゴシック" charset="0"/>
          <a:cs typeface="ＭＳ Ｐゴシック" charset="0"/>
        </a:defRPr>
      </a:lvl1pPr>
      <a:lvl2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5pPr>
      <a:lvl6pPr marL="609555"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110"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64"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218"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p:titleStyle>
    <p:bodyStyle>
      <a:lvl1pPr marL="454025" indent="-454025" algn="l" defTabSz="606425" rtl="0" eaLnBrk="1" fontAlgn="base" hangingPunct="1">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10"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7"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2919" y="499533"/>
            <a:ext cx="8079581"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07206" y="1993393"/>
            <a:ext cx="8065294"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4350" y="6412447"/>
            <a:ext cx="3086100" cy="228600"/>
          </a:xfrm>
          <a:prstGeom prst="rect">
            <a:avLst/>
          </a:prstGeom>
        </p:spPr>
        <p:txBody>
          <a:bodyPr vert="horz" lIns="91440" tIns="45720" rIns="91440" bIns="45720" rtlCol="0" anchor="ctr"/>
          <a:lstStyle>
            <a:lvl1pPr algn="l">
              <a:defRPr sz="950">
                <a:solidFill>
                  <a:schemeClr val="tx1">
                    <a:alpha val="75000"/>
                  </a:schemeClr>
                </a:solidFill>
              </a:defRPr>
            </a:lvl1pPr>
          </a:lstStyle>
          <a:p>
            <a:fld id="{5586B75A-687E-405C-8A0B-8D00578BA2C3}" type="datetimeFigureOut">
              <a:rPr lang="en-US" dirty="0"/>
              <a:pPr/>
              <a:t>8/14/2025</a:t>
            </a:fld>
            <a:endParaRPr lang="en-US" dirty="0"/>
          </a:p>
        </p:txBody>
      </p:sp>
      <p:sp>
        <p:nvSpPr>
          <p:cNvPr id="5" name="Footer Placeholder 4"/>
          <p:cNvSpPr>
            <a:spLocks noGrp="1"/>
          </p:cNvSpPr>
          <p:nvPr>
            <p:ph type="ftr" sz="quarter" idx="3"/>
          </p:nvPr>
        </p:nvSpPr>
        <p:spPr>
          <a:xfrm>
            <a:off x="514350" y="6554697"/>
            <a:ext cx="3771900" cy="228600"/>
          </a:xfrm>
          <a:prstGeom prst="rect">
            <a:avLst/>
          </a:prstGeom>
        </p:spPr>
        <p:txBody>
          <a:bodyPr vert="horz" lIns="91440" tIns="45720" rIns="91440" bIns="45720" rtlCol="0" anchor="ctr"/>
          <a:lstStyle>
            <a:lvl1pPr algn="l">
              <a:defRPr sz="950" cap="all" baseline="0">
                <a:solidFill>
                  <a:schemeClr val="tx1">
                    <a:alpha val="75000"/>
                  </a:schemeClr>
                </a:solidFill>
              </a:defRPr>
            </a:lvl1pPr>
          </a:lstStyle>
          <a:p>
            <a:endParaRPr lang="en-US" dirty="0"/>
          </a:p>
        </p:txBody>
      </p:sp>
      <p:sp>
        <p:nvSpPr>
          <p:cNvPr id="6" name="Slide Number Placeholder 5"/>
          <p:cNvSpPr>
            <a:spLocks noGrp="1"/>
          </p:cNvSpPr>
          <p:nvPr>
            <p:ph type="sldNum" sz="quarter" idx="4"/>
          </p:nvPr>
        </p:nvSpPr>
        <p:spPr>
          <a:xfrm>
            <a:off x="6541193" y="5829748"/>
            <a:ext cx="2194560" cy="1397039"/>
          </a:xfrm>
          <a:prstGeom prst="rect">
            <a:avLst/>
          </a:prstGeom>
        </p:spPr>
        <p:txBody>
          <a:bodyPr vert="horz" lIns="91440" tIns="45720" rIns="91440" bIns="45720" rtlCol="0" anchor="b"/>
          <a:lstStyle>
            <a:lvl1pPr algn="r">
              <a:defRPr sz="9000" b="0">
                <a:ln>
                  <a:noFill/>
                </a:ln>
                <a:solidFill>
                  <a:schemeClr val="accent1">
                    <a:alpha val="20000"/>
                  </a:schemeClr>
                </a:solidFill>
                <a:latin typeface="+mj-lt"/>
              </a:defRPr>
            </a:lvl1pPr>
          </a:lstStyle>
          <a:p>
            <a:fld id="{4FAB73BC-B049-4115-A692-8D63A059BFB8}" type="slidenum">
              <a:rPr lang="en-US" dirty="0"/>
              <a:pPr/>
              <a:t>‹#›</a:t>
            </a:fld>
            <a:endParaRPr lang="en-US" dirty="0"/>
          </a:p>
        </p:txBody>
      </p:sp>
      <p:pic>
        <p:nvPicPr>
          <p:cNvPr id="7" name="Picture 6">
            <a:extLst>
              <a:ext uri="{FF2B5EF4-FFF2-40B4-BE49-F238E27FC236}">
                <a16:creationId xmlns:a16="http://schemas.microsoft.com/office/drawing/2014/main" id="{089CF05C-2BB7-6682-480C-BD08AB93B065}"/>
              </a:ext>
              <a:ext uri="{C183D7F6-B498-43B3-948B-1728B52AA6E4}">
                <adec:decorative xmlns:adec="http://schemas.microsoft.com/office/drawing/2017/decorative" val="1"/>
              </a:ext>
            </a:extLst>
          </p:cNvPr>
          <p:cNvPicPr>
            <a:picLocks noChangeAspect="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7236296"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14312406"/>
      </p:ext>
    </p:extLst>
  </p:cSld>
  <p:clrMap bg1="lt1" tx1="dk1" bg2="lt2" tx2="dk2" accent1="accent1" accent2="accent2" accent3="accent3" accent4="accent4" accent5="accent5" accent6="accent6" hlink="hlink" folHlink="folHlink"/>
  <p:sldLayoutIdLst>
    <p:sldLayoutId id="2147483981" r:id="rId1"/>
    <p:sldLayoutId id="2147483982" r:id="rId2"/>
    <p:sldLayoutId id="2147483983" r:id="rId3"/>
    <p:sldLayoutId id="2147483984" r:id="rId4"/>
    <p:sldLayoutId id="2147483985" r:id="rId5"/>
    <p:sldLayoutId id="2147483986" r:id="rId6"/>
    <p:sldLayoutId id="2147483987" r:id="rId7"/>
    <p:sldLayoutId id="2147483988" r:id="rId8"/>
    <p:sldLayoutId id="2147483989" r:id="rId9"/>
    <p:sldLayoutId id="2147483990" r:id="rId10"/>
    <p:sldLayoutId id="2147483991" r:id="rId11"/>
    <p:sldLayoutId id="2147483992" r:id="rId12"/>
    <p:sldLayoutId id="2147483993" r:id="rId13"/>
    <p:sldLayoutId id="2147483994" r:id="rId14"/>
    <p:sldLayoutId id="2147483995" r:id="rId15"/>
  </p:sldLayoutIdLst>
  <p:transition spd="slow">
    <p:fade/>
  </p:transition>
  <p:txStyles>
    <p:titleStyle>
      <a:lvl1pPr algn="l" defTabSz="914400" rtl="0" eaLnBrk="1" latinLnBrk="0" hangingPunct="1">
        <a:lnSpc>
          <a:spcPct val="90000"/>
        </a:lnSpc>
        <a:spcBef>
          <a:spcPct val="0"/>
        </a:spcBef>
        <a:buNone/>
        <a:defRPr sz="48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0.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3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10.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3" Type="http://schemas.openxmlformats.org/officeDocument/2006/relationships/image" Target="../media/image35.png"/><Relationship Id="rId18" Type="http://schemas.openxmlformats.org/officeDocument/2006/relationships/image" Target="../media/image40.png"/><Relationship Id="rId26" Type="http://schemas.openxmlformats.org/officeDocument/2006/relationships/image" Target="../media/image48.png"/><Relationship Id="rId21" Type="http://schemas.openxmlformats.org/officeDocument/2006/relationships/image" Target="../media/image43.png"/><Relationship Id="rId34" Type="http://schemas.openxmlformats.org/officeDocument/2006/relationships/image" Target="../media/image10.png"/><Relationship Id="rId7" Type="http://schemas.openxmlformats.org/officeDocument/2006/relationships/image" Target="../media/image710.png"/><Relationship Id="rId12" Type="http://schemas.openxmlformats.org/officeDocument/2006/relationships/image" Target="../media/image510.png"/><Relationship Id="rId17" Type="http://schemas.openxmlformats.org/officeDocument/2006/relationships/image" Target="../media/image39.png"/><Relationship Id="rId25" Type="http://schemas.openxmlformats.org/officeDocument/2006/relationships/image" Target="../media/image47.png"/><Relationship Id="rId33" Type="http://schemas.openxmlformats.org/officeDocument/2006/relationships/image" Target="../media/image94.png"/><Relationship Id="rId38" Type="http://schemas.openxmlformats.org/officeDocument/2006/relationships/image" Target="../media/image110.png"/><Relationship Id="rId2" Type="http://schemas.openxmlformats.org/officeDocument/2006/relationships/notesSlide" Target="../notesSlides/notesSlide5.xml"/><Relationship Id="rId16" Type="http://schemas.openxmlformats.org/officeDocument/2006/relationships/image" Target="../media/image38.png"/><Relationship Id="rId20" Type="http://schemas.openxmlformats.org/officeDocument/2006/relationships/image" Target="../media/image42.png"/><Relationship Id="rId29" Type="http://schemas.openxmlformats.org/officeDocument/2006/relationships/image" Target="../media/image51.png"/><Relationship Id="rId1" Type="http://schemas.openxmlformats.org/officeDocument/2006/relationships/slideLayout" Target="../slideLayouts/slideLayout18.xml"/><Relationship Id="rId6" Type="http://schemas.openxmlformats.org/officeDocument/2006/relationships/image" Target="../media/image29.png"/><Relationship Id="rId11" Type="http://schemas.openxmlformats.org/officeDocument/2006/relationships/image" Target="../media/image33.png"/><Relationship Id="rId24" Type="http://schemas.openxmlformats.org/officeDocument/2006/relationships/image" Target="../media/image46.png"/><Relationship Id="rId32" Type="http://schemas.openxmlformats.org/officeDocument/2006/relationships/image" Target="../media/image8.png"/><Relationship Id="rId37" Type="http://schemas.openxmlformats.org/officeDocument/2006/relationships/customXml" Target="../ink/ink2.xml"/><Relationship Id="rId5" Type="http://schemas.openxmlformats.org/officeDocument/2006/relationships/image" Target="../media/image28.png"/><Relationship Id="rId15" Type="http://schemas.openxmlformats.org/officeDocument/2006/relationships/image" Target="../media/image37.png"/><Relationship Id="rId23" Type="http://schemas.openxmlformats.org/officeDocument/2006/relationships/image" Target="../media/image45.png"/><Relationship Id="rId28" Type="http://schemas.openxmlformats.org/officeDocument/2006/relationships/image" Target="../media/image50.png"/><Relationship Id="rId36" Type="http://schemas.openxmlformats.org/officeDocument/2006/relationships/image" Target="../media/image57.png"/><Relationship Id="rId10" Type="http://schemas.openxmlformats.org/officeDocument/2006/relationships/image" Target="../media/image32.png"/><Relationship Id="rId19" Type="http://schemas.openxmlformats.org/officeDocument/2006/relationships/image" Target="../media/image41.png"/><Relationship Id="rId31" Type="http://schemas.openxmlformats.org/officeDocument/2006/relationships/image" Target="../media/image6.png"/><Relationship Id="rId4" Type="http://schemas.openxmlformats.org/officeDocument/2006/relationships/image" Target="../media/image27.png"/><Relationship Id="rId9" Type="http://schemas.openxmlformats.org/officeDocument/2006/relationships/image" Target="../media/image31.png"/><Relationship Id="rId14" Type="http://schemas.openxmlformats.org/officeDocument/2006/relationships/image" Target="../media/image36.png"/><Relationship Id="rId22" Type="http://schemas.openxmlformats.org/officeDocument/2006/relationships/image" Target="../media/image44.png"/><Relationship Id="rId27" Type="http://schemas.openxmlformats.org/officeDocument/2006/relationships/image" Target="../media/image49.png"/><Relationship Id="rId30" Type="http://schemas.openxmlformats.org/officeDocument/2006/relationships/image" Target="../media/image52.png"/><Relationship Id="rId35" Type="http://schemas.openxmlformats.org/officeDocument/2006/relationships/customXml" Target="../ink/ink1.xml"/><Relationship Id="rId8" Type="http://schemas.openxmlformats.org/officeDocument/2006/relationships/image" Target="../media/image30.png"/><Relationship Id="rId3" Type="http://schemas.openxmlformats.org/officeDocument/2006/relationships/image" Target="../media/image26.png"/></Relationships>
</file>

<file path=ppt/slides/_rels/slide9.xml.rels><?xml version="1.0" encoding="UTF-8" standalone="yes"?>
<Relationships xmlns="http://schemas.openxmlformats.org/package/2006/relationships"><Relationship Id="rId13" Type="http://schemas.openxmlformats.org/officeDocument/2006/relationships/image" Target="../media/image22.png"/><Relationship Id="rId18" Type="http://schemas.openxmlformats.org/officeDocument/2006/relationships/image" Target="../media/image53.png"/><Relationship Id="rId26" Type="http://schemas.openxmlformats.org/officeDocument/2006/relationships/image" Target="../media/image62.png"/><Relationship Id="rId21" Type="http://schemas.openxmlformats.org/officeDocument/2006/relationships/image" Target="../media/image56.png"/><Relationship Id="rId34" Type="http://schemas.openxmlformats.org/officeDocument/2006/relationships/image" Target="../media/image70.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34.png"/><Relationship Id="rId25" Type="http://schemas.openxmlformats.org/officeDocument/2006/relationships/image" Target="../media/image61.png"/><Relationship Id="rId33" Type="http://schemas.openxmlformats.org/officeDocument/2006/relationships/image" Target="../media/image69.png"/><Relationship Id="rId2" Type="http://schemas.openxmlformats.org/officeDocument/2006/relationships/notesSlide" Target="../notesSlides/notesSlide6.xml"/><Relationship Id="rId16" Type="http://schemas.openxmlformats.org/officeDocument/2006/relationships/image" Target="../media/image25.png"/><Relationship Id="rId20" Type="http://schemas.openxmlformats.org/officeDocument/2006/relationships/image" Target="../media/image55.png"/><Relationship Id="rId29" Type="http://schemas.openxmlformats.org/officeDocument/2006/relationships/image" Target="../media/image65.png"/><Relationship Id="rId1" Type="http://schemas.openxmlformats.org/officeDocument/2006/relationships/slideLayout" Target="../slideLayouts/slideLayout18.xml"/><Relationship Id="rId6" Type="http://schemas.openxmlformats.org/officeDocument/2006/relationships/image" Target="../media/image15.png"/><Relationship Id="rId11" Type="http://schemas.openxmlformats.org/officeDocument/2006/relationships/image" Target="../media/image20.png"/><Relationship Id="rId24" Type="http://schemas.openxmlformats.org/officeDocument/2006/relationships/image" Target="../media/image60.png"/><Relationship Id="rId32" Type="http://schemas.openxmlformats.org/officeDocument/2006/relationships/image" Target="../media/image68.png"/><Relationship Id="rId37" Type="http://schemas.openxmlformats.org/officeDocument/2006/relationships/image" Target="../media/image72.png"/><Relationship Id="rId5" Type="http://schemas.openxmlformats.org/officeDocument/2006/relationships/image" Target="../media/image14.png"/><Relationship Id="rId15" Type="http://schemas.openxmlformats.org/officeDocument/2006/relationships/image" Target="../media/image24.png"/><Relationship Id="rId23" Type="http://schemas.openxmlformats.org/officeDocument/2006/relationships/image" Target="../media/image59.png"/><Relationship Id="rId28" Type="http://schemas.openxmlformats.org/officeDocument/2006/relationships/image" Target="../media/image64.png"/><Relationship Id="rId36" Type="http://schemas.openxmlformats.org/officeDocument/2006/relationships/customXml" Target="../ink/ink3.xml"/><Relationship Id="rId10" Type="http://schemas.openxmlformats.org/officeDocument/2006/relationships/image" Target="../media/image19.png"/><Relationship Id="rId19" Type="http://schemas.openxmlformats.org/officeDocument/2006/relationships/image" Target="../media/image54.png"/><Relationship Id="rId31" Type="http://schemas.openxmlformats.org/officeDocument/2006/relationships/image" Target="../media/image67.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58.png"/><Relationship Id="rId27" Type="http://schemas.openxmlformats.org/officeDocument/2006/relationships/image" Target="../media/image63.png"/><Relationship Id="rId30" Type="http://schemas.openxmlformats.org/officeDocument/2006/relationships/image" Target="../media/image66.png"/><Relationship Id="rId35" Type="http://schemas.openxmlformats.org/officeDocument/2006/relationships/image" Target="../media/image71.png"/><Relationship Id="rId8" Type="http://schemas.openxmlformats.org/officeDocument/2006/relationships/image" Target="../media/image17.png"/><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image" Target="../media/image660.png"/><Relationship Id="rId13" Type="http://schemas.openxmlformats.org/officeDocument/2006/relationships/image" Target="../media/image76.png"/><Relationship Id="rId3" Type="http://schemas.openxmlformats.org/officeDocument/2006/relationships/image" Target="../media/image620.png"/><Relationship Id="rId7" Type="http://schemas.openxmlformats.org/officeDocument/2006/relationships/image" Target="../media/image650.png"/><Relationship Id="rId12" Type="http://schemas.openxmlformats.org/officeDocument/2006/relationships/image" Target="../media/image75.pn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640.png"/><Relationship Id="rId11" Type="http://schemas.openxmlformats.org/officeDocument/2006/relationships/image" Target="../media/image74.png"/><Relationship Id="rId5" Type="http://schemas.openxmlformats.org/officeDocument/2006/relationships/image" Target="../media/image630.png"/><Relationship Id="rId15" Type="http://schemas.openxmlformats.org/officeDocument/2006/relationships/image" Target="../media/image78.png"/><Relationship Id="rId10" Type="http://schemas.openxmlformats.org/officeDocument/2006/relationships/image" Target="../media/image73.png"/><Relationship Id="rId4" Type="http://schemas.openxmlformats.org/officeDocument/2006/relationships/image" Target="../media/image27.png"/><Relationship Id="rId9" Type="http://schemas.openxmlformats.org/officeDocument/2006/relationships/image" Target="../media/image670.png"/><Relationship Id="rId14" Type="http://schemas.openxmlformats.org/officeDocument/2006/relationships/image" Target="../media/image77.png"/></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79.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8.xml"/><Relationship Id="rId4" Type="http://schemas.openxmlformats.org/officeDocument/2006/relationships/image" Target="../media/image82.png"/></Relationships>
</file>

<file path=ppt/slides/_rels/slide1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18.xml"/><Relationship Id="rId4" Type="http://schemas.openxmlformats.org/officeDocument/2006/relationships/image" Target="../media/image87.png"/></Relationships>
</file>

<file path=ppt/slides/_rels/slide1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89.png"/></Relationships>
</file>

<file path=ppt/slides/_rels/slide1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3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F4C6A-CA2E-4C35-8BA5-916C10203F2E}"/>
              </a:ext>
            </a:extLst>
          </p:cNvPr>
          <p:cNvSpPr>
            <a:spLocks noGrp="1"/>
          </p:cNvSpPr>
          <p:nvPr>
            <p:ph type="title"/>
          </p:nvPr>
        </p:nvSpPr>
        <p:spPr>
          <a:xfrm>
            <a:off x="2050826" y="1915479"/>
            <a:ext cx="5689524" cy="3457737"/>
          </a:xfrm>
        </p:spPr>
        <p:txBody>
          <a:bodyPr>
            <a:normAutofit/>
          </a:bodyPr>
          <a:lstStyle/>
          <a:p>
            <a:r>
              <a:rPr lang="en-GB" sz="4000" dirty="0"/>
              <a:t>UMET9G-30-1 </a:t>
            </a:r>
            <a:br>
              <a:rPr lang="en-GB" sz="4000" dirty="0"/>
            </a:br>
            <a:r>
              <a:rPr lang="en-GB" sz="4000" dirty="0"/>
              <a:t>Accounting &amp; Finance for Decision Making </a:t>
            </a:r>
            <a:br>
              <a:rPr lang="en-GB" sz="4000" dirty="0"/>
            </a:br>
            <a:br>
              <a:rPr lang="en-GB" sz="4000" dirty="0"/>
            </a:br>
            <a:r>
              <a:rPr lang="en-GB" sz="4000" dirty="0"/>
              <a:t>Time Value of Money – Part 1</a:t>
            </a:r>
          </a:p>
        </p:txBody>
      </p:sp>
      <p:sp>
        <p:nvSpPr>
          <p:cNvPr id="3" name="Text Placeholder 2">
            <a:extLst>
              <a:ext uri="{FF2B5EF4-FFF2-40B4-BE49-F238E27FC236}">
                <a16:creationId xmlns:a16="http://schemas.microsoft.com/office/drawing/2014/main" id="{876BE806-4523-4FEC-B19F-B5D4FF00D6A6}"/>
              </a:ext>
            </a:extLst>
          </p:cNvPr>
          <p:cNvSpPr>
            <a:spLocks noGrp="1"/>
          </p:cNvSpPr>
          <p:nvPr>
            <p:ph type="body" sz="quarter" idx="15"/>
          </p:nvPr>
        </p:nvSpPr>
        <p:spPr/>
        <p:txBody>
          <a:bodyPr/>
          <a:lstStyle/>
          <a:p>
            <a:endParaRPr lang="en-GB" dirty="0"/>
          </a:p>
        </p:txBody>
      </p:sp>
      <p:sp>
        <p:nvSpPr>
          <p:cNvPr id="4" name="Text Placeholder 3">
            <a:extLst>
              <a:ext uri="{FF2B5EF4-FFF2-40B4-BE49-F238E27FC236}">
                <a16:creationId xmlns:a16="http://schemas.microsoft.com/office/drawing/2014/main" id="{FA5FC82F-1F0B-4D11-BC78-0C43FDE0F394}"/>
              </a:ext>
            </a:extLst>
          </p:cNvPr>
          <p:cNvSpPr>
            <a:spLocks noGrp="1"/>
          </p:cNvSpPr>
          <p:nvPr>
            <p:ph type="body" sz="quarter" idx="16"/>
          </p:nvPr>
        </p:nvSpPr>
        <p:spPr/>
        <p:txBody>
          <a:bodyPr/>
          <a:lstStyle/>
          <a:p>
            <a:endParaRPr lang="en-GB" dirty="0"/>
          </a:p>
        </p:txBody>
      </p:sp>
      <p:sp>
        <p:nvSpPr>
          <p:cNvPr id="5" name="Text Placeholder 4">
            <a:extLst>
              <a:ext uri="{FF2B5EF4-FFF2-40B4-BE49-F238E27FC236}">
                <a16:creationId xmlns:a16="http://schemas.microsoft.com/office/drawing/2014/main" id="{25261011-8BC0-42E0-ABA5-34977886AFBC}"/>
              </a:ext>
            </a:extLst>
          </p:cNvPr>
          <p:cNvSpPr>
            <a:spLocks noGrp="1"/>
          </p:cNvSpPr>
          <p:nvPr>
            <p:ph type="body" sz="quarter" idx="17"/>
          </p:nvPr>
        </p:nvSpPr>
        <p:spPr/>
        <p:txBody>
          <a:bodyPr/>
          <a:lstStyle/>
          <a:p>
            <a:r>
              <a:rPr lang="en-GB" dirty="0"/>
              <a:t>Lecture 2</a:t>
            </a:r>
          </a:p>
        </p:txBody>
      </p:sp>
      <p:sp>
        <p:nvSpPr>
          <p:cNvPr id="9" name="Text Placeholder 8">
            <a:extLst>
              <a:ext uri="{FF2B5EF4-FFF2-40B4-BE49-F238E27FC236}">
                <a16:creationId xmlns:a16="http://schemas.microsoft.com/office/drawing/2014/main" id="{7C56A0A1-98C6-6986-F281-3EC8468C72E7}"/>
              </a:ext>
            </a:extLst>
          </p:cNvPr>
          <p:cNvSpPr>
            <a:spLocks noGrp="1"/>
          </p:cNvSpPr>
          <p:nvPr>
            <p:ph type="body" sz="quarter" idx="18"/>
          </p:nvPr>
        </p:nvSpPr>
        <p:spPr/>
        <p:txBody>
          <a:bodyPr/>
          <a:lstStyle/>
          <a:p>
            <a:endParaRPr lang="en-GB"/>
          </a:p>
        </p:txBody>
      </p:sp>
    </p:spTree>
    <p:extLst>
      <p:ext uri="{BB962C8B-B14F-4D97-AF65-F5344CB8AC3E}">
        <p14:creationId xmlns:p14="http://schemas.microsoft.com/office/powerpoint/2010/main" val="3764760811"/>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214CE-3250-F7F0-AE05-421FA0F9E543}"/>
              </a:ext>
            </a:extLst>
          </p:cNvPr>
          <p:cNvSpPr>
            <a:spLocks noGrp="1"/>
          </p:cNvSpPr>
          <p:nvPr>
            <p:ph type="title"/>
          </p:nvPr>
        </p:nvSpPr>
        <p:spPr/>
        <p:txBody>
          <a:bodyPr/>
          <a:lstStyle/>
          <a:p>
            <a:pPr algn="l"/>
            <a:r>
              <a:rPr lang="en-GB" dirty="0"/>
              <a:t>Recap</a:t>
            </a:r>
          </a:p>
        </p:txBody>
      </p:sp>
      <p:sp>
        <p:nvSpPr>
          <p:cNvPr id="3" name="Chart Placeholder 2">
            <a:extLst>
              <a:ext uri="{FF2B5EF4-FFF2-40B4-BE49-F238E27FC236}">
                <a16:creationId xmlns:a16="http://schemas.microsoft.com/office/drawing/2014/main" id="{FF9B3823-0605-807A-5635-4865E10F2BE4}"/>
              </a:ext>
            </a:extLst>
          </p:cNvPr>
          <p:cNvSpPr>
            <a:spLocks noGrp="1"/>
          </p:cNvSpPr>
          <p:nvPr>
            <p:ph type="chart" sz="quarter" idx="11"/>
          </p:nvPr>
        </p:nvSpPr>
        <p:spPr>
          <a:xfrm>
            <a:off x="899591" y="2132855"/>
            <a:ext cx="7351893" cy="4032447"/>
          </a:xfrm>
        </p:spPr>
        <p:txBody>
          <a:bodyPr/>
          <a:lstStyle/>
          <a:p>
            <a:pPr marL="0" indent="0">
              <a:buNone/>
            </a:pPr>
            <a:r>
              <a:rPr lang="en-GB" sz="3200" dirty="0">
                <a:latin typeface="Segoe Sans"/>
              </a:rPr>
              <a:t>Last weeks session covered:</a:t>
            </a:r>
          </a:p>
          <a:p>
            <a:pPr>
              <a:buFontTx/>
              <a:buChar char="-"/>
            </a:pPr>
            <a:r>
              <a:rPr lang="en-GB" sz="3200" dirty="0">
                <a:latin typeface="Segoe Sans"/>
              </a:rPr>
              <a:t>The role of ratios</a:t>
            </a:r>
          </a:p>
          <a:p>
            <a:pPr>
              <a:buFontTx/>
              <a:buChar char="-"/>
            </a:pPr>
            <a:r>
              <a:rPr lang="en-GB" sz="3200" dirty="0">
                <a:latin typeface="Segoe Sans"/>
              </a:rPr>
              <a:t>Key ratios within Gearing, Liquidity &amp; efficient</a:t>
            </a:r>
          </a:p>
          <a:p>
            <a:pPr>
              <a:buFontTx/>
              <a:buChar char="-"/>
            </a:pPr>
            <a:r>
              <a:rPr lang="en-GB" sz="3200" dirty="0">
                <a:latin typeface="Segoe Sans"/>
              </a:rPr>
              <a:t>Calculation and interpretation</a:t>
            </a:r>
          </a:p>
        </p:txBody>
      </p:sp>
      <p:pic>
        <p:nvPicPr>
          <p:cNvPr id="5" name="Graphic 4" descr="Clipboard Checked with solid fill">
            <a:extLst>
              <a:ext uri="{FF2B5EF4-FFF2-40B4-BE49-F238E27FC236}">
                <a16:creationId xmlns:a16="http://schemas.microsoft.com/office/drawing/2014/main" id="{295E040E-13B2-6A1F-C2CA-FE2D44F8827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885" y="2971800"/>
            <a:ext cx="914400" cy="914400"/>
          </a:xfrm>
          <a:prstGeom prst="rect">
            <a:avLst/>
          </a:prstGeom>
        </p:spPr>
      </p:pic>
    </p:spTree>
    <p:extLst>
      <p:ext uri="{BB962C8B-B14F-4D97-AF65-F5344CB8AC3E}">
        <p14:creationId xmlns:p14="http://schemas.microsoft.com/office/powerpoint/2010/main" val="591890035"/>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9" name="Title 1">
            <a:extLst>
              <a:ext uri="{FF2B5EF4-FFF2-40B4-BE49-F238E27FC236}">
                <a16:creationId xmlns:a16="http://schemas.microsoft.com/office/drawing/2014/main" id="{B54CC29E-BA68-10E6-2F39-FA1EBE0C99F6}"/>
              </a:ext>
            </a:extLst>
          </p:cNvPr>
          <p:cNvSpPr>
            <a:spLocks noGrp="1"/>
          </p:cNvSpPr>
          <p:nvPr>
            <p:ph type="title"/>
          </p:nvPr>
        </p:nvSpPr>
        <p:spPr>
          <a:xfrm>
            <a:off x="892515" y="1376773"/>
            <a:ext cx="7886700" cy="646548"/>
          </a:xfrm>
        </p:spPr>
        <p:txBody>
          <a:bodyPr>
            <a:normAutofit fontScale="90000"/>
          </a:bodyPr>
          <a:lstStyle/>
          <a:p>
            <a:pPr algn="l"/>
            <a:r>
              <a:rPr lang="en-US" dirty="0"/>
              <a:t>Learning Outcomes</a:t>
            </a:r>
          </a:p>
        </p:txBody>
      </p:sp>
      <p:graphicFrame>
        <p:nvGraphicFramePr>
          <p:cNvPr id="13315" name="Text Placeholder 1">
            <a:extLst>
              <a:ext uri="{FF2B5EF4-FFF2-40B4-BE49-F238E27FC236}">
                <a16:creationId xmlns:a16="http://schemas.microsoft.com/office/drawing/2014/main" id="{C2855CC1-6974-FD0F-632A-C97A1652BB10}"/>
              </a:ext>
            </a:extLst>
          </p:cNvPr>
          <p:cNvGraphicFramePr/>
          <p:nvPr>
            <p:extLst>
              <p:ext uri="{D42A27DB-BD31-4B8C-83A1-F6EECF244321}">
                <p14:modId xmlns:p14="http://schemas.microsoft.com/office/powerpoint/2010/main" val="446703139"/>
              </p:ext>
            </p:extLst>
          </p:nvPr>
        </p:nvGraphicFramePr>
        <p:xfrm>
          <a:off x="892515" y="2492896"/>
          <a:ext cx="7632848" cy="34035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9A7D8-D1AF-EE9D-7E8D-5ADA863020D3}"/>
              </a:ext>
            </a:extLst>
          </p:cNvPr>
          <p:cNvSpPr>
            <a:spLocks noGrp="1"/>
          </p:cNvSpPr>
          <p:nvPr>
            <p:ph type="title"/>
          </p:nvPr>
        </p:nvSpPr>
        <p:spPr/>
        <p:txBody>
          <a:bodyPr>
            <a:normAutofit fontScale="90000"/>
          </a:bodyPr>
          <a:lstStyle/>
          <a:p>
            <a:r>
              <a:rPr lang="en-GB" dirty="0"/>
              <a:t>Recap from the Introduction Lecture</a:t>
            </a:r>
          </a:p>
        </p:txBody>
      </p:sp>
      <p:sp>
        <p:nvSpPr>
          <p:cNvPr id="3" name="Text Placeholder 2">
            <a:extLst>
              <a:ext uri="{FF2B5EF4-FFF2-40B4-BE49-F238E27FC236}">
                <a16:creationId xmlns:a16="http://schemas.microsoft.com/office/drawing/2014/main" id="{91DE4BC9-EAF5-2666-1928-07A099E155AB}"/>
              </a:ext>
            </a:extLst>
          </p:cNvPr>
          <p:cNvSpPr>
            <a:spLocks noGrp="1"/>
          </p:cNvSpPr>
          <p:nvPr>
            <p:ph type="body" sz="quarter" idx="11"/>
          </p:nvPr>
        </p:nvSpPr>
        <p:spPr/>
        <p:txBody>
          <a:bodyPr/>
          <a:lstStyle/>
          <a:p>
            <a:pPr marL="9525" indent="0">
              <a:buNone/>
            </a:pPr>
            <a:r>
              <a:rPr lang="en-GB" dirty="0"/>
              <a:t>Last week:</a:t>
            </a:r>
          </a:p>
          <a:p>
            <a:pPr>
              <a:buFont typeface="Wingdings" panose="05000000000000000000" pitchFamily="2" charset="2"/>
              <a:buChar char="§"/>
            </a:pPr>
            <a:r>
              <a:rPr lang="en-GB" dirty="0"/>
              <a:t>The Financial System</a:t>
            </a:r>
          </a:p>
          <a:p>
            <a:pPr>
              <a:buFont typeface="Wingdings" panose="05000000000000000000" pitchFamily="2" charset="2"/>
              <a:buChar char="§"/>
            </a:pPr>
            <a:r>
              <a:rPr lang="en-GB" dirty="0"/>
              <a:t>Company structures</a:t>
            </a:r>
          </a:p>
          <a:p>
            <a:pPr>
              <a:buFont typeface="Wingdings" panose="05000000000000000000" pitchFamily="2" charset="2"/>
              <a:buChar char="§"/>
            </a:pPr>
            <a:r>
              <a:rPr lang="en-GB" dirty="0"/>
              <a:t>The role of finance</a:t>
            </a:r>
          </a:p>
          <a:p>
            <a:pPr>
              <a:buFont typeface="Wingdings" panose="05000000000000000000" pitchFamily="2" charset="2"/>
              <a:buChar char="§"/>
            </a:pPr>
            <a:r>
              <a:rPr lang="en-GB" dirty="0"/>
              <a:t>Financial Principles</a:t>
            </a:r>
          </a:p>
          <a:p>
            <a:pPr marL="9525" indent="0">
              <a:buNone/>
            </a:pPr>
            <a:endParaRPr lang="en-GB" dirty="0"/>
          </a:p>
          <a:p>
            <a:pPr marL="9525" indent="0">
              <a:buNone/>
            </a:pPr>
            <a:r>
              <a:rPr lang="en-GB" dirty="0"/>
              <a:t>	</a:t>
            </a:r>
          </a:p>
        </p:txBody>
      </p:sp>
      <p:sp>
        <p:nvSpPr>
          <p:cNvPr id="4" name="Cloud 3">
            <a:extLst>
              <a:ext uri="{FF2B5EF4-FFF2-40B4-BE49-F238E27FC236}">
                <a16:creationId xmlns:a16="http://schemas.microsoft.com/office/drawing/2014/main" id="{C5D290A5-E148-027B-6119-84142F134B13}"/>
              </a:ext>
            </a:extLst>
          </p:cNvPr>
          <p:cNvSpPr/>
          <p:nvPr/>
        </p:nvSpPr>
        <p:spPr>
          <a:xfrm>
            <a:off x="1403648" y="3645025"/>
            <a:ext cx="6551612" cy="2382254"/>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t>Primary Objective –to maximise Shareholder Value</a:t>
            </a:r>
          </a:p>
        </p:txBody>
      </p:sp>
    </p:spTree>
    <p:extLst>
      <p:ext uri="{BB962C8B-B14F-4D97-AF65-F5344CB8AC3E}">
        <p14:creationId xmlns:p14="http://schemas.microsoft.com/office/powerpoint/2010/main" val="295370795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anim calcmode="lin" valueType="num">
                                      <p:cBhvr>
                                        <p:cTn id="8" dur="2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800" decel="100000" fill="hold"/>
                                        <p:tgtEl>
                                          <p:spTgt spid="3">
                                            <p:txEl>
                                              <p:pRg st="0" end="0"/>
                                            </p:txEl>
                                          </p:spTgt>
                                        </p:tgtEl>
                                        <p:attrNameLst>
                                          <p:attrName>ppt_y</p:attrName>
                                        </p:attrNameLst>
                                      </p:cBhvr>
                                      <p:tavLst>
                                        <p:tav tm="0">
                                          <p:val>
                                            <p:strVal val="#ppt_y+1"/>
                                          </p:val>
                                        </p:tav>
                                        <p:tav tm="100000">
                                          <p:val>
                                            <p:strVal val="#ppt_y-.03"/>
                                          </p:val>
                                        </p:tav>
                                      </p:tavLst>
                                    </p:anim>
                                    <p:anim calcmode="lin" valueType="num">
                                      <p:cBhvr>
                                        <p:cTn id="10" dur="200" accel="100000" fill="hold">
                                          <p:stCondLst>
                                            <p:cond delay="1800"/>
                                          </p:stCondLst>
                                        </p:cTn>
                                        <p:tgtEl>
                                          <p:spTgt spid="3">
                                            <p:txEl>
                                              <p:pRg st="0" end="0"/>
                                            </p:txEl>
                                          </p:spTgt>
                                        </p:tgtEl>
                                        <p:attrNameLst>
                                          <p:attrName>ppt_y</p:attrName>
                                        </p:attrNameLst>
                                      </p:cBhvr>
                                      <p:tavLst>
                                        <p:tav tm="0">
                                          <p:val>
                                            <p:strVal val="#ppt_y-.03"/>
                                          </p:val>
                                        </p:tav>
                                        <p:tav tm="100000">
                                          <p:val>
                                            <p:strVal val="#ppt_y"/>
                                          </p:val>
                                        </p:tav>
                                      </p:tavLst>
                                    </p:anim>
                                  </p:childTnLst>
                                </p:cTn>
                              </p:par>
                              <p:par>
                                <p:cTn id="11" presetID="37"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2000"/>
                                        <p:tgtEl>
                                          <p:spTgt spid="3">
                                            <p:txEl>
                                              <p:pRg st="1" end="1"/>
                                            </p:txEl>
                                          </p:spTgt>
                                        </p:tgtEl>
                                      </p:cBhvr>
                                    </p:animEffect>
                                    <p:anim calcmode="lin" valueType="num">
                                      <p:cBhvr>
                                        <p:cTn id="14" dur="2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800" decel="100000" fill="hold"/>
                                        <p:tgtEl>
                                          <p:spTgt spid="3">
                                            <p:txEl>
                                              <p:pRg st="1" end="1"/>
                                            </p:txEl>
                                          </p:spTgt>
                                        </p:tgtEl>
                                        <p:attrNameLst>
                                          <p:attrName>ppt_y</p:attrName>
                                        </p:attrNameLst>
                                      </p:cBhvr>
                                      <p:tavLst>
                                        <p:tav tm="0">
                                          <p:val>
                                            <p:strVal val="#ppt_y+1"/>
                                          </p:val>
                                        </p:tav>
                                        <p:tav tm="100000">
                                          <p:val>
                                            <p:strVal val="#ppt_y-.03"/>
                                          </p:val>
                                        </p:tav>
                                      </p:tavLst>
                                    </p:anim>
                                    <p:anim calcmode="lin" valueType="num">
                                      <p:cBhvr>
                                        <p:cTn id="16" dur="200" accel="100000" fill="hold">
                                          <p:stCondLst>
                                            <p:cond delay="1800"/>
                                          </p:stCondLst>
                                        </p:cTn>
                                        <p:tgtEl>
                                          <p:spTgt spid="3">
                                            <p:txEl>
                                              <p:pRg st="1" end="1"/>
                                            </p:txEl>
                                          </p:spTgt>
                                        </p:tgtEl>
                                        <p:attrNameLst>
                                          <p:attrName>ppt_y</p:attrName>
                                        </p:attrNameLst>
                                      </p:cBhvr>
                                      <p:tavLst>
                                        <p:tav tm="0">
                                          <p:val>
                                            <p:strVal val="#ppt_y-.03"/>
                                          </p:val>
                                        </p:tav>
                                        <p:tav tm="100000">
                                          <p:val>
                                            <p:strVal val="#ppt_y"/>
                                          </p:val>
                                        </p:tav>
                                      </p:tavLst>
                                    </p:anim>
                                  </p:childTnLst>
                                </p:cTn>
                              </p:par>
                              <p:par>
                                <p:cTn id="17" presetID="37"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2000"/>
                                        <p:tgtEl>
                                          <p:spTgt spid="3">
                                            <p:txEl>
                                              <p:pRg st="2" end="2"/>
                                            </p:txEl>
                                          </p:spTgt>
                                        </p:tgtEl>
                                      </p:cBhvr>
                                    </p:animEffect>
                                    <p:anim calcmode="lin" valueType="num">
                                      <p:cBhvr>
                                        <p:cTn id="20" dur="2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800" decel="100000" fill="hold"/>
                                        <p:tgtEl>
                                          <p:spTgt spid="3">
                                            <p:txEl>
                                              <p:pRg st="2" end="2"/>
                                            </p:txEl>
                                          </p:spTgt>
                                        </p:tgtEl>
                                        <p:attrNameLst>
                                          <p:attrName>ppt_y</p:attrName>
                                        </p:attrNameLst>
                                      </p:cBhvr>
                                      <p:tavLst>
                                        <p:tav tm="0">
                                          <p:val>
                                            <p:strVal val="#ppt_y+1"/>
                                          </p:val>
                                        </p:tav>
                                        <p:tav tm="100000">
                                          <p:val>
                                            <p:strVal val="#ppt_y-.03"/>
                                          </p:val>
                                        </p:tav>
                                      </p:tavLst>
                                    </p:anim>
                                    <p:anim calcmode="lin" valueType="num">
                                      <p:cBhvr>
                                        <p:cTn id="22" dur="200" accel="100000" fill="hold">
                                          <p:stCondLst>
                                            <p:cond delay="1800"/>
                                          </p:stCondLst>
                                        </p:cTn>
                                        <p:tgtEl>
                                          <p:spTgt spid="3">
                                            <p:txEl>
                                              <p:pRg st="2" end="2"/>
                                            </p:txEl>
                                          </p:spTgt>
                                        </p:tgtEl>
                                        <p:attrNameLst>
                                          <p:attrName>ppt_y</p:attrName>
                                        </p:attrNameLst>
                                      </p:cBhvr>
                                      <p:tavLst>
                                        <p:tav tm="0">
                                          <p:val>
                                            <p:strVal val="#ppt_y-.03"/>
                                          </p:val>
                                        </p:tav>
                                        <p:tav tm="100000">
                                          <p:val>
                                            <p:strVal val="#ppt_y"/>
                                          </p:val>
                                        </p:tav>
                                      </p:tavLst>
                                    </p:anim>
                                  </p:childTnLst>
                                </p:cTn>
                              </p:par>
                              <p:par>
                                <p:cTn id="23" presetID="37" presetClass="entr" presetSubtype="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2000"/>
                                        <p:tgtEl>
                                          <p:spTgt spid="3">
                                            <p:txEl>
                                              <p:pRg st="3" end="3"/>
                                            </p:txEl>
                                          </p:spTgt>
                                        </p:tgtEl>
                                      </p:cBhvr>
                                    </p:animEffect>
                                    <p:anim calcmode="lin" valueType="num">
                                      <p:cBhvr>
                                        <p:cTn id="26" dur="2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7" dur="1800" decel="100000" fill="hold"/>
                                        <p:tgtEl>
                                          <p:spTgt spid="3">
                                            <p:txEl>
                                              <p:pRg st="3" end="3"/>
                                            </p:txEl>
                                          </p:spTgt>
                                        </p:tgtEl>
                                        <p:attrNameLst>
                                          <p:attrName>ppt_y</p:attrName>
                                        </p:attrNameLst>
                                      </p:cBhvr>
                                      <p:tavLst>
                                        <p:tav tm="0">
                                          <p:val>
                                            <p:strVal val="#ppt_y+1"/>
                                          </p:val>
                                        </p:tav>
                                        <p:tav tm="100000">
                                          <p:val>
                                            <p:strVal val="#ppt_y-.03"/>
                                          </p:val>
                                        </p:tav>
                                      </p:tavLst>
                                    </p:anim>
                                    <p:anim calcmode="lin" valueType="num">
                                      <p:cBhvr>
                                        <p:cTn id="28" dur="200" accel="100000" fill="hold">
                                          <p:stCondLst>
                                            <p:cond delay="1800"/>
                                          </p:stCondLst>
                                        </p:cTn>
                                        <p:tgtEl>
                                          <p:spTgt spid="3">
                                            <p:txEl>
                                              <p:pRg st="3" end="3"/>
                                            </p:txEl>
                                          </p:spTgt>
                                        </p:tgtEl>
                                        <p:attrNameLst>
                                          <p:attrName>ppt_y</p:attrName>
                                        </p:attrNameLst>
                                      </p:cBhvr>
                                      <p:tavLst>
                                        <p:tav tm="0">
                                          <p:val>
                                            <p:strVal val="#ppt_y-.03"/>
                                          </p:val>
                                        </p:tav>
                                        <p:tav tm="100000">
                                          <p:val>
                                            <p:strVal val="#ppt_y"/>
                                          </p:val>
                                        </p:tav>
                                      </p:tavLst>
                                    </p:anim>
                                  </p:childTnLst>
                                </p:cTn>
                              </p:par>
                              <p:par>
                                <p:cTn id="29" presetID="37"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2000"/>
                                        <p:tgtEl>
                                          <p:spTgt spid="3">
                                            <p:txEl>
                                              <p:pRg st="4" end="4"/>
                                            </p:txEl>
                                          </p:spTgt>
                                        </p:tgtEl>
                                      </p:cBhvr>
                                    </p:animEffect>
                                    <p:anim calcmode="lin" valueType="num">
                                      <p:cBhvr>
                                        <p:cTn id="32" dur="2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800" decel="100000" fill="hold"/>
                                        <p:tgtEl>
                                          <p:spTgt spid="3">
                                            <p:txEl>
                                              <p:pRg st="4" end="4"/>
                                            </p:txEl>
                                          </p:spTgt>
                                        </p:tgtEl>
                                        <p:attrNameLst>
                                          <p:attrName>ppt_y</p:attrName>
                                        </p:attrNameLst>
                                      </p:cBhvr>
                                      <p:tavLst>
                                        <p:tav tm="0">
                                          <p:val>
                                            <p:strVal val="#ppt_y+1"/>
                                          </p:val>
                                        </p:tav>
                                        <p:tav tm="100000">
                                          <p:val>
                                            <p:strVal val="#ppt_y-.03"/>
                                          </p:val>
                                        </p:tav>
                                      </p:tavLst>
                                    </p:anim>
                                    <p:anim calcmode="lin" valueType="num">
                                      <p:cBhvr>
                                        <p:cTn id="34" dur="200" accel="100000" fill="hold">
                                          <p:stCondLst>
                                            <p:cond delay="1800"/>
                                          </p:stCondLst>
                                        </p:cTn>
                                        <p:tgtEl>
                                          <p:spTgt spid="3">
                                            <p:txEl>
                                              <p:pRg st="4" end="4"/>
                                            </p:txEl>
                                          </p:spTgt>
                                        </p:tgtEl>
                                        <p:attrNameLst>
                                          <p:attrName>ppt_y</p:attrName>
                                        </p:attrNameLst>
                                      </p:cBhvr>
                                      <p:tavLst>
                                        <p:tav tm="0">
                                          <p:val>
                                            <p:strVal val="#ppt_y-.03"/>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1"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par>
                          <p:cTn id="39" fill="hold">
                            <p:stCondLst>
                              <p:cond delay="0"/>
                            </p:stCondLst>
                            <p:childTnLst>
                              <p:par>
                                <p:cTn id="40" presetID="8" presetClass="emph" presetSubtype="0" fill="hold" grpId="0" nodeType="afterEffect">
                                  <p:stCondLst>
                                    <p:cond delay="0"/>
                                  </p:stCondLst>
                                  <p:childTnLst>
                                    <p:animRot by="21600000">
                                      <p:cBhvr>
                                        <p:cTn id="41" dur="2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8452F-0847-3D27-A205-1685B545D8BC}"/>
              </a:ext>
            </a:extLst>
          </p:cNvPr>
          <p:cNvSpPr>
            <a:spLocks noGrp="1"/>
          </p:cNvSpPr>
          <p:nvPr>
            <p:ph type="title"/>
          </p:nvPr>
        </p:nvSpPr>
        <p:spPr>
          <a:xfrm>
            <a:off x="508001" y="1314450"/>
            <a:ext cx="6447501" cy="453739"/>
          </a:xfrm>
        </p:spPr>
        <p:txBody>
          <a:bodyPr>
            <a:normAutofit fontScale="90000"/>
          </a:bodyPr>
          <a:lstStyle/>
          <a:p>
            <a:r>
              <a:rPr lang="en-GB" dirty="0"/>
              <a:t>Capital budgeting</a:t>
            </a:r>
          </a:p>
        </p:txBody>
      </p:sp>
      <p:grpSp>
        <p:nvGrpSpPr>
          <p:cNvPr id="4" name="Group 3">
            <a:extLst>
              <a:ext uri="{FF2B5EF4-FFF2-40B4-BE49-F238E27FC236}">
                <a16:creationId xmlns:a16="http://schemas.microsoft.com/office/drawing/2014/main" id="{B76713BC-C807-9A63-7252-CF96D16BDCF4}"/>
              </a:ext>
            </a:extLst>
          </p:cNvPr>
          <p:cNvGrpSpPr/>
          <p:nvPr/>
        </p:nvGrpSpPr>
        <p:grpSpPr>
          <a:xfrm>
            <a:off x="499150" y="1872438"/>
            <a:ext cx="7033470" cy="1249662"/>
            <a:chOff x="1356027" y="1752648"/>
            <a:chExt cx="9164417" cy="1527129"/>
          </a:xfrm>
        </p:grpSpPr>
        <p:sp>
          <p:nvSpPr>
            <p:cNvPr id="5" name="Freeform 8">
              <a:extLst>
                <a:ext uri="{FF2B5EF4-FFF2-40B4-BE49-F238E27FC236}">
                  <a16:creationId xmlns:a16="http://schemas.microsoft.com/office/drawing/2014/main" id="{25494F57-7F2D-4403-75AA-978B5D9A285A}"/>
                </a:ext>
              </a:extLst>
            </p:cNvPr>
            <p:cNvSpPr/>
            <p:nvPr/>
          </p:nvSpPr>
          <p:spPr>
            <a:xfrm>
              <a:off x="4473113" y="1752648"/>
              <a:ext cx="2930243" cy="383075"/>
            </a:xfrm>
            <a:prstGeom prst="rect">
              <a:avLst/>
            </a:prstGeom>
            <a:solidFill>
              <a:schemeClr val="bg2"/>
            </a:solidFill>
            <a:ln>
              <a:solidFill>
                <a:schemeClr val="accent1">
                  <a:lumMod val="20000"/>
                  <a:lumOff val="80000"/>
                </a:schemeClr>
              </a:solidFill>
            </a:ln>
          </p:spPr>
          <p:style>
            <a:lnRef idx="3">
              <a:schemeClr val="dk1">
                <a:shade val="80000"/>
                <a:hueOff val="0"/>
                <a:satOff val="0"/>
                <a:lumOff val="0"/>
                <a:alphaOff val="0"/>
              </a:schemeClr>
            </a:lnRef>
            <a:fillRef idx="1">
              <a:scrgbClr r="0" g="0" b="0"/>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89711" tIns="89711" rIns="89711" bIns="89711" numCol="1" spcCol="1270" anchor="ctr" anchorCtr="0">
              <a:noAutofit/>
            </a:bodyPr>
            <a:lstStyle/>
            <a:p>
              <a:pPr algn="ctr" defTabSz="733425" eaLnBrk="1" fontAlgn="auto" hangingPunct="1">
                <a:lnSpc>
                  <a:spcPct val="90000"/>
                </a:lnSpc>
                <a:spcAft>
                  <a:spcPct val="35000"/>
                </a:spcAft>
                <a:defRPr/>
              </a:pPr>
              <a:r>
                <a:rPr lang="en-GB" sz="1650" dirty="0">
                  <a:solidFill>
                    <a:prstClr val="black">
                      <a:hueOff val="0"/>
                      <a:satOff val="0"/>
                      <a:lumOff val="0"/>
                      <a:alphaOff val="0"/>
                    </a:prstClr>
                  </a:solidFill>
                  <a:latin typeface="Calibri" panose="020F0502020204030204"/>
                </a:rPr>
                <a:t>Corporate Finance</a:t>
              </a:r>
            </a:p>
          </p:txBody>
        </p:sp>
        <p:sp>
          <p:nvSpPr>
            <p:cNvPr id="6" name="Freeform 9">
              <a:extLst>
                <a:ext uri="{FF2B5EF4-FFF2-40B4-BE49-F238E27FC236}">
                  <a16:creationId xmlns:a16="http://schemas.microsoft.com/office/drawing/2014/main" id="{4B04DA7E-5CB9-0523-4EA1-3AC87AD11B41}"/>
                </a:ext>
              </a:extLst>
            </p:cNvPr>
            <p:cNvSpPr/>
            <p:nvPr/>
          </p:nvSpPr>
          <p:spPr>
            <a:xfrm>
              <a:off x="2166025" y="2135724"/>
              <a:ext cx="3772210" cy="280053"/>
            </a:xfrm>
            <a:custGeom>
              <a:avLst/>
              <a:gdLst/>
              <a:ahLst/>
              <a:cxnLst/>
              <a:rect l="0" t="0" r="0" b="0"/>
              <a:pathLst>
                <a:path>
                  <a:moveTo>
                    <a:pt x="3772210" y="0"/>
                  </a:moveTo>
                  <a:lnTo>
                    <a:pt x="3772210" y="140026"/>
                  </a:lnTo>
                  <a:lnTo>
                    <a:pt x="0" y="140026"/>
                  </a:lnTo>
                  <a:lnTo>
                    <a:pt x="0" y="280053"/>
                  </a:lnTo>
                </a:path>
              </a:pathLst>
            </a:custGeom>
            <a:ln w="19050">
              <a:solidFill>
                <a:schemeClr val="tx1">
                  <a:lumMod val="65000"/>
                  <a:lumOff val="35000"/>
                </a:schemeClr>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a:lstStyle/>
            <a:p>
              <a:endParaRPr lang="en-GB"/>
            </a:p>
          </p:txBody>
        </p:sp>
        <p:sp>
          <p:nvSpPr>
            <p:cNvPr id="7" name="Freeform 10">
              <a:extLst>
                <a:ext uri="{FF2B5EF4-FFF2-40B4-BE49-F238E27FC236}">
                  <a16:creationId xmlns:a16="http://schemas.microsoft.com/office/drawing/2014/main" id="{C79749E9-A205-7599-E856-C4EDC1794922}"/>
                </a:ext>
              </a:extLst>
            </p:cNvPr>
            <p:cNvSpPr/>
            <p:nvPr/>
          </p:nvSpPr>
          <p:spPr>
            <a:xfrm>
              <a:off x="1356027" y="2415777"/>
              <a:ext cx="1619995" cy="864000"/>
            </a:xfrm>
            <a:prstGeom prst="rect">
              <a:avLst/>
            </a:prstGeom>
            <a:solidFill>
              <a:schemeClr val="accent2">
                <a:lumMod val="40000"/>
                <a:lumOff val="60000"/>
              </a:schemeClr>
            </a:solidFill>
            <a:ln>
              <a:solidFill>
                <a:schemeClr val="accent2">
                  <a:lumMod val="40000"/>
                  <a:lumOff val="60000"/>
                </a:schemeClr>
              </a:solidFill>
            </a:ln>
          </p:spPr>
          <p:style>
            <a:lnRef idx="3">
              <a:schemeClr val="dk1">
                <a:shade val="80000"/>
                <a:hueOff val="0"/>
                <a:satOff val="0"/>
                <a:lumOff val="0"/>
                <a:alphaOff val="0"/>
              </a:schemeClr>
            </a:lnRef>
            <a:fillRef idx="1">
              <a:scrgbClr r="0" g="0" b="0"/>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76130" tIns="76130" rIns="76130" bIns="76130" numCol="1" spcCol="1270" anchor="ctr" anchorCtr="0">
              <a:noAutofit/>
            </a:bodyPr>
            <a:lstStyle/>
            <a:p>
              <a:pPr algn="ctr" defTabSz="666750" eaLnBrk="1" fontAlgn="auto" hangingPunct="1">
                <a:lnSpc>
                  <a:spcPct val="90000"/>
                </a:lnSpc>
                <a:spcAft>
                  <a:spcPct val="35000"/>
                </a:spcAft>
                <a:defRPr/>
              </a:pPr>
              <a:r>
                <a:rPr lang="en-GB" sz="1500" dirty="0">
                  <a:solidFill>
                    <a:prstClr val="black">
                      <a:hueOff val="0"/>
                      <a:satOff val="0"/>
                      <a:lumOff val="0"/>
                      <a:alphaOff val="0"/>
                    </a:prstClr>
                  </a:solidFill>
                  <a:latin typeface="Calibri" panose="020F0502020204030204"/>
                </a:rPr>
                <a:t>Investment Decision</a:t>
              </a:r>
            </a:p>
          </p:txBody>
        </p:sp>
        <p:sp>
          <p:nvSpPr>
            <p:cNvPr id="8" name="Freeform 15">
              <a:extLst>
                <a:ext uri="{FF2B5EF4-FFF2-40B4-BE49-F238E27FC236}">
                  <a16:creationId xmlns:a16="http://schemas.microsoft.com/office/drawing/2014/main" id="{8F5320AC-7ED7-AAC3-E5BF-1B849EC53F8D}"/>
                </a:ext>
              </a:extLst>
            </p:cNvPr>
            <p:cNvSpPr/>
            <p:nvPr/>
          </p:nvSpPr>
          <p:spPr>
            <a:xfrm>
              <a:off x="5993170" y="2974794"/>
              <a:ext cx="91440" cy="280053"/>
            </a:xfrm>
            <a:custGeom>
              <a:avLst/>
              <a:gdLst/>
              <a:ahLst/>
              <a:cxnLst/>
              <a:rect l="0" t="0" r="0" b="0"/>
              <a:pathLst>
                <a:path>
                  <a:moveTo>
                    <a:pt x="74274" y="0"/>
                  </a:moveTo>
                  <a:lnTo>
                    <a:pt x="74274" y="140026"/>
                  </a:lnTo>
                  <a:lnTo>
                    <a:pt x="45720" y="140026"/>
                  </a:lnTo>
                  <a:lnTo>
                    <a:pt x="45720" y="280053"/>
                  </a:lnTo>
                </a:path>
              </a:pathLst>
            </a:custGeom>
            <a:noFill/>
          </p:spPr>
          <p:style>
            <a:lnRef idx="2">
              <a:schemeClr val="dk1">
                <a:shade val="6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a:lstStyle/>
            <a:p>
              <a:endParaRPr lang="en-GB"/>
            </a:p>
          </p:txBody>
        </p:sp>
        <p:sp>
          <p:nvSpPr>
            <p:cNvPr id="9" name="Freeform 16">
              <a:extLst>
                <a:ext uri="{FF2B5EF4-FFF2-40B4-BE49-F238E27FC236}">
                  <a16:creationId xmlns:a16="http://schemas.microsoft.com/office/drawing/2014/main" id="{D52F95D0-2697-D218-BF62-3D0661C00EFA}"/>
                </a:ext>
              </a:extLst>
            </p:cNvPr>
            <p:cNvSpPr/>
            <p:nvPr/>
          </p:nvSpPr>
          <p:spPr>
            <a:xfrm>
              <a:off x="5099683" y="2415777"/>
              <a:ext cx="1619995" cy="863998"/>
            </a:xfrm>
            <a:prstGeom prst="rect">
              <a:avLst/>
            </a:prstGeom>
            <a:solidFill>
              <a:schemeClr val="bg2"/>
            </a:solidFill>
            <a:ln>
              <a:solidFill>
                <a:schemeClr val="bg2"/>
              </a:solidFill>
            </a:ln>
          </p:spPr>
          <p:style>
            <a:lnRef idx="3">
              <a:schemeClr val="dk1">
                <a:shade val="80000"/>
                <a:hueOff val="0"/>
                <a:satOff val="0"/>
                <a:lumOff val="0"/>
                <a:alphaOff val="0"/>
              </a:schemeClr>
            </a:lnRef>
            <a:fillRef idx="1">
              <a:scrgbClr r="0" g="0" b="0"/>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76130" tIns="76130" rIns="76130" bIns="76130" numCol="1" spcCol="1270" anchor="ctr" anchorCtr="0">
              <a:noAutofit/>
            </a:bodyPr>
            <a:lstStyle/>
            <a:p>
              <a:pPr algn="ctr" defTabSz="666750" eaLnBrk="1" fontAlgn="auto" hangingPunct="1">
                <a:lnSpc>
                  <a:spcPct val="90000"/>
                </a:lnSpc>
                <a:spcAft>
                  <a:spcPct val="35000"/>
                </a:spcAft>
                <a:defRPr/>
              </a:pPr>
              <a:r>
                <a:rPr lang="en-GB" sz="1500" dirty="0">
                  <a:solidFill>
                    <a:prstClr val="black">
                      <a:hueOff val="0"/>
                      <a:satOff val="0"/>
                      <a:lumOff val="0"/>
                      <a:alphaOff val="0"/>
                    </a:prstClr>
                  </a:solidFill>
                  <a:latin typeface="Calibri" panose="020F0502020204030204"/>
                </a:rPr>
                <a:t>Financing Decision</a:t>
              </a:r>
            </a:p>
          </p:txBody>
        </p:sp>
        <p:sp>
          <p:nvSpPr>
            <p:cNvPr id="10" name="Freeform 21">
              <a:extLst>
                <a:ext uri="{FF2B5EF4-FFF2-40B4-BE49-F238E27FC236}">
                  <a16:creationId xmlns:a16="http://schemas.microsoft.com/office/drawing/2014/main" id="{A4447BAD-C89F-7EA3-6841-8900EA4580D7}"/>
                </a:ext>
              </a:extLst>
            </p:cNvPr>
            <p:cNvSpPr/>
            <p:nvPr/>
          </p:nvSpPr>
          <p:spPr>
            <a:xfrm>
              <a:off x="5938236" y="2135724"/>
              <a:ext cx="3772210" cy="280053"/>
            </a:xfrm>
            <a:custGeom>
              <a:avLst/>
              <a:gdLst/>
              <a:ahLst/>
              <a:cxnLst/>
              <a:rect l="0" t="0" r="0" b="0"/>
              <a:pathLst>
                <a:path>
                  <a:moveTo>
                    <a:pt x="0" y="0"/>
                  </a:moveTo>
                  <a:lnTo>
                    <a:pt x="0" y="140026"/>
                  </a:lnTo>
                  <a:lnTo>
                    <a:pt x="3772210" y="140026"/>
                  </a:lnTo>
                  <a:lnTo>
                    <a:pt x="3772210" y="280053"/>
                  </a:lnTo>
                </a:path>
              </a:pathLst>
            </a:custGeom>
            <a:ln w="19050">
              <a:solidFill>
                <a:schemeClr val="tx1">
                  <a:lumMod val="65000"/>
                  <a:lumOff val="35000"/>
                </a:schemeClr>
              </a:solidFill>
              <a:prstDash val="dash"/>
              <a:headEnd type="none" w="med" len="med"/>
              <a:tailEnd type="arrow" w="med" len="med"/>
            </a:ln>
          </p:spPr>
          <p:style>
            <a:lnRef idx="2">
              <a:schemeClr val="dk1"/>
            </a:lnRef>
            <a:fillRef idx="0">
              <a:schemeClr val="dk1"/>
            </a:fillRef>
            <a:effectRef idx="1">
              <a:schemeClr val="dk1"/>
            </a:effectRef>
            <a:fontRef idx="minor">
              <a:schemeClr val="tx1"/>
            </a:fontRef>
          </p:style>
          <p:txBody>
            <a:bodyPr/>
            <a:lstStyle/>
            <a:p>
              <a:endParaRPr lang="en-GB"/>
            </a:p>
          </p:txBody>
        </p:sp>
        <p:sp>
          <p:nvSpPr>
            <p:cNvPr id="11" name="Freeform 22">
              <a:extLst>
                <a:ext uri="{FF2B5EF4-FFF2-40B4-BE49-F238E27FC236}">
                  <a16:creationId xmlns:a16="http://schemas.microsoft.com/office/drawing/2014/main" id="{6A567CC9-C8FB-E128-6BBE-4145A4933AD9}"/>
                </a:ext>
              </a:extLst>
            </p:cNvPr>
            <p:cNvSpPr/>
            <p:nvPr/>
          </p:nvSpPr>
          <p:spPr>
            <a:xfrm>
              <a:off x="8900449" y="2415777"/>
              <a:ext cx="1619995" cy="863998"/>
            </a:xfrm>
            <a:prstGeom prst="rect">
              <a:avLst/>
            </a:prstGeom>
            <a:solidFill>
              <a:schemeClr val="bg2"/>
            </a:solidFill>
            <a:ln>
              <a:solidFill>
                <a:schemeClr val="bg2"/>
              </a:solidFill>
            </a:ln>
          </p:spPr>
          <p:style>
            <a:lnRef idx="3">
              <a:schemeClr val="dk1">
                <a:shade val="80000"/>
                <a:hueOff val="0"/>
                <a:satOff val="0"/>
                <a:lumOff val="0"/>
                <a:alphaOff val="0"/>
              </a:schemeClr>
            </a:lnRef>
            <a:fillRef idx="1">
              <a:scrgbClr r="0" g="0" b="0"/>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76130" tIns="76130" rIns="76130" bIns="76130" numCol="1" spcCol="1270" anchor="ctr" anchorCtr="0">
              <a:noAutofit/>
            </a:bodyPr>
            <a:lstStyle/>
            <a:p>
              <a:pPr algn="ctr" defTabSz="666750" eaLnBrk="1" fontAlgn="auto" hangingPunct="1">
                <a:lnSpc>
                  <a:spcPct val="90000"/>
                </a:lnSpc>
                <a:spcAft>
                  <a:spcPct val="35000"/>
                </a:spcAft>
                <a:defRPr/>
              </a:pPr>
              <a:r>
                <a:rPr lang="en-GB" sz="1500" dirty="0">
                  <a:solidFill>
                    <a:prstClr val="black">
                      <a:hueOff val="0"/>
                      <a:satOff val="0"/>
                      <a:lumOff val="0"/>
                      <a:alphaOff val="0"/>
                    </a:prstClr>
                  </a:solidFill>
                  <a:latin typeface="Calibri" panose="020F0502020204030204"/>
                </a:rPr>
                <a:t>Liquidity</a:t>
              </a:r>
            </a:p>
          </p:txBody>
        </p:sp>
      </p:grpSp>
      <p:sp>
        <p:nvSpPr>
          <p:cNvPr id="12" name="TextBox 11">
            <a:extLst>
              <a:ext uri="{FF2B5EF4-FFF2-40B4-BE49-F238E27FC236}">
                <a16:creationId xmlns:a16="http://schemas.microsoft.com/office/drawing/2014/main" id="{C7FC9FA1-2D10-559B-A151-41D19DBFBE4E}"/>
              </a:ext>
            </a:extLst>
          </p:cNvPr>
          <p:cNvSpPr txBox="1"/>
          <p:nvPr/>
        </p:nvSpPr>
        <p:spPr>
          <a:xfrm>
            <a:off x="136675" y="3391972"/>
            <a:ext cx="1985960" cy="300082"/>
          </a:xfrm>
          <a:prstGeom prst="rect">
            <a:avLst/>
          </a:prstGeom>
          <a:noFill/>
        </p:spPr>
        <p:txBody>
          <a:bodyPr wrap="square" rtlCol="0">
            <a:spAutoFit/>
          </a:bodyPr>
          <a:lstStyle/>
          <a:p>
            <a:pPr marL="176213">
              <a:buClr>
                <a:srgbClr val="C00000"/>
              </a:buClr>
              <a:buSzPct val="90000"/>
            </a:pPr>
            <a:r>
              <a:rPr lang="en-GB" sz="1350" dirty="0">
                <a:solidFill>
                  <a:schemeClr val="bg2">
                    <a:lumMod val="75000"/>
                  </a:schemeClr>
                </a:solidFill>
              </a:rPr>
              <a:t>Capital Budgeting</a:t>
            </a:r>
          </a:p>
        </p:txBody>
      </p:sp>
      <p:cxnSp>
        <p:nvCxnSpPr>
          <p:cNvPr id="13" name="Straight Arrow Connector 12">
            <a:extLst>
              <a:ext uri="{FF2B5EF4-FFF2-40B4-BE49-F238E27FC236}">
                <a16:creationId xmlns:a16="http://schemas.microsoft.com/office/drawing/2014/main" id="{3675A198-2A95-80A0-F888-EF176349B7AC}"/>
              </a:ext>
            </a:extLst>
          </p:cNvPr>
          <p:cNvCxnSpPr>
            <a:cxnSpLocks/>
          </p:cNvCxnSpPr>
          <p:nvPr/>
        </p:nvCxnSpPr>
        <p:spPr>
          <a:xfrm>
            <a:off x="1111349" y="3093762"/>
            <a:ext cx="0" cy="3553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17EEF963-89D1-ADE9-0215-CADB3DC849C4}"/>
              </a:ext>
            </a:extLst>
          </p:cNvPr>
          <p:cNvSpPr txBox="1"/>
          <p:nvPr/>
        </p:nvSpPr>
        <p:spPr>
          <a:xfrm>
            <a:off x="323528" y="3912125"/>
            <a:ext cx="8496944" cy="933589"/>
          </a:xfrm>
          <a:prstGeom prst="rect">
            <a:avLst/>
          </a:prstGeom>
          <a:noFill/>
        </p:spPr>
        <p:txBody>
          <a:bodyPr wrap="square">
            <a:spAutoFit/>
          </a:bodyPr>
          <a:lstStyle/>
          <a:p>
            <a:pPr algn="ctr">
              <a:spcBef>
                <a:spcPts val="750"/>
              </a:spcBef>
              <a:buClr>
                <a:srgbClr val="C00000"/>
              </a:buClr>
              <a:buSzPct val="90000"/>
            </a:pPr>
            <a:r>
              <a:rPr lang="en-GB" sz="1600" dirty="0">
                <a:solidFill>
                  <a:schemeClr val="tx1">
                    <a:lumMod val="75000"/>
                    <a:lumOff val="25000"/>
                  </a:schemeClr>
                </a:solidFill>
              </a:rPr>
              <a:t>You buy goods from a Chinese supplier for </a:t>
            </a:r>
            <a:r>
              <a:rPr lang="en-GB" sz="1600" dirty="0"/>
              <a:t>CN¥</a:t>
            </a:r>
            <a:r>
              <a:rPr lang="en-GB" sz="1600" dirty="0">
                <a:solidFill>
                  <a:schemeClr val="tx1">
                    <a:lumMod val="75000"/>
                    <a:lumOff val="25000"/>
                  </a:schemeClr>
                </a:solidFill>
              </a:rPr>
              <a:t>5,000 (yuan) and sells them immediately in the UK for £700 (GBP). Is this a profitable transaction? </a:t>
            </a:r>
          </a:p>
          <a:p>
            <a:pPr algn="ctr">
              <a:spcBef>
                <a:spcPts val="750"/>
              </a:spcBef>
              <a:buClr>
                <a:srgbClr val="C00000"/>
              </a:buClr>
              <a:buSzPct val="90000"/>
            </a:pPr>
            <a:r>
              <a:rPr lang="en-GB" sz="1600" dirty="0">
                <a:solidFill>
                  <a:srgbClr val="0070C0"/>
                </a:solidFill>
              </a:rPr>
              <a:t>Who knows. First must convert inflows and outflows TO A COMMON CURRENCY. </a:t>
            </a:r>
          </a:p>
        </p:txBody>
      </p:sp>
      <p:sp>
        <p:nvSpPr>
          <p:cNvPr id="3" name="TextBox 2">
            <a:extLst>
              <a:ext uri="{FF2B5EF4-FFF2-40B4-BE49-F238E27FC236}">
                <a16:creationId xmlns:a16="http://schemas.microsoft.com/office/drawing/2014/main" id="{023649F8-1160-E118-6279-AA8CA740EC88}"/>
              </a:ext>
            </a:extLst>
          </p:cNvPr>
          <p:cNvSpPr txBox="1"/>
          <p:nvPr/>
        </p:nvSpPr>
        <p:spPr>
          <a:xfrm>
            <a:off x="323528" y="5065785"/>
            <a:ext cx="8496944" cy="1656864"/>
          </a:xfrm>
          <a:prstGeom prst="rect">
            <a:avLst/>
          </a:prstGeom>
          <a:noFill/>
        </p:spPr>
        <p:txBody>
          <a:bodyPr wrap="square">
            <a:spAutoFit/>
          </a:bodyPr>
          <a:lstStyle/>
          <a:p>
            <a:pPr algn="ctr">
              <a:buClr>
                <a:srgbClr val="C00000"/>
              </a:buClr>
              <a:buSzPct val="90000"/>
            </a:pPr>
            <a:r>
              <a:rPr lang="en-GB" sz="1600" dirty="0"/>
              <a:t>A company is considering updating it’s IT system at a cost of £80k. Efficiency savings are expected to be £15k each year for the next 5 years. Are the costs associated with investment outweighed by the benefits?</a:t>
            </a:r>
          </a:p>
          <a:p>
            <a:pPr algn="ctr">
              <a:buClr>
                <a:srgbClr val="C00000"/>
              </a:buClr>
              <a:buSzPct val="90000"/>
            </a:pPr>
            <a:r>
              <a:rPr lang="en-GB" sz="1600" dirty="0">
                <a:solidFill>
                  <a:srgbClr val="0070C0"/>
                </a:solidFill>
              </a:rPr>
              <a:t>Cash flows happening at different timepoints are similar to cash flows in different currencies. So, we must convert the inflows and outflows TO A COMMON TIMEPOINT.</a:t>
            </a:r>
          </a:p>
          <a:p>
            <a:pPr algn="ctr">
              <a:spcBef>
                <a:spcPts val="750"/>
              </a:spcBef>
              <a:buClr>
                <a:srgbClr val="C00000"/>
              </a:buClr>
              <a:buSzPct val="90000"/>
            </a:pPr>
            <a:endParaRPr lang="en-GB" sz="1500" dirty="0">
              <a:solidFill>
                <a:schemeClr val="tx1">
                  <a:lumMod val="75000"/>
                  <a:lumOff val="25000"/>
                </a:schemeClr>
              </a:solidFill>
            </a:endParaRPr>
          </a:p>
        </p:txBody>
      </p:sp>
    </p:spTree>
    <p:extLst>
      <p:ext uri="{BB962C8B-B14F-4D97-AF65-F5344CB8AC3E}">
        <p14:creationId xmlns:p14="http://schemas.microsoft.com/office/powerpoint/2010/main" val="2150232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nodeType="clickEffect">
                                  <p:stCondLst>
                                    <p:cond delay="0"/>
                                  </p:stCondLst>
                                  <p:childTnLst>
                                    <p:set>
                                      <p:cBhvr>
                                        <p:cTn id="28" dur="1" fill="hold">
                                          <p:stCondLst>
                                            <p:cond delay="0"/>
                                          </p:stCondLst>
                                        </p:cTn>
                                        <p:tgtEl>
                                          <p:spTgt spid="16">
                                            <p:txEl>
                                              <p:pRg st="1" end="1"/>
                                            </p:txEl>
                                          </p:spTgt>
                                        </p:tgtEl>
                                        <p:attrNameLst>
                                          <p:attrName>style.visibility</p:attrName>
                                        </p:attrNameLst>
                                      </p:cBhvr>
                                      <p:to>
                                        <p:strVal val="visible"/>
                                      </p:to>
                                    </p:set>
                                    <p:anim calcmode="lin" valueType="num">
                                      <p:cBhvr>
                                        <p:cTn id="29" dur="1000" fill="hold"/>
                                        <p:tgtEl>
                                          <p:spTgt spid="16">
                                            <p:txEl>
                                              <p:pRg st="1" end="1"/>
                                            </p:txEl>
                                          </p:spTgt>
                                        </p:tgtEl>
                                        <p:attrNameLst>
                                          <p:attrName>ppt_w</p:attrName>
                                        </p:attrNameLst>
                                      </p:cBhvr>
                                      <p:tavLst>
                                        <p:tav tm="0">
                                          <p:val>
                                            <p:fltVal val="0"/>
                                          </p:val>
                                        </p:tav>
                                        <p:tav tm="100000">
                                          <p:val>
                                            <p:strVal val="#ppt_w"/>
                                          </p:val>
                                        </p:tav>
                                      </p:tavLst>
                                    </p:anim>
                                    <p:anim calcmode="lin" valueType="num">
                                      <p:cBhvr>
                                        <p:cTn id="30" dur="1000" fill="hold"/>
                                        <p:tgtEl>
                                          <p:spTgt spid="16">
                                            <p:txEl>
                                              <p:pRg st="1" end="1"/>
                                            </p:txEl>
                                          </p:spTgt>
                                        </p:tgtEl>
                                        <p:attrNameLst>
                                          <p:attrName>ppt_h</p:attrName>
                                        </p:attrNameLst>
                                      </p:cBhvr>
                                      <p:tavLst>
                                        <p:tav tm="0">
                                          <p:val>
                                            <p:fltVal val="0"/>
                                          </p:val>
                                        </p:tav>
                                        <p:tav tm="100000">
                                          <p:val>
                                            <p:strVal val="#ppt_h"/>
                                          </p:val>
                                        </p:tav>
                                      </p:tavLst>
                                    </p:anim>
                                    <p:anim calcmode="lin" valueType="num">
                                      <p:cBhvr>
                                        <p:cTn id="31" dur="1000" fill="hold"/>
                                        <p:tgtEl>
                                          <p:spTgt spid="16">
                                            <p:txEl>
                                              <p:pRg st="1" end="1"/>
                                            </p:txEl>
                                          </p:spTgt>
                                        </p:tgtEl>
                                        <p:attrNameLst>
                                          <p:attrName>style.rotation</p:attrName>
                                        </p:attrNameLst>
                                      </p:cBhvr>
                                      <p:tavLst>
                                        <p:tav tm="0">
                                          <p:val>
                                            <p:fltVal val="90"/>
                                          </p:val>
                                        </p:tav>
                                        <p:tav tm="100000">
                                          <p:val>
                                            <p:fltVal val="0"/>
                                          </p:val>
                                        </p:tav>
                                      </p:tavLst>
                                    </p:anim>
                                    <p:animEffect transition="in" filter="fade">
                                      <p:cBhvr>
                                        <p:cTn id="32" dur="1000"/>
                                        <p:tgtEl>
                                          <p:spTgt spid="16">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nodeType="clickEffect">
                                  <p:stCondLst>
                                    <p:cond delay="0"/>
                                  </p:stCondLst>
                                  <p:childTnLst>
                                    <p:set>
                                      <p:cBhvr>
                                        <p:cTn id="44" dur="1" fill="hold">
                                          <p:stCondLst>
                                            <p:cond delay="0"/>
                                          </p:stCondLst>
                                        </p:cTn>
                                        <p:tgtEl>
                                          <p:spTgt spid="3">
                                            <p:txEl>
                                              <p:pRg st="1" end="1"/>
                                            </p:txEl>
                                          </p:spTgt>
                                        </p:tgtEl>
                                        <p:attrNameLst>
                                          <p:attrName>style.visibility</p:attrName>
                                        </p:attrNameLst>
                                      </p:cBhvr>
                                      <p:to>
                                        <p:strVal val="visible"/>
                                      </p:to>
                                    </p:set>
                                    <p:anim calcmode="lin" valueType="num">
                                      <p:cBhvr>
                                        <p:cTn id="45"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46"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47"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48"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 grpId="0"/>
      <p:bldP spid="16"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89805-6A49-70E0-B0B1-7820003D739A}"/>
              </a:ext>
            </a:extLst>
          </p:cNvPr>
          <p:cNvSpPr>
            <a:spLocks noGrp="1"/>
          </p:cNvSpPr>
          <p:nvPr>
            <p:ph type="title"/>
          </p:nvPr>
        </p:nvSpPr>
        <p:spPr>
          <a:xfrm>
            <a:off x="503849" y="452687"/>
            <a:ext cx="6447501" cy="547140"/>
          </a:xfrm>
        </p:spPr>
        <p:txBody>
          <a:bodyPr>
            <a:normAutofit fontScale="90000"/>
          </a:bodyPr>
          <a:lstStyle/>
          <a:p>
            <a:r>
              <a:rPr lang="en-GB" dirty="0"/>
              <a:t>Time Value of Money</a:t>
            </a:r>
          </a:p>
        </p:txBody>
      </p:sp>
      <p:sp>
        <p:nvSpPr>
          <p:cNvPr id="3" name="Content Placeholder 2">
            <a:extLst>
              <a:ext uri="{FF2B5EF4-FFF2-40B4-BE49-F238E27FC236}">
                <a16:creationId xmlns:a16="http://schemas.microsoft.com/office/drawing/2014/main" id="{A490CA8C-7B5F-9C3E-CF25-AB3441E6C331}"/>
              </a:ext>
            </a:extLst>
          </p:cNvPr>
          <p:cNvSpPr>
            <a:spLocks noGrp="1"/>
          </p:cNvSpPr>
          <p:nvPr>
            <p:ph idx="1"/>
          </p:nvPr>
        </p:nvSpPr>
        <p:spPr>
          <a:xfrm>
            <a:off x="503849" y="1124210"/>
            <a:ext cx="8132150" cy="1157911"/>
          </a:xfrm>
        </p:spPr>
        <p:txBody>
          <a:bodyPr>
            <a:noAutofit/>
          </a:bodyPr>
          <a:lstStyle/>
          <a:p>
            <a:pPr marL="0" indent="0">
              <a:buNone/>
            </a:pPr>
            <a:r>
              <a:rPr lang="en-GB" sz="1400" dirty="0">
                <a:latin typeface="Arial" panose="020B0604020202020204" pitchFamily="34" charset="0"/>
                <a:cs typeface="Arial" panose="020B0604020202020204" pitchFamily="34" charset="0"/>
              </a:rPr>
              <a:t>Your bank offer you £100 cashback reward on your recent purchases. However, you can choose when to redeem it; today or a year from now. Which would you choose?</a:t>
            </a:r>
          </a:p>
          <a:p>
            <a:pPr marL="0" indent="0">
              <a:buNone/>
            </a:pPr>
            <a:r>
              <a:rPr lang="en-GB" sz="1400" dirty="0">
                <a:latin typeface="Arial" panose="020B0604020202020204" pitchFamily="34" charset="0"/>
                <a:cs typeface="Arial" panose="020B0604020202020204" pitchFamily="34" charset="0"/>
              </a:rPr>
              <a:t>Most people will choose £100 today because the Time value of money, the simple notion that a pound today is preferable to a pound in the future.</a:t>
            </a:r>
            <a:r>
              <a:rPr lang="en-GB" sz="1400" dirty="0">
                <a:solidFill>
                  <a:srgbClr val="4472C4">
                    <a:lumMod val="50000"/>
                  </a:srgbClr>
                </a:solidFill>
                <a:latin typeface="Arial" panose="020B0604020202020204" pitchFamily="34" charset="0"/>
                <a:cs typeface="Arial" panose="020B0604020202020204" pitchFamily="34" charset="0"/>
              </a:rPr>
              <a:t>  </a:t>
            </a:r>
          </a:p>
          <a:p>
            <a:pPr marL="0" indent="0">
              <a:buNone/>
            </a:pPr>
            <a:endParaRPr lang="en-GB" sz="1400" dirty="0">
              <a:latin typeface="Arial" panose="020B0604020202020204" pitchFamily="34" charset="0"/>
              <a:cs typeface="Arial" panose="020B0604020202020204" pitchFamily="34" charset="0"/>
            </a:endParaRPr>
          </a:p>
          <a:p>
            <a:endParaRPr lang="en-GB" sz="1400" dirty="0">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E0D9121C-16CC-C766-320A-A66D7D9C5A19}"/>
              </a:ext>
            </a:extLst>
          </p:cNvPr>
          <p:cNvSpPr txBox="1">
            <a:spLocks/>
          </p:cNvSpPr>
          <p:nvPr/>
        </p:nvSpPr>
        <p:spPr>
          <a:xfrm>
            <a:off x="509875" y="2132856"/>
            <a:ext cx="8356807" cy="898786"/>
          </a:xfrm>
          <a:prstGeom prst="rect">
            <a:avLst/>
          </a:prstGeom>
        </p:spPr>
        <p:txBody>
          <a:bodyPr vert="horz" lIns="68580" tIns="34290" rIns="68580" bIns="3429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Clr>
                <a:srgbClr val="0070C0"/>
              </a:buClr>
              <a:buSzPct val="90000"/>
            </a:pPr>
            <a:endParaRPr lang="en-GB" sz="1400" dirty="0">
              <a:latin typeface="Arial" panose="020B0604020202020204" pitchFamily="34" charset="0"/>
              <a:cs typeface="Arial" panose="020B0604020202020204" pitchFamily="34" charset="0"/>
            </a:endParaRPr>
          </a:p>
        </p:txBody>
      </p:sp>
      <p:sp>
        <p:nvSpPr>
          <p:cNvPr id="7" name="Content Placeholder 2">
            <a:extLst>
              <a:ext uri="{FF2B5EF4-FFF2-40B4-BE49-F238E27FC236}">
                <a16:creationId xmlns:a16="http://schemas.microsoft.com/office/drawing/2014/main" id="{FD1038D3-B683-2801-001E-2092971154D1}"/>
              </a:ext>
            </a:extLst>
          </p:cNvPr>
          <p:cNvSpPr txBox="1">
            <a:spLocks/>
          </p:cNvSpPr>
          <p:nvPr/>
        </p:nvSpPr>
        <p:spPr>
          <a:xfrm>
            <a:off x="508000" y="3212976"/>
            <a:ext cx="8356807" cy="1157912"/>
          </a:xfrm>
          <a:prstGeom prst="rect">
            <a:avLst/>
          </a:prstGeom>
        </p:spPr>
        <p:txBody>
          <a:bodyPr vert="horz" lIns="68580" tIns="34290" rIns="68580" bIns="3429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Clr>
                <a:srgbClr val="0070C0"/>
              </a:buClr>
              <a:buSzPct val="90000"/>
            </a:pPr>
            <a:endParaRPr lang="en-GB" sz="1400" dirty="0">
              <a:latin typeface="Arial" panose="020B0604020202020204" pitchFamily="34" charset="0"/>
              <a:cs typeface="Arial" panose="020B0604020202020204" pitchFamily="34" charset="0"/>
            </a:endParaRPr>
          </a:p>
        </p:txBody>
      </p:sp>
      <p:sp>
        <p:nvSpPr>
          <p:cNvPr id="9" name="Content Placeholder 2">
            <a:extLst>
              <a:ext uri="{FF2B5EF4-FFF2-40B4-BE49-F238E27FC236}">
                <a16:creationId xmlns:a16="http://schemas.microsoft.com/office/drawing/2014/main" id="{83653D72-E168-51CF-645E-CA5D69E53C89}"/>
              </a:ext>
            </a:extLst>
          </p:cNvPr>
          <p:cNvSpPr txBox="1">
            <a:spLocks/>
          </p:cNvSpPr>
          <p:nvPr/>
        </p:nvSpPr>
        <p:spPr>
          <a:xfrm>
            <a:off x="509875" y="4509120"/>
            <a:ext cx="8354932" cy="1272205"/>
          </a:xfrm>
          <a:prstGeom prst="rect">
            <a:avLst/>
          </a:prstGeom>
        </p:spPr>
        <p:txBody>
          <a:bodyPr vert="horz" lIns="68580" tIns="34290" rIns="68580" bIns="3429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Clr>
                <a:srgbClr val="0070C0"/>
              </a:buClr>
              <a:buSzPct val="90000"/>
            </a:pPr>
            <a:endParaRPr lang="en-GB" sz="14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349FCE94-FBAD-24A7-A7D1-A06C38DFBBA7}"/>
              </a:ext>
            </a:extLst>
          </p:cNvPr>
          <p:cNvSpPr txBox="1"/>
          <p:nvPr/>
        </p:nvSpPr>
        <p:spPr>
          <a:xfrm>
            <a:off x="277318" y="5805264"/>
            <a:ext cx="8589364" cy="830997"/>
          </a:xfrm>
          <a:prstGeom prst="rect">
            <a:avLst/>
          </a:prstGeom>
          <a:noFill/>
        </p:spPr>
        <p:txBody>
          <a:bodyPr wrap="square">
            <a:spAutoFit/>
          </a:bodyPr>
          <a:lstStyle/>
          <a:p>
            <a:pPr algn="ctr">
              <a:buClr>
                <a:srgbClr val="C00000"/>
              </a:buClr>
              <a:buSzPct val="90000"/>
            </a:pPr>
            <a:r>
              <a:rPr lang="en-GB" sz="1600" dirty="0">
                <a:latin typeface="Arial" panose="020B0604020202020204" pitchFamily="34" charset="0"/>
                <a:cs typeface="Arial" panose="020B0604020202020204" pitchFamily="34" charset="0"/>
              </a:rPr>
              <a:t>To induce you to give up </a:t>
            </a:r>
            <a:r>
              <a:rPr lang="en-GB" sz="1600" b="1" dirty="0">
                <a:latin typeface="Arial" panose="020B0604020202020204" pitchFamily="34" charset="0"/>
                <a:cs typeface="Arial" panose="020B0604020202020204" pitchFamily="34" charset="0"/>
              </a:rPr>
              <a:t>present consumption,</a:t>
            </a:r>
            <a:r>
              <a:rPr lang="en-GB" sz="1600" dirty="0">
                <a:latin typeface="Arial" panose="020B0604020202020204" pitchFamily="34" charset="0"/>
                <a:cs typeface="Arial" panose="020B0604020202020204" pitchFamily="34" charset="0"/>
              </a:rPr>
              <a:t> to compensate you for the </a:t>
            </a:r>
            <a:r>
              <a:rPr lang="en-GB" sz="1600" b="1" dirty="0">
                <a:latin typeface="Arial" panose="020B0604020202020204" pitchFamily="34" charset="0"/>
                <a:cs typeface="Arial" panose="020B0604020202020204" pitchFamily="34" charset="0"/>
              </a:rPr>
              <a:t>loss of purchasing power</a:t>
            </a:r>
            <a:r>
              <a:rPr lang="en-GB" sz="1600" dirty="0">
                <a:latin typeface="Arial" panose="020B0604020202020204" pitchFamily="34" charset="0"/>
                <a:cs typeface="Arial" panose="020B0604020202020204" pitchFamily="34" charset="0"/>
              </a:rPr>
              <a:t>, and to tempt you to take the </a:t>
            </a:r>
            <a:r>
              <a:rPr lang="en-GB" sz="1600" b="1" dirty="0">
                <a:latin typeface="Arial" panose="020B0604020202020204" pitchFamily="34" charset="0"/>
                <a:cs typeface="Arial" panose="020B0604020202020204" pitchFamily="34" charset="0"/>
              </a:rPr>
              <a:t>risk</a:t>
            </a:r>
            <a:r>
              <a:rPr lang="en-GB" sz="1600" dirty="0">
                <a:latin typeface="Arial" panose="020B0604020202020204" pitchFamily="34" charset="0"/>
                <a:cs typeface="Arial" panose="020B0604020202020204" pitchFamily="34" charset="0"/>
              </a:rPr>
              <a:t>, the bank should offer you </a:t>
            </a:r>
            <a:r>
              <a:rPr lang="en-GB" sz="1600" b="1" u="sng" dirty="0">
                <a:latin typeface="Arial" panose="020B0604020202020204" pitchFamily="34" charset="0"/>
                <a:cs typeface="Arial" panose="020B0604020202020204" pitchFamily="34" charset="0"/>
              </a:rPr>
              <a:t>MORE</a:t>
            </a:r>
            <a:r>
              <a:rPr lang="en-GB" sz="1600" dirty="0">
                <a:latin typeface="Arial" panose="020B0604020202020204" pitchFamily="34" charset="0"/>
                <a:cs typeface="Arial" panose="020B0604020202020204" pitchFamily="34" charset="0"/>
              </a:rPr>
              <a:t> in the future.</a:t>
            </a:r>
          </a:p>
        </p:txBody>
      </p:sp>
      <p:sp>
        <p:nvSpPr>
          <p:cNvPr id="4" name="Content Placeholder 2">
            <a:extLst>
              <a:ext uri="{FF2B5EF4-FFF2-40B4-BE49-F238E27FC236}">
                <a16:creationId xmlns:a16="http://schemas.microsoft.com/office/drawing/2014/main" id="{1BF729FD-DF68-DA04-66C3-A116931182BD}"/>
              </a:ext>
            </a:extLst>
          </p:cNvPr>
          <p:cNvSpPr txBox="1">
            <a:spLocks/>
          </p:cNvSpPr>
          <p:nvPr/>
        </p:nvSpPr>
        <p:spPr>
          <a:xfrm>
            <a:off x="4283968" y="1076675"/>
            <a:ext cx="8208367" cy="842825"/>
          </a:xfrm>
          <a:prstGeom prst="rect">
            <a:avLst/>
          </a:prstGeom>
        </p:spPr>
        <p:txBody>
          <a:bodyPr vert="horz" lIns="68580" tIns="34290" rIns="68580" bIns="3429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Clr>
                <a:srgbClr val="C00000"/>
              </a:buClr>
              <a:buSzPct val="90000"/>
              <a:buNone/>
            </a:pPr>
            <a:endParaRPr lang="en-GB" sz="1600" dirty="0">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94A1649C-6524-E791-492F-AA1C6D358B32}"/>
              </a:ext>
            </a:extLst>
          </p:cNvPr>
          <p:cNvSpPr txBox="1">
            <a:spLocks/>
          </p:cNvSpPr>
          <p:nvPr/>
        </p:nvSpPr>
        <p:spPr>
          <a:xfrm>
            <a:off x="508001" y="2166674"/>
            <a:ext cx="6271301" cy="403231"/>
          </a:xfrm>
          <a:prstGeom prst="rect">
            <a:avLst/>
          </a:prstGeom>
        </p:spPr>
        <p:txBody>
          <a:bodyPr vert="horz" lIns="91440" tIns="45720" rIns="91440" bIns="45720" rtlCol="0">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fontAlgn="auto">
              <a:spcAft>
                <a:spcPts val="0"/>
              </a:spcAft>
              <a:buFont typeface="Arial" pitchFamily="34" charset="0"/>
              <a:buNone/>
            </a:pPr>
            <a:r>
              <a:rPr lang="en-GB" sz="1800" dirty="0"/>
              <a:t>Other things remaining equal</a:t>
            </a:r>
          </a:p>
        </p:txBody>
      </p:sp>
      <p:sp>
        <p:nvSpPr>
          <p:cNvPr id="10" name="TextBox 9">
            <a:extLst>
              <a:ext uri="{FF2B5EF4-FFF2-40B4-BE49-F238E27FC236}">
                <a16:creationId xmlns:a16="http://schemas.microsoft.com/office/drawing/2014/main" id="{9A198867-6781-F21D-9A13-82B5853D52B7}"/>
              </a:ext>
            </a:extLst>
          </p:cNvPr>
          <p:cNvSpPr txBox="1"/>
          <p:nvPr/>
        </p:nvSpPr>
        <p:spPr>
          <a:xfrm>
            <a:off x="508001" y="2865615"/>
            <a:ext cx="2250965" cy="507831"/>
          </a:xfrm>
          <a:prstGeom prst="rect">
            <a:avLst/>
          </a:prstGeom>
          <a:noFill/>
        </p:spPr>
        <p:txBody>
          <a:bodyPr wrap="square">
            <a:spAutoFit/>
          </a:bodyPr>
          <a:lstStyle/>
          <a:p>
            <a:r>
              <a:rPr lang="en-GB" sz="1350" dirty="0"/>
              <a:t>The preference for current consumption</a:t>
            </a:r>
            <a:endParaRPr lang="en-GB" sz="1350" dirty="0">
              <a:solidFill>
                <a:srgbClr val="C00000"/>
              </a:solidFill>
            </a:endParaRPr>
          </a:p>
        </p:txBody>
      </p:sp>
      <p:sp>
        <p:nvSpPr>
          <p:cNvPr id="12" name="Arrow: Down 11">
            <a:extLst>
              <a:ext uri="{FF2B5EF4-FFF2-40B4-BE49-F238E27FC236}">
                <a16:creationId xmlns:a16="http://schemas.microsoft.com/office/drawing/2014/main" id="{558B70EF-BC88-3CF3-CCFF-8C27C27EB780}"/>
              </a:ext>
            </a:extLst>
          </p:cNvPr>
          <p:cNvSpPr/>
          <p:nvPr/>
        </p:nvSpPr>
        <p:spPr>
          <a:xfrm rot="10800000">
            <a:off x="3028796" y="2924090"/>
            <a:ext cx="313494" cy="46636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TextBox 12">
            <a:extLst>
              <a:ext uri="{FF2B5EF4-FFF2-40B4-BE49-F238E27FC236}">
                <a16:creationId xmlns:a16="http://schemas.microsoft.com/office/drawing/2014/main" id="{76441268-597A-F624-DBE8-D5E0D06BFCE9}"/>
              </a:ext>
            </a:extLst>
          </p:cNvPr>
          <p:cNvSpPr txBox="1"/>
          <p:nvPr/>
        </p:nvSpPr>
        <p:spPr>
          <a:xfrm>
            <a:off x="4022178" y="2865614"/>
            <a:ext cx="1669174" cy="577081"/>
          </a:xfrm>
          <a:prstGeom prst="rect">
            <a:avLst/>
          </a:prstGeom>
          <a:noFill/>
        </p:spPr>
        <p:txBody>
          <a:bodyPr wrap="square">
            <a:spAutoFit/>
          </a:bodyPr>
          <a:lstStyle/>
          <a:p>
            <a:r>
              <a:rPr lang="en-GB" dirty="0"/>
              <a:t>T</a:t>
            </a:r>
            <a:r>
              <a:rPr lang="en-GB" sz="1350" dirty="0"/>
              <a:t>he value of future cash flows </a:t>
            </a:r>
            <a:endParaRPr lang="en-GB" dirty="0"/>
          </a:p>
        </p:txBody>
      </p:sp>
      <p:sp>
        <p:nvSpPr>
          <p:cNvPr id="14" name="Arrow: Down 13">
            <a:extLst>
              <a:ext uri="{FF2B5EF4-FFF2-40B4-BE49-F238E27FC236}">
                <a16:creationId xmlns:a16="http://schemas.microsoft.com/office/drawing/2014/main" id="{5FEADA23-E4BE-2760-BD3C-1792A22EF989}"/>
              </a:ext>
            </a:extLst>
          </p:cNvPr>
          <p:cNvSpPr/>
          <p:nvPr/>
        </p:nvSpPr>
        <p:spPr>
          <a:xfrm>
            <a:off x="5849009" y="2926034"/>
            <a:ext cx="313494" cy="466367"/>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TextBox 14">
            <a:extLst>
              <a:ext uri="{FF2B5EF4-FFF2-40B4-BE49-F238E27FC236}">
                <a16:creationId xmlns:a16="http://schemas.microsoft.com/office/drawing/2014/main" id="{AC8609CB-D76A-E063-9F85-854AC2191B54}"/>
              </a:ext>
            </a:extLst>
          </p:cNvPr>
          <p:cNvSpPr txBox="1"/>
          <p:nvPr/>
        </p:nvSpPr>
        <p:spPr>
          <a:xfrm>
            <a:off x="508001" y="3809644"/>
            <a:ext cx="1566698" cy="300082"/>
          </a:xfrm>
          <a:prstGeom prst="rect">
            <a:avLst/>
          </a:prstGeom>
          <a:noFill/>
        </p:spPr>
        <p:txBody>
          <a:bodyPr wrap="square">
            <a:spAutoFit/>
          </a:bodyPr>
          <a:lstStyle/>
          <a:p>
            <a:r>
              <a:rPr lang="en-GB" sz="1350" dirty="0"/>
              <a:t>Expected inflation</a:t>
            </a:r>
            <a:endParaRPr lang="en-GB" dirty="0"/>
          </a:p>
        </p:txBody>
      </p:sp>
      <p:sp>
        <p:nvSpPr>
          <p:cNvPr id="16" name="Arrow: Down 15">
            <a:extLst>
              <a:ext uri="{FF2B5EF4-FFF2-40B4-BE49-F238E27FC236}">
                <a16:creationId xmlns:a16="http://schemas.microsoft.com/office/drawing/2014/main" id="{B28BA09A-38F7-3240-9A98-4E1B74420441}"/>
              </a:ext>
            </a:extLst>
          </p:cNvPr>
          <p:cNvSpPr/>
          <p:nvPr/>
        </p:nvSpPr>
        <p:spPr>
          <a:xfrm rot="10800000">
            <a:off x="3024855" y="3669013"/>
            <a:ext cx="313494" cy="46636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7" name="Arrow: Down 16">
            <a:extLst>
              <a:ext uri="{FF2B5EF4-FFF2-40B4-BE49-F238E27FC236}">
                <a16:creationId xmlns:a16="http://schemas.microsoft.com/office/drawing/2014/main" id="{79169379-AFB6-606A-0032-5AE198022CE6}"/>
              </a:ext>
            </a:extLst>
          </p:cNvPr>
          <p:cNvSpPr/>
          <p:nvPr/>
        </p:nvSpPr>
        <p:spPr>
          <a:xfrm rot="10800000">
            <a:off x="3028797" y="4516408"/>
            <a:ext cx="313494" cy="46636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TextBox 17">
            <a:extLst>
              <a:ext uri="{FF2B5EF4-FFF2-40B4-BE49-F238E27FC236}">
                <a16:creationId xmlns:a16="http://schemas.microsoft.com/office/drawing/2014/main" id="{5DD55519-9CFC-5F28-7BAC-4493E72A92DC}"/>
              </a:ext>
            </a:extLst>
          </p:cNvPr>
          <p:cNvSpPr txBox="1"/>
          <p:nvPr/>
        </p:nvSpPr>
        <p:spPr>
          <a:xfrm>
            <a:off x="508001" y="4498028"/>
            <a:ext cx="1566698" cy="507831"/>
          </a:xfrm>
          <a:prstGeom prst="rect">
            <a:avLst/>
          </a:prstGeom>
          <a:noFill/>
        </p:spPr>
        <p:txBody>
          <a:bodyPr wrap="square">
            <a:spAutoFit/>
          </a:bodyPr>
          <a:lstStyle/>
          <a:p>
            <a:r>
              <a:rPr lang="en-GB" sz="1350" dirty="0"/>
              <a:t>The uncertainty in the cashflow</a:t>
            </a:r>
            <a:endParaRPr lang="en-GB" dirty="0"/>
          </a:p>
        </p:txBody>
      </p:sp>
      <p:sp>
        <p:nvSpPr>
          <p:cNvPr id="19" name="TextBox 18">
            <a:extLst>
              <a:ext uri="{FF2B5EF4-FFF2-40B4-BE49-F238E27FC236}">
                <a16:creationId xmlns:a16="http://schemas.microsoft.com/office/drawing/2014/main" id="{1AD89B59-4793-0417-240A-116429C58546}"/>
              </a:ext>
            </a:extLst>
          </p:cNvPr>
          <p:cNvSpPr txBox="1"/>
          <p:nvPr/>
        </p:nvSpPr>
        <p:spPr>
          <a:xfrm>
            <a:off x="4018236" y="3736657"/>
            <a:ext cx="1669174" cy="577081"/>
          </a:xfrm>
          <a:prstGeom prst="rect">
            <a:avLst/>
          </a:prstGeom>
          <a:noFill/>
        </p:spPr>
        <p:txBody>
          <a:bodyPr wrap="square">
            <a:spAutoFit/>
          </a:bodyPr>
          <a:lstStyle/>
          <a:p>
            <a:r>
              <a:rPr lang="en-GB" dirty="0"/>
              <a:t>T</a:t>
            </a:r>
            <a:r>
              <a:rPr lang="en-GB" sz="1350" dirty="0"/>
              <a:t>he value of future cash flows </a:t>
            </a:r>
            <a:endParaRPr lang="en-GB" dirty="0"/>
          </a:p>
        </p:txBody>
      </p:sp>
      <p:sp>
        <p:nvSpPr>
          <p:cNvPr id="20" name="Arrow: Down 19">
            <a:extLst>
              <a:ext uri="{FF2B5EF4-FFF2-40B4-BE49-F238E27FC236}">
                <a16:creationId xmlns:a16="http://schemas.microsoft.com/office/drawing/2014/main" id="{08D7E57C-0765-9005-1072-1B6EFDF5DB38}"/>
              </a:ext>
            </a:extLst>
          </p:cNvPr>
          <p:cNvSpPr/>
          <p:nvPr/>
        </p:nvSpPr>
        <p:spPr>
          <a:xfrm>
            <a:off x="5845067" y="3797076"/>
            <a:ext cx="313494" cy="466367"/>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TextBox 20">
            <a:extLst>
              <a:ext uri="{FF2B5EF4-FFF2-40B4-BE49-F238E27FC236}">
                <a16:creationId xmlns:a16="http://schemas.microsoft.com/office/drawing/2014/main" id="{56F05B3F-7D82-58C1-3119-276870D87074}"/>
              </a:ext>
            </a:extLst>
          </p:cNvPr>
          <p:cNvSpPr txBox="1"/>
          <p:nvPr/>
        </p:nvSpPr>
        <p:spPr>
          <a:xfrm>
            <a:off x="4026119" y="4580111"/>
            <a:ext cx="1669174" cy="577081"/>
          </a:xfrm>
          <a:prstGeom prst="rect">
            <a:avLst/>
          </a:prstGeom>
          <a:noFill/>
        </p:spPr>
        <p:txBody>
          <a:bodyPr wrap="square">
            <a:spAutoFit/>
          </a:bodyPr>
          <a:lstStyle/>
          <a:p>
            <a:r>
              <a:rPr lang="en-GB" dirty="0"/>
              <a:t>T</a:t>
            </a:r>
            <a:r>
              <a:rPr lang="en-GB" sz="1350" dirty="0"/>
              <a:t>he value of future cash flows </a:t>
            </a:r>
            <a:endParaRPr lang="en-GB" dirty="0"/>
          </a:p>
        </p:txBody>
      </p:sp>
      <p:sp>
        <p:nvSpPr>
          <p:cNvPr id="22" name="Arrow: Down 21">
            <a:extLst>
              <a:ext uri="{FF2B5EF4-FFF2-40B4-BE49-F238E27FC236}">
                <a16:creationId xmlns:a16="http://schemas.microsoft.com/office/drawing/2014/main" id="{CC1E11F0-92FF-C62C-056C-FA8608854FEB}"/>
              </a:ext>
            </a:extLst>
          </p:cNvPr>
          <p:cNvSpPr/>
          <p:nvPr/>
        </p:nvSpPr>
        <p:spPr>
          <a:xfrm>
            <a:off x="5852950" y="4640531"/>
            <a:ext cx="313494" cy="466367"/>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ight Brace 22">
            <a:extLst>
              <a:ext uri="{FF2B5EF4-FFF2-40B4-BE49-F238E27FC236}">
                <a16:creationId xmlns:a16="http://schemas.microsoft.com/office/drawing/2014/main" id="{6816BF10-F636-0CC0-BD1C-D0818A5C2B59}"/>
              </a:ext>
            </a:extLst>
          </p:cNvPr>
          <p:cNvSpPr/>
          <p:nvPr/>
        </p:nvSpPr>
        <p:spPr>
          <a:xfrm>
            <a:off x="3643651" y="2924090"/>
            <a:ext cx="374585" cy="2058686"/>
          </a:xfrm>
          <a:prstGeom prst="rightBrace">
            <a:avLst/>
          </a:prstGeom>
          <a:ln w="28575">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solidFill>
                <a:srgbClr val="0070C0"/>
              </a:solidFill>
            </a:endParaRPr>
          </a:p>
        </p:txBody>
      </p:sp>
    </p:spTree>
    <p:extLst>
      <p:ext uri="{BB962C8B-B14F-4D97-AF65-F5344CB8AC3E}">
        <p14:creationId xmlns:p14="http://schemas.microsoft.com/office/powerpoint/2010/main" val="2424054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nodePh="1">
                                  <p:stCondLst>
                                    <p:cond delay="0"/>
                                  </p:stCondLst>
                                  <p:endCondLst>
                                    <p:cond evt="begin" delay="0">
                                      <p:tn val="17"/>
                                    </p:cond>
                                  </p:end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nodePh="1">
                                  <p:stCondLst>
                                    <p:cond delay="0"/>
                                  </p:stCondLst>
                                  <p:endCondLst>
                                    <p:cond evt="begin" delay="0">
                                      <p:tn val="21"/>
                                    </p:cond>
                                  </p:end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nodePh="1">
                                  <p:stCondLst>
                                    <p:cond delay="0"/>
                                  </p:stCondLst>
                                  <p:endCondLst>
                                    <p:cond evt="begin" delay="0">
                                      <p:tn val="25"/>
                                    </p:cond>
                                  </p:end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nodePh="1">
                                  <p:stCondLst>
                                    <p:cond delay="0"/>
                                  </p:stCondLst>
                                  <p:endCondLst>
                                    <p:cond evt="begin" delay="0">
                                      <p:tn val="29"/>
                                    </p:cond>
                                  </p:end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6"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down)">
                                      <p:cBhvr>
                                        <p:cTn id="41" dur="580">
                                          <p:stCondLst>
                                            <p:cond delay="0"/>
                                          </p:stCondLst>
                                        </p:cTn>
                                        <p:tgtEl>
                                          <p:spTgt spid="13"/>
                                        </p:tgtEl>
                                      </p:cBhvr>
                                    </p:animEffect>
                                    <p:anim calcmode="lin" valueType="num">
                                      <p:cBhvr>
                                        <p:cTn id="42"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47" dur="26">
                                          <p:stCondLst>
                                            <p:cond delay="650"/>
                                          </p:stCondLst>
                                        </p:cTn>
                                        <p:tgtEl>
                                          <p:spTgt spid="13"/>
                                        </p:tgtEl>
                                      </p:cBhvr>
                                      <p:to x="100000" y="60000"/>
                                    </p:animScale>
                                    <p:animScale>
                                      <p:cBhvr>
                                        <p:cTn id="48" dur="166" decel="50000">
                                          <p:stCondLst>
                                            <p:cond delay="676"/>
                                          </p:stCondLst>
                                        </p:cTn>
                                        <p:tgtEl>
                                          <p:spTgt spid="13"/>
                                        </p:tgtEl>
                                      </p:cBhvr>
                                      <p:to x="100000" y="100000"/>
                                    </p:animScale>
                                    <p:animScale>
                                      <p:cBhvr>
                                        <p:cTn id="49" dur="26">
                                          <p:stCondLst>
                                            <p:cond delay="1312"/>
                                          </p:stCondLst>
                                        </p:cTn>
                                        <p:tgtEl>
                                          <p:spTgt spid="13"/>
                                        </p:tgtEl>
                                      </p:cBhvr>
                                      <p:to x="100000" y="80000"/>
                                    </p:animScale>
                                    <p:animScale>
                                      <p:cBhvr>
                                        <p:cTn id="50" dur="166" decel="50000">
                                          <p:stCondLst>
                                            <p:cond delay="1338"/>
                                          </p:stCondLst>
                                        </p:cTn>
                                        <p:tgtEl>
                                          <p:spTgt spid="13"/>
                                        </p:tgtEl>
                                      </p:cBhvr>
                                      <p:to x="100000" y="100000"/>
                                    </p:animScale>
                                    <p:animScale>
                                      <p:cBhvr>
                                        <p:cTn id="51" dur="26">
                                          <p:stCondLst>
                                            <p:cond delay="1642"/>
                                          </p:stCondLst>
                                        </p:cTn>
                                        <p:tgtEl>
                                          <p:spTgt spid="13"/>
                                        </p:tgtEl>
                                      </p:cBhvr>
                                      <p:to x="100000" y="90000"/>
                                    </p:animScale>
                                    <p:animScale>
                                      <p:cBhvr>
                                        <p:cTn id="52" dur="166" decel="50000">
                                          <p:stCondLst>
                                            <p:cond delay="1668"/>
                                          </p:stCondLst>
                                        </p:cTn>
                                        <p:tgtEl>
                                          <p:spTgt spid="13"/>
                                        </p:tgtEl>
                                      </p:cBhvr>
                                      <p:to x="100000" y="100000"/>
                                    </p:animScale>
                                    <p:animScale>
                                      <p:cBhvr>
                                        <p:cTn id="53" dur="26">
                                          <p:stCondLst>
                                            <p:cond delay="1808"/>
                                          </p:stCondLst>
                                        </p:cTn>
                                        <p:tgtEl>
                                          <p:spTgt spid="13"/>
                                        </p:tgtEl>
                                      </p:cBhvr>
                                      <p:to x="100000" y="95000"/>
                                    </p:animScale>
                                    <p:animScale>
                                      <p:cBhvr>
                                        <p:cTn id="54" dur="166" decel="50000">
                                          <p:stCondLst>
                                            <p:cond delay="1834"/>
                                          </p:stCondLst>
                                        </p:cTn>
                                        <p:tgtEl>
                                          <p:spTgt spid="13"/>
                                        </p:tgtEl>
                                      </p:cBhvr>
                                      <p:to x="100000" y="100000"/>
                                    </p:animScale>
                                  </p:childTnLst>
                                </p:cTn>
                              </p:par>
                              <p:par>
                                <p:cTn id="55" presetID="26"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down)">
                                      <p:cBhvr>
                                        <p:cTn id="57" dur="580">
                                          <p:stCondLst>
                                            <p:cond delay="0"/>
                                          </p:stCondLst>
                                        </p:cTn>
                                        <p:tgtEl>
                                          <p:spTgt spid="14"/>
                                        </p:tgtEl>
                                      </p:cBhvr>
                                    </p:animEffect>
                                    <p:anim calcmode="lin" valueType="num">
                                      <p:cBhvr>
                                        <p:cTn id="58"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59"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60"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61"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62"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63" dur="26">
                                          <p:stCondLst>
                                            <p:cond delay="650"/>
                                          </p:stCondLst>
                                        </p:cTn>
                                        <p:tgtEl>
                                          <p:spTgt spid="14"/>
                                        </p:tgtEl>
                                      </p:cBhvr>
                                      <p:to x="100000" y="60000"/>
                                    </p:animScale>
                                    <p:animScale>
                                      <p:cBhvr>
                                        <p:cTn id="64" dur="166" decel="50000">
                                          <p:stCondLst>
                                            <p:cond delay="676"/>
                                          </p:stCondLst>
                                        </p:cTn>
                                        <p:tgtEl>
                                          <p:spTgt spid="14"/>
                                        </p:tgtEl>
                                      </p:cBhvr>
                                      <p:to x="100000" y="100000"/>
                                    </p:animScale>
                                    <p:animScale>
                                      <p:cBhvr>
                                        <p:cTn id="65" dur="26">
                                          <p:stCondLst>
                                            <p:cond delay="1312"/>
                                          </p:stCondLst>
                                        </p:cTn>
                                        <p:tgtEl>
                                          <p:spTgt spid="14"/>
                                        </p:tgtEl>
                                      </p:cBhvr>
                                      <p:to x="100000" y="80000"/>
                                    </p:animScale>
                                    <p:animScale>
                                      <p:cBhvr>
                                        <p:cTn id="66" dur="166" decel="50000">
                                          <p:stCondLst>
                                            <p:cond delay="1338"/>
                                          </p:stCondLst>
                                        </p:cTn>
                                        <p:tgtEl>
                                          <p:spTgt spid="14"/>
                                        </p:tgtEl>
                                      </p:cBhvr>
                                      <p:to x="100000" y="100000"/>
                                    </p:animScale>
                                    <p:animScale>
                                      <p:cBhvr>
                                        <p:cTn id="67" dur="26">
                                          <p:stCondLst>
                                            <p:cond delay="1642"/>
                                          </p:stCondLst>
                                        </p:cTn>
                                        <p:tgtEl>
                                          <p:spTgt spid="14"/>
                                        </p:tgtEl>
                                      </p:cBhvr>
                                      <p:to x="100000" y="90000"/>
                                    </p:animScale>
                                    <p:animScale>
                                      <p:cBhvr>
                                        <p:cTn id="68" dur="166" decel="50000">
                                          <p:stCondLst>
                                            <p:cond delay="1668"/>
                                          </p:stCondLst>
                                        </p:cTn>
                                        <p:tgtEl>
                                          <p:spTgt spid="14"/>
                                        </p:tgtEl>
                                      </p:cBhvr>
                                      <p:to x="100000" y="100000"/>
                                    </p:animScale>
                                    <p:animScale>
                                      <p:cBhvr>
                                        <p:cTn id="69" dur="26">
                                          <p:stCondLst>
                                            <p:cond delay="1808"/>
                                          </p:stCondLst>
                                        </p:cTn>
                                        <p:tgtEl>
                                          <p:spTgt spid="14"/>
                                        </p:tgtEl>
                                      </p:cBhvr>
                                      <p:to x="100000" y="95000"/>
                                    </p:animScale>
                                    <p:animScale>
                                      <p:cBhvr>
                                        <p:cTn id="70" dur="166" decel="50000">
                                          <p:stCondLst>
                                            <p:cond delay="1834"/>
                                          </p:stCondLst>
                                        </p:cTn>
                                        <p:tgtEl>
                                          <p:spTgt spid="14"/>
                                        </p:tgtEl>
                                      </p:cBhvr>
                                      <p:to x="100000" y="100000"/>
                                    </p:animScale>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26" presetClass="entr" presetSubtype="0" fill="hold" grpId="0" nodeType="clickEffect">
                                  <p:stCondLst>
                                    <p:cond delay="0"/>
                                  </p:stCondLst>
                                  <p:childTnLst>
                                    <p:set>
                                      <p:cBhvr>
                                        <p:cTn id="80" dur="1" fill="hold">
                                          <p:stCondLst>
                                            <p:cond delay="0"/>
                                          </p:stCondLst>
                                        </p:cTn>
                                        <p:tgtEl>
                                          <p:spTgt spid="19"/>
                                        </p:tgtEl>
                                        <p:attrNameLst>
                                          <p:attrName>style.visibility</p:attrName>
                                        </p:attrNameLst>
                                      </p:cBhvr>
                                      <p:to>
                                        <p:strVal val="visible"/>
                                      </p:to>
                                    </p:set>
                                    <p:animEffect transition="in" filter="wipe(down)">
                                      <p:cBhvr>
                                        <p:cTn id="81" dur="580">
                                          <p:stCondLst>
                                            <p:cond delay="0"/>
                                          </p:stCondLst>
                                        </p:cTn>
                                        <p:tgtEl>
                                          <p:spTgt spid="19"/>
                                        </p:tgtEl>
                                      </p:cBhvr>
                                    </p:animEffect>
                                    <p:anim calcmode="lin" valueType="num">
                                      <p:cBhvr>
                                        <p:cTn id="82" dur="1822"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83" dur="664"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84" dur="664" tmFilter="0, 0; 0.125,0.2665; 0.25,0.4; 0.375,0.465; 0.5,0.5;  0.625,0.535; 0.75,0.6; 0.875,0.7335; 1,1">
                                          <p:stCondLst>
                                            <p:cond delay="664"/>
                                          </p:stCondLst>
                                        </p:cTn>
                                        <p:tgtEl>
                                          <p:spTgt spid="19"/>
                                        </p:tgtEl>
                                        <p:attrNameLst>
                                          <p:attrName>ppt_y</p:attrName>
                                        </p:attrNameLst>
                                      </p:cBhvr>
                                      <p:tavLst>
                                        <p:tav tm="0" fmla="#ppt_y-sin(pi*$)/9">
                                          <p:val>
                                            <p:fltVal val="0"/>
                                          </p:val>
                                        </p:tav>
                                        <p:tav tm="100000">
                                          <p:val>
                                            <p:fltVal val="1"/>
                                          </p:val>
                                        </p:tav>
                                      </p:tavLst>
                                    </p:anim>
                                    <p:anim calcmode="lin" valueType="num">
                                      <p:cBhvr>
                                        <p:cTn id="85" dur="332" tmFilter="0, 0; 0.125,0.2665; 0.25,0.4; 0.375,0.465; 0.5,0.5;  0.625,0.535; 0.75,0.6; 0.875,0.7335; 1,1">
                                          <p:stCondLst>
                                            <p:cond delay="1324"/>
                                          </p:stCondLst>
                                        </p:cTn>
                                        <p:tgtEl>
                                          <p:spTgt spid="19"/>
                                        </p:tgtEl>
                                        <p:attrNameLst>
                                          <p:attrName>ppt_y</p:attrName>
                                        </p:attrNameLst>
                                      </p:cBhvr>
                                      <p:tavLst>
                                        <p:tav tm="0" fmla="#ppt_y-sin(pi*$)/27">
                                          <p:val>
                                            <p:fltVal val="0"/>
                                          </p:val>
                                        </p:tav>
                                        <p:tav tm="100000">
                                          <p:val>
                                            <p:fltVal val="1"/>
                                          </p:val>
                                        </p:tav>
                                      </p:tavLst>
                                    </p:anim>
                                    <p:anim calcmode="lin" valueType="num">
                                      <p:cBhvr>
                                        <p:cTn id="86" dur="164" tmFilter="0, 0; 0.125,0.2665; 0.25,0.4; 0.375,0.465; 0.5,0.5;  0.625,0.535; 0.75,0.6; 0.875,0.7335; 1,1">
                                          <p:stCondLst>
                                            <p:cond delay="1656"/>
                                          </p:stCondLst>
                                        </p:cTn>
                                        <p:tgtEl>
                                          <p:spTgt spid="19"/>
                                        </p:tgtEl>
                                        <p:attrNameLst>
                                          <p:attrName>ppt_y</p:attrName>
                                        </p:attrNameLst>
                                      </p:cBhvr>
                                      <p:tavLst>
                                        <p:tav tm="0" fmla="#ppt_y-sin(pi*$)/81">
                                          <p:val>
                                            <p:fltVal val="0"/>
                                          </p:val>
                                        </p:tav>
                                        <p:tav tm="100000">
                                          <p:val>
                                            <p:fltVal val="1"/>
                                          </p:val>
                                        </p:tav>
                                      </p:tavLst>
                                    </p:anim>
                                    <p:animScale>
                                      <p:cBhvr>
                                        <p:cTn id="87" dur="26">
                                          <p:stCondLst>
                                            <p:cond delay="650"/>
                                          </p:stCondLst>
                                        </p:cTn>
                                        <p:tgtEl>
                                          <p:spTgt spid="19"/>
                                        </p:tgtEl>
                                      </p:cBhvr>
                                      <p:to x="100000" y="60000"/>
                                    </p:animScale>
                                    <p:animScale>
                                      <p:cBhvr>
                                        <p:cTn id="88" dur="166" decel="50000">
                                          <p:stCondLst>
                                            <p:cond delay="676"/>
                                          </p:stCondLst>
                                        </p:cTn>
                                        <p:tgtEl>
                                          <p:spTgt spid="19"/>
                                        </p:tgtEl>
                                      </p:cBhvr>
                                      <p:to x="100000" y="100000"/>
                                    </p:animScale>
                                    <p:animScale>
                                      <p:cBhvr>
                                        <p:cTn id="89" dur="26">
                                          <p:stCondLst>
                                            <p:cond delay="1312"/>
                                          </p:stCondLst>
                                        </p:cTn>
                                        <p:tgtEl>
                                          <p:spTgt spid="19"/>
                                        </p:tgtEl>
                                      </p:cBhvr>
                                      <p:to x="100000" y="80000"/>
                                    </p:animScale>
                                    <p:animScale>
                                      <p:cBhvr>
                                        <p:cTn id="90" dur="166" decel="50000">
                                          <p:stCondLst>
                                            <p:cond delay="1338"/>
                                          </p:stCondLst>
                                        </p:cTn>
                                        <p:tgtEl>
                                          <p:spTgt spid="19"/>
                                        </p:tgtEl>
                                      </p:cBhvr>
                                      <p:to x="100000" y="100000"/>
                                    </p:animScale>
                                    <p:animScale>
                                      <p:cBhvr>
                                        <p:cTn id="91" dur="26">
                                          <p:stCondLst>
                                            <p:cond delay="1642"/>
                                          </p:stCondLst>
                                        </p:cTn>
                                        <p:tgtEl>
                                          <p:spTgt spid="19"/>
                                        </p:tgtEl>
                                      </p:cBhvr>
                                      <p:to x="100000" y="90000"/>
                                    </p:animScale>
                                    <p:animScale>
                                      <p:cBhvr>
                                        <p:cTn id="92" dur="166" decel="50000">
                                          <p:stCondLst>
                                            <p:cond delay="1668"/>
                                          </p:stCondLst>
                                        </p:cTn>
                                        <p:tgtEl>
                                          <p:spTgt spid="19"/>
                                        </p:tgtEl>
                                      </p:cBhvr>
                                      <p:to x="100000" y="100000"/>
                                    </p:animScale>
                                    <p:animScale>
                                      <p:cBhvr>
                                        <p:cTn id="93" dur="26">
                                          <p:stCondLst>
                                            <p:cond delay="1808"/>
                                          </p:stCondLst>
                                        </p:cTn>
                                        <p:tgtEl>
                                          <p:spTgt spid="19"/>
                                        </p:tgtEl>
                                      </p:cBhvr>
                                      <p:to x="100000" y="95000"/>
                                    </p:animScale>
                                    <p:animScale>
                                      <p:cBhvr>
                                        <p:cTn id="94" dur="166" decel="50000">
                                          <p:stCondLst>
                                            <p:cond delay="1834"/>
                                          </p:stCondLst>
                                        </p:cTn>
                                        <p:tgtEl>
                                          <p:spTgt spid="19"/>
                                        </p:tgtEl>
                                      </p:cBhvr>
                                      <p:to x="100000" y="100000"/>
                                    </p:animScale>
                                  </p:childTnLst>
                                </p:cTn>
                              </p:par>
                              <p:par>
                                <p:cTn id="95" presetID="26" presetClass="entr" presetSubtype="0" fill="hold" grpId="0" nodeType="withEffect">
                                  <p:stCondLst>
                                    <p:cond delay="0"/>
                                  </p:stCondLst>
                                  <p:childTnLst>
                                    <p:set>
                                      <p:cBhvr>
                                        <p:cTn id="96" dur="1" fill="hold">
                                          <p:stCondLst>
                                            <p:cond delay="0"/>
                                          </p:stCondLst>
                                        </p:cTn>
                                        <p:tgtEl>
                                          <p:spTgt spid="20"/>
                                        </p:tgtEl>
                                        <p:attrNameLst>
                                          <p:attrName>style.visibility</p:attrName>
                                        </p:attrNameLst>
                                      </p:cBhvr>
                                      <p:to>
                                        <p:strVal val="visible"/>
                                      </p:to>
                                    </p:set>
                                    <p:animEffect transition="in" filter="wipe(down)">
                                      <p:cBhvr>
                                        <p:cTn id="97" dur="580">
                                          <p:stCondLst>
                                            <p:cond delay="0"/>
                                          </p:stCondLst>
                                        </p:cTn>
                                        <p:tgtEl>
                                          <p:spTgt spid="20"/>
                                        </p:tgtEl>
                                      </p:cBhvr>
                                    </p:animEffect>
                                    <p:anim calcmode="lin" valueType="num">
                                      <p:cBhvr>
                                        <p:cTn id="98" dur="1822"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99" dur="664"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100" dur="664" tmFilter="0, 0; 0.125,0.2665; 0.25,0.4; 0.375,0.465; 0.5,0.5;  0.625,0.535; 0.75,0.6; 0.875,0.7335; 1,1">
                                          <p:stCondLst>
                                            <p:cond delay="664"/>
                                          </p:stCondLst>
                                        </p:cTn>
                                        <p:tgtEl>
                                          <p:spTgt spid="20"/>
                                        </p:tgtEl>
                                        <p:attrNameLst>
                                          <p:attrName>ppt_y</p:attrName>
                                        </p:attrNameLst>
                                      </p:cBhvr>
                                      <p:tavLst>
                                        <p:tav tm="0" fmla="#ppt_y-sin(pi*$)/9">
                                          <p:val>
                                            <p:fltVal val="0"/>
                                          </p:val>
                                        </p:tav>
                                        <p:tav tm="100000">
                                          <p:val>
                                            <p:fltVal val="1"/>
                                          </p:val>
                                        </p:tav>
                                      </p:tavLst>
                                    </p:anim>
                                    <p:anim calcmode="lin" valueType="num">
                                      <p:cBhvr>
                                        <p:cTn id="101" dur="332" tmFilter="0, 0; 0.125,0.2665; 0.25,0.4; 0.375,0.465; 0.5,0.5;  0.625,0.535; 0.75,0.6; 0.875,0.7335; 1,1">
                                          <p:stCondLst>
                                            <p:cond delay="1324"/>
                                          </p:stCondLst>
                                        </p:cTn>
                                        <p:tgtEl>
                                          <p:spTgt spid="20"/>
                                        </p:tgtEl>
                                        <p:attrNameLst>
                                          <p:attrName>ppt_y</p:attrName>
                                        </p:attrNameLst>
                                      </p:cBhvr>
                                      <p:tavLst>
                                        <p:tav tm="0" fmla="#ppt_y-sin(pi*$)/27">
                                          <p:val>
                                            <p:fltVal val="0"/>
                                          </p:val>
                                        </p:tav>
                                        <p:tav tm="100000">
                                          <p:val>
                                            <p:fltVal val="1"/>
                                          </p:val>
                                        </p:tav>
                                      </p:tavLst>
                                    </p:anim>
                                    <p:anim calcmode="lin" valueType="num">
                                      <p:cBhvr>
                                        <p:cTn id="102" dur="164" tmFilter="0, 0; 0.125,0.2665; 0.25,0.4; 0.375,0.465; 0.5,0.5;  0.625,0.535; 0.75,0.6; 0.875,0.7335; 1,1">
                                          <p:stCondLst>
                                            <p:cond delay="1656"/>
                                          </p:stCondLst>
                                        </p:cTn>
                                        <p:tgtEl>
                                          <p:spTgt spid="20"/>
                                        </p:tgtEl>
                                        <p:attrNameLst>
                                          <p:attrName>ppt_y</p:attrName>
                                        </p:attrNameLst>
                                      </p:cBhvr>
                                      <p:tavLst>
                                        <p:tav tm="0" fmla="#ppt_y-sin(pi*$)/81">
                                          <p:val>
                                            <p:fltVal val="0"/>
                                          </p:val>
                                        </p:tav>
                                        <p:tav tm="100000">
                                          <p:val>
                                            <p:fltVal val="1"/>
                                          </p:val>
                                        </p:tav>
                                      </p:tavLst>
                                    </p:anim>
                                    <p:animScale>
                                      <p:cBhvr>
                                        <p:cTn id="103" dur="26">
                                          <p:stCondLst>
                                            <p:cond delay="650"/>
                                          </p:stCondLst>
                                        </p:cTn>
                                        <p:tgtEl>
                                          <p:spTgt spid="20"/>
                                        </p:tgtEl>
                                      </p:cBhvr>
                                      <p:to x="100000" y="60000"/>
                                    </p:animScale>
                                    <p:animScale>
                                      <p:cBhvr>
                                        <p:cTn id="104" dur="166" decel="50000">
                                          <p:stCondLst>
                                            <p:cond delay="676"/>
                                          </p:stCondLst>
                                        </p:cTn>
                                        <p:tgtEl>
                                          <p:spTgt spid="20"/>
                                        </p:tgtEl>
                                      </p:cBhvr>
                                      <p:to x="100000" y="100000"/>
                                    </p:animScale>
                                    <p:animScale>
                                      <p:cBhvr>
                                        <p:cTn id="105" dur="26">
                                          <p:stCondLst>
                                            <p:cond delay="1312"/>
                                          </p:stCondLst>
                                        </p:cTn>
                                        <p:tgtEl>
                                          <p:spTgt spid="20"/>
                                        </p:tgtEl>
                                      </p:cBhvr>
                                      <p:to x="100000" y="80000"/>
                                    </p:animScale>
                                    <p:animScale>
                                      <p:cBhvr>
                                        <p:cTn id="106" dur="166" decel="50000">
                                          <p:stCondLst>
                                            <p:cond delay="1338"/>
                                          </p:stCondLst>
                                        </p:cTn>
                                        <p:tgtEl>
                                          <p:spTgt spid="20"/>
                                        </p:tgtEl>
                                      </p:cBhvr>
                                      <p:to x="100000" y="100000"/>
                                    </p:animScale>
                                    <p:animScale>
                                      <p:cBhvr>
                                        <p:cTn id="107" dur="26">
                                          <p:stCondLst>
                                            <p:cond delay="1642"/>
                                          </p:stCondLst>
                                        </p:cTn>
                                        <p:tgtEl>
                                          <p:spTgt spid="20"/>
                                        </p:tgtEl>
                                      </p:cBhvr>
                                      <p:to x="100000" y="90000"/>
                                    </p:animScale>
                                    <p:animScale>
                                      <p:cBhvr>
                                        <p:cTn id="108" dur="166" decel="50000">
                                          <p:stCondLst>
                                            <p:cond delay="1668"/>
                                          </p:stCondLst>
                                        </p:cTn>
                                        <p:tgtEl>
                                          <p:spTgt spid="20"/>
                                        </p:tgtEl>
                                      </p:cBhvr>
                                      <p:to x="100000" y="100000"/>
                                    </p:animScale>
                                    <p:animScale>
                                      <p:cBhvr>
                                        <p:cTn id="109" dur="26">
                                          <p:stCondLst>
                                            <p:cond delay="1808"/>
                                          </p:stCondLst>
                                        </p:cTn>
                                        <p:tgtEl>
                                          <p:spTgt spid="20"/>
                                        </p:tgtEl>
                                      </p:cBhvr>
                                      <p:to x="100000" y="95000"/>
                                    </p:animScale>
                                    <p:animScale>
                                      <p:cBhvr>
                                        <p:cTn id="110" dur="166" decel="50000">
                                          <p:stCondLst>
                                            <p:cond delay="1834"/>
                                          </p:stCondLst>
                                        </p:cTn>
                                        <p:tgtEl>
                                          <p:spTgt spid="20"/>
                                        </p:tgtEl>
                                      </p:cBhvr>
                                      <p:to x="100000" y="100000"/>
                                    </p:animScale>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8"/>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7"/>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26" presetClass="entr" presetSubtype="0" fill="hold" grpId="0" nodeType="clickEffect">
                                  <p:stCondLst>
                                    <p:cond delay="0"/>
                                  </p:stCondLst>
                                  <p:childTnLst>
                                    <p:set>
                                      <p:cBhvr>
                                        <p:cTn id="120" dur="1" fill="hold">
                                          <p:stCondLst>
                                            <p:cond delay="0"/>
                                          </p:stCondLst>
                                        </p:cTn>
                                        <p:tgtEl>
                                          <p:spTgt spid="21"/>
                                        </p:tgtEl>
                                        <p:attrNameLst>
                                          <p:attrName>style.visibility</p:attrName>
                                        </p:attrNameLst>
                                      </p:cBhvr>
                                      <p:to>
                                        <p:strVal val="visible"/>
                                      </p:to>
                                    </p:set>
                                    <p:animEffect transition="in" filter="wipe(down)">
                                      <p:cBhvr>
                                        <p:cTn id="121" dur="580">
                                          <p:stCondLst>
                                            <p:cond delay="0"/>
                                          </p:stCondLst>
                                        </p:cTn>
                                        <p:tgtEl>
                                          <p:spTgt spid="21"/>
                                        </p:tgtEl>
                                      </p:cBhvr>
                                    </p:animEffect>
                                    <p:anim calcmode="lin" valueType="num">
                                      <p:cBhvr>
                                        <p:cTn id="122" dur="1822" tmFilter="0,0; 0.14,0.36; 0.43,0.73; 0.71,0.91; 1.0,1.0">
                                          <p:stCondLst>
                                            <p:cond delay="0"/>
                                          </p:stCondLst>
                                        </p:cTn>
                                        <p:tgtEl>
                                          <p:spTgt spid="21"/>
                                        </p:tgtEl>
                                        <p:attrNameLst>
                                          <p:attrName>ppt_x</p:attrName>
                                        </p:attrNameLst>
                                      </p:cBhvr>
                                      <p:tavLst>
                                        <p:tav tm="0">
                                          <p:val>
                                            <p:strVal val="#ppt_x-0.25"/>
                                          </p:val>
                                        </p:tav>
                                        <p:tav tm="100000">
                                          <p:val>
                                            <p:strVal val="#ppt_x"/>
                                          </p:val>
                                        </p:tav>
                                      </p:tavLst>
                                    </p:anim>
                                    <p:anim calcmode="lin" valueType="num">
                                      <p:cBhvr>
                                        <p:cTn id="123" dur="664" tmFilter="0.0,0.0; 0.25,0.07; 0.50,0.2; 0.75,0.467; 1.0,1.0">
                                          <p:stCondLst>
                                            <p:cond delay="0"/>
                                          </p:stCondLst>
                                        </p:cTn>
                                        <p:tgtEl>
                                          <p:spTgt spid="21"/>
                                        </p:tgtEl>
                                        <p:attrNameLst>
                                          <p:attrName>ppt_y</p:attrName>
                                        </p:attrNameLst>
                                      </p:cBhvr>
                                      <p:tavLst>
                                        <p:tav tm="0" fmla="#ppt_y-sin(pi*$)/3">
                                          <p:val>
                                            <p:fltVal val="0.5"/>
                                          </p:val>
                                        </p:tav>
                                        <p:tav tm="100000">
                                          <p:val>
                                            <p:fltVal val="1"/>
                                          </p:val>
                                        </p:tav>
                                      </p:tavLst>
                                    </p:anim>
                                    <p:anim calcmode="lin" valueType="num">
                                      <p:cBhvr>
                                        <p:cTn id="124" dur="664" tmFilter="0, 0; 0.125,0.2665; 0.25,0.4; 0.375,0.465; 0.5,0.5;  0.625,0.535; 0.75,0.6; 0.875,0.7335; 1,1">
                                          <p:stCondLst>
                                            <p:cond delay="664"/>
                                          </p:stCondLst>
                                        </p:cTn>
                                        <p:tgtEl>
                                          <p:spTgt spid="21"/>
                                        </p:tgtEl>
                                        <p:attrNameLst>
                                          <p:attrName>ppt_y</p:attrName>
                                        </p:attrNameLst>
                                      </p:cBhvr>
                                      <p:tavLst>
                                        <p:tav tm="0" fmla="#ppt_y-sin(pi*$)/9">
                                          <p:val>
                                            <p:fltVal val="0"/>
                                          </p:val>
                                        </p:tav>
                                        <p:tav tm="100000">
                                          <p:val>
                                            <p:fltVal val="1"/>
                                          </p:val>
                                        </p:tav>
                                      </p:tavLst>
                                    </p:anim>
                                    <p:anim calcmode="lin" valueType="num">
                                      <p:cBhvr>
                                        <p:cTn id="125" dur="332" tmFilter="0, 0; 0.125,0.2665; 0.25,0.4; 0.375,0.465; 0.5,0.5;  0.625,0.535; 0.75,0.6; 0.875,0.7335; 1,1">
                                          <p:stCondLst>
                                            <p:cond delay="1324"/>
                                          </p:stCondLst>
                                        </p:cTn>
                                        <p:tgtEl>
                                          <p:spTgt spid="21"/>
                                        </p:tgtEl>
                                        <p:attrNameLst>
                                          <p:attrName>ppt_y</p:attrName>
                                        </p:attrNameLst>
                                      </p:cBhvr>
                                      <p:tavLst>
                                        <p:tav tm="0" fmla="#ppt_y-sin(pi*$)/27">
                                          <p:val>
                                            <p:fltVal val="0"/>
                                          </p:val>
                                        </p:tav>
                                        <p:tav tm="100000">
                                          <p:val>
                                            <p:fltVal val="1"/>
                                          </p:val>
                                        </p:tav>
                                      </p:tavLst>
                                    </p:anim>
                                    <p:anim calcmode="lin" valueType="num">
                                      <p:cBhvr>
                                        <p:cTn id="126" dur="164" tmFilter="0, 0; 0.125,0.2665; 0.25,0.4; 0.375,0.465; 0.5,0.5;  0.625,0.535; 0.75,0.6; 0.875,0.7335; 1,1">
                                          <p:stCondLst>
                                            <p:cond delay="1656"/>
                                          </p:stCondLst>
                                        </p:cTn>
                                        <p:tgtEl>
                                          <p:spTgt spid="21"/>
                                        </p:tgtEl>
                                        <p:attrNameLst>
                                          <p:attrName>ppt_y</p:attrName>
                                        </p:attrNameLst>
                                      </p:cBhvr>
                                      <p:tavLst>
                                        <p:tav tm="0" fmla="#ppt_y-sin(pi*$)/81">
                                          <p:val>
                                            <p:fltVal val="0"/>
                                          </p:val>
                                        </p:tav>
                                        <p:tav tm="100000">
                                          <p:val>
                                            <p:fltVal val="1"/>
                                          </p:val>
                                        </p:tav>
                                      </p:tavLst>
                                    </p:anim>
                                    <p:animScale>
                                      <p:cBhvr>
                                        <p:cTn id="127" dur="26">
                                          <p:stCondLst>
                                            <p:cond delay="650"/>
                                          </p:stCondLst>
                                        </p:cTn>
                                        <p:tgtEl>
                                          <p:spTgt spid="21"/>
                                        </p:tgtEl>
                                      </p:cBhvr>
                                      <p:to x="100000" y="60000"/>
                                    </p:animScale>
                                    <p:animScale>
                                      <p:cBhvr>
                                        <p:cTn id="128" dur="166" decel="50000">
                                          <p:stCondLst>
                                            <p:cond delay="676"/>
                                          </p:stCondLst>
                                        </p:cTn>
                                        <p:tgtEl>
                                          <p:spTgt spid="21"/>
                                        </p:tgtEl>
                                      </p:cBhvr>
                                      <p:to x="100000" y="100000"/>
                                    </p:animScale>
                                    <p:animScale>
                                      <p:cBhvr>
                                        <p:cTn id="129" dur="26">
                                          <p:stCondLst>
                                            <p:cond delay="1312"/>
                                          </p:stCondLst>
                                        </p:cTn>
                                        <p:tgtEl>
                                          <p:spTgt spid="21"/>
                                        </p:tgtEl>
                                      </p:cBhvr>
                                      <p:to x="100000" y="80000"/>
                                    </p:animScale>
                                    <p:animScale>
                                      <p:cBhvr>
                                        <p:cTn id="130" dur="166" decel="50000">
                                          <p:stCondLst>
                                            <p:cond delay="1338"/>
                                          </p:stCondLst>
                                        </p:cTn>
                                        <p:tgtEl>
                                          <p:spTgt spid="21"/>
                                        </p:tgtEl>
                                      </p:cBhvr>
                                      <p:to x="100000" y="100000"/>
                                    </p:animScale>
                                    <p:animScale>
                                      <p:cBhvr>
                                        <p:cTn id="131" dur="26">
                                          <p:stCondLst>
                                            <p:cond delay="1642"/>
                                          </p:stCondLst>
                                        </p:cTn>
                                        <p:tgtEl>
                                          <p:spTgt spid="21"/>
                                        </p:tgtEl>
                                      </p:cBhvr>
                                      <p:to x="100000" y="90000"/>
                                    </p:animScale>
                                    <p:animScale>
                                      <p:cBhvr>
                                        <p:cTn id="132" dur="166" decel="50000">
                                          <p:stCondLst>
                                            <p:cond delay="1668"/>
                                          </p:stCondLst>
                                        </p:cTn>
                                        <p:tgtEl>
                                          <p:spTgt spid="21"/>
                                        </p:tgtEl>
                                      </p:cBhvr>
                                      <p:to x="100000" y="100000"/>
                                    </p:animScale>
                                    <p:animScale>
                                      <p:cBhvr>
                                        <p:cTn id="133" dur="26">
                                          <p:stCondLst>
                                            <p:cond delay="1808"/>
                                          </p:stCondLst>
                                        </p:cTn>
                                        <p:tgtEl>
                                          <p:spTgt spid="21"/>
                                        </p:tgtEl>
                                      </p:cBhvr>
                                      <p:to x="100000" y="95000"/>
                                    </p:animScale>
                                    <p:animScale>
                                      <p:cBhvr>
                                        <p:cTn id="134" dur="166" decel="50000">
                                          <p:stCondLst>
                                            <p:cond delay="1834"/>
                                          </p:stCondLst>
                                        </p:cTn>
                                        <p:tgtEl>
                                          <p:spTgt spid="21"/>
                                        </p:tgtEl>
                                      </p:cBhvr>
                                      <p:to x="100000" y="100000"/>
                                    </p:animScale>
                                  </p:childTnLst>
                                </p:cTn>
                              </p:par>
                              <p:par>
                                <p:cTn id="135" presetID="26" presetClass="entr" presetSubtype="0" fill="hold" grpId="0" nodeType="withEffect">
                                  <p:stCondLst>
                                    <p:cond delay="0"/>
                                  </p:stCondLst>
                                  <p:childTnLst>
                                    <p:set>
                                      <p:cBhvr>
                                        <p:cTn id="136" dur="1" fill="hold">
                                          <p:stCondLst>
                                            <p:cond delay="0"/>
                                          </p:stCondLst>
                                        </p:cTn>
                                        <p:tgtEl>
                                          <p:spTgt spid="22"/>
                                        </p:tgtEl>
                                        <p:attrNameLst>
                                          <p:attrName>style.visibility</p:attrName>
                                        </p:attrNameLst>
                                      </p:cBhvr>
                                      <p:to>
                                        <p:strVal val="visible"/>
                                      </p:to>
                                    </p:set>
                                    <p:animEffect transition="in" filter="wipe(down)">
                                      <p:cBhvr>
                                        <p:cTn id="137" dur="580">
                                          <p:stCondLst>
                                            <p:cond delay="0"/>
                                          </p:stCondLst>
                                        </p:cTn>
                                        <p:tgtEl>
                                          <p:spTgt spid="22"/>
                                        </p:tgtEl>
                                      </p:cBhvr>
                                    </p:animEffect>
                                    <p:anim calcmode="lin" valueType="num">
                                      <p:cBhvr>
                                        <p:cTn id="138" dur="1822" tmFilter="0,0; 0.14,0.36; 0.43,0.73; 0.71,0.91; 1.0,1.0">
                                          <p:stCondLst>
                                            <p:cond delay="0"/>
                                          </p:stCondLst>
                                        </p:cTn>
                                        <p:tgtEl>
                                          <p:spTgt spid="22"/>
                                        </p:tgtEl>
                                        <p:attrNameLst>
                                          <p:attrName>ppt_x</p:attrName>
                                        </p:attrNameLst>
                                      </p:cBhvr>
                                      <p:tavLst>
                                        <p:tav tm="0">
                                          <p:val>
                                            <p:strVal val="#ppt_x-0.25"/>
                                          </p:val>
                                        </p:tav>
                                        <p:tav tm="100000">
                                          <p:val>
                                            <p:strVal val="#ppt_x"/>
                                          </p:val>
                                        </p:tav>
                                      </p:tavLst>
                                    </p:anim>
                                    <p:anim calcmode="lin" valueType="num">
                                      <p:cBhvr>
                                        <p:cTn id="139" dur="664" tmFilter="0.0,0.0; 0.25,0.07; 0.50,0.2; 0.75,0.467; 1.0,1.0">
                                          <p:stCondLst>
                                            <p:cond delay="0"/>
                                          </p:stCondLst>
                                        </p:cTn>
                                        <p:tgtEl>
                                          <p:spTgt spid="22"/>
                                        </p:tgtEl>
                                        <p:attrNameLst>
                                          <p:attrName>ppt_y</p:attrName>
                                        </p:attrNameLst>
                                      </p:cBhvr>
                                      <p:tavLst>
                                        <p:tav tm="0" fmla="#ppt_y-sin(pi*$)/3">
                                          <p:val>
                                            <p:fltVal val="0.5"/>
                                          </p:val>
                                        </p:tav>
                                        <p:tav tm="100000">
                                          <p:val>
                                            <p:fltVal val="1"/>
                                          </p:val>
                                        </p:tav>
                                      </p:tavLst>
                                    </p:anim>
                                    <p:anim calcmode="lin" valueType="num">
                                      <p:cBhvr>
                                        <p:cTn id="140" dur="664" tmFilter="0, 0; 0.125,0.2665; 0.25,0.4; 0.375,0.465; 0.5,0.5;  0.625,0.535; 0.75,0.6; 0.875,0.7335; 1,1">
                                          <p:stCondLst>
                                            <p:cond delay="664"/>
                                          </p:stCondLst>
                                        </p:cTn>
                                        <p:tgtEl>
                                          <p:spTgt spid="22"/>
                                        </p:tgtEl>
                                        <p:attrNameLst>
                                          <p:attrName>ppt_y</p:attrName>
                                        </p:attrNameLst>
                                      </p:cBhvr>
                                      <p:tavLst>
                                        <p:tav tm="0" fmla="#ppt_y-sin(pi*$)/9">
                                          <p:val>
                                            <p:fltVal val="0"/>
                                          </p:val>
                                        </p:tav>
                                        <p:tav tm="100000">
                                          <p:val>
                                            <p:fltVal val="1"/>
                                          </p:val>
                                        </p:tav>
                                      </p:tavLst>
                                    </p:anim>
                                    <p:anim calcmode="lin" valueType="num">
                                      <p:cBhvr>
                                        <p:cTn id="141" dur="332" tmFilter="0, 0; 0.125,0.2665; 0.25,0.4; 0.375,0.465; 0.5,0.5;  0.625,0.535; 0.75,0.6; 0.875,0.7335; 1,1">
                                          <p:stCondLst>
                                            <p:cond delay="1324"/>
                                          </p:stCondLst>
                                        </p:cTn>
                                        <p:tgtEl>
                                          <p:spTgt spid="22"/>
                                        </p:tgtEl>
                                        <p:attrNameLst>
                                          <p:attrName>ppt_y</p:attrName>
                                        </p:attrNameLst>
                                      </p:cBhvr>
                                      <p:tavLst>
                                        <p:tav tm="0" fmla="#ppt_y-sin(pi*$)/27">
                                          <p:val>
                                            <p:fltVal val="0"/>
                                          </p:val>
                                        </p:tav>
                                        <p:tav tm="100000">
                                          <p:val>
                                            <p:fltVal val="1"/>
                                          </p:val>
                                        </p:tav>
                                      </p:tavLst>
                                    </p:anim>
                                    <p:anim calcmode="lin" valueType="num">
                                      <p:cBhvr>
                                        <p:cTn id="142" dur="164" tmFilter="0, 0; 0.125,0.2665; 0.25,0.4; 0.375,0.465; 0.5,0.5;  0.625,0.535; 0.75,0.6; 0.875,0.7335; 1,1">
                                          <p:stCondLst>
                                            <p:cond delay="1656"/>
                                          </p:stCondLst>
                                        </p:cTn>
                                        <p:tgtEl>
                                          <p:spTgt spid="22"/>
                                        </p:tgtEl>
                                        <p:attrNameLst>
                                          <p:attrName>ppt_y</p:attrName>
                                        </p:attrNameLst>
                                      </p:cBhvr>
                                      <p:tavLst>
                                        <p:tav tm="0" fmla="#ppt_y-sin(pi*$)/81">
                                          <p:val>
                                            <p:fltVal val="0"/>
                                          </p:val>
                                        </p:tav>
                                        <p:tav tm="100000">
                                          <p:val>
                                            <p:fltVal val="1"/>
                                          </p:val>
                                        </p:tav>
                                      </p:tavLst>
                                    </p:anim>
                                    <p:animScale>
                                      <p:cBhvr>
                                        <p:cTn id="143" dur="26">
                                          <p:stCondLst>
                                            <p:cond delay="650"/>
                                          </p:stCondLst>
                                        </p:cTn>
                                        <p:tgtEl>
                                          <p:spTgt spid="22"/>
                                        </p:tgtEl>
                                      </p:cBhvr>
                                      <p:to x="100000" y="60000"/>
                                    </p:animScale>
                                    <p:animScale>
                                      <p:cBhvr>
                                        <p:cTn id="144" dur="166" decel="50000">
                                          <p:stCondLst>
                                            <p:cond delay="676"/>
                                          </p:stCondLst>
                                        </p:cTn>
                                        <p:tgtEl>
                                          <p:spTgt spid="22"/>
                                        </p:tgtEl>
                                      </p:cBhvr>
                                      <p:to x="100000" y="100000"/>
                                    </p:animScale>
                                    <p:animScale>
                                      <p:cBhvr>
                                        <p:cTn id="145" dur="26">
                                          <p:stCondLst>
                                            <p:cond delay="1312"/>
                                          </p:stCondLst>
                                        </p:cTn>
                                        <p:tgtEl>
                                          <p:spTgt spid="22"/>
                                        </p:tgtEl>
                                      </p:cBhvr>
                                      <p:to x="100000" y="80000"/>
                                    </p:animScale>
                                    <p:animScale>
                                      <p:cBhvr>
                                        <p:cTn id="146" dur="166" decel="50000">
                                          <p:stCondLst>
                                            <p:cond delay="1338"/>
                                          </p:stCondLst>
                                        </p:cTn>
                                        <p:tgtEl>
                                          <p:spTgt spid="22"/>
                                        </p:tgtEl>
                                      </p:cBhvr>
                                      <p:to x="100000" y="100000"/>
                                    </p:animScale>
                                    <p:animScale>
                                      <p:cBhvr>
                                        <p:cTn id="147" dur="26">
                                          <p:stCondLst>
                                            <p:cond delay="1642"/>
                                          </p:stCondLst>
                                        </p:cTn>
                                        <p:tgtEl>
                                          <p:spTgt spid="22"/>
                                        </p:tgtEl>
                                      </p:cBhvr>
                                      <p:to x="100000" y="90000"/>
                                    </p:animScale>
                                    <p:animScale>
                                      <p:cBhvr>
                                        <p:cTn id="148" dur="166" decel="50000">
                                          <p:stCondLst>
                                            <p:cond delay="1668"/>
                                          </p:stCondLst>
                                        </p:cTn>
                                        <p:tgtEl>
                                          <p:spTgt spid="22"/>
                                        </p:tgtEl>
                                      </p:cBhvr>
                                      <p:to x="100000" y="100000"/>
                                    </p:animScale>
                                    <p:animScale>
                                      <p:cBhvr>
                                        <p:cTn id="149" dur="26">
                                          <p:stCondLst>
                                            <p:cond delay="1808"/>
                                          </p:stCondLst>
                                        </p:cTn>
                                        <p:tgtEl>
                                          <p:spTgt spid="22"/>
                                        </p:tgtEl>
                                      </p:cBhvr>
                                      <p:to x="100000" y="95000"/>
                                    </p:animScale>
                                    <p:animScale>
                                      <p:cBhvr>
                                        <p:cTn id="150" dur="166" decel="50000">
                                          <p:stCondLst>
                                            <p:cond delay="1834"/>
                                          </p:stCondLst>
                                        </p:cTn>
                                        <p:tgtEl>
                                          <p:spTgt spid="22"/>
                                        </p:tgtEl>
                                      </p:cBhvr>
                                      <p:to x="100000" y="100000"/>
                                    </p:animScale>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23"/>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P spid="9" grpId="0"/>
      <p:bldP spid="11" grpId="0"/>
      <p:bldP spid="4" grpId="0"/>
      <p:bldP spid="5" grpId="0"/>
      <p:bldP spid="10" grpId="0"/>
      <p:bldP spid="12" grpId="0" animBg="1"/>
      <p:bldP spid="13" grpId="0"/>
      <p:bldP spid="14" grpId="0" animBg="1"/>
      <p:bldP spid="15" grpId="0"/>
      <p:bldP spid="16" grpId="0" animBg="1"/>
      <p:bldP spid="17" grpId="0" animBg="1"/>
      <p:bldP spid="18" grpId="0"/>
      <p:bldP spid="19" grpId="0"/>
      <p:bldP spid="20" grpId="0" animBg="1"/>
      <p:bldP spid="21" grpId="0"/>
      <p:bldP spid="22" grpId="0" animBg="1"/>
      <p:bldP spid="2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75F79-874C-4DEF-B1E3-93EA348934D0}"/>
              </a:ext>
            </a:extLst>
          </p:cNvPr>
          <p:cNvSpPr>
            <a:spLocks noGrp="1"/>
          </p:cNvSpPr>
          <p:nvPr>
            <p:ph type="title"/>
          </p:nvPr>
        </p:nvSpPr>
        <p:spPr>
          <a:xfrm>
            <a:off x="508000" y="786157"/>
            <a:ext cx="6447501" cy="613174"/>
          </a:xfrm>
        </p:spPr>
        <p:txBody>
          <a:bodyPr>
            <a:normAutofit fontScale="90000"/>
          </a:bodyPr>
          <a:lstStyle/>
          <a:p>
            <a:r>
              <a:rPr lang="en-GB" dirty="0"/>
              <a:t>Time Value of Money</a:t>
            </a:r>
          </a:p>
        </p:txBody>
      </p:sp>
      <p:sp>
        <p:nvSpPr>
          <p:cNvPr id="3" name="Content Placeholder 2">
            <a:extLst>
              <a:ext uri="{FF2B5EF4-FFF2-40B4-BE49-F238E27FC236}">
                <a16:creationId xmlns:a16="http://schemas.microsoft.com/office/drawing/2014/main" id="{A1D79677-451D-DC97-BE30-A9EA19BDA8A0}"/>
              </a:ext>
            </a:extLst>
          </p:cNvPr>
          <p:cNvSpPr>
            <a:spLocks noGrp="1"/>
          </p:cNvSpPr>
          <p:nvPr>
            <p:ph idx="1"/>
          </p:nvPr>
        </p:nvSpPr>
        <p:spPr>
          <a:xfrm>
            <a:off x="508001" y="1616017"/>
            <a:ext cx="7232351" cy="1014183"/>
          </a:xfrm>
        </p:spPr>
        <p:txBody>
          <a:bodyPr>
            <a:normAutofit/>
          </a:bodyPr>
          <a:lstStyle/>
          <a:p>
            <a:pPr marL="0" indent="0">
              <a:buClr>
                <a:srgbClr val="0070C0"/>
              </a:buClr>
              <a:buSzPct val="90000"/>
              <a:buNone/>
            </a:pPr>
            <a:r>
              <a:rPr lang="en-GB" sz="1400" dirty="0">
                <a:latin typeface="Arial" panose="020B0604020202020204" pitchFamily="34" charset="0"/>
                <a:cs typeface="Arial" panose="020B0604020202020204" pitchFamily="34" charset="0"/>
              </a:rPr>
              <a:t>Suppose you decide that £15 will compensate you for </a:t>
            </a:r>
            <a:r>
              <a:rPr lang="en-GB" sz="1400" b="1" dirty="0">
                <a:latin typeface="Arial" panose="020B0604020202020204" pitchFamily="34" charset="0"/>
                <a:cs typeface="Arial" panose="020B0604020202020204" pitchFamily="34" charset="0"/>
              </a:rPr>
              <a:t>delaying consumption, inflation and</a:t>
            </a:r>
            <a:r>
              <a:rPr lang="en-GB" sz="1400" dirty="0">
                <a:latin typeface="Arial" panose="020B0604020202020204" pitchFamily="34" charset="0"/>
                <a:cs typeface="Arial" panose="020B0604020202020204" pitchFamily="34" charset="0"/>
              </a:rPr>
              <a:t> </a:t>
            </a:r>
            <a:r>
              <a:rPr lang="en-GB" sz="1400" b="1" dirty="0">
                <a:latin typeface="Arial" panose="020B0604020202020204" pitchFamily="34" charset="0"/>
                <a:cs typeface="Arial" panose="020B0604020202020204" pitchFamily="34" charset="0"/>
              </a:rPr>
              <a:t>risk. </a:t>
            </a:r>
            <a:r>
              <a:rPr lang="en-GB" sz="1400" dirty="0">
                <a:latin typeface="Arial" panose="020B0604020202020204" pitchFamily="34" charset="0"/>
                <a:cs typeface="Arial" panose="020B0604020202020204" pitchFamily="34" charset="0"/>
              </a:rPr>
              <a:t>How will your choice change if the bank offered you </a:t>
            </a:r>
            <a:r>
              <a:rPr lang="en-GB" sz="1400" b="1" dirty="0">
                <a:solidFill>
                  <a:srgbClr val="0070C0"/>
                </a:solidFill>
                <a:latin typeface="Arial" panose="020B0604020202020204" pitchFamily="34" charset="0"/>
                <a:cs typeface="Arial" panose="020B0604020202020204" pitchFamily="34" charset="0"/>
              </a:rPr>
              <a:t>£100 </a:t>
            </a:r>
            <a:r>
              <a:rPr lang="en-GB" sz="1400" b="1" dirty="0">
                <a:latin typeface="Arial" panose="020B0604020202020204" pitchFamily="34" charset="0"/>
                <a:cs typeface="Arial" panose="020B0604020202020204" pitchFamily="34" charset="0"/>
              </a:rPr>
              <a:t>today vs </a:t>
            </a:r>
            <a:r>
              <a:rPr lang="en-GB" sz="1400" b="1" dirty="0">
                <a:solidFill>
                  <a:srgbClr val="0070C0"/>
                </a:solidFill>
                <a:latin typeface="Arial" panose="020B0604020202020204" pitchFamily="34" charset="0"/>
                <a:cs typeface="Arial" panose="020B0604020202020204" pitchFamily="34" charset="0"/>
              </a:rPr>
              <a:t>£115 </a:t>
            </a:r>
            <a:r>
              <a:rPr lang="en-GB" sz="1400" b="1" dirty="0">
                <a:latin typeface="Arial" panose="020B0604020202020204" pitchFamily="34" charset="0"/>
                <a:cs typeface="Arial" panose="020B0604020202020204" pitchFamily="34" charset="0"/>
              </a:rPr>
              <a:t>in</a:t>
            </a:r>
            <a:r>
              <a:rPr lang="en-GB" sz="1400" b="1" dirty="0">
                <a:solidFill>
                  <a:srgbClr val="0070C0"/>
                </a:solidFill>
                <a:latin typeface="Arial" panose="020B0604020202020204" pitchFamily="34" charset="0"/>
                <a:cs typeface="Arial" panose="020B0604020202020204" pitchFamily="34" charset="0"/>
              </a:rPr>
              <a:t> </a:t>
            </a:r>
            <a:r>
              <a:rPr lang="en-GB" sz="1400" b="1" dirty="0">
                <a:latin typeface="Arial" panose="020B0604020202020204" pitchFamily="34" charset="0"/>
                <a:cs typeface="Arial" panose="020B0604020202020204" pitchFamily="34" charset="0"/>
              </a:rPr>
              <a:t>a year</a:t>
            </a:r>
            <a:r>
              <a:rPr lang="en-GB" sz="1400" dirty="0">
                <a:latin typeface="Arial" panose="020B0604020202020204" pitchFamily="34" charset="0"/>
                <a:cs typeface="Arial" panose="020B0604020202020204" pitchFamily="34" charset="0"/>
              </a:rPr>
              <a:t>?</a:t>
            </a:r>
          </a:p>
          <a:p>
            <a:endParaRPr lang="en-GB" sz="1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89BE35A-E857-C88F-815F-93A127FA4E94}"/>
                  </a:ext>
                </a:extLst>
              </p:cNvPr>
              <p:cNvSpPr txBox="1"/>
              <p:nvPr/>
            </p:nvSpPr>
            <p:spPr>
              <a:xfrm>
                <a:off x="480948" y="2559650"/>
                <a:ext cx="7232351" cy="523220"/>
              </a:xfrm>
              <a:prstGeom prst="rect">
                <a:avLst/>
              </a:prstGeom>
              <a:noFill/>
            </p:spPr>
            <p:txBody>
              <a:bodyPr wrap="square">
                <a:spAutoFit/>
              </a:bodyPr>
              <a:lstStyle/>
              <a:p>
                <a:pPr>
                  <a:buClr>
                    <a:srgbClr val="C00000"/>
                  </a:buClr>
                  <a:buSzPct val="90000"/>
                </a:pPr>
                <a14:m>
                  <m:oMath xmlns:m="http://schemas.openxmlformats.org/officeDocument/2006/math">
                    <m:r>
                      <a:rPr lang="en-GB" sz="1400" i="1">
                        <a:solidFill>
                          <a:srgbClr val="0070C0"/>
                        </a:solidFill>
                        <a:latin typeface="Cambria Math" panose="02040503050406030204" pitchFamily="18" charset="0"/>
                        <a:ea typeface="Cambria Math" panose="02040503050406030204" pitchFamily="18" charset="0"/>
                      </a:rPr>
                      <m:t>⇒</m:t>
                    </m:r>
                  </m:oMath>
                </a14:m>
                <a:r>
                  <a:rPr lang="en-GB" sz="1400" dirty="0">
                    <a:latin typeface="Arial" panose="020B0604020202020204" pitchFamily="34" charset="0"/>
                    <a:cs typeface="Arial" panose="020B0604020202020204" pitchFamily="34" charset="0"/>
                  </a:rPr>
                  <a:t> You would be indifferent.</a:t>
                </a:r>
              </a:p>
              <a:p>
                <a:pPr>
                  <a:buClr>
                    <a:srgbClr val="C00000"/>
                  </a:buClr>
                  <a:buSzPct val="90000"/>
                </a:pPr>
                <a14:m>
                  <m:oMath xmlns:m="http://schemas.openxmlformats.org/officeDocument/2006/math">
                    <m:r>
                      <a:rPr lang="en-GB" sz="1400" i="1">
                        <a:solidFill>
                          <a:srgbClr val="0070C0"/>
                        </a:solidFill>
                        <a:latin typeface="Cambria Math" panose="02040503050406030204" pitchFamily="18" charset="0"/>
                        <a:ea typeface="Cambria Math" panose="02040503050406030204" pitchFamily="18" charset="0"/>
                      </a:rPr>
                      <m:t>⇒ </m:t>
                    </m:r>
                  </m:oMath>
                </a14:m>
                <a:r>
                  <a:rPr lang="en-GB" sz="1400" dirty="0">
                    <a:latin typeface="Arial" panose="020B0604020202020204" pitchFamily="34" charset="0"/>
                    <a:cs typeface="Arial" panose="020B0604020202020204" pitchFamily="34" charset="0"/>
                  </a:rPr>
                  <a:t>The additional £15 would put the same position in 1 year as your position today.</a:t>
                </a:r>
              </a:p>
            </p:txBody>
          </p:sp>
        </mc:Choice>
        <mc:Fallback xmlns="">
          <p:sp>
            <p:nvSpPr>
              <p:cNvPr id="5" name="TextBox 4">
                <a:extLst>
                  <a:ext uri="{FF2B5EF4-FFF2-40B4-BE49-F238E27FC236}">
                    <a16:creationId xmlns:a16="http://schemas.microsoft.com/office/drawing/2014/main" id="{789BE35A-E857-C88F-815F-93A127FA4E94}"/>
                  </a:ext>
                </a:extLst>
              </p:cNvPr>
              <p:cNvSpPr txBox="1">
                <a:spLocks noRot="1" noChangeAspect="1" noMove="1" noResize="1" noEditPoints="1" noAdjustHandles="1" noChangeArrowheads="1" noChangeShapeType="1" noTextEdit="1"/>
              </p:cNvSpPr>
              <p:nvPr/>
            </p:nvSpPr>
            <p:spPr>
              <a:xfrm>
                <a:off x="480948" y="2559650"/>
                <a:ext cx="7232351" cy="523220"/>
              </a:xfrm>
              <a:prstGeom prst="rect">
                <a:avLst/>
              </a:prstGeom>
              <a:blipFill>
                <a:blip r:embed="rId2"/>
                <a:stretch>
                  <a:fillRect t="-2326" b="-10465"/>
                </a:stretch>
              </a:blipFill>
            </p:spPr>
            <p:txBody>
              <a:bodyPr/>
              <a:lstStyle/>
              <a:p>
                <a:r>
                  <a:rPr lang="en-GB">
                    <a:noFill/>
                  </a:rPr>
                  <a:t> </a:t>
                </a:r>
              </a:p>
            </p:txBody>
          </p:sp>
        </mc:Fallback>
      </mc:AlternateContent>
      <p:sp>
        <p:nvSpPr>
          <p:cNvPr id="4" name="Content Placeholder 2">
            <a:extLst>
              <a:ext uri="{FF2B5EF4-FFF2-40B4-BE49-F238E27FC236}">
                <a16:creationId xmlns:a16="http://schemas.microsoft.com/office/drawing/2014/main" id="{4083B3BE-9876-DA31-97DE-E553E8F23E98}"/>
              </a:ext>
            </a:extLst>
          </p:cNvPr>
          <p:cNvSpPr txBox="1">
            <a:spLocks/>
          </p:cNvSpPr>
          <p:nvPr/>
        </p:nvSpPr>
        <p:spPr>
          <a:xfrm>
            <a:off x="508000" y="3356992"/>
            <a:ext cx="7448375" cy="1081937"/>
          </a:xfrm>
        </p:spPr>
        <p:txBody>
          <a:bodyPr/>
          <a:lstStyle>
            <a:lvl1pPr marL="454025" indent="-454025" algn="l" defTabSz="606425" rtl="0" eaLnBrk="1" fontAlgn="base" hangingPunct="1">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GB" sz="1400" dirty="0">
                <a:latin typeface="Arial" panose="020B0604020202020204" pitchFamily="34" charset="0"/>
                <a:cs typeface="Arial" panose="020B0604020202020204" pitchFamily="34" charset="0"/>
              </a:rPr>
              <a:t>The extra £15 is your </a:t>
            </a:r>
            <a:r>
              <a:rPr lang="en-GB" sz="1400" i="1" dirty="0">
                <a:solidFill>
                  <a:srgbClr val="0070C0"/>
                </a:solidFill>
                <a:latin typeface="Arial" panose="020B0604020202020204" pitchFamily="34" charset="0"/>
                <a:cs typeface="Arial" panose="020B0604020202020204" pitchFamily="34" charset="0"/>
              </a:rPr>
              <a:t>expected cash return</a:t>
            </a:r>
            <a:r>
              <a:rPr lang="en-GB" sz="1400" dirty="0">
                <a:solidFill>
                  <a:srgbClr val="0070C0"/>
                </a:solidFill>
                <a:latin typeface="Arial" panose="020B0604020202020204" pitchFamily="34" charset="0"/>
                <a:cs typeface="Arial" panose="020B0604020202020204" pitchFamily="34" charset="0"/>
              </a:rPr>
              <a:t> </a:t>
            </a:r>
            <a:r>
              <a:rPr lang="en-GB" sz="1400" dirty="0">
                <a:latin typeface="Arial" panose="020B0604020202020204" pitchFamily="34" charset="0"/>
                <a:cs typeface="Arial" panose="020B0604020202020204" pitchFamily="34" charset="0"/>
              </a:rPr>
              <a:t>from foregoing £100 today to collect your cash flow after 1 year. It compensates you for delaying consumption, bearing inflation and taking risk. </a:t>
            </a:r>
          </a:p>
          <a:p>
            <a:pPr marL="0" indent="0">
              <a:buFont typeface="Arial" charset="0"/>
              <a:buNone/>
            </a:pPr>
            <a:endParaRPr lang="en-GB" sz="1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5A3EC7E-12C1-C916-7F51-FA5C465BD9A5}"/>
                  </a:ext>
                </a:extLst>
              </p:cNvPr>
              <p:cNvSpPr txBox="1"/>
              <p:nvPr/>
            </p:nvSpPr>
            <p:spPr>
              <a:xfrm>
                <a:off x="580007" y="4044186"/>
                <a:ext cx="7376368" cy="932307"/>
              </a:xfrm>
              <a:prstGeom prst="rect">
                <a:avLst/>
              </a:prstGeom>
              <a:noFill/>
            </p:spPr>
            <p:txBody>
              <a:bodyPr wrap="square">
                <a:spAutoFit/>
              </a:bodyPr>
              <a:lstStyle/>
              <a:p>
                <a:pPr>
                  <a:buClr>
                    <a:srgbClr val="C00000"/>
                  </a:buClr>
                  <a:buSzPct val="90000"/>
                </a:pPr>
                <a14:m>
                  <m:oMathPara xmlns:m="http://schemas.openxmlformats.org/officeDocument/2006/math">
                    <m:oMathParaPr>
                      <m:jc m:val="centerGroup"/>
                    </m:oMathParaPr>
                    <m:oMath xmlns:m="http://schemas.openxmlformats.org/officeDocument/2006/math">
                      <m:r>
                        <a:rPr lang="en-GB" sz="1400" i="1" smtClean="0">
                          <a:latin typeface="Cambria Math" panose="02040503050406030204" pitchFamily="18" charset="0"/>
                        </a:rPr>
                        <m:t>𝑟</m:t>
                      </m:r>
                      <m:r>
                        <a:rPr lang="en-GB" sz="1400" i="1" smtClean="0">
                          <a:latin typeface="Cambria Math" panose="02040503050406030204" pitchFamily="18" charset="0"/>
                        </a:rPr>
                        <m:t>=</m:t>
                      </m:r>
                      <m:f>
                        <m:fPr>
                          <m:ctrlPr>
                            <a:rPr lang="en-GB" sz="1400" i="1">
                              <a:latin typeface="Cambria Math" panose="02040503050406030204" pitchFamily="18" charset="0"/>
                            </a:rPr>
                          </m:ctrlPr>
                        </m:fPr>
                        <m:num>
                          <m:r>
                            <a:rPr lang="en-GB" sz="1400" i="1">
                              <a:latin typeface="Cambria Math" panose="02040503050406030204" pitchFamily="18" charset="0"/>
                            </a:rPr>
                            <m:t>115 −100</m:t>
                          </m:r>
                        </m:num>
                        <m:den>
                          <m:r>
                            <a:rPr lang="en-GB" sz="1400" i="1">
                              <a:latin typeface="Cambria Math" panose="02040503050406030204" pitchFamily="18" charset="0"/>
                            </a:rPr>
                            <m:t>100</m:t>
                          </m:r>
                        </m:den>
                      </m:f>
                      <m:r>
                        <a:rPr lang="en-GB" sz="1400" i="1">
                          <a:latin typeface="Cambria Math" panose="02040503050406030204" pitchFamily="18" charset="0"/>
                        </a:rPr>
                        <m:t>=15%</m:t>
                      </m:r>
                    </m:oMath>
                  </m:oMathPara>
                </a14:m>
                <a:endParaRPr lang="en-GB" sz="1400" dirty="0">
                  <a:latin typeface="Arial" panose="020B0604020202020204" pitchFamily="34" charset="0"/>
                  <a:cs typeface="Arial" panose="020B0604020202020204" pitchFamily="34" charset="0"/>
                </a:endParaRPr>
              </a:p>
              <a:p>
                <a:pPr>
                  <a:buClr>
                    <a:srgbClr val="C00000"/>
                  </a:buClr>
                  <a:buSzPct val="90000"/>
                </a:pPr>
                <a:endParaRPr lang="en-GB" sz="1400" dirty="0">
                  <a:latin typeface="Arial" panose="020B0604020202020204" pitchFamily="34" charset="0"/>
                  <a:cs typeface="Arial" panose="020B0604020202020204" pitchFamily="34" charset="0"/>
                </a:endParaRPr>
              </a:p>
              <a:p>
                <a:pPr>
                  <a:buClr>
                    <a:srgbClr val="C00000"/>
                  </a:buClr>
                  <a:buSzPct val="90000"/>
                </a:pPr>
                <a14:m>
                  <m:oMath xmlns:m="http://schemas.openxmlformats.org/officeDocument/2006/math">
                    <m:r>
                      <a:rPr lang="en-GB" sz="1400">
                        <a:latin typeface="Cambria Math" panose="02040503050406030204" pitchFamily="18" charset="0"/>
                      </a:rPr>
                      <m:t> </m:t>
                    </m:r>
                    <m:r>
                      <a:rPr lang="en-GB" sz="1400" i="1">
                        <a:latin typeface="Cambria Math" panose="02040503050406030204" pitchFamily="18" charset="0"/>
                      </a:rPr>
                      <m:t>𝑟</m:t>
                    </m:r>
                    <m:r>
                      <a:rPr lang="en-GB" sz="1400">
                        <a:latin typeface="Cambria Math" panose="02040503050406030204" pitchFamily="18" charset="0"/>
                      </a:rPr>
                      <m:t>= </m:t>
                    </m:r>
                  </m:oMath>
                </a14:m>
                <a:r>
                  <a:rPr lang="en-GB" sz="1400" dirty="0">
                    <a:latin typeface="Arial" panose="020B0604020202020204" pitchFamily="34" charset="0"/>
                    <a:cs typeface="Arial" panose="020B0604020202020204" pitchFamily="34" charset="0"/>
                  </a:rPr>
                  <a:t> the expected </a:t>
                </a:r>
                <a:r>
                  <a:rPr lang="en-GB" sz="1400" i="1" dirty="0">
                    <a:latin typeface="Arial" panose="020B0604020202020204" pitchFamily="34" charset="0"/>
                    <a:cs typeface="Arial" panose="020B0604020202020204" pitchFamily="34" charset="0"/>
                  </a:rPr>
                  <a:t>annual </a:t>
                </a:r>
                <a:r>
                  <a:rPr lang="en-GB" sz="1400" dirty="0">
                    <a:latin typeface="Arial" panose="020B0604020202020204" pitchFamily="34" charset="0"/>
                    <a:cs typeface="Arial" panose="020B0604020202020204" pitchFamily="34" charset="0"/>
                  </a:rPr>
                  <a:t>return </a:t>
                </a:r>
              </a:p>
            </p:txBody>
          </p:sp>
        </mc:Choice>
        <mc:Fallback xmlns="">
          <p:sp>
            <p:nvSpPr>
              <p:cNvPr id="6" name="TextBox 5">
                <a:extLst>
                  <a:ext uri="{FF2B5EF4-FFF2-40B4-BE49-F238E27FC236}">
                    <a16:creationId xmlns:a16="http://schemas.microsoft.com/office/drawing/2014/main" id="{65A3EC7E-12C1-C916-7F51-FA5C465BD9A5}"/>
                  </a:ext>
                </a:extLst>
              </p:cNvPr>
              <p:cNvSpPr txBox="1">
                <a:spLocks noRot="1" noChangeAspect="1" noMove="1" noResize="1" noEditPoints="1" noAdjustHandles="1" noChangeArrowheads="1" noChangeShapeType="1" noTextEdit="1"/>
              </p:cNvSpPr>
              <p:nvPr/>
            </p:nvSpPr>
            <p:spPr>
              <a:xfrm>
                <a:off x="580007" y="4044186"/>
                <a:ext cx="7376368" cy="932307"/>
              </a:xfrm>
              <a:prstGeom prst="rect">
                <a:avLst/>
              </a:prstGeom>
              <a:blipFill>
                <a:blip r:embed="rId3"/>
                <a:stretch>
                  <a:fillRect b="-6536"/>
                </a:stretch>
              </a:blipFill>
            </p:spPr>
            <p:txBody>
              <a:bodyPr/>
              <a:lstStyle/>
              <a:p>
                <a:r>
                  <a:rPr lang="en-GB">
                    <a:noFill/>
                  </a:rPr>
                  <a:t> </a:t>
                </a:r>
              </a:p>
            </p:txBody>
          </p:sp>
        </mc:Fallback>
      </mc:AlternateContent>
    </p:spTree>
    <p:extLst>
      <p:ext uri="{BB962C8B-B14F-4D97-AF65-F5344CB8AC3E}">
        <p14:creationId xmlns:p14="http://schemas.microsoft.com/office/powerpoint/2010/main" val="29461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4"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4949" y="352528"/>
            <a:ext cx="7886700" cy="634117"/>
          </a:xfrm>
        </p:spPr>
        <p:txBody>
          <a:bodyPr>
            <a:normAutofit fontScale="90000"/>
          </a:bodyPr>
          <a:lstStyle/>
          <a:p>
            <a:r>
              <a:rPr lang="en-GB" dirty="0"/>
              <a:t>Simple Interest</a:t>
            </a:r>
          </a:p>
        </p:txBody>
      </p:sp>
      <p:sp>
        <p:nvSpPr>
          <p:cNvPr id="3" name="Content Placeholder 2"/>
          <p:cNvSpPr>
            <a:spLocks noGrp="1"/>
          </p:cNvSpPr>
          <p:nvPr>
            <p:ph idx="1"/>
          </p:nvPr>
        </p:nvSpPr>
        <p:spPr>
          <a:xfrm>
            <a:off x="439883" y="1219564"/>
            <a:ext cx="8591550" cy="4005724"/>
          </a:xfrm>
        </p:spPr>
        <p:txBody>
          <a:bodyPr>
            <a:normAutofit/>
          </a:bodyPr>
          <a:lstStyle/>
          <a:p>
            <a:pPr marL="0" indent="0">
              <a:buClr>
                <a:srgbClr val="C00000"/>
              </a:buClr>
              <a:buSzPct val="90000"/>
              <a:buNone/>
            </a:pPr>
            <a:r>
              <a:rPr lang="en-GB" sz="1400" b="1" dirty="0">
                <a:latin typeface="Arial" panose="020B0604020202020204" pitchFamily="34" charset="0"/>
                <a:ea typeface="Cambria Math" panose="02040503050406030204" pitchFamily="18" charset="0"/>
                <a:cs typeface="Arial" panose="020B0604020202020204" pitchFamily="34" charset="0"/>
              </a:rPr>
              <a:t>You have a 5 year investment plan, offering </a:t>
            </a:r>
            <a:r>
              <a:rPr lang="en-GB" sz="1400" b="1" i="1" dirty="0">
                <a:latin typeface="Arial" panose="020B0604020202020204" pitchFamily="34" charset="0"/>
                <a:ea typeface="Cambria Math" panose="02040503050406030204" pitchFamily="18" charset="0"/>
                <a:cs typeface="Arial" panose="020B0604020202020204" pitchFamily="34" charset="0"/>
              </a:rPr>
              <a:t>annual </a:t>
            </a:r>
            <a:r>
              <a:rPr lang="en-GB" sz="1400" b="1" dirty="0">
                <a:latin typeface="Arial" panose="020B0604020202020204" pitchFamily="34" charset="0"/>
                <a:ea typeface="Cambria Math" panose="02040503050406030204" pitchFamily="18" charset="0"/>
                <a:cs typeface="Arial" panose="020B0604020202020204" pitchFamily="34" charset="0"/>
              </a:rPr>
              <a:t>interest rate of 5%. What will your £1k be in 5 years if this is based on simple interest. Let’s look at the cashflow timeline: </a:t>
            </a:r>
          </a:p>
          <a:p>
            <a:pPr marL="0" indent="0">
              <a:buClr>
                <a:srgbClr val="C00000"/>
              </a:buClr>
              <a:buSzPct val="90000"/>
              <a:buNone/>
            </a:pPr>
            <a:endParaRPr lang="en-GB" sz="1000" i="1" dirty="0">
              <a:solidFill>
                <a:srgbClr val="C00000"/>
              </a:solidFill>
              <a:latin typeface="Arial" panose="020B0604020202020204" pitchFamily="34" charset="0"/>
              <a:ea typeface="Cambria Math" panose="02040503050406030204" pitchFamily="18" charset="0"/>
              <a:cs typeface="Arial" panose="020B0604020202020204" pitchFamily="34" charset="0"/>
            </a:endParaRPr>
          </a:p>
          <a:p>
            <a:pPr marL="0" indent="0">
              <a:buClr>
                <a:srgbClr val="C00000"/>
              </a:buClr>
              <a:buSzPct val="90000"/>
              <a:buNone/>
            </a:pPr>
            <a:endParaRPr lang="en-GB" sz="1000" i="1" dirty="0">
              <a:solidFill>
                <a:srgbClr val="C00000"/>
              </a:solidFill>
              <a:latin typeface="Arial" panose="020B0604020202020204" pitchFamily="34" charset="0"/>
              <a:ea typeface="Cambria Math" panose="02040503050406030204" pitchFamily="18" charset="0"/>
              <a:cs typeface="Arial" panose="020B0604020202020204" pitchFamily="34" charset="0"/>
            </a:endParaRPr>
          </a:p>
          <a:p>
            <a:pPr marL="0" indent="0">
              <a:buClr>
                <a:srgbClr val="C00000"/>
              </a:buClr>
              <a:buSzPct val="90000"/>
              <a:buNone/>
            </a:pPr>
            <a:endParaRPr lang="en-GB" sz="1000" i="1" dirty="0">
              <a:solidFill>
                <a:srgbClr val="C00000"/>
              </a:solidFill>
              <a:latin typeface="Arial" panose="020B0604020202020204" pitchFamily="34" charset="0"/>
              <a:ea typeface="Cambria Math" panose="02040503050406030204" pitchFamily="18" charset="0"/>
              <a:cs typeface="Arial" panose="020B0604020202020204" pitchFamily="34" charset="0"/>
            </a:endParaRPr>
          </a:p>
          <a:p>
            <a:pPr marL="0" indent="0">
              <a:buClr>
                <a:srgbClr val="C00000"/>
              </a:buClr>
              <a:buSzPct val="90000"/>
              <a:buNone/>
            </a:pPr>
            <a:endParaRPr lang="en-GB" sz="1000" i="1" dirty="0">
              <a:solidFill>
                <a:srgbClr val="C00000"/>
              </a:solidFill>
              <a:latin typeface="Arial" panose="020B0604020202020204" pitchFamily="34" charset="0"/>
              <a:ea typeface="Cambria Math" panose="02040503050406030204" pitchFamily="18" charset="0"/>
              <a:cs typeface="Arial" panose="020B0604020202020204" pitchFamily="34" charset="0"/>
            </a:endParaRPr>
          </a:p>
          <a:p>
            <a:pPr marL="0" indent="0">
              <a:buClr>
                <a:srgbClr val="C00000"/>
              </a:buClr>
              <a:buSzPct val="90000"/>
              <a:buNone/>
            </a:pPr>
            <a:endParaRPr lang="en-GB" sz="1000" i="1" dirty="0">
              <a:solidFill>
                <a:srgbClr val="C00000"/>
              </a:solidFill>
              <a:latin typeface="Arial" panose="020B0604020202020204" pitchFamily="34" charset="0"/>
              <a:ea typeface="Cambria Math" panose="02040503050406030204" pitchFamily="18" charset="0"/>
              <a:cs typeface="Arial" panose="020B0604020202020204" pitchFamily="34" charset="0"/>
            </a:endParaRPr>
          </a:p>
          <a:p>
            <a:pPr marL="0" indent="0">
              <a:buClr>
                <a:srgbClr val="C00000"/>
              </a:buClr>
              <a:buSzPct val="90000"/>
              <a:buNone/>
            </a:pPr>
            <a:endParaRPr lang="en-GB" sz="1000" i="1" dirty="0">
              <a:solidFill>
                <a:srgbClr val="C00000"/>
              </a:solidFill>
              <a:latin typeface="Arial" panose="020B0604020202020204" pitchFamily="34" charset="0"/>
              <a:ea typeface="Cambria Math" panose="02040503050406030204" pitchFamily="18" charset="0"/>
              <a:cs typeface="Arial" panose="020B0604020202020204" pitchFamily="34" charset="0"/>
            </a:endParaRPr>
          </a:p>
          <a:p>
            <a:pPr marL="0" indent="0">
              <a:buClr>
                <a:srgbClr val="C00000"/>
              </a:buClr>
              <a:buSzPct val="90000"/>
              <a:buNone/>
            </a:pPr>
            <a:endParaRPr lang="en-GB" sz="1000" i="1" dirty="0">
              <a:solidFill>
                <a:srgbClr val="C00000"/>
              </a:solidFill>
              <a:latin typeface="Arial" panose="020B0604020202020204" pitchFamily="34" charset="0"/>
              <a:ea typeface="Cambria Math" panose="02040503050406030204" pitchFamily="18" charset="0"/>
              <a:cs typeface="Arial" panose="020B0604020202020204" pitchFamily="34" charset="0"/>
            </a:endParaRPr>
          </a:p>
          <a:p>
            <a:pPr marL="0" indent="0">
              <a:buClr>
                <a:srgbClr val="C00000"/>
              </a:buClr>
              <a:buSzPct val="90000"/>
              <a:buNone/>
            </a:pPr>
            <a:endParaRPr lang="en-GB" sz="10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2"/>
          </p:nvPr>
        </p:nvSpPr>
        <p:spPr>
          <a:xfrm>
            <a:off x="8548754" y="5710698"/>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35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8</a:t>
            </a:fld>
            <a:endParaRPr lang="en-GB" sz="1350" dirty="0">
              <a:solidFill>
                <a:prstClr val="black">
                  <a:lumMod val="50000"/>
                  <a:lumOff val="50000"/>
                </a:prstClr>
              </a:solidFill>
              <a:latin typeface="Calibri" panose="020F0502020204030204"/>
              <a:ea typeface="+mn-ea"/>
            </a:endParaRPr>
          </a:p>
        </p:txBody>
      </p:sp>
      <p:cxnSp>
        <p:nvCxnSpPr>
          <p:cNvPr id="6" name="Straight Connector 5">
            <a:extLst>
              <a:ext uri="{FF2B5EF4-FFF2-40B4-BE49-F238E27FC236}">
                <a16:creationId xmlns:a16="http://schemas.microsoft.com/office/drawing/2014/main" id="{FA2167AA-98EA-4279-B410-6F3AD66EC39D}"/>
              </a:ext>
            </a:extLst>
          </p:cNvPr>
          <p:cNvCxnSpPr/>
          <p:nvPr/>
        </p:nvCxnSpPr>
        <p:spPr>
          <a:xfrm>
            <a:off x="1121002" y="4678703"/>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DC5707A-55D9-45D0-AA4E-1AD5A9F83CD0}"/>
              </a:ext>
            </a:extLst>
          </p:cNvPr>
          <p:cNvCxnSpPr>
            <a:cxnSpLocks/>
          </p:cNvCxnSpPr>
          <p:nvPr/>
        </p:nvCxnSpPr>
        <p:spPr>
          <a:xfrm>
            <a:off x="1134437" y="4827790"/>
            <a:ext cx="675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0F1E744-C5A1-488E-B178-50C069C8365A}"/>
              </a:ext>
            </a:extLst>
          </p:cNvPr>
          <p:cNvCxnSpPr/>
          <p:nvPr/>
        </p:nvCxnSpPr>
        <p:spPr>
          <a:xfrm>
            <a:off x="2485886" y="4678703"/>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0660C1C-F3CC-44FF-80EB-DE6B93AFDDAD}"/>
              </a:ext>
            </a:extLst>
          </p:cNvPr>
          <p:cNvCxnSpPr/>
          <p:nvPr/>
        </p:nvCxnSpPr>
        <p:spPr>
          <a:xfrm>
            <a:off x="3838298" y="4678703"/>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C6C3FFD-344B-4068-A56B-ADABC109A9F8}"/>
              </a:ext>
            </a:extLst>
          </p:cNvPr>
          <p:cNvCxnSpPr/>
          <p:nvPr/>
        </p:nvCxnSpPr>
        <p:spPr>
          <a:xfrm>
            <a:off x="5190711" y="4678703"/>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F72C9A4-AFF1-426C-AA54-5AE6CBDDE035}"/>
              </a:ext>
            </a:extLst>
          </p:cNvPr>
          <p:cNvCxnSpPr/>
          <p:nvPr/>
        </p:nvCxnSpPr>
        <p:spPr>
          <a:xfrm>
            <a:off x="6542433" y="4678703"/>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24BE7AF-8CBC-4712-8507-63D336BF8B1C}"/>
              </a:ext>
            </a:extLst>
          </p:cNvPr>
          <p:cNvCxnSpPr/>
          <p:nvPr/>
        </p:nvCxnSpPr>
        <p:spPr>
          <a:xfrm>
            <a:off x="7894154" y="4678703"/>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E4DEB9D-4864-4367-93A1-898C425CFE1A}"/>
                  </a:ext>
                </a:extLst>
              </p:cNvPr>
              <p:cNvSpPr txBox="1"/>
              <p:nvPr/>
            </p:nvSpPr>
            <p:spPr>
              <a:xfrm>
                <a:off x="803282" y="5068897"/>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=0</m:t>
                      </m:r>
                    </m:oMath>
                  </m:oMathPara>
                </a14:m>
                <a:endParaRPr lang="en-GB" sz="1350" dirty="0">
                  <a:solidFill>
                    <a:prstClr val="black"/>
                  </a:solidFill>
                  <a:latin typeface="Calibri" panose="020F0502020204030204"/>
                  <a:ea typeface="+mn-ea"/>
                </a:endParaRPr>
              </a:p>
            </p:txBody>
          </p:sp>
        </mc:Choice>
        <mc:Fallback xmlns="">
          <p:sp>
            <p:nvSpPr>
              <p:cNvPr id="15" name="TextBox 14">
                <a:extLst>
                  <a:ext uri="{FF2B5EF4-FFF2-40B4-BE49-F238E27FC236}">
                    <a16:creationId xmlns:a16="http://schemas.microsoft.com/office/drawing/2014/main" id="{2E4DEB9D-4864-4367-93A1-898C425CFE1A}"/>
                  </a:ext>
                </a:extLst>
              </p:cNvPr>
              <p:cNvSpPr txBox="1">
                <a:spLocks noRot="1" noChangeAspect="1" noMove="1" noResize="1" noEditPoints="1" noAdjustHandles="1" noChangeArrowheads="1" noChangeShapeType="1" noTextEdit="1"/>
              </p:cNvSpPr>
              <p:nvPr/>
            </p:nvSpPr>
            <p:spPr>
              <a:xfrm>
                <a:off x="803282" y="5068897"/>
                <a:ext cx="660382" cy="300082"/>
              </a:xfrm>
              <a:prstGeom prst="rect">
                <a:avLst/>
              </a:prstGeom>
              <a:blipFill>
                <a:blip r:embed="rId3"/>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6622AB7-5AC3-4B1D-A4CE-34F332DEC861}"/>
                  </a:ext>
                </a:extLst>
              </p:cNvPr>
              <p:cNvSpPr txBox="1"/>
              <p:nvPr/>
            </p:nvSpPr>
            <p:spPr>
              <a:xfrm>
                <a:off x="2155695" y="5071297"/>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=1</m:t>
                      </m:r>
                    </m:oMath>
                  </m:oMathPara>
                </a14:m>
                <a:endParaRPr lang="en-GB" sz="1350" dirty="0">
                  <a:solidFill>
                    <a:prstClr val="black"/>
                  </a:solidFill>
                  <a:latin typeface="Calibri" panose="020F0502020204030204"/>
                  <a:ea typeface="+mn-ea"/>
                </a:endParaRPr>
              </a:p>
            </p:txBody>
          </p:sp>
        </mc:Choice>
        <mc:Fallback xmlns="">
          <p:sp>
            <p:nvSpPr>
              <p:cNvPr id="16" name="TextBox 15">
                <a:extLst>
                  <a:ext uri="{FF2B5EF4-FFF2-40B4-BE49-F238E27FC236}">
                    <a16:creationId xmlns:a16="http://schemas.microsoft.com/office/drawing/2014/main" id="{56622AB7-5AC3-4B1D-A4CE-34F332DEC861}"/>
                  </a:ext>
                </a:extLst>
              </p:cNvPr>
              <p:cNvSpPr txBox="1">
                <a:spLocks noRot="1" noChangeAspect="1" noMove="1" noResize="1" noEditPoints="1" noAdjustHandles="1" noChangeArrowheads="1" noChangeShapeType="1" noTextEdit="1"/>
              </p:cNvSpPr>
              <p:nvPr/>
            </p:nvSpPr>
            <p:spPr>
              <a:xfrm>
                <a:off x="2155695" y="5071297"/>
                <a:ext cx="660382" cy="300082"/>
              </a:xfrm>
              <a:prstGeom prst="rect">
                <a:avLst/>
              </a:prstGeom>
              <a:blipFill>
                <a:blip r:embed="rId4"/>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0CAA269-841E-41E2-B599-FE6AA72A6C82}"/>
                  </a:ext>
                </a:extLst>
              </p:cNvPr>
              <p:cNvSpPr txBox="1"/>
              <p:nvPr/>
            </p:nvSpPr>
            <p:spPr>
              <a:xfrm>
                <a:off x="3508107" y="5071297"/>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=2</m:t>
                      </m:r>
                    </m:oMath>
                  </m:oMathPara>
                </a14:m>
                <a:endParaRPr lang="en-GB" sz="1350" dirty="0">
                  <a:solidFill>
                    <a:prstClr val="black"/>
                  </a:solidFill>
                  <a:latin typeface="Calibri" panose="020F0502020204030204"/>
                  <a:ea typeface="+mn-ea"/>
                </a:endParaRPr>
              </a:p>
            </p:txBody>
          </p:sp>
        </mc:Choice>
        <mc:Fallback xmlns="">
          <p:sp>
            <p:nvSpPr>
              <p:cNvPr id="17" name="TextBox 16">
                <a:extLst>
                  <a:ext uri="{FF2B5EF4-FFF2-40B4-BE49-F238E27FC236}">
                    <a16:creationId xmlns:a16="http://schemas.microsoft.com/office/drawing/2014/main" id="{50CAA269-841E-41E2-B599-FE6AA72A6C82}"/>
                  </a:ext>
                </a:extLst>
              </p:cNvPr>
              <p:cNvSpPr txBox="1">
                <a:spLocks noRot="1" noChangeAspect="1" noMove="1" noResize="1" noEditPoints="1" noAdjustHandles="1" noChangeArrowheads="1" noChangeShapeType="1" noTextEdit="1"/>
              </p:cNvSpPr>
              <p:nvPr/>
            </p:nvSpPr>
            <p:spPr>
              <a:xfrm>
                <a:off x="3508107" y="5071297"/>
                <a:ext cx="660382" cy="300082"/>
              </a:xfrm>
              <a:prstGeom prst="rect">
                <a:avLst/>
              </a:prstGeom>
              <a:blipFill>
                <a:blip r:embed="rId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22FBA94-402D-412D-B6C3-F4E8DFB52032}"/>
                  </a:ext>
                </a:extLst>
              </p:cNvPr>
              <p:cNvSpPr txBox="1"/>
              <p:nvPr/>
            </p:nvSpPr>
            <p:spPr>
              <a:xfrm>
                <a:off x="4860520" y="5075247"/>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=3</m:t>
                      </m:r>
                    </m:oMath>
                  </m:oMathPara>
                </a14:m>
                <a:endParaRPr lang="en-GB" sz="1350" dirty="0">
                  <a:solidFill>
                    <a:prstClr val="black"/>
                  </a:solidFill>
                  <a:latin typeface="Calibri" panose="020F0502020204030204"/>
                  <a:ea typeface="+mn-ea"/>
                </a:endParaRPr>
              </a:p>
            </p:txBody>
          </p:sp>
        </mc:Choice>
        <mc:Fallback xmlns="">
          <p:sp>
            <p:nvSpPr>
              <p:cNvPr id="18" name="TextBox 17">
                <a:extLst>
                  <a:ext uri="{FF2B5EF4-FFF2-40B4-BE49-F238E27FC236}">
                    <a16:creationId xmlns:a16="http://schemas.microsoft.com/office/drawing/2014/main" id="{322FBA94-402D-412D-B6C3-F4E8DFB52032}"/>
                  </a:ext>
                </a:extLst>
              </p:cNvPr>
              <p:cNvSpPr txBox="1">
                <a:spLocks noRot="1" noChangeAspect="1" noMove="1" noResize="1" noEditPoints="1" noAdjustHandles="1" noChangeArrowheads="1" noChangeShapeType="1" noTextEdit="1"/>
              </p:cNvSpPr>
              <p:nvPr/>
            </p:nvSpPr>
            <p:spPr>
              <a:xfrm>
                <a:off x="4860520" y="5075247"/>
                <a:ext cx="660382" cy="300082"/>
              </a:xfrm>
              <a:prstGeom prst="rect">
                <a:avLst/>
              </a:prstGeom>
              <a:blipFill>
                <a:blip r:embed="rId6"/>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CE5B13D-06C9-4867-B8B1-495C26DD0645}"/>
                  </a:ext>
                </a:extLst>
              </p:cNvPr>
              <p:cNvSpPr txBox="1"/>
              <p:nvPr/>
            </p:nvSpPr>
            <p:spPr>
              <a:xfrm>
                <a:off x="6212242" y="5068897"/>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=4</m:t>
                      </m:r>
                    </m:oMath>
                  </m:oMathPara>
                </a14:m>
                <a:endParaRPr lang="en-GB" sz="1350" dirty="0">
                  <a:solidFill>
                    <a:prstClr val="black"/>
                  </a:solidFill>
                  <a:latin typeface="Calibri" panose="020F0502020204030204"/>
                  <a:ea typeface="+mn-ea"/>
                </a:endParaRPr>
              </a:p>
            </p:txBody>
          </p:sp>
        </mc:Choice>
        <mc:Fallback xmlns="">
          <p:sp>
            <p:nvSpPr>
              <p:cNvPr id="19" name="TextBox 18">
                <a:extLst>
                  <a:ext uri="{FF2B5EF4-FFF2-40B4-BE49-F238E27FC236}">
                    <a16:creationId xmlns:a16="http://schemas.microsoft.com/office/drawing/2014/main" id="{1CE5B13D-06C9-4867-B8B1-495C26DD0645}"/>
                  </a:ext>
                </a:extLst>
              </p:cNvPr>
              <p:cNvSpPr txBox="1">
                <a:spLocks noRot="1" noChangeAspect="1" noMove="1" noResize="1" noEditPoints="1" noAdjustHandles="1" noChangeArrowheads="1" noChangeShapeType="1" noTextEdit="1"/>
              </p:cNvSpPr>
              <p:nvPr/>
            </p:nvSpPr>
            <p:spPr>
              <a:xfrm>
                <a:off x="6212242" y="5068897"/>
                <a:ext cx="660382" cy="300082"/>
              </a:xfrm>
              <a:prstGeom prst="rect">
                <a:avLst/>
              </a:prstGeom>
              <a:blipFill>
                <a:blip r:embed="rId7"/>
                <a:stretch>
                  <a:fillRect/>
                </a:stretch>
              </a:blipFill>
              <a:ln>
                <a:noFill/>
              </a:ln>
            </p:spPr>
            <p:txBody>
              <a:bodyPr/>
              <a:lstStyle/>
              <a:p>
                <a:r>
                  <a:rPr lang="en-GB">
                    <a:noFill/>
                  </a:rPr>
                  <a:t> </a:t>
                </a:r>
              </a:p>
            </p:txBody>
          </p:sp>
        </mc:Fallback>
      </mc:AlternateContent>
      <p:sp>
        <p:nvSpPr>
          <p:cNvPr id="14" name="Rectangle 13">
            <a:extLst>
              <a:ext uri="{FF2B5EF4-FFF2-40B4-BE49-F238E27FC236}">
                <a16:creationId xmlns:a16="http://schemas.microsoft.com/office/drawing/2014/main" id="{B3F377C7-3BBC-4BF7-9A5D-0583D70C8381}"/>
              </a:ext>
            </a:extLst>
          </p:cNvPr>
          <p:cNvSpPr/>
          <p:nvPr/>
        </p:nvSpPr>
        <p:spPr>
          <a:xfrm>
            <a:off x="793854" y="3891265"/>
            <a:ext cx="644936" cy="64893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C0E22DE-942B-4ABC-A336-818F69F044C0}"/>
                  </a:ext>
                </a:extLst>
              </p:cNvPr>
              <p:cNvSpPr txBox="1"/>
              <p:nvPr/>
            </p:nvSpPr>
            <p:spPr>
              <a:xfrm>
                <a:off x="7563963" y="5075247"/>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=5</m:t>
                      </m:r>
                    </m:oMath>
                  </m:oMathPara>
                </a14:m>
                <a:endParaRPr lang="en-GB" sz="1350" dirty="0">
                  <a:solidFill>
                    <a:prstClr val="black"/>
                  </a:solidFill>
                  <a:latin typeface="Calibri" panose="020F0502020204030204"/>
                  <a:ea typeface="+mn-ea"/>
                </a:endParaRPr>
              </a:p>
            </p:txBody>
          </p:sp>
        </mc:Choice>
        <mc:Fallback xmlns="">
          <p:sp>
            <p:nvSpPr>
              <p:cNvPr id="21" name="TextBox 20">
                <a:extLst>
                  <a:ext uri="{FF2B5EF4-FFF2-40B4-BE49-F238E27FC236}">
                    <a16:creationId xmlns:a16="http://schemas.microsoft.com/office/drawing/2014/main" id="{1C0E22DE-942B-4ABC-A336-818F69F044C0}"/>
                  </a:ext>
                </a:extLst>
              </p:cNvPr>
              <p:cNvSpPr txBox="1">
                <a:spLocks noRot="1" noChangeAspect="1" noMove="1" noResize="1" noEditPoints="1" noAdjustHandles="1" noChangeArrowheads="1" noChangeShapeType="1" noTextEdit="1"/>
              </p:cNvSpPr>
              <p:nvPr/>
            </p:nvSpPr>
            <p:spPr>
              <a:xfrm>
                <a:off x="7563963" y="5075247"/>
                <a:ext cx="660382" cy="300082"/>
              </a:xfrm>
              <a:prstGeom prst="rect">
                <a:avLst/>
              </a:prstGeom>
              <a:blipFill>
                <a:blip r:embed="rId8"/>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92E8F1A-169B-4C59-8280-2C08B716F97D}"/>
                  </a:ext>
                </a:extLst>
              </p:cNvPr>
              <p:cNvSpPr txBox="1"/>
              <p:nvPr/>
            </p:nvSpPr>
            <p:spPr>
              <a:xfrm>
                <a:off x="777629" y="4065693"/>
                <a:ext cx="583571"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ea typeface="+mn-ea"/>
                        </a:rPr>
                        <m:t>£1,000</m:t>
                      </m:r>
                    </m:oMath>
                  </m:oMathPara>
                </a14:m>
                <a:endParaRPr lang="en-GB" sz="1500" dirty="0">
                  <a:latin typeface="Calibri" panose="020F0502020204030204"/>
                  <a:ea typeface="+mn-ea"/>
                </a:endParaRPr>
              </a:p>
            </p:txBody>
          </p:sp>
        </mc:Choice>
        <mc:Fallback xmlns="">
          <p:sp>
            <p:nvSpPr>
              <p:cNvPr id="20" name="TextBox 19">
                <a:extLst>
                  <a:ext uri="{FF2B5EF4-FFF2-40B4-BE49-F238E27FC236}">
                    <a16:creationId xmlns:a16="http://schemas.microsoft.com/office/drawing/2014/main" id="{F92E8F1A-169B-4C59-8280-2C08B716F97D}"/>
                  </a:ext>
                </a:extLst>
              </p:cNvPr>
              <p:cNvSpPr txBox="1">
                <a:spLocks noRot="1" noChangeAspect="1" noMove="1" noResize="1" noEditPoints="1" noAdjustHandles="1" noChangeArrowheads="1" noChangeShapeType="1" noTextEdit="1"/>
              </p:cNvSpPr>
              <p:nvPr/>
            </p:nvSpPr>
            <p:spPr>
              <a:xfrm>
                <a:off x="777629" y="4065693"/>
                <a:ext cx="583571" cy="323165"/>
              </a:xfrm>
              <a:prstGeom prst="rect">
                <a:avLst/>
              </a:prstGeom>
              <a:blipFill>
                <a:blip r:embed="rId9"/>
                <a:stretch>
                  <a:fillRect r="-23158"/>
                </a:stretch>
              </a:blipFill>
              <a:ln>
                <a:noFill/>
              </a:ln>
            </p:spPr>
            <p:txBody>
              <a:bodyPr/>
              <a:lstStyle/>
              <a:p>
                <a:r>
                  <a:rPr lang="en-GB">
                    <a:noFill/>
                  </a:rPr>
                  <a:t> </a:t>
                </a:r>
              </a:p>
            </p:txBody>
          </p:sp>
        </mc:Fallback>
      </mc:AlternateContent>
      <p:sp>
        <p:nvSpPr>
          <p:cNvPr id="28" name="Rectangle 27">
            <a:extLst>
              <a:ext uri="{FF2B5EF4-FFF2-40B4-BE49-F238E27FC236}">
                <a16:creationId xmlns:a16="http://schemas.microsoft.com/office/drawing/2014/main" id="{F661D6EF-2D6C-47BA-A674-8FEC256BF2E4}"/>
              </a:ext>
            </a:extLst>
          </p:cNvPr>
          <p:cNvSpPr/>
          <p:nvPr/>
        </p:nvSpPr>
        <p:spPr>
          <a:xfrm>
            <a:off x="2152572" y="3891265"/>
            <a:ext cx="644936" cy="64893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C716CCC-FC48-4E43-B252-32DE757A7BDC}"/>
                  </a:ext>
                </a:extLst>
              </p:cNvPr>
              <p:cNvSpPr txBox="1"/>
              <p:nvPr/>
            </p:nvSpPr>
            <p:spPr>
              <a:xfrm>
                <a:off x="2136347" y="4065693"/>
                <a:ext cx="583571"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ea typeface="+mn-ea"/>
                        </a:rPr>
                        <m:t>£1,000</m:t>
                      </m:r>
                    </m:oMath>
                  </m:oMathPara>
                </a14:m>
                <a:endParaRPr lang="en-GB" sz="1500" dirty="0">
                  <a:latin typeface="Calibri" panose="020F0502020204030204"/>
                  <a:ea typeface="+mn-ea"/>
                </a:endParaRPr>
              </a:p>
            </p:txBody>
          </p:sp>
        </mc:Choice>
        <mc:Fallback xmlns="">
          <p:sp>
            <p:nvSpPr>
              <p:cNvPr id="29" name="TextBox 28">
                <a:extLst>
                  <a:ext uri="{FF2B5EF4-FFF2-40B4-BE49-F238E27FC236}">
                    <a16:creationId xmlns:a16="http://schemas.microsoft.com/office/drawing/2014/main" id="{4C716CCC-FC48-4E43-B252-32DE757A7BDC}"/>
                  </a:ext>
                </a:extLst>
              </p:cNvPr>
              <p:cNvSpPr txBox="1">
                <a:spLocks noRot="1" noChangeAspect="1" noMove="1" noResize="1" noEditPoints="1" noAdjustHandles="1" noChangeArrowheads="1" noChangeShapeType="1" noTextEdit="1"/>
              </p:cNvSpPr>
              <p:nvPr/>
            </p:nvSpPr>
            <p:spPr>
              <a:xfrm>
                <a:off x="2136347" y="4065693"/>
                <a:ext cx="583571" cy="323165"/>
              </a:xfrm>
              <a:prstGeom prst="rect">
                <a:avLst/>
              </a:prstGeom>
              <a:blipFill>
                <a:blip r:embed="rId10"/>
                <a:stretch>
                  <a:fillRect r="-21875"/>
                </a:stretch>
              </a:blipFill>
              <a:ln>
                <a:noFill/>
              </a:ln>
            </p:spPr>
            <p:txBody>
              <a:bodyPr/>
              <a:lstStyle/>
              <a:p>
                <a:r>
                  <a:rPr lang="en-GB">
                    <a:noFill/>
                  </a:rPr>
                  <a:t> </a:t>
                </a:r>
              </a:p>
            </p:txBody>
          </p:sp>
        </mc:Fallback>
      </mc:AlternateContent>
      <p:sp>
        <p:nvSpPr>
          <p:cNvPr id="30" name="Flowchart: Connector 29">
            <a:extLst>
              <a:ext uri="{FF2B5EF4-FFF2-40B4-BE49-F238E27FC236}">
                <a16:creationId xmlns:a16="http://schemas.microsoft.com/office/drawing/2014/main" id="{8FACA88F-A6B5-4C1C-861D-7A6F7557D40D}"/>
              </a:ext>
            </a:extLst>
          </p:cNvPr>
          <p:cNvSpPr/>
          <p:nvPr/>
        </p:nvSpPr>
        <p:spPr>
          <a:xfrm>
            <a:off x="2283385" y="3439055"/>
            <a:ext cx="405000" cy="405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42805FD-0EB8-4D72-8BE2-D47C2013A8EC}"/>
                  </a:ext>
                </a:extLst>
              </p:cNvPr>
              <p:cNvSpPr txBox="1"/>
              <p:nvPr/>
            </p:nvSpPr>
            <p:spPr>
              <a:xfrm>
                <a:off x="2264198" y="3498561"/>
                <a:ext cx="3278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£50</m:t>
                      </m:r>
                    </m:oMath>
                  </m:oMathPara>
                </a14:m>
                <a:endParaRPr lang="en-GB" sz="1500" dirty="0">
                  <a:solidFill>
                    <a:schemeClr val="accent6">
                      <a:lumMod val="75000"/>
                    </a:schemeClr>
                  </a:solidFill>
                  <a:latin typeface="Calibri" panose="020F0502020204030204"/>
                  <a:ea typeface="+mn-ea"/>
                </a:endParaRPr>
              </a:p>
            </p:txBody>
          </p:sp>
        </mc:Choice>
        <mc:Fallback xmlns="">
          <p:sp>
            <p:nvSpPr>
              <p:cNvPr id="23" name="TextBox 22">
                <a:extLst>
                  <a:ext uri="{FF2B5EF4-FFF2-40B4-BE49-F238E27FC236}">
                    <a16:creationId xmlns:a16="http://schemas.microsoft.com/office/drawing/2014/main" id="{742805FD-0EB8-4D72-8BE2-D47C2013A8EC}"/>
                  </a:ext>
                </a:extLst>
              </p:cNvPr>
              <p:cNvSpPr txBox="1">
                <a:spLocks noRot="1" noChangeAspect="1" noMove="1" noResize="1" noEditPoints="1" noAdjustHandles="1" noChangeArrowheads="1" noChangeShapeType="1" noTextEdit="1"/>
              </p:cNvSpPr>
              <p:nvPr/>
            </p:nvSpPr>
            <p:spPr>
              <a:xfrm>
                <a:off x="2264198" y="3498561"/>
                <a:ext cx="327869" cy="323165"/>
              </a:xfrm>
              <a:prstGeom prst="rect">
                <a:avLst/>
              </a:prstGeom>
              <a:blipFill>
                <a:blip r:embed="rId11"/>
                <a:stretch>
                  <a:fillRect r="-42593"/>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Callout: Double Bent Line with Accent Bar 33">
                <a:extLst>
                  <a:ext uri="{FF2B5EF4-FFF2-40B4-BE49-F238E27FC236}">
                    <a16:creationId xmlns:a16="http://schemas.microsoft.com/office/drawing/2014/main" id="{99CD89BD-21F5-4142-987E-F02945CF6171}"/>
                  </a:ext>
                </a:extLst>
              </p:cNvPr>
              <p:cNvSpPr/>
              <p:nvPr/>
            </p:nvSpPr>
            <p:spPr>
              <a:xfrm rot="16200000">
                <a:off x="1119793" y="2369346"/>
                <a:ext cx="1187975" cy="1003030"/>
              </a:xfrm>
              <a:prstGeom prst="accentCallout3">
                <a:avLst>
                  <a:gd name="adj1" fmla="val 62109"/>
                  <a:gd name="adj2" fmla="val -9272"/>
                  <a:gd name="adj3" fmla="val 69500"/>
                  <a:gd name="adj4" fmla="val -7268"/>
                  <a:gd name="adj5" fmla="val 96356"/>
                  <a:gd name="adj6" fmla="val -37352"/>
                  <a:gd name="adj7" fmla="val 108104"/>
                  <a:gd name="adj8" fmla="val -36898"/>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GB" dirty="0">
                    <a:solidFill>
                      <a:schemeClr val="tx1"/>
                    </a:solidFill>
                    <a:latin typeface="Arial" panose="020B0604020202020204" pitchFamily="34" charset="0"/>
                    <a:cs typeface="Arial" panose="020B0604020202020204" pitchFamily="34" charset="0"/>
                  </a:rPr>
                  <a:t>Simple Interest</a:t>
                </a:r>
              </a:p>
              <a:p>
                <a:pPr algn="ct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1,000</m:t>
                      </m:r>
                      <m:r>
                        <a:rPr lang="en-GB" b="0" i="1" smtClean="0">
                          <a:solidFill>
                            <a:schemeClr val="tx1"/>
                          </a:solidFill>
                          <a:latin typeface="Cambria Math" panose="02040503050406030204" pitchFamily="18" charset="0"/>
                          <a:ea typeface="Cambria Math" panose="02040503050406030204" pitchFamily="18" charset="0"/>
                        </a:rPr>
                        <m:t>×5%</m:t>
                      </m:r>
                    </m:oMath>
                  </m:oMathPara>
                </a14:m>
                <a:endParaRPr lang="en-GB" dirty="0">
                  <a:solidFill>
                    <a:schemeClr val="tx1"/>
                  </a:solidFill>
                  <a:latin typeface="Arial" panose="020B0604020202020204" pitchFamily="34" charset="0"/>
                  <a:cs typeface="Arial" panose="020B0604020202020204" pitchFamily="34" charset="0"/>
                </a:endParaRPr>
              </a:p>
            </p:txBody>
          </p:sp>
        </mc:Choice>
        <mc:Fallback xmlns="">
          <p:sp>
            <p:nvSpPr>
              <p:cNvPr id="34" name="Callout: Double Bent Line with Accent Bar 33">
                <a:extLst>
                  <a:ext uri="{FF2B5EF4-FFF2-40B4-BE49-F238E27FC236}">
                    <a16:creationId xmlns:a16="http://schemas.microsoft.com/office/drawing/2014/main" id="{99CD89BD-21F5-4142-987E-F02945CF6171}"/>
                  </a:ext>
                </a:extLst>
              </p:cNvPr>
              <p:cNvSpPr>
                <a:spLocks noRot="1" noChangeAspect="1" noMove="1" noResize="1" noEditPoints="1" noAdjustHandles="1" noChangeArrowheads="1" noChangeShapeType="1" noTextEdit="1"/>
              </p:cNvSpPr>
              <p:nvPr/>
            </p:nvSpPr>
            <p:spPr>
              <a:xfrm rot="16200000">
                <a:off x="1119793" y="2369346"/>
                <a:ext cx="1187975" cy="1003030"/>
              </a:xfrm>
              <a:prstGeom prst="accentCallout3">
                <a:avLst>
                  <a:gd name="adj1" fmla="val 62109"/>
                  <a:gd name="adj2" fmla="val -9272"/>
                  <a:gd name="adj3" fmla="val 69500"/>
                  <a:gd name="adj4" fmla="val -7268"/>
                  <a:gd name="adj5" fmla="val 96356"/>
                  <a:gd name="adj6" fmla="val -37352"/>
                  <a:gd name="adj7" fmla="val 108104"/>
                  <a:gd name="adj8" fmla="val -36898"/>
                </a:avLst>
              </a:prstGeom>
              <a:blipFill>
                <a:blip r:embed="rId12"/>
                <a:stretch>
                  <a:fillRect l="-2809" t="-362712"/>
                </a:stretch>
              </a:blipFill>
              <a:ln w="19050">
                <a:noFill/>
              </a:ln>
            </p:spPr>
            <p:txBody>
              <a:bodyPr/>
              <a:lstStyle/>
              <a:p>
                <a:r>
                  <a:rPr lang="en-GB">
                    <a:noFill/>
                  </a:rPr>
                  <a:t> </a:t>
                </a:r>
              </a:p>
            </p:txBody>
          </p:sp>
        </mc:Fallback>
      </mc:AlternateContent>
      <p:sp>
        <p:nvSpPr>
          <p:cNvPr id="35" name="Rectangle 34">
            <a:extLst>
              <a:ext uri="{FF2B5EF4-FFF2-40B4-BE49-F238E27FC236}">
                <a16:creationId xmlns:a16="http://schemas.microsoft.com/office/drawing/2014/main" id="{A06F1D8F-BE50-4029-A2A2-A7FC7DD97545}"/>
              </a:ext>
            </a:extLst>
          </p:cNvPr>
          <p:cNvSpPr/>
          <p:nvPr/>
        </p:nvSpPr>
        <p:spPr>
          <a:xfrm>
            <a:off x="3515830" y="3891265"/>
            <a:ext cx="644936" cy="64893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 name="Flowchart: Connector 35">
            <a:extLst>
              <a:ext uri="{FF2B5EF4-FFF2-40B4-BE49-F238E27FC236}">
                <a16:creationId xmlns:a16="http://schemas.microsoft.com/office/drawing/2014/main" id="{64294E61-A371-4984-AA1F-8C2149EE740D}"/>
              </a:ext>
            </a:extLst>
          </p:cNvPr>
          <p:cNvSpPr/>
          <p:nvPr/>
        </p:nvSpPr>
        <p:spPr>
          <a:xfrm>
            <a:off x="3646643" y="3439055"/>
            <a:ext cx="405000" cy="405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22567083-ADB4-4251-83D7-FFD2E8DE7F41}"/>
                  </a:ext>
                </a:extLst>
              </p:cNvPr>
              <p:cNvSpPr txBox="1"/>
              <p:nvPr/>
            </p:nvSpPr>
            <p:spPr>
              <a:xfrm>
                <a:off x="3628221" y="3498561"/>
                <a:ext cx="2815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£50</m:t>
                      </m:r>
                    </m:oMath>
                  </m:oMathPara>
                </a14:m>
                <a:endParaRPr lang="en-GB" sz="1500" dirty="0">
                  <a:solidFill>
                    <a:schemeClr val="accent6">
                      <a:lumMod val="75000"/>
                    </a:schemeClr>
                  </a:solidFill>
                  <a:latin typeface="Calibri" panose="020F0502020204030204"/>
                  <a:ea typeface="+mn-ea"/>
                </a:endParaRPr>
              </a:p>
            </p:txBody>
          </p:sp>
        </mc:Choice>
        <mc:Fallback xmlns="">
          <p:sp>
            <p:nvSpPr>
              <p:cNvPr id="37" name="TextBox 36">
                <a:extLst>
                  <a:ext uri="{FF2B5EF4-FFF2-40B4-BE49-F238E27FC236}">
                    <a16:creationId xmlns:a16="http://schemas.microsoft.com/office/drawing/2014/main" id="{22567083-ADB4-4251-83D7-FFD2E8DE7F41}"/>
                  </a:ext>
                </a:extLst>
              </p:cNvPr>
              <p:cNvSpPr txBox="1">
                <a:spLocks noRot="1" noChangeAspect="1" noMove="1" noResize="1" noEditPoints="1" noAdjustHandles="1" noChangeArrowheads="1" noChangeShapeType="1" noTextEdit="1"/>
              </p:cNvSpPr>
              <p:nvPr/>
            </p:nvSpPr>
            <p:spPr>
              <a:xfrm>
                <a:off x="3628221" y="3498561"/>
                <a:ext cx="281569" cy="323165"/>
              </a:xfrm>
              <a:prstGeom prst="rect">
                <a:avLst/>
              </a:prstGeom>
              <a:blipFill>
                <a:blip r:embed="rId13"/>
                <a:stretch>
                  <a:fillRect r="-67391"/>
                </a:stretch>
              </a:blipFill>
              <a:ln>
                <a:noFill/>
              </a:ln>
            </p:spPr>
            <p:txBody>
              <a:bodyPr/>
              <a:lstStyle/>
              <a:p>
                <a:r>
                  <a:rPr lang="en-GB">
                    <a:noFill/>
                  </a:rPr>
                  <a:t> </a:t>
                </a:r>
              </a:p>
            </p:txBody>
          </p:sp>
        </mc:Fallback>
      </mc:AlternateContent>
      <p:sp>
        <p:nvSpPr>
          <p:cNvPr id="38" name="Rectangle 37">
            <a:extLst>
              <a:ext uri="{FF2B5EF4-FFF2-40B4-BE49-F238E27FC236}">
                <a16:creationId xmlns:a16="http://schemas.microsoft.com/office/drawing/2014/main" id="{BB5195E6-91AA-42CB-BEEE-4B685918F671}"/>
              </a:ext>
            </a:extLst>
          </p:cNvPr>
          <p:cNvSpPr/>
          <p:nvPr/>
        </p:nvSpPr>
        <p:spPr>
          <a:xfrm>
            <a:off x="4875966" y="3895021"/>
            <a:ext cx="644936" cy="64893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9" name="Flowchart: Connector 38">
            <a:extLst>
              <a:ext uri="{FF2B5EF4-FFF2-40B4-BE49-F238E27FC236}">
                <a16:creationId xmlns:a16="http://schemas.microsoft.com/office/drawing/2014/main" id="{C23ECBF0-9669-4BB6-97B0-BC31639D2D45}"/>
              </a:ext>
            </a:extLst>
          </p:cNvPr>
          <p:cNvSpPr/>
          <p:nvPr/>
        </p:nvSpPr>
        <p:spPr>
          <a:xfrm>
            <a:off x="5006779" y="3442810"/>
            <a:ext cx="405000" cy="405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920624C-1CA8-4388-9E65-663E31D21B02}"/>
                  </a:ext>
                </a:extLst>
              </p:cNvPr>
              <p:cNvSpPr txBox="1"/>
              <p:nvPr/>
            </p:nvSpPr>
            <p:spPr>
              <a:xfrm>
                <a:off x="4974342" y="3486203"/>
                <a:ext cx="3278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£50</m:t>
                      </m:r>
                    </m:oMath>
                  </m:oMathPara>
                </a14:m>
                <a:endParaRPr lang="en-GB" sz="1500" dirty="0">
                  <a:solidFill>
                    <a:schemeClr val="accent6">
                      <a:lumMod val="75000"/>
                    </a:schemeClr>
                  </a:solidFill>
                  <a:latin typeface="Calibri" panose="020F0502020204030204"/>
                  <a:ea typeface="+mn-ea"/>
                </a:endParaRPr>
              </a:p>
            </p:txBody>
          </p:sp>
        </mc:Choice>
        <mc:Fallback xmlns="">
          <p:sp>
            <p:nvSpPr>
              <p:cNvPr id="40" name="TextBox 39">
                <a:extLst>
                  <a:ext uri="{FF2B5EF4-FFF2-40B4-BE49-F238E27FC236}">
                    <a16:creationId xmlns:a16="http://schemas.microsoft.com/office/drawing/2014/main" id="{C920624C-1CA8-4388-9E65-663E31D21B02}"/>
                  </a:ext>
                </a:extLst>
              </p:cNvPr>
              <p:cNvSpPr txBox="1">
                <a:spLocks noRot="1" noChangeAspect="1" noMove="1" noResize="1" noEditPoints="1" noAdjustHandles="1" noChangeArrowheads="1" noChangeShapeType="1" noTextEdit="1"/>
              </p:cNvSpPr>
              <p:nvPr/>
            </p:nvSpPr>
            <p:spPr>
              <a:xfrm>
                <a:off x="4974342" y="3486203"/>
                <a:ext cx="327869" cy="323165"/>
              </a:xfrm>
              <a:prstGeom prst="rect">
                <a:avLst/>
              </a:prstGeom>
              <a:blipFill>
                <a:blip r:embed="rId14"/>
                <a:stretch>
                  <a:fillRect r="-42593"/>
                </a:stretch>
              </a:blipFill>
              <a:ln>
                <a:noFill/>
              </a:ln>
            </p:spPr>
            <p:txBody>
              <a:bodyPr/>
              <a:lstStyle/>
              <a:p>
                <a:r>
                  <a:rPr lang="en-GB">
                    <a:noFill/>
                  </a:rPr>
                  <a:t> </a:t>
                </a:r>
              </a:p>
            </p:txBody>
          </p:sp>
        </mc:Fallback>
      </mc:AlternateContent>
      <p:sp>
        <p:nvSpPr>
          <p:cNvPr id="41" name="Rectangle 40">
            <a:extLst>
              <a:ext uri="{FF2B5EF4-FFF2-40B4-BE49-F238E27FC236}">
                <a16:creationId xmlns:a16="http://schemas.microsoft.com/office/drawing/2014/main" id="{721FAD92-B8B8-446D-ABE6-6E33AC56674A}"/>
              </a:ext>
            </a:extLst>
          </p:cNvPr>
          <p:cNvSpPr/>
          <p:nvPr/>
        </p:nvSpPr>
        <p:spPr>
          <a:xfrm>
            <a:off x="6222807" y="3880679"/>
            <a:ext cx="644936" cy="64893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2" name="Flowchart: Connector 41">
            <a:extLst>
              <a:ext uri="{FF2B5EF4-FFF2-40B4-BE49-F238E27FC236}">
                <a16:creationId xmlns:a16="http://schemas.microsoft.com/office/drawing/2014/main" id="{7B37BCC2-0BB0-43E2-A597-7D2C3139BAFD}"/>
              </a:ext>
            </a:extLst>
          </p:cNvPr>
          <p:cNvSpPr/>
          <p:nvPr/>
        </p:nvSpPr>
        <p:spPr>
          <a:xfrm>
            <a:off x="6353620" y="3428468"/>
            <a:ext cx="405000" cy="405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C0BE375-64E3-4E21-9868-AA1EFE4C6C02}"/>
                  </a:ext>
                </a:extLst>
              </p:cNvPr>
              <p:cNvSpPr txBox="1"/>
              <p:nvPr/>
            </p:nvSpPr>
            <p:spPr>
              <a:xfrm>
                <a:off x="6328465" y="3488503"/>
                <a:ext cx="3278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£50</m:t>
                      </m:r>
                    </m:oMath>
                  </m:oMathPara>
                </a14:m>
                <a:endParaRPr lang="en-GB" sz="1500" dirty="0">
                  <a:solidFill>
                    <a:schemeClr val="accent6">
                      <a:lumMod val="75000"/>
                    </a:schemeClr>
                  </a:solidFill>
                  <a:latin typeface="Calibri" panose="020F0502020204030204"/>
                  <a:ea typeface="+mn-ea"/>
                </a:endParaRPr>
              </a:p>
            </p:txBody>
          </p:sp>
        </mc:Choice>
        <mc:Fallback xmlns="">
          <p:sp>
            <p:nvSpPr>
              <p:cNvPr id="43" name="TextBox 42">
                <a:extLst>
                  <a:ext uri="{FF2B5EF4-FFF2-40B4-BE49-F238E27FC236}">
                    <a16:creationId xmlns:a16="http://schemas.microsoft.com/office/drawing/2014/main" id="{2C0BE375-64E3-4E21-9868-AA1EFE4C6C02}"/>
                  </a:ext>
                </a:extLst>
              </p:cNvPr>
              <p:cNvSpPr txBox="1">
                <a:spLocks noRot="1" noChangeAspect="1" noMove="1" noResize="1" noEditPoints="1" noAdjustHandles="1" noChangeArrowheads="1" noChangeShapeType="1" noTextEdit="1"/>
              </p:cNvSpPr>
              <p:nvPr/>
            </p:nvSpPr>
            <p:spPr>
              <a:xfrm>
                <a:off x="6328465" y="3488503"/>
                <a:ext cx="327869" cy="323165"/>
              </a:xfrm>
              <a:prstGeom prst="rect">
                <a:avLst/>
              </a:prstGeom>
              <a:blipFill>
                <a:blip r:embed="rId15"/>
                <a:stretch>
                  <a:fillRect r="-42593"/>
                </a:stretch>
              </a:blipFill>
              <a:ln>
                <a:noFill/>
              </a:ln>
            </p:spPr>
            <p:txBody>
              <a:bodyPr/>
              <a:lstStyle/>
              <a:p>
                <a:r>
                  <a:rPr lang="en-GB">
                    <a:noFill/>
                  </a:rPr>
                  <a:t> </a:t>
                </a:r>
              </a:p>
            </p:txBody>
          </p:sp>
        </mc:Fallback>
      </mc:AlternateContent>
      <p:sp>
        <p:nvSpPr>
          <p:cNvPr id="44" name="Rectangle 43">
            <a:extLst>
              <a:ext uri="{FF2B5EF4-FFF2-40B4-BE49-F238E27FC236}">
                <a16:creationId xmlns:a16="http://schemas.microsoft.com/office/drawing/2014/main" id="{C5E05F6B-3321-40C4-9576-4ED23CE42D0F}"/>
              </a:ext>
            </a:extLst>
          </p:cNvPr>
          <p:cNvSpPr/>
          <p:nvPr/>
        </p:nvSpPr>
        <p:spPr>
          <a:xfrm>
            <a:off x="7579409" y="3878203"/>
            <a:ext cx="644936" cy="64893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5" name="Flowchart: Connector 44">
            <a:extLst>
              <a:ext uri="{FF2B5EF4-FFF2-40B4-BE49-F238E27FC236}">
                <a16:creationId xmlns:a16="http://schemas.microsoft.com/office/drawing/2014/main" id="{FDAB1F8C-2D6F-4739-A9F4-90B33DBBEEAD}"/>
              </a:ext>
            </a:extLst>
          </p:cNvPr>
          <p:cNvSpPr/>
          <p:nvPr/>
        </p:nvSpPr>
        <p:spPr>
          <a:xfrm>
            <a:off x="7710222" y="3425993"/>
            <a:ext cx="405000" cy="405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1C6DE69-95BC-4BF4-B2BD-68E3F39593FE}"/>
                  </a:ext>
                </a:extLst>
              </p:cNvPr>
              <p:cNvSpPr txBox="1"/>
              <p:nvPr/>
            </p:nvSpPr>
            <p:spPr>
              <a:xfrm>
                <a:off x="7690439" y="3486203"/>
                <a:ext cx="3278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£50</m:t>
                      </m:r>
                    </m:oMath>
                  </m:oMathPara>
                </a14:m>
                <a:endParaRPr lang="en-GB" sz="1500" dirty="0">
                  <a:solidFill>
                    <a:schemeClr val="accent6">
                      <a:lumMod val="75000"/>
                    </a:schemeClr>
                  </a:solidFill>
                  <a:latin typeface="Calibri" panose="020F0502020204030204"/>
                  <a:ea typeface="+mn-ea"/>
                </a:endParaRPr>
              </a:p>
            </p:txBody>
          </p:sp>
        </mc:Choice>
        <mc:Fallback xmlns="">
          <p:sp>
            <p:nvSpPr>
              <p:cNvPr id="46" name="TextBox 45">
                <a:extLst>
                  <a:ext uri="{FF2B5EF4-FFF2-40B4-BE49-F238E27FC236}">
                    <a16:creationId xmlns:a16="http://schemas.microsoft.com/office/drawing/2014/main" id="{D1C6DE69-95BC-4BF4-B2BD-68E3F39593FE}"/>
                  </a:ext>
                </a:extLst>
              </p:cNvPr>
              <p:cNvSpPr txBox="1">
                <a:spLocks noRot="1" noChangeAspect="1" noMove="1" noResize="1" noEditPoints="1" noAdjustHandles="1" noChangeArrowheads="1" noChangeShapeType="1" noTextEdit="1"/>
              </p:cNvSpPr>
              <p:nvPr/>
            </p:nvSpPr>
            <p:spPr>
              <a:xfrm>
                <a:off x="7690439" y="3486203"/>
                <a:ext cx="327869" cy="323165"/>
              </a:xfrm>
              <a:prstGeom prst="rect">
                <a:avLst/>
              </a:prstGeom>
              <a:blipFill>
                <a:blip r:embed="rId16"/>
                <a:stretch>
                  <a:fillRect r="-43396"/>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DDFC15CC-397F-4D43-89A0-307CC42A1C90}"/>
                  </a:ext>
                </a:extLst>
              </p:cNvPr>
              <p:cNvSpPr txBox="1"/>
              <p:nvPr/>
            </p:nvSpPr>
            <p:spPr>
              <a:xfrm>
                <a:off x="3508107" y="4065693"/>
                <a:ext cx="583571"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ea typeface="+mn-ea"/>
                        </a:rPr>
                        <m:t>£1,000</m:t>
                      </m:r>
                    </m:oMath>
                  </m:oMathPara>
                </a14:m>
                <a:endParaRPr lang="en-GB" sz="1500" dirty="0">
                  <a:latin typeface="Calibri" panose="020F0502020204030204"/>
                  <a:ea typeface="+mn-ea"/>
                </a:endParaRPr>
              </a:p>
            </p:txBody>
          </p:sp>
        </mc:Choice>
        <mc:Fallback xmlns="">
          <p:sp>
            <p:nvSpPr>
              <p:cNvPr id="47" name="TextBox 46">
                <a:extLst>
                  <a:ext uri="{FF2B5EF4-FFF2-40B4-BE49-F238E27FC236}">
                    <a16:creationId xmlns:a16="http://schemas.microsoft.com/office/drawing/2014/main" id="{DDFC15CC-397F-4D43-89A0-307CC42A1C90}"/>
                  </a:ext>
                </a:extLst>
              </p:cNvPr>
              <p:cNvSpPr txBox="1">
                <a:spLocks noRot="1" noChangeAspect="1" noMove="1" noResize="1" noEditPoints="1" noAdjustHandles="1" noChangeArrowheads="1" noChangeShapeType="1" noTextEdit="1"/>
              </p:cNvSpPr>
              <p:nvPr/>
            </p:nvSpPr>
            <p:spPr>
              <a:xfrm>
                <a:off x="3508107" y="4065693"/>
                <a:ext cx="583571" cy="323165"/>
              </a:xfrm>
              <a:prstGeom prst="rect">
                <a:avLst/>
              </a:prstGeom>
              <a:blipFill>
                <a:blip r:embed="rId17"/>
                <a:stretch>
                  <a:fillRect r="-21875"/>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BBAB1EB1-99CA-4653-84FD-00EC9368D91A}"/>
                  </a:ext>
                </a:extLst>
              </p:cNvPr>
              <p:cNvSpPr txBox="1"/>
              <p:nvPr/>
            </p:nvSpPr>
            <p:spPr>
              <a:xfrm>
                <a:off x="4852220" y="4067883"/>
                <a:ext cx="583571"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ea typeface="+mn-ea"/>
                        </a:rPr>
                        <m:t>£1,000</m:t>
                      </m:r>
                    </m:oMath>
                  </m:oMathPara>
                </a14:m>
                <a:endParaRPr lang="en-GB" sz="1500" dirty="0">
                  <a:latin typeface="Calibri" panose="020F0502020204030204"/>
                  <a:ea typeface="+mn-ea"/>
                </a:endParaRPr>
              </a:p>
            </p:txBody>
          </p:sp>
        </mc:Choice>
        <mc:Fallback xmlns="">
          <p:sp>
            <p:nvSpPr>
              <p:cNvPr id="48" name="TextBox 47">
                <a:extLst>
                  <a:ext uri="{FF2B5EF4-FFF2-40B4-BE49-F238E27FC236}">
                    <a16:creationId xmlns:a16="http://schemas.microsoft.com/office/drawing/2014/main" id="{BBAB1EB1-99CA-4653-84FD-00EC9368D91A}"/>
                  </a:ext>
                </a:extLst>
              </p:cNvPr>
              <p:cNvSpPr txBox="1">
                <a:spLocks noRot="1" noChangeAspect="1" noMove="1" noResize="1" noEditPoints="1" noAdjustHandles="1" noChangeArrowheads="1" noChangeShapeType="1" noTextEdit="1"/>
              </p:cNvSpPr>
              <p:nvPr/>
            </p:nvSpPr>
            <p:spPr>
              <a:xfrm>
                <a:off x="4852220" y="4067883"/>
                <a:ext cx="583571" cy="323165"/>
              </a:xfrm>
              <a:prstGeom prst="rect">
                <a:avLst/>
              </a:prstGeom>
              <a:blipFill>
                <a:blip r:embed="rId18"/>
                <a:stretch>
                  <a:fillRect r="-21875"/>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EE520EA2-FB4F-404B-802B-4D3EACE83288}"/>
                  </a:ext>
                </a:extLst>
              </p:cNvPr>
              <p:cNvSpPr txBox="1"/>
              <p:nvPr/>
            </p:nvSpPr>
            <p:spPr>
              <a:xfrm>
                <a:off x="6194725" y="4065693"/>
                <a:ext cx="583571"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ea typeface="+mn-ea"/>
                        </a:rPr>
                        <m:t>£1,000</m:t>
                      </m:r>
                    </m:oMath>
                  </m:oMathPara>
                </a14:m>
                <a:endParaRPr lang="en-GB" sz="1500" dirty="0">
                  <a:latin typeface="Calibri" panose="020F0502020204030204"/>
                  <a:ea typeface="+mn-ea"/>
                </a:endParaRPr>
              </a:p>
            </p:txBody>
          </p:sp>
        </mc:Choice>
        <mc:Fallback xmlns="">
          <p:sp>
            <p:nvSpPr>
              <p:cNvPr id="49" name="TextBox 48">
                <a:extLst>
                  <a:ext uri="{FF2B5EF4-FFF2-40B4-BE49-F238E27FC236}">
                    <a16:creationId xmlns:a16="http://schemas.microsoft.com/office/drawing/2014/main" id="{EE520EA2-FB4F-404B-802B-4D3EACE83288}"/>
                  </a:ext>
                </a:extLst>
              </p:cNvPr>
              <p:cNvSpPr txBox="1">
                <a:spLocks noRot="1" noChangeAspect="1" noMove="1" noResize="1" noEditPoints="1" noAdjustHandles="1" noChangeArrowheads="1" noChangeShapeType="1" noTextEdit="1"/>
              </p:cNvSpPr>
              <p:nvPr/>
            </p:nvSpPr>
            <p:spPr>
              <a:xfrm>
                <a:off x="6194725" y="4065693"/>
                <a:ext cx="583571" cy="323165"/>
              </a:xfrm>
              <a:prstGeom prst="rect">
                <a:avLst/>
              </a:prstGeom>
              <a:blipFill>
                <a:blip r:embed="rId19"/>
                <a:stretch>
                  <a:fillRect r="-21875"/>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A5CD27D9-0B49-4923-8A81-E3061433AEC1}"/>
                  </a:ext>
                </a:extLst>
              </p:cNvPr>
              <p:cNvSpPr txBox="1"/>
              <p:nvPr/>
            </p:nvSpPr>
            <p:spPr>
              <a:xfrm>
                <a:off x="7563963" y="4065433"/>
                <a:ext cx="583571"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ea typeface="+mn-ea"/>
                        </a:rPr>
                        <m:t>£1,000</m:t>
                      </m:r>
                    </m:oMath>
                  </m:oMathPara>
                </a14:m>
                <a:endParaRPr lang="en-GB" sz="1500" dirty="0">
                  <a:latin typeface="Calibri" panose="020F0502020204030204"/>
                  <a:ea typeface="+mn-ea"/>
                </a:endParaRPr>
              </a:p>
            </p:txBody>
          </p:sp>
        </mc:Choice>
        <mc:Fallback xmlns="">
          <p:sp>
            <p:nvSpPr>
              <p:cNvPr id="50" name="TextBox 49">
                <a:extLst>
                  <a:ext uri="{FF2B5EF4-FFF2-40B4-BE49-F238E27FC236}">
                    <a16:creationId xmlns:a16="http://schemas.microsoft.com/office/drawing/2014/main" id="{A5CD27D9-0B49-4923-8A81-E3061433AEC1}"/>
                  </a:ext>
                </a:extLst>
              </p:cNvPr>
              <p:cNvSpPr txBox="1">
                <a:spLocks noRot="1" noChangeAspect="1" noMove="1" noResize="1" noEditPoints="1" noAdjustHandles="1" noChangeArrowheads="1" noChangeShapeType="1" noTextEdit="1"/>
              </p:cNvSpPr>
              <p:nvPr/>
            </p:nvSpPr>
            <p:spPr>
              <a:xfrm>
                <a:off x="7563963" y="4065433"/>
                <a:ext cx="583571" cy="323165"/>
              </a:xfrm>
              <a:prstGeom prst="rect">
                <a:avLst/>
              </a:prstGeom>
              <a:blipFill>
                <a:blip r:embed="rId20"/>
                <a:stretch>
                  <a:fillRect r="-21875"/>
                </a:stretch>
              </a:blipFill>
              <a:ln>
                <a:noFill/>
              </a:ln>
            </p:spPr>
            <p:txBody>
              <a:bodyPr/>
              <a:lstStyle/>
              <a:p>
                <a:r>
                  <a:rPr lang="en-GB">
                    <a:noFill/>
                  </a:rPr>
                  <a:t> </a:t>
                </a:r>
              </a:p>
            </p:txBody>
          </p:sp>
        </mc:Fallback>
      </mc:AlternateContent>
      <p:sp>
        <p:nvSpPr>
          <p:cNvPr id="51" name="Flowchart: Connector 50">
            <a:extLst>
              <a:ext uri="{FF2B5EF4-FFF2-40B4-BE49-F238E27FC236}">
                <a16:creationId xmlns:a16="http://schemas.microsoft.com/office/drawing/2014/main" id="{41B752E5-4FEB-44F1-BC88-9495C5750888}"/>
              </a:ext>
            </a:extLst>
          </p:cNvPr>
          <p:cNvSpPr/>
          <p:nvPr/>
        </p:nvSpPr>
        <p:spPr>
          <a:xfrm>
            <a:off x="3646643" y="2986716"/>
            <a:ext cx="405000" cy="424548"/>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FE8EAC75-2DAE-4DD8-947E-9D1DEF5D193F}"/>
                  </a:ext>
                </a:extLst>
              </p:cNvPr>
              <p:cNvSpPr txBox="1"/>
              <p:nvPr/>
            </p:nvSpPr>
            <p:spPr>
              <a:xfrm>
                <a:off x="3628911" y="3054849"/>
                <a:ext cx="2815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£50</m:t>
                      </m:r>
                    </m:oMath>
                  </m:oMathPara>
                </a14:m>
                <a:endParaRPr lang="en-GB" sz="1500" dirty="0">
                  <a:solidFill>
                    <a:schemeClr val="accent6">
                      <a:lumMod val="75000"/>
                    </a:schemeClr>
                  </a:solidFill>
                  <a:latin typeface="Calibri" panose="020F0502020204030204"/>
                  <a:ea typeface="+mn-ea"/>
                </a:endParaRPr>
              </a:p>
            </p:txBody>
          </p:sp>
        </mc:Choice>
        <mc:Fallback xmlns="">
          <p:sp>
            <p:nvSpPr>
              <p:cNvPr id="52" name="TextBox 51">
                <a:extLst>
                  <a:ext uri="{FF2B5EF4-FFF2-40B4-BE49-F238E27FC236}">
                    <a16:creationId xmlns:a16="http://schemas.microsoft.com/office/drawing/2014/main" id="{FE8EAC75-2DAE-4DD8-947E-9D1DEF5D193F}"/>
                  </a:ext>
                </a:extLst>
              </p:cNvPr>
              <p:cNvSpPr txBox="1">
                <a:spLocks noRot="1" noChangeAspect="1" noMove="1" noResize="1" noEditPoints="1" noAdjustHandles="1" noChangeArrowheads="1" noChangeShapeType="1" noTextEdit="1"/>
              </p:cNvSpPr>
              <p:nvPr/>
            </p:nvSpPr>
            <p:spPr>
              <a:xfrm>
                <a:off x="3628911" y="3054849"/>
                <a:ext cx="281569" cy="323165"/>
              </a:xfrm>
              <a:prstGeom prst="rect">
                <a:avLst/>
              </a:prstGeom>
              <a:blipFill>
                <a:blip r:embed="rId21"/>
                <a:stretch>
                  <a:fillRect r="-67391"/>
                </a:stretch>
              </a:blipFill>
              <a:ln>
                <a:noFill/>
              </a:ln>
            </p:spPr>
            <p:txBody>
              <a:bodyPr/>
              <a:lstStyle/>
              <a:p>
                <a:r>
                  <a:rPr lang="en-GB">
                    <a:noFill/>
                  </a:rPr>
                  <a:t> </a:t>
                </a:r>
              </a:p>
            </p:txBody>
          </p:sp>
        </mc:Fallback>
      </mc:AlternateContent>
      <p:sp>
        <p:nvSpPr>
          <p:cNvPr id="57" name="Flowchart: Connector 56">
            <a:extLst>
              <a:ext uri="{FF2B5EF4-FFF2-40B4-BE49-F238E27FC236}">
                <a16:creationId xmlns:a16="http://schemas.microsoft.com/office/drawing/2014/main" id="{7AB3EE27-E0F6-453F-A0BB-858AF8B2D8DB}"/>
              </a:ext>
            </a:extLst>
          </p:cNvPr>
          <p:cNvSpPr/>
          <p:nvPr/>
        </p:nvSpPr>
        <p:spPr>
          <a:xfrm>
            <a:off x="5002235" y="3017159"/>
            <a:ext cx="405000" cy="405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84C4678D-574A-4DF4-8641-5D3C3B74FD80}"/>
                  </a:ext>
                </a:extLst>
              </p:cNvPr>
              <p:cNvSpPr txBox="1"/>
              <p:nvPr/>
            </p:nvSpPr>
            <p:spPr>
              <a:xfrm>
                <a:off x="4992258" y="3059848"/>
                <a:ext cx="2815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£50</m:t>
                      </m:r>
                    </m:oMath>
                  </m:oMathPara>
                </a14:m>
                <a:endParaRPr lang="en-GB" sz="1500" dirty="0">
                  <a:solidFill>
                    <a:schemeClr val="accent6">
                      <a:lumMod val="75000"/>
                    </a:schemeClr>
                  </a:solidFill>
                  <a:latin typeface="Calibri" panose="020F0502020204030204"/>
                  <a:ea typeface="+mn-ea"/>
                </a:endParaRPr>
              </a:p>
            </p:txBody>
          </p:sp>
        </mc:Choice>
        <mc:Fallback xmlns="">
          <p:sp>
            <p:nvSpPr>
              <p:cNvPr id="58" name="TextBox 57">
                <a:extLst>
                  <a:ext uri="{FF2B5EF4-FFF2-40B4-BE49-F238E27FC236}">
                    <a16:creationId xmlns:a16="http://schemas.microsoft.com/office/drawing/2014/main" id="{84C4678D-574A-4DF4-8641-5D3C3B74FD80}"/>
                  </a:ext>
                </a:extLst>
              </p:cNvPr>
              <p:cNvSpPr txBox="1">
                <a:spLocks noRot="1" noChangeAspect="1" noMove="1" noResize="1" noEditPoints="1" noAdjustHandles="1" noChangeArrowheads="1" noChangeShapeType="1" noTextEdit="1"/>
              </p:cNvSpPr>
              <p:nvPr/>
            </p:nvSpPr>
            <p:spPr>
              <a:xfrm>
                <a:off x="4992258" y="3059848"/>
                <a:ext cx="281569" cy="323165"/>
              </a:xfrm>
              <a:prstGeom prst="rect">
                <a:avLst/>
              </a:prstGeom>
              <a:blipFill>
                <a:blip r:embed="rId22"/>
                <a:stretch>
                  <a:fillRect r="-65217"/>
                </a:stretch>
              </a:blipFill>
              <a:ln>
                <a:noFill/>
              </a:ln>
            </p:spPr>
            <p:txBody>
              <a:bodyPr/>
              <a:lstStyle/>
              <a:p>
                <a:r>
                  <a:rPr lang="en-GB">
                    <a:noFill/>
                  </a:rPr>
                  <a:t> </a:t>
                </a:r>
              </a:p>
            </p:txBody>
          </p:sp>
        </mc:Fallback>
      </mc:AlternateContent>
      <p:sp>
        <p:nvSpPr>
          <p:cNvPr id="59" name="Flowchart: Connector 58">
            <a:extLst>
              <a:ext uri="{FF2B5EF4-FFF2-40B4-BE49-F238E27FC236}">
                <a16:creationId xmlns:a16="http://schemas.microsoft.com/office/drawing/2014/main" id="{F525AEFC-798F-4157-A83C-1C4CD4F1B163}"/>
              </a:ext>
            </a:extLst>
          </p:cNvPr>
          <p:cNvSpPr/>
          <p:nvPr/>
        </p:nvSpPr>
        <p:spPr>
          <a:xfrm>
            <a:off x="5002235" y="2564821"/>
            <a:ext cx="405000" cy="424548"/>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121418BD-00F0-4C53-BE2C-EA9B9A4DB516}"/>
                  </a:ext>
                </a:extLst>
              </p:cNvPr>
              <p:cNvSpPr txBox="1"/>
              <p:nvPr/>
            </p:nvSpPr>
            <p:spPr>
              <a:xfrm>
                <a:off x="4992948" y="2616137"/>
                <a:ext cx="2815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£50</m:t>
                      </m:r>
                    </m:oMath>
                  </m:oMathPara>
                </a14:m>
                <a:endParaRPr lang="en-GB" sz="1500" dirty="0">
                  <a:solidFill>
                    <a:schemeClr val="accent6">
                      <a:lumMod val="75000"/>
                    </a:schemeClr>
                  </a:solidFill>
                  <a:latin typeface="Calibri" panose="020F0502020204030204"/>
                  <a:ea typeface="+mn-ea"/>
                </a:endParaRPr>
              </a:p>
            </p:txBody>
          </p:sp>
        </mc:Choice>
        <mc:Fallback xmlns="">
          <p:sp>
            <p:nvSpPr>
              <p:cNvPr id="60" name="TextBox 59">
                <a:extLst>
                  <a:ext uri="{FF2B5EF4-FFF2-40B4-BE49-F238E27FC236}">
                    <a16:creationId xmlns:a16="http://schemas.microsoft.com/office/drawing/2014/main" id="{121418BD-00F0-4C53-BE2C-EA9B9A4DB516}"/>
                  </a:ext>
                </a:extLst>
              </p:cNvPr>
              <p:cNvSpPr txBox="1">
                <a:spLocks noRot="1" noChangeAspect="1" noMove="1" noResize="1" noEditPoints="1" noAdjustHandles="1" noChangeArrowheads="1" noChangeShapeType="1" noTextEdit="1"/>
              </p:cNvSpPr>
              <p:nvPr/>
            </p:nvSpPr>
            <p:spPr>
              <a:xfrm>
                <a:off x="4992948" y="2616137"/>
                <a:ext cx="281569" cy="323165"/>
              </a:xfrm>
              <a:prstGeom prst="rect">
                <a:avLst/>
              </a:prstGeom>
              <a:blipFill>
                <a:blip r:embed="rId23"/>
                <a:stretch>
                  <a:fillRect r="-67391"/>
                </a:stretch>
              </a:blipFill>
              <a:ln>
                <a:noFill/>
              </a:ln>
            </p:spPr>
            <p:txBody>
              <a:bodyPr/>
              <a:lstStyle/>
              <a:p>
                <a:r>
                  <a:rPr lang="en-GB">
                    <a:noFill/>
                  </a:rPr>
                  <a:t> </a:t>
                </a:r>
              </a:p>
            </p:txBody>
          </p:sp>
        </mc:Fallback>
      </mc:AlternateContent>
      <p:sp>
        <p:nvSpPr>
          <p:cNvPr id="61" name="Flowchart: Connector 60">
            <a:extLst>
              <a:ext uri="{FF2B5EF4-FFF2-40B4-BE49-F238E27FC236}">
                <a16:creationId xmlns:a16="http://schemas.microsoft.com/office/drawing/2014/main" id="{1EBF0DFF-9FD0-4CEA-BAC3-F040B99A25DF}"/>
              </a:ext>
            </a:extLst>
          </p:cNvPr>
          <p:cNvSpPr/>
          <p:nvPr/>
        </p:nvSpPr>
        <p:spPr>
          <a:xfrm>
            <a:off x="6355169" y="2995070"/>
            <a:ext cx="405000" cy="405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692F8C8-8338-4E74-BAE0-6A23B8F5560B}"/>
                  </a:ext>
                </a:extLst>
              </p:cNvPr>
              <p:cNvSpPr txBox="1"/>
              <p:nvPr/>
            </p:nvSpPr>
            <p:spPr>
              <a:xfrm>
                <a:off x="6330015" y="3055104"/>
                <a:ext cx="3278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£50</m:t>
                      </m:r>
                    </m:oMath>
                  </m:oMathPara>
                </a14:m>
                <a:endParaRPr lang="en-GB" sz="1500" dirty="0">
                  <a:solidFill>
                    <a:schemeClr val="accent6">
                      <a:lumMod val="75000"/>
                    </a:schemeClr>
                  </a:solidFill>
                  <a:latin typeface="Calibri" panose="020F0502020204030204"/>
                  <a:ea typeface="+mn-ea"/>
                </a:endParaRPr>
              </a:p>
            </p:txBody>
          </p:sp>
        </mc:Choice>
        <mc:Fallback xmlns="">
          <p:sp>
            <p:nvSpPr>
              <p:cNvPr id="62" name="TextBox 61">
                <a:extLst>
                  <a:ext uri="{FF2B5EF4-FFF2-40B4-BE49-F238E27FC236}">
                    <a16:creationId xmlns:a16="http://schemas.microsoft.com/office/drawing/2014/main" id="{6692F8C8-8338-4E74-BAE0-6A23B8F5560B}"/>
                  </a:ext>
                </a:extLst>
              </p:cNvPr>
              <p:cNvSpPr txBox="1">
                <a:spLocks noRot="1" noChangeAspect="1" noMove="1" noResize="1" noEditPoints="1" noAdjustHandles="1" noChangeArrowheads="1" noChangeShapeType="1" noTextEdit="1"/>
              </p:cNvSpPr>
              <p:nvPr/>
            </p:nvSpPr>
            <p:spPr>
              <a:xfrm>
                <a:off x="6330015" y="3055104"/>
                <a:ext cx="327869" cy="323165"/>
              </a:xfrm>
              <a:prstGeom prst="rect">
                <a:avLst/>
              </a:prstGeom>
              <a:blipFill>
                <a:blip r:embed="rId24"/>
                <a:stretch>
                  <a:fillRect r="-42593"/>
                </a:stretch>
              </a:blipFill>
              <a:ln>
                <a:noFill/>
              </a:ln>
            </p:spPr>
            <p:txBody>
              <a:bodyPr/>
              <a:lstStyle/>
              <a:p>
                <a:r>
                  <a:rPr lang="en-GB">
                    <a:noFill/>
                  </a:rPr>
                  <a:t> </a:t>
                </a:r>
              </a:p>
            </p:txBody>
          </p:sp>
        </mc:Fallback>
      </mc:AlternateContent>
      <p:sp>
        <p:nvSpPr>
          <p:cNvPr id="63" name="Flowchart: Connector 62">
            <a:extLst>
              <a:ext uri="{FF2B5EF4-FFF2-40B4-BE49-F238E27FC236}">
                <a16:creationId xmlns:a16="http://schemas.microsoft.com/office/drawing/2014/main" id="{5D2CFCF2-C5D5-4E1D-8899-4BCE374764EF}"/>
              </a:ext>
            </a:extLst>
          </p:cNvPr>
          <p:cNvSpPr/>
          <p:nvPr/>
        </p:nvSpPr>
        <p:spPr>
          <a:xfrm>
            <a:off x="6350625" y="2569419"/>
            <a:ext cx="405000" cy="405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4" name="Flowchart: Connector 63">
            <a:extLst>
              <a:ext uri="{FF2B5EF4-FFF2-40B4-BE49-F238E27FC236}">
                <a16:creationId xmlns:a16="http://schemas.microsoft.com/office/drawing/2014/main" id="{E3AC82D4-BCF9-4D8F-A0E1-2964DFCD6704}"/>
              </a:ext>
            </a:extLst>
          </p:cNvPr>
          <p:cNvSpPr/>
          <p:nvPr/>
        </p:nvSpPr>
        <p:spPr>
          <a:xfrm>
            <a:off x="6350625" y="2117081"/>
            <a:ext cx="405000" cy="424548"/>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004D6619-EB55-4EF1-8FB6-2235D046BD22}"/>
                  </a:ext>
                </a:extLst>
              </p:cNvPr>
              <p:cNvSpPr txBox="1"/>
              <p:nvPr/>
            </p:nvSpPr>
            <p:spPr>
              <a:xfrm>
                <a:off x="6348621" y="2185038"/>
                <a:ext cx="2815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£50</m:t>
                      </m:r>
                    </m:oMath>
                  </m:oMathPara>
                </a14:m>
                <a:endParaRPr lang="en-GB" sz="1500" dirty="0">
                  <a:solidFill>
                    <a:schemeClr val="accent6">
                      <a:lumMod val="75000"/>
                    </a:schemeClr>
                  </a:solidFill>
                  <a:latin typeface="Calibri" panose="020F0502020204030204"/>
                  <a:ea typeface="+mn-ea"/>
                </a:endParaRPr>
              </a:p>
            </p:txBody>
          </p:sp>
        </mc:Choice>
        <mc:Fallback xmlns="">
          <p:sp>
            <p:nvSpPr>
              <p:cNvPr id="65" name="TextBox 64">
                <a:extLst>
                  <a:ext uri="{FF2B5EF4-FFF2-40B4-BE49-F238E27FC236}">
                    <a16:creationId xmlns:a16="http://schemas.microsoft.com/office/drawing/2014/main" id="{004D6619-EB55-4EF1-8FB6-2235D046BD22}"/>
                  </a:ext>
                </a:extLst>
              </p:cNvPr>
              <p:cNvSpPr txBox="1">
                <a:spLocks noRot="1" noChangeAspect="1" noMove="1" noResize="1" noEditPoints="1" noAdjustHandles="1" noChangeArrowheads="1" noChangeShapeType="1" noTextEdit="1"/>
              </p:cNvSpPr>
              <p:nvPr/>
            </p:nvSpPr>
            <p:spPr>
              <a:xfrm>
                <a:off x="6348621" y="2185038"/>
                <a:ext cx="281569" cy="323165"/>
              </a:xfrm>
              <a:prstGeom prst="rect">
                <a:avLst/>
              </a:prstGeom>
              <a:blipFill>
                <a:blip r:embed="rId25"/>
                <a:stretch>
                  <a:fillRect r="-63830"/>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D4C78F0E-70D0-42EA-B0FB-EACC3C6FDC87}"/>
                  </a:ext>
                </a:extLst>
              </p:cNvPr>
              <p:cNvSpPr txBox="1"/>
              <p:nvPr/>
            </p:nvSpPr>
            <p:spPr>
              <a:xfrm>
                <a:off x="6338093" y="2614801"/>
                <a:ext cx="2815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£50</m:t>
                      </m:r>
                    </m:oMath>
                  </m:oMathPara>
                </a14:m>
                <a:endParaRPr lang="en-GB" sz="1500" dirty="0">
                  <a:solidFill>
                    <a:schemeClr val="accent6">
                      <a:lumMod val="75000"/>
                    </a:schemeClr>
                  </a:solidFill>
                  <a:latin typeface="Calibri" panose="020F0502020204030204"/>
                  <a:ea typeface="+mn-ea"/>
                </a:endParaRPr>
              </a:p>
            </p:txBody>
          </p:sp>
        </mc:Choice>
        <mc:Fallback xmlns="">
          <p:sp>
            <p:nvSpPr>
              <p:cNvPr id="66" name="TextBox 65">
                <a:extLst>
                  <a:ext uri="{FF2B5EF4-FFF2-40B4-BE49-F238E27FC236}">
                    <a16:creationId xmlns:a16="http://schemas.microsoft.com/office/drawing/2014/main" id="{D4C78F0E-70D0-42EA-B0FB-EACC3C6FDC87}"/>
                  </a:ext>
                </a:extLst>
              </p:cNvPr>
              <p:cNvSpPr txBox="1">
                <a:spLocks noRot="1" noChangeAspect="1" noMove="1" noResize="1" noEditPoints="1" noAdjustHandles="1" noChangeArrowheads="1" noChangeShapeType="1" noTextEdit="1"/>
              </p:cNvSpPr>
              <p:nvPr/>
            </p:nvSpPr>
            <p:spPr>
              <a:xfrm>
                <a:off x="6338093" y="2614801"/>
                <a:ext cx="281569" cy="323165"/>
              </a:xfrm>
              <a:prstGeom prst="rect">
                <a:avLst/>
              </a:prstGeom>
              <a:blipFill>
                <a:blip r:embed="rId26"/>
                <a:stretch>
                  <a:fillRect r="-65217"/>
                </a:stretch>
              </a:blipFill>
              <a:ln>
                <a:noFill/>
              </a:ln>
            </p:spPr>
            <p:txBody>
              <a:bodyPr/>
              <a:lstStyle/>
              <a:p>
                <a:r>
                  <a:rPr lang="en-GB">
                    <a:noFill/>
                  </a:rPr>
                  <a:t> </a:t>
                </a:r>
              </a:p>
            </p:txBody>
          </p:sp>
        </mc:Fallback>
      </mc:AlternateContent>
      <p:sp>
        <p:nvSpPr>
          <p:cNvPr id="67" name="Flowchart: Connector 66">
            <a:extLst>
              <a:ext uri="{FF2B5EF4-FFF2-40B4-BE49-F238E27FC236}">
                <a16:creationId xmlns:a16="http://schemas.microsoft.com/office/drawing/2014/main" id="{D5534ABE-B66D-4570-8C04-61626C550D3A}"/>
              </a:ext>
            </a:extLst>
          </p:cNvPr>
          <p:cNvSpPr/>
          <p:nvPr/>
        </p:nvSpPr>
        <p:spPr>
          <a:xfrm>
            <a:off x="7712837" y="3000694"/>
            <a:ext cx="405000" cy="405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D4E3DD5-1969-49FA-819B-74BDB8CA6DC3}"/>
                  </a:ext>
                </a:extLst>
              </p:cNvPr>
              <p:cNvSpPr txBox="1"/>
              <p:nvPr/>
            </p:nvSpPr>
            <p:spPr>
              <a:xfrm>
                <a:off x="7693054" y="3060904"/>
                <a:ext cx="3278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£50</m:t>
                      </m:r>
                    </m:oMath>
                  </m:oMathPara>
                </a14:m>
                <a:endParaRPr lang="en-GB" sz="1500" dirty="0">
                  <a:solidFill>
                    <a:schemeClr val="accent6">
                      <a:lumMod val="75000"/>
                    </a:schemeClr>
                  </a:solidFill>
                  <a:latin typeface="Calibri" panose="020F0502020204030204"/>
                  <a:ea typeface="+mn-ea"/>
                </a:endParaRPr>
              </a:p>
            </p:txBody>
          </p:sp>
        </mc:Choice>
        <mc:Fallback xmlns="">
          <p:sp>
            <p:nvSpPr>
              <p:cNvPr id="68" name="TextBox 67">
                <a:extLst>
                  <a:ext uri="{FF2B5EF4-FFF2-40B4-BE49-F238E27FC236}">
                    <a16:creationId xmlns:a16="http://schemas.microsoft.com/office/drawing/2014/main" id="{6D4E3DD5-1969-49FA-819B-74BDB8CA6DC3}"/>
                  </a:ext>
                </a:extLst>
              </p:cNvPr>
              <p:cNvSpPr txBox="1">
                <a:spLocks noRot="1" noChangeAspect="1" noMove="1" noResize="1" noEditPoints="1" noAdjustHandles="1" noChangeArrowheads="1" noChangeShapeType="1" noTextEdit="1"/>
              </p:cNvSpPr>
              <p:nvPr/>
            </p:nvSpPr>
            <p:spPr>
              <a:xfrm>
                <a:off x="7693054" y="3060904"/>
                <a:ext cx="327869" cy="323165"/>
              </a:xfrm>
              <a:prstGeom prst="rect">
                <a:avLst/>
              </a:prstGeom>
              <a:blipFill>
                <a:blip r:embed="rId27"/>
                <a:stretch>
                  <a:fillRect r="-40741"/>
                </a:stretch>
              </a:blipFill>
              <a:ln>
                <a:noFill/>
              </a:ln>
            </p:spPr>
            <p:txBody>
              <a:bodyPr/>
              <a:lstStyle/>
              <a:p>
                <a:r>
                  <a:rPr lang="en-GB">
                    <a:noFill/>
                  </a:rPr>
                  <a:t> </a:t>
                </a:r>
              </a:p>
            </p:txBody>
          </p:sp>
        </mc:Fallback>
      </mc:AlternateContent>
      <p:sp>
        <p:nvSpPr>
          <p:cNvPr id="69" name="Flowchart: Connector 68">
            <a:extLst>
              <a:ext uri="{FF2B5EF4-FFF2-40B4-BE49-F238E27FC236}">
                <a16:creationId xmlns:a16="http://schemas.microsoft.com/office/drawing/2014/main" id="{C3CD5A69-2A8D-456A-89E7-60D0B402FF51}"/>
              </a:ext>
            </a:extLst>
          </p:cNvPr>
          <p:cNvSpPr/>
          <p:nvPr/>
        </p:nvSpPr>
        <p:spPr>
          <a:xfrm>
            <a:off x="7714386" y="2567295"/>
            <a:ext cx="405000" cy="405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9CF52567-60B6-4224-B738-23DD130B6354}"/>
                  </a:ext>
                </a:extLst>
              </p:cNvPr>
              <p:cNvSpPr txBox="1"/>
              <p:nvPr/>
            </p:nvSpPr>
            <p:spPr>
              <a:xfrm>
                <a:off x="7694603" y="2627505"/>
                <a:ext cx="3278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£50</m:t>
                      </m:r>
                    </m:oMath>
                  </m:oMathPara>
                </a14:m>
                <a:endParaRPr lang="en-GB" sz="1500" dirty="0">
                  <a:solidFill>
                    <a:schemeClr val="accent6">
                      <a:lumMod val="75000"/>
                    </a:schemeClr>
                  </a:solidFill>
                  <a:latin typeface="Calibri" panose="020F0502020204030204"/>
                  <a:ea typeface="+mn-ea"/>
                </a:endParaRPr>
              </a:p>
            </p:txBody>
          </p:sp>
        </mc:Choice>
        <mc:Fallback xmlns="">
          <p:sp>
            <p:nvSpPr>
              <p:cNvPr id="70" name="TextBox 69">
                <a:extLst>
                  <a:ext uri="{FF2B5EF4-FFF2-40B4-BE49-F238E27FC236}">
                    <a16:creationId xmlns:a16="http://schemas.microsoft.com/office/drawing/2014/main" id="{9CF52567-60B6-4224-B738-23DD130B6354}"/>
                  </a:ext>
                </a:extLst>
              </p:cNvPr>
              <p:cNvSpPr txBox="1">
                <a:spLocks noRot="1" noChangeAspect="1" noMove="1" noResize="1" noEditPoints="1" noAdjustHandles="1" noChangeArrowheads="1" noChangeShapeType="1" noTextEdit="1"/>
              </p:cNvSpPr>
              <p:nvPr/>
            </p:nvSpPr>
            <p:spPr>
              <a:xfrm>
                <a:off x="7694603" y="2627505"/>
                <a:ext cx="327869" cy="323165"/>
              </a:xfrm>
              <a:prstGeom prst="rect">
                <a:avLst/>
              </a:prstGeom>
              <a:blipFill>
                <a:blip r:embed="rId28"/>
                <a:stretch>
                  <a:fillRect r="-42593"/>
                </a:stretch>
              </a:blipFill>
              <a:ln>
                <a:noFill/>
              </a:ln>
            </p:spPr>
            <p:txBody>
              <a:bodyPr/>
              <a:lstStyle/>
              <a:p>
                <a:r>
                  <a:rPr lang="en-GB">
                    <a:noFill/>
                  </a:rPr>
                  <a:t> </a:t>
                </a:r>
              </a:p>
            </p:txBody>
          </p:sp>
        </mc:Fallback>
      </mc:AlternateContent>
      <p:sp>
        <p:nvSpPr>
          <p:cNvPr id="71" name="Flowchart: Connector 70">
            <a:extLst>
              <a:ext uri="{FF2B5EF4-FFF2-40B4-BE49-F238E27FC236}">
                <a16:creationId xmlns:a16="http://schemas.microsoft.com/office/drawing/2014/main" id="{7E27C9FB-39B7-4FEB-AD1E-7E7F08DF0706}"/>
              </a:ext>
            </a:extLst>
          </p:cNvPr>
          <p:cNvSpPr/>
          <p:nvPr/>
        </p:nvSpPr>
        <p:spPr>
          <a:xfrm>
            <a:off x="7709842" y="2141645"/>
            <a:ext cx="405000" cy="405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2" name="Flowchart: Connector 71">
            <a:extLst>
              <a:ext uri="{FF2B5EF4-FFF2-40B4-BE49-F238E27FC236}">
                <a16:creationId xmlns:a16="http://schemas.microsoft.com/office/drawing/2014/main" id="{83BB42EC-8AD2-4601-B728-8F5E4F0D2F3B}"/>
              </a:ext>
            </a:extLst>
          </p:cNvPr>
          <p:cNvSpPr/>
          <p:nvPr/>
        </p:nvSpPr>
        <p:spPr>
          <a:xfrm>
            <a:off x="7709842" y="1689306"/>
            <a:ext cx="405000" cy="424548"/>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23BA17D8-9CAC-4EE0-9FC3-94F584DE1ECC}"/>
                  </a:ext>
                </a:extLst>
              </p:cNvPr>
              <p:cNvSpPr txBox="1"/>
              <p:nvPr/>
            </p:nvSpPr>
            <p:spPr>
              <a:xfrm>
                <a:off x="7713209" y="1757439"/>
                <a:ext cx="2815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£50</m:t>
                      </m:r>
                    </m:oMath>
                  </m:oMathPara>
                </a14:m>
                <a:endParaRPr lang="en-GB" sz="1500" dirty="0">
                  <a:solidFill>
                    <a:schemeClr val="accent6">
                      <a:lumMod val="75000"/>
                    </a:schemeClr>
                  </a:solidFill>
                  <a:latin typeface="Calibri" panose="020F0502020204030204"/>
                  <a:ea typeface="+mn-ea"/>
                </a:endParaRPr>
              </a:p>
            </p:txBody>
          </p:sp>
        </mc:Choice>
        <mc:Fallback xmlns="">
          <p:sp>
            <p:nvSpPr>
              <p:cNvPr id="73" name="TextBox 72">
                <a:extLst>
                  <a:ext uri="{FF2B5EF4-FFF2-40B4-BE49-F238E27FC236}">
                    <a16:creationId xmlns:a16="http://schemas.microsoft.com/office/drawing/2014/main" id="{23BA17D8-9CAC-4EE0-9FC3-94F584DE1ECC}"/>
                  </a:ext>
                </a:extLst>
              </p:cNvPr>
              <p:cNvSpPr txBox="1">
                <a:spLocks noRot="1" noChangeAspect="1" noMove="1" noResize="1" noEditPoints="1" noAdjustHandles="1" noChangeArrowheads="1" noChangeShapeType="1" noTextEdit="1"/>
              </p:cNvSpPr>
              <p:nvPr/>
            </p:nvSpPr>
            <p:spPr>
              <a:xfrm>
                <a:off x="7713209" y="1757439"/>
                <a:ext cx="281569" cy="323165"/>
              </a:xfrm>
              <a:prstGeom prst="rect">
                <a:avLst/>
              </a:prstGeom>
              <a:blipFill>
                <a:blip r:embed="rId29"/>
                <a:stretch>
                  <a:fillRect r="-67391"/>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F8D82D37-4B3E-493E-907C-FCF67E6CE1B3}"/>
                  </a:ext>
                </a:extLst>
              </p:cNvPr>
              <p:cNvSpPr txBox="1"/>
              <p:nvPr/>
            </p:nvSpPr>
            <p:spPr>
              <a:xfrm>
                <a:off x="7702681" y="2187202"/>
                <a:ext cx="2815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£50</m:t>
                      </m:r>
                    </m:oMath>
                  </m:oMathPara>
                </a14:m>
                <a:endParaRPr lang="en-GB" sz="1500" dirty="0">
                  <a:solidFill>
                    <a:schemeClr val="accent6">
                      <a:lumMod val="75000"/>
                    </a:schemeClr>
                  </a:solidFill>
                  <a:latin typeface="Calibri" panose="020F0502020204030204"/>
                  <a:ea typeface="+mn-ea"/>
                </a:endParaRPr>
              </a:p>
            </p:txBody>
          </p:sp>
        </mc:Choice>
        <mc:Fallback xmlns="">
          <p:sp>
            <p:nvSpPr>
              <p:cNvPr id="74" name="TextBox 73">
                <a:extLst>
                  <a:ext uri="{FF2B5EF4-FFF2-40B4-BE49-F238E27FC236}">
                    <a16:creationId xmlns:a16="http://schemas.microsoft.com/office/drawing/2014/main" id="{F8D82D37-4B3E-493E-907C-FCF67E6CE1B3}"/>
                  </a:ext>
                </a:extLst>
              </p:cNvPr>
              <p:cNvSpPr txBox="1">
                <a:spLocks noRot="1" noChangeAspect="1" noMove="1" noResize="1" noEditPoints="1" noAdjustHandles="1" noChangeArrowheads="1" noChangeShapeType="1" noTextEdit="1"/>
              </p:cNvSpPr>
              <p:nvPr/>
            </p:nvSpPr>
            <p:spPr>
              <a:xfrm>
                <a:off x="7702681" y="2187202"/>
                <a:ext cx="281569" cy="323165"/>
              </a:xfrm>
              <a:prstGeom prst="rect">
                <a:avLst/>
              </a:prstGeom>
              <a:blipFill>
                <a:blip r:embed="rId30"/>
                <a:stretch>
                  <a:fillRect r="-65217"/>
                </a:stretch>
              </a:blipFill>
              <a:ln>
                <a:noFill/>
              </a:ln>
            </p:spPr>
            <p:txBody>
              <a:bodyPr/>
              <a:lstStyle/>
              <a:p>
                <a:r>
                  <a:rPr lang="en-GB">
                    <a:noFill/>
                  </a:rPr>
                  <a:t> </a:t>
                </a:r>
              </a:p>
            </p:txBody>
          </p:sp>
        </mc:Fallback>
      </mc:AlternateContent>
      <p:sp>
        <p:nvSpPr>
          <p:cNvPr id="75" name="Right Brace 74">
            <a:extLst>
              <a:ext uri="{FF2B5EF4-FFF2-40B4-BE49-F238E27FC236}">
                <a16:creationId xmlns:a16="http://schemas.microsoft.com/office/drawing/2014/main" id="{25712E1D-586F-46B8-920F-56CF17C0F0E2}"/>
              </a:ext>
            </a:extLst>
          </p:cNvPr>
          <p:cNvSpPr/>
          <p:nvPr/>
        </p:nvSpPr>
        <p:spPr>
          <a:xfrm>
            <a:off x="8224345" y="1704973"/>
            <a:ext cx="37219" cy="2081312"/>
          </a:xfrm>
          <a:prstGeom prst="rightBrace">
            <a:avLst/>
          </a:prstGeom>
          <a:ln w="28575">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5BA6A92D-AF79-4FF5-8AA1-D367AFA33496}"/>
                  </a:ext>
                </a:extLst>
              </p:cNvPr>
              <p:cNvSpPr txBox="1"/>
              <p:nvPr/>
            </p:nvSpPr>
            <p:spPr>
              <a:xfrm>
                <a:off x="8287386" y="2490509"/>
                <a:ext cx="781673" cy="910634"/>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GB" i="1">
                          <a:latin typeface="Cambria Math" panose="02040503050406030204" pitchFamily="18" charset="0"/>
                        </a:rPr>
                        <m:t>5</m:t>
                      </m:r>
                      <m:r>
                        <a:rPr lang="en-GB" i="1">
                          <a:latin typeface="Cambria Math" panose="02040503050406030204" pitchFamily="18" charset="0"/>
                          <a:ea typeface="Cambria Math" panose="02040503050406030204" pitchFamily="18" charset="0"/>
                        </a:rPr>
                        <m:t>×£50=£250</m:t>
                      </m:r>
                    </m:oMath>
                  </m:oMathPara>
                </a14:m>
                <a:endParaRPr lang="en-GB" dirty="0">
                  <a:latin typeface="Arial" panose="020B0604020202020204" pitchFamily="34" charset="0"/>
                  <a:cs typeface="Arial" panose="020B0604020202020204" pitchFamily="34" charset="0"/>
                </a:endParaRPr>
              </a:p>
            </p:txBody>
          </p:sp>
        </mc:Choice>
        <mc:Fallback xmlns="">
          <p:sp>
            <p:nvSpPr>
              <p:cNvPr id="76" name="TextBox 75">
                <a:extLst>
                  <a:ext uri="{FF2B5EF4-FFF2-40B4-BE49-F238E27FC236}">
                    <a16:creationId xmlns:a16="http://schemas.microsoft.com/office/drawing/2014/main" id="{5BA6A92D-AF79-4FF5-8AA1-D367AFA33496}"/>
                  </a:ext>
                </a:extLst>
              </p:cNvPr>
              <p:cNvSpPr txBox="1">
                <a:spLocks noRot="1" noChangeAspect="1" noMove="1" noResize="1" noEditPoints="1" noAdjustHandles="1" noChangeArrowheads="1" noChangeShapeType="1" noTextEdit="1"/>
              </p:cNvSpPr>
              <p:nvPr/>
            </p:nvSpPr>
            <p:spPr>
              <a:xfrm>
                <a:off x="8287386" y="2490509"/>
                <a:ext cx="781673" cy="910634"/>
              </a:xfrm>
              <a:prstGeom prst="rect">
                <a:avLst/>
              </a:prstGeom>
              <a:blipFill>
                <a:blip r:embed="rId31"/>
                <a:stretch>
                  <a:fillRect r="-17054"/>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59665FDD-A123-4658-B0D5-F7E21894C8C4}"/>
                  </a:ext>
                </a:extLst>
              </p:cNvPr>
              <p:cNvSpPr txBox="1"/>
              <p:nvPr/>
            </p:nvSpPr>
            <p:spPr>
              <a:xfrm>
                <a:off x="8257074" y="3909522"/>
                <a:ext cx="69601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ea typeface="Cambria Math" panose="02040503050406030204" pitchFamily="18" charset="0"/>
                        </a:rPr>
                        <m:t>£1,000</m:t>
                      </m:r>
                    </m:oMath>
                  </m:oMathPara>
                </a14:m>
                <a:endParaRPr lang="en-GB" dirty="0">
                  <a:latin typeface="Arial" panose="020B0604020202020204" pitchFamily="34" charset="0"/>
                  <a:cs typeface="Arial" panose="020B0604020202020204" pitchFamily="34" charset="0"/>
                </a:endParaRPr>
              </a:p>
            </p:txBody>
          </p:sp>
        </mc:Choice>
        <mc:Fallback xmlns="">
          <p:sp>
            <p:nvSpPr>
              <p:cNvPr id="77" name="TextBox 76">
                <a:extLst>
                  <a:ext uri="{FF2B5EF4-FFF2-40B4-BE49-F238E27FC236}">
                    <a16:creationId xmlns:a16="http://schemas.microsoft.com/office/drawing/2014/main" id="{59665FDD-A123-4658-B0D5-F7E21894C8C4}"/>
                  </a:ext>
                </a:extLst>
              </p:cNvPr>
              <p:cNvSpPr txBox="1">
                <a:spLocks noRot="1" noChangeAspect="1" noMove="1" noResize="1" noEditPoints="1" noAdjustHandles="1" noChangeArrowheads="1" noChangeShapeType="1" noTextEdit="1"/>
              </p:cNvSpPr>
              <p:nvPr/>
            </p:nvSpPr>
            <p:spPr>
              <a:xfrm>
                <a:off x="8257074" y="3909522"/>
                <a:ext cx="696011" cy="369332"/>
              </a:xfrm>
              <a:prstGeom prst="rect">
                <a:avLst/>
              </a:prstGeom>
              <a:blipFill>
                <a:blip r:embed="rId32"/>
                <a:stretch>
                  <a:fillRect r="-2280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E8948DEF-39B0-49B3-A812-9E304DA65712}"/>
                  </a:ext>
                </a:extLst>
              </p:cNvPr>
              <p:cNvSpPr txBox="1"/>
              <p:nvPr/>
            </p:nvSpPr>
            <p:spPr>
              <a:xfrm>
                <a:off x="8294709" y="3404513"/>
                <a:ext cx="7816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m:t>
                      </m:r>
                    </m:oMath>
                  </m:oMathPara>
                </a14:m>
                <a:endParaRPr lang="en-GB" dirty="0">
                  <a:latin typeface="Arial" panose="020B0604020202020204" pitchFamily="34" charset="0"/>
                  <a:cs typeface="Arial" panose="020B0604020202020204" pitchFamily="34" charset="0"/>
                </a:endParaRPr>
              </a:p>
            </p:txBody>
          </p:sp>
        </mc:Choice>
        <mc:Fallback xmlns="">
          <p:sp>
            <p:nvSpPr>
              <p:cNvPr id="78" name="TextBox 77">
                <a:extLst>
                  <a:ext uri="{FF2B5EF4-FFF2-40B4-BE49-F238E27FC236}">
                    <a16:creationId xmlns:a16="http://schemas.microsoft.com/office/drawing/2014/main" id="{E8948DEF-39B0-49B3-A812-9E304DA65712}"/>
                  </a:ext>
                </a:extLst>
              </p:cNvPr>
              <p:cNvSpPr txBox="1">
                <a:spLocks noRot="1" noChangeAspect="1" noMove="1" noResize="1" noEditPoints="1" noAdjustHandles="1" noChangeArrowheads="1" noChangeShapeType="1" noTextEdit="1"/>
              </p:cNvSpPr>
              <p:nvPr/>
            </p:nvSpPr>
            <p:spPr>
              <a:xfrm>
                <a:off x="8294709" y="3404513"/>
                <a:ext cx="781673" cy="369332"/>
              </a:xfrm>
              <a:prstGeom prst="rect">
                <a:avLst/>
              </a:prstGeom>
              <a:blipFill>
                <a:blip r:embed="rId3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9" name="Rectangle 78">
                <a:extLst>
                  <a:ext uri="{FF2B5EF4-FFF2-40B4-BE49-F238E27FC236}">
                    <a16:creationId xmlns:a16="http://schemas.microsoft.com/office/drawing/2014/main" id="{2349127C-7B69-4919-A3E0-95D89AF032FA}"/>
                  </a:ext>
                </a:extLst>
              </p:cNvPr>
              <p:cNvSpPr/>
              <p:nvPr/>
            </p:nvSpPr>
            <p:spPr>
              <a:xfrm>
                <a:off x="8261563" y="4372940"/>
                <a:ext cx="1008609"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b="1" i="1">
                          <a:latin typeface="Cambria Math" panose="02040503050406030204" pitchFamily="18" charset="0"/>
                        </a:rPr>
                        <m:t>=</m:t>
                      </m:r>
                    </m:oMath>
                  </m:oMathPara>
                </a14:m>
                <a:endParaRPr lang="en-GB" b="1" i="1"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GB" b="1" i="1">
                          <a:latin typeface="Cambria Math" panose="02040503050406030204" pitchFamily="18" charset="0"/>
                        </a:rPr>
                        <m:t>£</m:t>
                      </m:r>
                      <m:r>
                        <a:rPr lang="en-GB" b="1" i="1">
                          <a:latin typeface="Cambria Math" panose="02040503050406030204" pitchFamily="18" charset="0"/>
                        </a:rPr>
                        <m:t>𝟏</m:t>
                      </m:r>
                      <m:r>
                        <a:rPr lang="en-GB" b="1" i="1">
                          <a:latin typeface="Cambria Math" panose="02040503050406030204" pitchFamily="18" charset="0"/>
                        </a:rPr>
                        <m:t>,</m:t>
                      </m:r>
                      <m:r>
                        <a:rPr lang="en-GB" b="1" i="1">
                          <a:latin typeface="Cambria Math" panose="02040503050406030204" pitchFamily="18" charset="0"/>
                        </a:rPr>
                        <m:t>𝟐𝟓𝟎</m:t>
                      </m:r>
                    </m:oMath>
                  </m:oMathPara>
                </a14:m>
                <a:endParaRPr lang="en-GB" b="1" dirty="0">
                  <a:latin typeface="Arial" panose="020B0604020202020204" pitchFamily="34" charset="0"/>
                  <a:cs typeface="Arial" panose="020B0604020202020204" pitchFamily="34" charset="0"/>
                </a:endParaRPr>
              </a:p>
            </p:txBody>
          </p:sp>
        </mc:Choice>
        <mc:Fallback xmlns="">
          <p:sp>
            <p:nvSpPr>
              <p:cNvPr id="79" name="Rectangle 78">
                <a:extLst>
                  <a:ext uri="{FF2B5EF4-FFF2-40B4-BE49-F238E27FC236}">
                    <a16:creationId xmlns:a16="http://schemas.microsoft.com/office/drawing/2014/main" id="{2349127C-7B69-4919-A3E0-95D89AF032FA}"/>
                  </a:ext>
                </a:extLst>
              </p:cNvPr>
              <p:cNvSpPr>
                <a:spLocks noRot="1" noChangeAspect="1" noMove="1" noResize="1" noEditPoints="1" noAdjustHandles="1" noChangeArrowheads="1" noChangeShapeType="1" noTextEdit="1"/>
              </p:cNvSpPr>
              <p:nvPr/>
            </p:nvSpPr>
            <p:spPr>
              <a:xfrm>
                <a:off x="8261563" y="4372940"/>
                <a:ext cx="1008609" cy="646331"/>
              </a:xfrm>
              <a:prstGeom prst="rect">
                <a:avLst/>
              </a:prstGeom>
              <a:blipFill>
                <a:blip r:embed="rId34"/>
                <a:stretch>
                  <a:fillRect/>
                </a:stretch>
              </a:blipFill>
            </p:spPr>
            <p:txBody>
              <a:bodyPr/>
              <a:lstStyle/>
              <a:p>
                <a:r>
                  <a:rPr lang="en-GB">
                    <a:noFill/>
                  </a:rPr>
                  <a:t> </a:t>
                </a:r>
              </a:p>
            </p:txBody>
          </p:sp>
        </mc:Fallback>
      </mc:AlternateContent>
      <p:sp>
        <p:nvSpPr>
          <p:cNvPr id="80" name="Callout: Double Bent Line with Accent Bar 79">
            <a:extLst>
              <a:ext uri="{FF2B5EF4-FFF2-40B4-BE49-F238E27FC236}">
                <a16:creationId xmlns:a16="http://schemas.microsoft.com/office/drawing/2014/main" id="{AEE976D4-742E-4F2D-9107-0FE9FC6D963A}"/>
              </a:ext>
            </a:extLst>
          </p:cNvPr>
          <p:cNvSpPr/>
          <p:nvPr/>
        </p:nvSpPr>
        <p:spPr>
          <a:xfrm rot="5400000">
            <a:off x="7973451" y="5444792"/>
            <a:ext cx="1288750" cy="872354"/>
          </a:xfrm>
          <a:prstGeom prst="accentCallout3">
            <a:avLst>
              <a:gd name="adj1" fmla="val 18750"/>
              <a:gd name="adj2" fmla="val -8333"/>
              <a:gd name="adj3" fmla="val 27253"/>
              <a:gd name="adj4" fmla="val -36367"/>
              <a:gd name="adj5" fmla="val 56791"/>
              <a:gd name="adj6" fmla="val -35407"/>
              <a:gd name="adj7" fmla="val 58066"/>
              <a:gd name="adj8" fmla="val -87011"/>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dirty="0">
                <a:solidFill>
                  <a:schemeClr val="tx1"/>
                </a:solidFill>
                <a:latin typeface="Arial" panose="020B0604020202020204" pitchFamily="34" charset="0"/>
                <a:cs typeface="Arial" panose="020B0604020202020204" pitchFamily="34" charset="0"/>
              </a:rPr>
              <a:t>Future Value</a:t>
            </a:r>
          </a:p>
        </p:txBody>
      </p:sp>
      <mc:AlternateContent xmlns:mc="http://schemas.openxmlformats.org/markup-compatibility/2006" xmlns:p14="http://schemas.microsoft.com/office/powerpoint/2010/main">
        <mc:Choice Requires="p14">
          <p:contentPart p14:bwMode="auto" r:id="rId35">
            <p14:nvContentPartPr>
              <p14:cNvPr id="7" name="Ink 6">
                <a:extLst>
                  <a:ext uri="{FF2B5EF4-FFF2-40B4-BE49-F238E27FC236}">
                    <a16:creationId xmlns:a16="http://schemas.microsoft.com/office/drawing/2014/main" id="{FD56678F-D7BA-E42D-B362-4DE248BF6C22}"/>
                  </a:ext>
                </a:extLst>
              </p14:cNvPr>
              <p14:cNvContentPartPr/>
              <p14:nvPr/>
            </p14:nvContentPartPr>
            <p14:xfrm>
              <a:off x="5322622" y="4176656"/>
              <a:ext cx="270" cy="270"/>
            </p14:xfrm>
          </p:contentPart>
        </mc:Choice>
        <mc:Fallback xmlns="">
          <p:pic>
            <p:nvPicPr>
              <p:cNvPr id="7" name="Ink 6">
                <a:extLst>
                  <a:ext uri="{FF2B5EF4-FFF2-40B4-BE49-F238E27FC236}">
                    <a16:creationId xmlns:a16="http://schemas.microsoft.com/office/drawing/2014/main" id="{FD56678F-D7BA-E42D-B362-4DE248BF6C22}"/>
                  </a:ext>
                </a:extLst>
              </p:cNvPr>
              <p:cNvPicPr/>
              <p:nvPr/>
            </p:nvPicPr>
            <p:blipFill>
              <a:blip r:embed="rId36"/>
              <a:stretch>
                <a:fillRect/>
              </a:stretch>
            </p:blipFill>
            <p:spPr>
              <a:xfrm>
                <a:off x="5309122" y="4163156"/>
                <a:ext cx="2700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4" name="Ink 23">
                <a:extLst>
                  <a:ext uri="{FF2B5EF4-FFF2-40B4-BE49-F238E27FC236}">
                    <a16:creationId xmlns:a16="http://schemas.microsoft.com/office/drawing/2014/main" id="{F5521A48-B9F0-92F5-4B74-60BDAC47D888}"/>
                  </a:ext>
                </a:extLst>
              </p14:cNvPr>
              <p14:cNvContentPartPr/>
              <p14:nvPr/>
            </p14:nvContentPartPr>
            <p14:xfrm>
              <a:off x="7619512" y="-1012745"/>
              <a:ext cx="270" cy="270"/>
            </p14:xfrm>
          </p:contentPart>
        </mc:Choice>
        <mc:Fallback xmlns="">
          <p:pic>
            <p:nvPicPr>
              <p:cNvPr id="24" name="Ink 23">
                <a:extLst>
                  <a:ext uri="{FF2B5EF4-FFF2-40B4-BE49-F238E27FC236}">
                    <a16:creationId xmlns:a16="http://schemas.microsoft.com/office/drawing/2014/main" id="{F5521A48-B9F0-92F5-4B74-60BDAC47D888}"/>
                  </a:ext>
                </a:extLst>
              </p:cNvPr>
              <p:cNvPicPr/>
              <p:nvPr/>
            </p:nvPicPr>
            <p:blipFill>
              <a:blip r:embed="rId36"/>
              <a:stretch>
                <a:fillRect/>
              </a:stretch>
            </p:blipFill>
            <p:spPr>
              <a:xfrm>
                <a:off x="7606012" y="-1026245"/>
                <a:ext cx="27000" cy="27000"/>
              </a:xfrm>
              <a:prstGeom prst="rect">
                <a:avLst/>
              </a:prstGeom>
            </p:spPr>
          </p:pic>
        </mc:Fallback>
      </mc:AlternateContent>
      <p:cxnSp>
        <p:nvCxnSpPr>
          <p:cNvPr id="56" name="Straight Arrow Connector 55">
            <a:extLst>
              <a:ext uri="{FF2B5EF4-FFF2-40B4-BE49-F238E27FC236}">
                <a16:creationId xmlns:a16="http://schemas.microsoft.com/office/drawing/2014/main" id="{2F860DD8-78D1-1585-C228-001245CF1A79}"/>
              </a:ext>
            </a:extLst>
          </p:cNvPr>
          <p:cNvCxnSpPr>
            <a:cxnSpLocks/>
          </p:cNvCxnSpPr>
          <p:nvPr/>
        </p:nvCxnSpPr>
        <p:spPr>
          <a:xfrm flipV="1">
            <a:off x="574949" y="4669611"/>
            <a:ext cx="270385" cy="6987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5" name="TextBox 84">
            <a:extLst>
              <a:ext uri="{FF2B5EF4-FFF2-40B4-BE49-F238E27FC236}">
                <a16:creationId xmlns:a16="http://schemas.microsoft.com/office/drawing/2014/main" id="{EC3EC8F5-B0BB-C47F-602D-C251358A1BF3}"/>
              </a:ext>
            </a:extLst>
          </p:cNvPr>
          <p:cNvSpPr txBox="1"/>
          <p:nvPr/>
        </p:nvSpPr>
        <p:spPr>
          <a:xfrm>
            <a:off x="-7060" y="5421047"/>
            <a:ext cx="1069524" cy="369332"/>
          </a:xfrm>
          <a:prstGeom prst="rect">
            <a:avLst/>
          </a:prstGeom>
          <a:noFill/>
        </p:spPr>
        <p:txBody>
          <a:bodyPr wrap="none" rtlCol="0">
            <a:spAutoFit/>
          </a:bodyPr>
          <a:lstStyle/>
          <a:p>
            <a:r>
              <a:rPr lang="en-GB" dirty="0"/>
              <a:t>Principal</a:t>
            </a:r>
          </a:p>
        </p:txBody>
      </p:sp>
      <p:cxnSp>
        <p:nvCxnSpPr>
          <p:cNvPr id="86" name="Straight Arrow Connector 85">
            <a:extLst>
              <a:ext uri="{FF2B5EF4-FFF2-40B4-BE49-F238E27FC236}">
                <a16:creationId xmlns:a16="http://schemas.microsoft.com/office/drawing/2014/main" id="{03E65003-D5E3-2527-A5AD-5F268E363F1E}"/>
              </a:ext>
            </a:extLst>
          </p:cNvPr>
          <p:cNvCxnSpPr>
            <a:cxnSpLocks/>
          </p:cNvCxnSpPr>
          <p:nvPr/>
        </p:nvCxnSpPr>
        <p:spPr>
          <a:xfrm flipV="1">
            <a:off x="8704116" y="4976877"/>
            <a:ext cx="0" cy="59338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06C7F486-C57B-BA56-CF3B-00515A63A713}"/>
                  </a:ext>
                </a:extLst>
              </p:cNvPr>
              <p:cNvSpPr txBox="1"/>
              <p:nvPr/>
            </p:nvSpPr>
            <p:spPr>
              <a:xfrm>
                <a:off x="261653" y="5865065"/>
                <a:ext cx="8591550" cy="761747"/>
              </a:xfrm>
              <a:prstGeom prst="rect">
                <a:avLst/>
              </a:prstGeom>
              <a:noFill/>
            </p:spPr>
            <p:txBody>
              <a:bodyPr wrap="square">
                <a:spAutoFit/>
              </a:bodyPr>
              <a:lstStyle/>
              <a:p>
                <a:pPr marL="257175" lvl="1" indent="-257175">
                  <a:spcAft>
                    <a:spcPts val="900"/>
                  </a:spcAft>
                  <a:buClr>
                    <a:srgbClr val="C00000"/>
                  </a:buClr>
                  <a:buSzPct val="90000"/>
                </a:pPr>
                <a:r>
                  <a:rPr lang="en-GB" dirty="0">
                    <a:latin typeface="Arial" panose="020B0604020202020204" pitchFamily="34" charset="0"/>
                    <a:cs typeface="Arial" panose="020B0604020202020204" pitchFamily="34" charset="0"/>
                  </a:rPr>
                  <a:t>The simple interest formula is:</a:t>
                </a:r>
                <a14:m>
                  <m:oMath xmlns:m="http://schemas.openxmlformats.org/officeDocument/2006/math">
                    <m:r>
                      <a:rPr lang="en-GB" b="0" i="0" smtClean="0">
                        <a:solidFill>
                          <a:schemeClr val="accent5">
                            <a:lumMod val="75000"/>
                          </a:schemeClr>
                        </a:solidFill>
                        <a:latin typeface="Cambria Math" panose="02040503050406030204" pitchFamily="18" charset="0"/>
                      </a:rPr>
                      <m:t>  </m:t>
                    </m:r>
                    <m:r>
                      <a:rPr lang="en-GB" i="1">
                        <a:solidFill>
                          <a:schemeClr val="accent5">
                            <a:lumMod val="75000"/>
                          </a:schemeClr>
                        </a:solidFill>
                        <a:latin typeface="Cambria Math" panose="02040503050406030204" pitchFamily="18" charset="0"/>
                      </a:rPr>
                      <m:t>𝐹𝑉</m:t>
                    </m:r>
                    <m:r>
                      <a:rPr lang="en-GB" i="1">
                        <a:solidFill>
                          <a:schemeClr val="accent5">
                            <a:lumMod val="75000"/>
                          </a:schemeClr>
                        </a:solidFill>
                        <a:latin typeface="Cambria Math" panose="02040503050406030204" pitchFamily="18" charset="0"/>
                      </a:rPr>
                      <m:t>=</m:t>
                    </m:r>
                    <m:r>
                      <a:rPr lang="en-GB" i="1">
                        <a:solidFill>
                          <a:schemeClr val="accent5">
                            <a:lumMod val="75000"/>
                          </a:schemeClr>
                        </a:solidFill>
                        <a:latin typeface="Cambria Math" panose="02040503050406030204" pitchFamily="18" charset="0"/>
                      </a:rPr>
                      <m:t>𝑃𝑉</m:t>
                    </m:r>
                    <m:r>
                      <a:rPr lang="en-GB" i="1">
                        <a:solidFill>
                          <a:schemeClr val="accent5">
                            <a:lumMod val="75000"/>
                          </a:schemeClr>
                        </a:solidFill>
                        <a:latin typeface="Cambria Math" panose="02040503050406030204" pitchFamily="18" charset="0"/>
                        <a:ea typeface="Cambria Math" panose="02040503050406030204" pitchFamily="18" charset="0"/>
                      </a:rPr>
                      <m:t>×</m:t>
                    </m:r>
                    <m:d>
                      <m:dPr>
                        <m:ctrlPr>
                          <a:rPr lang="en-GB" i="1">
                            <a:solidFill>
                              <a:schemeClr val="accent5">
                                <a:lumMod val="75000"/>
                              </a:schemeClr>
                            </a:solidFill>
                            <a:latin typeface="Cambria Math" panose="02040503050406030204" pitchFamily="18" charset="0"/>
                          </a:rPr>
                        </m:ctrlPr>
                      </m:dPr>
                      <m:e>
                        <m:r>
                          <a:rPr lang="en-GB" i="1">
                            <a:solidFill>
                              <a:schemeClr val="accent5">
                                <a:lumMod val="75000"/>
                              </a:schemeClr>
                            </a:solidFill>
                            <a:latin typeface="Cambria Math" panose="02040503050406030204" pitchFamily="18" charset="0"/>
                          </a:rPr>
                          <m:t>1+</m:t>
                        </m:r>
                        <m:r>
                          <a:rPr lang="en-GB" i="1">
                            <a:solidFill>
                              <a:schemeClr val="accent5">
                                <a:lumMod val="75000"/>
                              </a:schemeClr>
                            </a:solidFill>
                            <a:latin typeface="Cambria Math" panose="02040503050406030204" pitchFamily="18" charset="0"/>
                            <a:ea typeface="Cambria Math" panose="02040503050406030204" pitchFamily="18" charset="0"/>
                          </a:rPr>
                          <m:t>𝑟</m:t>
                        </m:r>
                        <m:r>
                          <a:rPr lang="en-GB" i="1">
                            <a:solidFill>
                              <a:schemeClr val="accent5">
                                <a:lumMod val="75000"/>
                              </a:schemeClr>
                            </a:solidFill>
                            <a:latin typeface="Cambria Math" panose="02040503050406030204" pitchFamily="18" charset="0"/>
                            <a:ea typeface="Cambria Math" panose="02040503050406030204" pitchFamily="18" charset="0"/>
                          </a:rPr>
                          <m:t>×</m:t>
                        </m:r>
                        <m:r>
                          <a:rPr lang="en-GB" i="1">
                            <a:solidFill>
                              <a:srgbClr val="C00000"/>
                            </a:solidFill>
                            <a:latin typeface="Cambria Math" panose="02040503050406030204" pitchFamily="18" charset="0"/>
                          </a:rPr>
                          <m:t>𝑡</m:t>
                        </m:r>
                      </m:e>
                    </m:d>
                  </m:oMath>
                </a14:m>
                <a:endParaRPr lang="en-GB" i="1" dirty="0">
                  <a:latin typeface="Arial" panose="020B0604020202020204" pitchFamily="34" charset="0"/>
                  <a:cs typeface="Arial" panose="020B0604020202020204" pitchFamily="34" charset="0"/>
                </a:endParaRPr>
              </a:p>
              <a:p>
                <a:pPr marL="0" lvl="1" indent="0">
                  <a:spcAft>
                    <a:spcPts val="450"/>
                  </a:spcAft>
                  <a:buClr>
                    <a:srgbClr val="C00000"/>
                  </a:buClr>
                  <a:buSzPct val="90000"/>
                </a:pPr>
                <a14:m>
                  <m:oMath xmlns:m="http://schemas.openxmlformats.org/officeDocument/2006/math">
                    <m:r>
                      <a:rPr lang="en-GB" i="1">
                        <a:latin typeface="Cambria Math" panose="02040503050406030204" pitchFamily="18" charset="0"/>
                      </a:rPr>
                      <m:t>𝑡</m:t>
                    </m:r>
                  </m:oMath>
                </a14:m>
                <a:r>
                  <a:rPr lang="en-GB" dirty="0">
                    <a:latin typeface="Arial" panose="020B0604020202020204" pitchFamily="34" charset="0"/>
                    <a:cs typeface="Arial" panose="020B0604020202020204" pitchFamily="34" charset="0"/>
                  </a:rPr>
                  <a:t>: the number of year to maturity 	</a:t>
                </a:r>
                <a:r>
                  <a:rPr lang="en-GB" i="1" dirty="0">
                    <a:latin typeface="Arial" panose="020B0604020202020204" pitchFamily="34" charset="0"/>
                    <a:cs typeface="Arial" panose="020B0604020202020204" pitchFamily="34" charset="0"/>
                  </a:rPr>
                  <a:t>r</a:t>
                </a:r>
                <a:r>
                  <a:rPr lang="en-GB" dirty="0">
                    <a:latin typeface="Arial" panose="020B0604020202020204" pitchFamily="34" charset="0"/>
                    <a:cs typeface="Arial" panose="020B0604020202020204" pitchFamily="34" charset="0"/>
                  </a:rPr>
                  <a:t>: the interest rate	 </a:t>
                </a:r>
                <a:r>
                  <a:rPr lang="en-GB" i="1" dirty="0">
                    <a:latin typeface="Arial" panose="020B0604020202020204" pitchFamily="34" charset="0"/>
                    <a:cs typeface="Arial" panose="020B0604020202020204" pitchFamily="34" charset="0"/>
                  </a:rPr>
                  <a:t>PV</a:t>
                </a:r>
                <a:r>
                  <a:rPr lang="en-GB" dirty="0">
                    <a:latin typeface="Arial" panose="020B0604020202020204" pitchFamily="34" charset="0"/>
                    <a:cs typeface="Arial" panose="020B0604020202020204" pitchFamily="34" charset="0"/>
                  </a:rPr>
                  <a:t>: the principal</a:t>
                </a:r>
              </a:p>
            </p:txBody>
          </p:sp>
        </mc:Choice>
        <mc:Fallback xmlns="">
          <p:sp>
            <p:nvSpPr>
              <p:cNvPr id="88" name="TextBox 87">
                <a:extLst>
                  <a:ext uri="{FF2B5EF4-FFF2-40B4-BE49-F238E27FC236}">
                    <a16:creationId xmlns:a16="http://schemas.microsoft.com/office/drawing/2014/main" id="{06C7F486-C57B-BA56-CF3B-00515A63A713}"/>
                  </a:ext>
                </a:extLst>
              </p:cNvPr>
              <p:cNvSpPr txBox="1">
                <a:spLocks noRot="1" noChangeAspect="1" noMove="1" noResize="1" noEditPoints="1" noAdjustHandles="1" noChangeArrowheads="1" noChangeShapeType="1" noTextEdit="1"/>
              </p:cNvSpPr>
              <p:nvPr/>
            </p:nvSpPr>
            <p:spPr>
              <a:xfrm>
                <a:off x="261653" y="5865065"/>
                <a:ext cx="8591550" cy="761747"/>
              </a:xfrm>
              <a:prstGeom prst="rect">
                <a:avLst/>
              </a:prstGeom>
              <a:blipFill>
                <a:blip r:embed="rId38"/>
                <a:stretch>
                  <a:fillRect l="-639" t="-4000" b="-12000"/>
                </a:stretch>
              </a:blipFill>
            </p:spPr>
            <p:txBody>
              <a:bodyPr/>
              <a:lstStyle/>
              <a:p>
                <a:r>
                  <a:rPr lang="en-GB">
                    <a:noFill/>
                  </a:rPr>
                  <a:t> </a:t>
                </a:r>
              </a:p>
            </p:txBody>
          </p:sp>
        </mc:Fallback>
      </mc:AlternateContent>
    </p:spTree>
    <p:extLst>
      <p:ext uri="{BB962C8B-B14F-4D97-AF65-F5344CB8AC3E}">
        <p14:creationId xmlns:p14="http://schemas.microsoft.com/office/powerpoint/2010/main" val="3339292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par>
                                <p:cTn id="17" presetID="53" presetClass="entr" presetSubtype="16"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animEffect transition="in" filter="fade">
                                      <p:cBhvr>
                                        <p:cTn id="21" dur="500"/>
                                        <p:tgtEl>
                                          <p:spTgt spid="9"/>
                                        </p:tgtEl>
                                      </p:cBhvr>
                                    </p:animEffect>
                                  </p:childTnLst>
                                </p:cTn>
                              </p:par>
                              <p:par>
                                <p:cTn id="22" presetID="53" presetClass="entr" presetSubtype="16"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500" fill="hold"/>
                                        <p:tgtEl>
                                          <p:spTgt spid="10"/>
                                        </p:tgtEl>
                                        <p:attrNameLst>
                                          <p:attrName>ppt_w</p:attrName>
                                        </p:attrNameLst>
                                      </p:cBhvr>
                                      <p:tavLst>
                                        <p:tav tm="0">
                                          <p:val>
                                            <p:fltVal val="0"/>
                                          </p:val>
                                        </p:tav>
                                        <p:tav tm="100000">
                                          <p:val>
                                            <p:strVal val="#ppt_w"/>
                                          </p:val>
                                        </p:tav>
                                      </p:tavLst>
                                    </p:anim>
                                    <p:anim calcmode="lin" valueType="num">
                                      <p:cBhvr>
                                        <p:cTn id="25" dur="500" fill="hold"/>
                                        <p:tgtEl>
                                          <p:spTgt spid="10"/>
                                        </p:tgtEl>
                                        <p:attrNameLst>
                                          <p:attrName>ppt_h</p:attrName>
                                        </p:attrNameLst>
                                      </p:cBhvr>
                                      <p:tavLst>
                                        <p:tav tm="0">
                                          <p:val>
                                            <p:fltVal val="0"/>
                                          </p:val>
                                        </p:tav>
                                        <p:tav tm="100000">
                                          <p:val>
                                            <p:strVal val="#ppt_h"/>
                                          </p:val>
                                        </p:tav>
                                      </p:tavLst>
                                    </p:anim>
                                    <p:animEffect transition="in" filter="fade">
                                      <p:cBhvr>
                                        <p:cTn id="26" dur="500"/>
                                        <p:tgtEl>
                                          <p:spTgt spid="10"/>
                                        </p:tgtEl>
                                      </p:cBhvr>
                                    </p:animEffect>
                                  </p:childTnLst>
                                </p:cTn>
                              </p:par>
                              <p:par>
                                <p:cTn id="27" presetID="53" presetClass="entr" presetSubtype="16"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fltVal val="0"/>
                                          </p:val>
                                        </p:tav>
                                        <p:tav tm="100000">
                                          <p:val>
                                            <p:strVal val="#ppt_h"/>
                                          </p:val>
                                        </p:tav>
                                      </p:tavLst>
                                    </p:anim>
                                    <p:animEffect transition="in" filter="fade">
                                      <p:cBhvr>
                                        <p:cTn id="31" dur="500"/>
                                        <p:tgtEl>
                                          <p:spTgt spid="11"/>
                                        </p:tgtEl>
                                      </p:cBhvr>
                                    </p:animEffect>
                                  </p:childTnLst>
                                </p:cTn>
                              </p:par>
                              <p:par>
                                <p:cTn id="32" presetID="53" presetClass="entr" presetSubtype="16"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p:cTn id="34" dur="500" fill="hold"/>
                                        <p:tgtEl>
                                          <p:spTgt spid="12"/>
                                        </p:tgtEl>
                                        <p:attrNameLst>
                                          <p:attrName>ppt_w</p:attrName>
                                        </p:attrNameLst>
                                      </p:cBhvr>
                                      <p:tavLst>
                                        <p:tav tm="0">
                                          <p:val>
                                            <p:fltVal val="0"/>
                                          </p:val>
                                        </p:tav>
                                        <p:tav tm="100000">
                                          <p:val>
                                            <p:strVal val="#ppt_w"/>
                                          </p:val>
                                        </p:tav>
                                      </p:tavLst>
                                    </p:anim>
                                    <p:anim calcmode="lin" valueType="num">
                                      <p:cBhvr>
                                        <p:cTn id="35" dur="500" fill="hold"/>
                                        <p:tgtEl>
                                          <p:spTgt spid="12"/>
                                        </p:tgtEl>
                                        <p:attrNameLst>
                                          <p:attrName>ppt_h</p:attrName>
                                        </p:attrNameLst>
                                      </p:cBhvr>
                                      <p:tavLst>
                                        <p:tav tm="0">
                                          <p:val>
                                            <p:fltVal val="0"/>
                                          </p:val>
                                        </p:tav>
                                        <p:tav tm="100000">
                                          <p:val>
                                            <p:strVal val="#ppt_h"/>
                                          </p:val>
                                        </p:tav>
                                      </p:tavLst>
                                    </p:anim>
                                    <p:animEffect transition="in" filter="fade">
                                      <p:cBhvr>
                                        <p:cTn id="36" dur="500"/>
                                        <p:tgtEl>
                                          <p:spTgt spid="12"/>
                                        </p:tgtEl>
                                      </p:cBhvr>
                                    </p:animEffect>
                                  </p:childTnLst>
                                </p:cTn>
                              </p:par>
                              <p:par>
                                <p:cTn id="37" presetID="53" presetClass="entr" presetSubtype="16"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p:cTn id="39" dur="500" fill="hold"/>
                                        <p:tgtEl>
                                          <p:spTgt spid="13"/>
                                        </p:tgtEl>
                                        <p:attrNameLst>
                                          <p:attrName>ppt_w</p:attrName>
                                        </p:attrNameLst>
                                      </p:cBhvr>
                                      <p:tavLst>
                                        <p:tav tm="0">
                                          <p:val>
                                            <p:fltVal val="0"/>
                                          </p:val>
                                        </p:tav>
                                        <p:tav tm="100000">
                                          <p:val>
                                            <p:strVal val="#ppt_w"/>
                                          </p:val>
                                        </p:tav>
                                      </p:tavLst>
                                    </p:anim>
                                    <p:anim calcmode="lin" valueType="num">
                                      <p:cBhvr>
                                        <p:cTn id="40" dur="500" fill="hold"/>
                                        <p:tgtEl>
                                          <p:spTgt spid="13"/>
                                        </p:tgtEl>
                                        <p:attrNameLst>
                                          <p:attrName>ppt_h</p:attrName>
                                        </p:attrNameLst>
                                      </p:cBhvr>
                                      <p:tavLst>
                                        <p:tav tm="0">
                                          <p:val>
                                            <p:fltVal val="0"/>
                                          </p:val>
                                        </p:tav>
                                        <p:tav tm="100000">
                                          <p:val>
                                            <p:strVal val="#ppt_h"/>
                                          </p:val>
                                        </p:tav>
                                      </p:tavLst>
                                    </p:anim>
                                    <p:animEffect transition="in" filter="fade">
                                      <p:cBhvr>
                                        <p:cTn id="41" dur="500"/>
                                        <p:tgtEl>
                                          <p:spTgt spid="13"/>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p:cTn id="44" dur="500" fill="hold"/>
                                        <p:tgtEl>
                                          <p:spTgt spid="15"/>
                                        </p:tgtEl>
                                        <p:attrNameLst>
                                          <p:attrName>ppt_w</p:attrName>
                                        </p:attrNameLst>
                                      </p:cBhvr>
                                      <p:tavLst>
                                        <p:tav tm="0">
                                          <p:val>
                                            <p:fltVal val="0"/>
                                          </p:val>
                                        </p:tav>
                                        <p:tav tm="100000">
                                          <p:val>
                                            <p:strVal val="#ppt_w"/>
                                          </p:val>
                                        </p:tav>
                                      </p:tavLst>
                                    </p:anim>
                                    <p:anim calcmode="lin" valueType="num">
                                      <p:cBhvr>
                                        <p:cTn id="45" dur="500" fill="hold"/>
                                        <p:tgtEl>
                                          <p:spTgt spid="15"/>
                                        </p:tgtEl>
                                        <p:attrNameLst>
                                          <p:attrName>ppt_h</p:attrName>
                                        </p:attrNameLst>
                                      </p:cBhvr>
                                      <p:tavLst>
                                        <p:tav tm="0">
                                          <p:val>
                                            <p:fltVal val="0"/>
                                          </p:val>
                                        </p:tav>
                                        <p:tav tm="100000">
                                          <p:val>
                                            <p:strVal val="#ppt_h"/>
                                          </p:val>
                                        </p:tav>
                                      </p:tavLst>
                                    </p:anim>
                                    <p:animEffect transition="in" filter="fade">
                                      <p:cBhvr>
                                        <p:cTn id="46" dur="500"/>
                                        <p:tgtEl>
                                          <p:spTgt spid="15"/>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fltVal val="0"/>
                                          </p:val>
                                        </p:tav>
                                        <p:tav tm="100000">
                                          <p:val>
                                            <p:strVal val="#ppt_w"/>
                                          </p:val>
                                        </p:tav>
                                      </p:tavLst>
                                    </p:anim>
                                    <p:anim calcmode="lin" valueType="num">
                                      <p:cBhvr>
                                        <p:cTn id="50" dur="500" fill="hold"/>
                                        <p:tgtEl>
                                          <p:spTgt spid="16"/>
                                        </p:tgtEl>
                                        <p:attrNameLst>
                                          <p:attrName>ppt_h</p:attrName>
                                        </p:attrNameLst>
                                      </p:cBhvr>
                                      <p:tavLst>
                                        <p:tav tm="0">
                                          <p:val>
                                            <p:fltVal val="0"/>
                                          </p:val>
                                        </p:tav>
                                        <p:tav tm="100000">
                                          <p:val>
                                            <p:strVal val="#ppt_h"/>
                                          </p:val>
                                        </p:tav>
                                      </p:tavLst>
                                    </p:anim>
                                    <p:animEffect transition="in" filter="fade">
                                      <p:cBhvr>
                                        <p:cTn id="51" dur="500"/>
                                        <p:tgtEl>
                                          <p:spTgt spid="16"/>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 calcmode="lin" valueType="num">
                                      <p:cBhvr>
                                        <p:cTn id="54" dur="500" fill="hold"/>
                                        <p:tgtEl>
                                          <p:spTgt spid="17"/>
                                        </p:tgtEl>
                                        <p:attrNameLst>
                                          <p:attrName>ppt_w</p:attrName>
                                        </p:attrNameLst>
                                      </p:cBhvr>
                                      <p:tavLst>
                                        <p:tav tm="0">
                                          <p:val>
                                            <p:fltVal val="0"/>
                                          </p:val>
                                        </p:tav>
                                        <p:tav tm="100000">
                                          <p:val>
                                            <p:strVal val="#ppt_w"/>
                                          </p:val>
                                        </p:tav>
                                      </p:tavLst>
                                    </p:anim>
                                    <p:anim calcmode="lin" valueType="num">
                                      <p:cBhvr>
                                        <p:cTn id="55" dur="500" fill="hold"/>
                                        <p:tgtEl>
                                          <p:spTgt spid="17"/>
                                        </p:tgtEl>
                                        <p:attrNameLst>
                                          <p:attrName>ppt_h</p:attrName>
                                        </p:attrNameLst>
                                      </p:cBhvr>
                                      <p:tavLst>
                                        <p:tav tm="0">
                                          <p:val>
                                            <p:fltVal val="0"/>
                                          </p:val>
                                        </p:tav>
                                        <p:tav tm="100000">
                                          <p:val>
                                            <p:strVal val="#ppt_h"/>
                                          </p:val>
                                        </p:tav>
                                      </p:tavLst>
                                    </p:anim>
                                    <p:animEffect transition="in" filter="fade">
                                      <p:cBhvr>
                                        <p:cTn id="56" dur="500"/>
                                        <p:tgtEl>
                                          <p:spTgt spid="17"/>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p:cTn id="59" dur="500" fill="hold"/>
                                        <p:tgtEl>
                                          <p:spTgt spid="18"/>
                                        </p:tgtEl>
                                        <p:attrNameLst>
                                          <p:attrName>ppt_w</p:attrName>
                                        </p:attrNameLst>
                                      </p:cBhvr>
                                      <p:tavLst>
                                        <p:tav tm="0">
                                          <p:val>
                                            <p:fltVal val="0"/>
                                          </p:val>
                                        </p:tav>
                                        <p:tav tm="100000">
                                          <p:val>
                                            <p:strVal val="#ppt_w"/>
                                          </p:val>
                                        </p:tav>
                                      </p:tavLst>
                                    </p:anim>
                                    <p:anim calcmode="lin" valueType="num">
                                      <p:cBhvr>
                                        <p:cTn id="60" dur="500" fill="hold"/>
                                        <p:tgtEl>
                                          <p:spTgt spid="18"/>
                                        </p:tgtEl>
                                        <p:attrNameLst>
                                          <p:attrName>ppt_h</p:attrName>
                                        </p:attrNameLst>
                                      </p:cBhvr>
                                      <p:tavLst>
                                        <p:tav tm="0">
                                          <p:val>
                                            <p:fltVal val="0"/>
                                          </p:val>
                                        </p:tav>
                                        <p:tav tm="100000">
                                          <p:val>
                                            <p:strVal val="#ppt_h"/>
                                          </p:val>
                                        </p:tav>
                                      </p:tavLst>
                                    </p:anim>
                                    <p:animEffect transition="in" filter="fade">
                                      <p:cBhvr>
                                        <p:cTn id="61" dur="500"/>
                                        <p:tgtEl>
                                          <p:spTgt spid="18"/>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 calcmode="lin" valueType="num">
                                      <p:cBhvr>
                                        <p:cTn id="64" dur="500" fill="hold"/>
                                        <p:tgtEl>
                                          <p:spTgt spid="19"/>
                                        </p:tgtEl>
                                        <p:attrNameLst>
                                          <p:attrName>ppt_w</p:attrName>
                                        </p:attrNameLst>
                                      </p:cBhvr>
                                      <p:tavLst>
                                        <p:tav tm="0">
                                          <p:val>
                                            <p:fltVal val="0"/>
                                          </p:val>
                                        </p:tav>
                                        <p:tav tm="100000">
                                          <p:val>
                                            <p:strVal val="#ppt_w"/>
                                          </p:val>
                                        </p:tav>
                                      </p:tavLst>
                                    </p:anim>
                                    <p:anim calcmode="lin" valueType="num">
                                      <p:cBhvr>
                                        <p:cTn id="65" dur="500" fill="hold"/>
                                        <p:tgtEl>
                                          <p:spTgt spid="19"/>
                                        </p:tgtEl>
                                        <p:attrNameLst>
                                          <p:attrName>ppt_h</p:attrName>
                                        </p:attrNameLst>
                                      </p:cBhvr>
                                      <p:tavLst>
                                        <p:tav tm="0">
                                          <p:val>
                                            <p:fltVal val="0"/>
                                          </p:val>
                                        </p:tav>
                                        <p:tav tm="100000">
                                          <p:val>
                                            <p:strVal val="#ppt_h"/>
                                          </p:val>
                                        </p:tav>
                                      </p:tavLst>
                                    </p:anim>
                                    <p:animEffect transition="in" filter="fade">
                                      <p:cBhvr>
                                        <p:cTn id="66" dur="500"/>
                                        <p:tgtEl>
                                          <p:spTgt spid="19"/>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anim calcmode="lin" valueType="num">
                                      <p:cBhvr>
                                        <p:cTn id="69" dur="500" fill="hold"/>
                                        <p:tgtEl>
                                          <p:spTgt spid="21"/>
                                        </p:tgtEl>
                                        <p:attrNameLst>
                                          <p:attrName>ppt_w</p:attrName>
                                        </p:attrNameLst>
                                      </p:cBhvr>
                                      <p:tavLst>
                                        <p:tav tm="0">
                                          <p:val>
                                            <p:fltVal val="0"/>
                                          </p:val>
                                        </p:tav>
                                        <p:tav tm="100000">
                                          <p:val>
                                            <p:strVal val="#ppt_w"/>
                                          </p:val>
                                        </p:tav>
                                      </p:tavLst>
                                    </p:anim>
                                    <p:anim calcmode="lin" valueType="num">
                                      <p:cBhvr>
                                        <p:cTn id="70" dur="500" fill="hold"/>
                                        <p:tgtEl>
                                          <p:spTgt spid="21"/>
                                        </p:tgtEl>
                                        <p:attrNameLst>
                                          <p:attrName>ppt_h</p:attrName>
                                        </p:attrNameLst>
                                      </p:cBhvr>
                                      <p:tavLst>
                                        <p:tav tm="0">
                                          <p:val>
                                            <p:fltVal val="0"/>
                                          </p:val>
                                        </p:tav>
                                        <p:tav tm="100000">
                                          <p:val>
                                            <p:strVal val="#ppt_h"/>
                                          </p:val>
                                        </p:tav>
                                      </p:tavLst>
                                    </p:anim>
                                    <p:animEffect transition="in" filter="fade">
                                      <p:cBhvr>
                                        <p:cTn id="71" dur="500"/>
                                        <p:tgtEl>
                                          <p:spTgt spid="21"/>
                                        </p:tgtEl>
                                      </p:cBhvr>
                                    </p:animEffect>
                                  </p:childTnLst>
                                </p:cTn>
                              </p:par>
                            </p:childTnLst>
                          </p:cTn>
                        </p:par>
                      </p:childTnLst>
                    </p:cTn>
                  </p:par>
                  <p:par>
                    <p:cTn id="72" fill="hold">
                      <p:stCondLst>
                        <p:cond delay="indefinite"/>
                      </p:stCondLst>
                      <p:childTnLst>
                        <p:par>
                          <p:cTn id="73" fill="hold">
                            <p:stCondLst>
                              <p:cond delay="0"/>
                            </p:stCondLst>
                            <p:childTnLst>
                              <p:par>
                                <p:cTn id="74" presetID="12" presetClass="entr" presetSubtype="4" fill="hold" grpId="0" nodeType="clickEffect">
                                  <p:stCondLst>
                                    <p:cond delay="0"/>
                                  </p:stCondLst>
                                  <p:childTnLst>
                                    <p:set>
                                      <p:cBhvr>
                                        <p:cTn id="75" dur="1" fill="hold">
                                          <p:stCondLst>
                                            <p:cond delay="0"/>
                                          </p:stCondLst>
                                        </p:cTn>
                                        <p:tgtEl>
                                          <p:spTgt spid="14"/>
                                        </p:tgtEl>
                                        <p:attrNameLst>
                                          <p:attrName>style.visibility</p:attrName>
                                        </p:attrNameLst>
                                      </p:cBhvr>
                                      <p:to>
                                        <p:strVal val="visible"/>
                                      </p:to>
                                    </p:set>
                                    <p:anim calcmode="lin" valueType="num">
                                      <p:cBhvr additive="base">
                                        <p:cTn id="76" dur="500"/>
                                        <p:tgtEl>
                                          <p:spTgt spid="14"/>
                                        </p:tgtEl>
                                        <p:attrNameLst>
                                          <p:attrName>ppt_y</p:attrName>
                                        </p:attrNameLst>
                                      </p:cBhvr>
                                      <p:tavLst>
                                        <p:tav tm="0">
                                          <p:val>
                                            <p:strVal val="#ppt_y+#ppt_h*1.125000"/>
                                          </p:val>
                                        </p:tav>
                                        <p:tav tm="100000">
                                          <p:val>
                                            <p:strVal val="#ppt_y"/>
                                          </p:val>
                                        </p:tav>
                                      </p:tavLst>
                                    </p:anim>
                                    <p:animEffect transition="in" filter="wipe(up)">
                                      <p:cBhvr>
                                        <p:cTn id="77" dur="500"/>
                                        <p:tgtEl>
                                          <p:spTgt spid="14"/>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20"/>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29"/>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23"/>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34"/>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47"/>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52"/>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51"/>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37"/>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48"/>
                                        </p:tgtEl>
                                        <p:attrNameLst>
                                          <p:attrName>style.visibility</p:attrName>
                                        </p:attrNameLst>
                                      </p:cBhvr>
                                      <p:to>
                                        <p:strVal val="visible"/>
                                      </p:to>
                                    </p:set>
                                  </p:childTnLst>
                                </p:cTn>
                              </p:par>
                              <p:par>
                                <p:cTn id="114" presetID="1" presetClass="entr" presetSubtype="0" fill="hold" grpId="0" nodeType="withEffect">
                                  <p:stCondLst>
                                    <p:cond delay="0"/>
                                  </p:stCondLst>
                                  <p:childTnLst>
                                    <p:set>
                                      <p:cBhvr>
                                        <p:cTn id="115" dur="1" fill="hold">
                                          <p:stCondLst>
                                            <p:cond delay="0"/>
                                          </p:stCondLst>
                                        </p:cTn>
                                        <p:tgtEl>
                                          <p:spTgt spid="38"/>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40"/>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39"/>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57"/>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59"/>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60"/>
                                        </p:tgtEl>
                                        <p:attrNameLst>
                                          <p:attrName>style.visibility</p:attrName>
                                        </p:attrNameLst>
                                      </p:cBhvr>
                                      <p:to>
                                        <p:strVal val="visible"/>
                                      </p:to>
                                    </p:set>
                                  </p:childTnLst>
                                </p:cTn>
                              </p:par>
                              <p:par>
                                <p:cTn id="126" presetID="1" presetClass="entr" presetSubtype="0" fill="hold" grpId="0" nodeType="withEffect">
                                  <p:stCondLst>
                                    <p:cond delay="0"/>
                                  </p:stCondLst>
                                  <p:childTnLst>
                                    <p:set>
                                      <p:cBhvr>
                                        <p:cTn id="127" dur="1" fill="hold">
                                          <p:stCondLst>
                                            <p:cond delay="0"/>
                                          </p:stCondLst>
                                        </p:cTn>
                                        <p:tgtEl>
                                          <p:spTgt spid="58"/>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49"/>
                                        </p:tgtEl>
                                        <p:attrNameLst>
                                          <p:attrName>style.visibility</p:attrName>
                                        </p:attrNameLst>
                                      </p:cBhvr>
                                      <p:to>
                                        <p:strVal val="visible"/>
                                      </p:to>
                                    </p:set>
                                  </p:childTnLst>
                                </p:cTn>
                              </p:par>
                              <p:par>
                                <p:cTn id="132" presetID="1" presetClass="entr" presetSubtype="0" fill="hold" grpId="0" nodeType="withEffect">
                                  <p:stCondLst>
                                    <p:cond delay="0"/>
                                  </p:stCondLst>
                                  <p:childTnLst>
                                    <p:set>
                                      <p:cBhvr>
                                        <p:cTn id="133" dur="1" fill="hold">
                                          <p:stCondLst>
                                            <p:cond delay="0"/>
                                          </p:stCondLst>
                                        </p:cTn>
                                        <p:tgtEl>
                                          <p:spTgt spid="41"/>
                                        </p:tgtEl>
                                        <p:attrNameLst>
                                          <p:attrName>style.visibility</p:attrName>
                                        </p:attrNameLst>
                                      </p:cBhvr>
                                      <p:to>
                                        <p:strVal val="visible"/>
                                      </p:to>
                                    </p:set>
                                  </p:childTnLst>
                                </p:cTn>
                              </p:par>
                              <p:par>
                                <p:cTn id="134" presetID="1" presetClass="entr" presetSubtype="0" fill="hold" grpId="0" nodeType="withEffect">
                                  <p:stCondLst>
                                    <p:cond delay="0"/>
                                  </p:stCondLst>
                                  <p:childTnLst>
                                    <p:set>
                                      <p:cBhvr>
                                        <p:cTn id="135" dur="1" fill="hold">
                                          <p:stCondLst>
                                            <p:cond delay="0"/>
                                          </p:stCondLst>
                                        </p:cTn>
                                        <p:tgtEl>
                                          <p:spTgt spid="42"/>
                                        </p:tgtEl>
                                        <p:attrNameLst>
                                          <p:attrName>style.visibility</p:attrName>
                                        </p:attrNameLst>
                                      </p:cBhvr>
                                      <p:to>
                                        <p:strVal val="visible"/>
                                      </p:to>
                                    </p:set>
                                  </p:childTnLst>
                                </p:cTn>
                              </p:par>
                              <p:par>
                                <p:cTn id="136" presetID="1" presetClass="entr" presetSubtype="0" fill="hold" grpId="0" nodeType="withEffect">
                                  <p:stCondLst>
                                    <p:cond delay="0"/>
                                  </p:stCondLst>
                                  <p:childTnLst>
                                    <p:set>
                                      <p:cBhvr>
                                        <p:cTn id="137" dur="1" fill="hold">
                                          <p:stCondLst>
                                            <p:cond delay="0"/>
                                          </p:stCondLst>
                                        </p:cTn>
                                        <p:tgtEl>
                                          <p:spTgt spid="62"/>
                                        </p:tgtEl>
                                        <p:attrNameLst>
                                          <p:attrName>style.visibility</p:attrName>
                                        </p:attrNameLst>
                                      </p:cBhvr>
                                      <p:to>
                                        <p:strVal val="visible"/>
                                      </p:to>
                                    </p:set>
                                  </p:childTnLst>
                                </p:cTn>
                              </p:par>
                              <p:par>
                                <p:cTn id="138" presetID="1" presetClass="entr" presetSubtype="0" fill="hold" grpId="0" nodeType="withEffect">
                                  <p:stCondLst>
                                    <p:cond delay="0"/>
                                  </p:stCondLst>
                                  <p:childTnLst>
                                    <p:set>
                                      <p:cBhvr>
                                        <p:cTn id="139" dur="1" fill="hold">
                                          <p:stCondLst>
                                            <p:cond delay="0"/>
                                          </p:stCondLst>
                                        </p:cTn>
                                        <p:tgtEl>
                                          <p:spTgt spid="66"/>
                                        </p:tgtEl>
                                        <p:attrNameLst>
                                          <p:attrName>style.visibility</p:attrName>
                                        </p:attrNameLst>
                                      </p:cBhvr>
                                      <p:to>
                                        <p:strVal val="visible"/>
                                      </p:to>
                                    </p:set>
                                  </p:childTnLst>
                                </p:cTn>
                              </p:par>
                              <p:par>
                                <p:cTn id="140" presetID="1" presetClass="entr" presetSubtype="0" fill="hold" grpId="0" nodeType="withEffect">
                                  <p:stCondLst>
                                    <p:cond delay="0"/>
                                  </p:stCondLst>
                                  <p:childTnLst>
                                    <p:set>
                                      <p:cBhvr>
                                        <p:cTn id="141" dur="1" fill="hold">
                                          <p:stCondLst>
                                            <p:cond delay="0"/>
                                          </p:stCondLst>
                                        </p:cTn>
                                        <p:tgtEl>
                                          <p:spTgt spid="65"/>
                                        </p:tgtEl>
                                        <p:attrNameLst>
                                          <p:attrName>style.visibility</p:attrName>
                                        </p:attrNameLst>
                                      </p:cBhvr>
                                      <p:to>
                                        <p:strVal val="visible"/>
                                      </p:to>
                                    </p:set>
                                  </p:childTnLst>
                                </p:cTn>
                              </p:par>
                              <p:par>
                                <p:cTn id="142" presetID="1" presetClass="entr" presetSubtype="0" fill="hold" grpId="0" nodeType="withEffect">
                                  <p:stCondLst>
                                    <p:cond delay="0"/>
                                  </p:stCondLst>
                                  <p:childTnLst>
                                    <p:set>
                                      <p:cBhvr>
                                        <p:cTn id="143" dur="1" fill="hold">
                                          <p:stCondLst>
                                            <p:cond delay="0"/>
                                          </p:stCondLst>
                                        </p:cTn>
                                        <p:tgtEl>
                                          <p:spTgt spid="43"/>
                                        </p:tgtEl>
                                        <p:attrNameLst>
                                          <p:attrName>style.visibility</p:attrName>
                                        </p:attrNameLst>
                                      </p:cBhvr>
                                      <p:to>
                                        <p:strVal val="visible"/>
                                      </p:to>
                                    </p:set>
                                  </p:childTnLst>
                                </p:cTn>
                              </p:par>
                              <p:par>
                                <p:cTn id="144" presetID="1" presetClass="entr" presetSubtype="0" fill="hold" grpId="0" nodeType="withEffect">
                                  <p:stCondLst>
                                    <p:cond delay="0"/>
                                  </p:stCondLst>
                                  <p:childTnLst>
                                    <p:set>
                                      <p:cBhvr>
                                        <p:cTn id="145" dur="1" fill="hold">
                                          <p:stCondLst>
                                            <p:cond delay="0"/>
                                          </p:stCondLst>
                                        </p:cTn>
                                        <p:tgtEl>
                                          <p:spTgt spid="64"/>
                                        </p:tgtEl>
                                        <p:attrNameLst>
                                          <p:attrName>style.visibility</p:attrName>
                                        </p:attrNameLst>
                                      </p:cBhvr>
                                      <p:to>
                                        <p:strVal val="visible"/>
                                      </p:to>
                                    </p:set>
                                  </p:childTnLst>
                                </p:cTn>
                              </p:par>
                              <p:par>
                                <p:cTn id="146" presetID="1" presetClass="entr" presetSubtype="0" fill="hold" grpId="0" nodeType="withEffect">
                                  <p:stCondLst>
                                    <p:cond delay="0"/>
                                  </p:stCondLst>
                                  <p:childTnLst>
                                    <p:set>
                                      <p:cBhvr>
                                        <p:cTn id="147" dur="1" fill="hold">
                                          <p:stCondLst>
                                            <p:cond delay="0"/>
                                          </p:stCondLst>
                                        </p:cTn>
                                        <p:tgtEl>
                                          <p:spTgt spid="63"/>
                                        </p:tgtEl>
                                        <p:attrNameLst>
                                          <p:attrName>style.visibility</p:attrName>
                                        </p:attrNameLst>
                                      </p:cBhvr>
                                      <p:to>
                                        <p:strVal val="visible"/>
                                      </p:to>
                                    </p:set>
                                  </p:childTnLst>
                                </p:cTn>
                              </p:par>
                              <p:par>
                                <p:cTn id="148" presetID="1" presetClass="entr" presetSubtype="0" fill="hold" grpId="0" nodeType="withEffect">
                                  <p:stCondLst>
                                    <p:cond delay="0"/>
                                  </p:stCondLst>
                                  <p:childTnLst>
                                    <p:set>
                                      <p:cBhvr>
                                        <p:cTn id="149" dur="1" fill="hold">
                                          <p:stCondLst>
                                            <p:cond delay="0"/>
                                          </p:stCondLst>
                                        </p:cTn>
                                        <p:tgtEl>
                                          <p:spTgt spid="61"/>
                                        </p:tgtEl>
                                        <p:attrNameLst>
                                          <p:attrName>style.visibility</p:attrName>
                                        </p:attrNameLst>
                                      </p:cBhvr>
                                      <p:to>
                                        <p:strVal val="visible"/>
                                      </p:to>
                                    </p:set>
                                  </p:childTnLst>
                                </p:cTn>
                              </p:par>
                            </p:childTnLst>
                          </p:cTn>
                        </p:par>
                      </p:childTnLst>
                    </p:cTn>
                  </p:par>
                  <p:par>
                    <p:cTn id="150" fill="hold">
                      <p:stCondLst>
                        <p:cond delay="indefinite"/>
                      </p:stCondLst>
                      <p:childTnLst>
                        <p:par>
                          <p:cTn id="151" fill="hold">
                            <p:stCondLst>
                              <p:cond delay="0"/>
                            </p:stCondLst>
                            <p:childTnLst>
                              <p:par>
                                <p:cTn id="152" presetID="1" presetClass="entr" presetSubtype="0" fill="hold" grpId="0" nodeType="clickEffect">
                                  <p:stCondLst>
                                    <p:cond delay="0"/>
                                  </p:stCondLst>
                                  <p:childTnLst>
                                    <p:set>
                                      <p:cBhvr>
                                        <p:cTn id="153" dur="1" fill="hold">
                                          <p:stCondLst>
                                            <p:cond delay="0"/>
                                          </p:stCondLst>
                                        </p:cTn>
                                        <p:tgtEl>
                                          <p:spTgt spid="50"/>
                                        </p:tgtEl>
                                        <p:attrNameLst>
                                          <p:attrName>style.visibility</p:attrName>
                                        </p:attrNameLst>
                                      </p:cBhvr>
                                      <p:to>
                                        <p:strVal val="visible"/>
                                      </p:to>
                                    </p:set>
                                  </p:childTnLst>
                                </p:cTn>
                              </p:par>
                              <p:par>
                                <p:cTn id="154" presetID="1" presetClass="entr" presetSubtype="0" fill="hold" grpId="0" nodeType="withEffect">
                                  <p:stCondLst>
                                    <p:cond delay="0"/>
                                  </p:stCondLst>
                                  <p:childTnLst>
                                    <p:set>
                                      <p:cBhvr>
                                        <p:cTn id="155" dur="1" fill="hold">
                                          <p:stCondLst>
                                            <p:cond delay="0"/>
                                          </p:stCondLst>
                                        </p:cTn>
                                        <p:tgtEl>
                                          <p:spTgt spid="44"/>
                                        </p:tgtEl>
                                        <p:attrNameLst>
                                          <p:attrName>style.visibility</p:attrName>
                                        </p:attrNameLst>
                                      </p:cBhvr>
                                      <p:to>
                                        <p:strVal val="visible"/>
                                      </p:to>
                                    </p:set>
                                  </p:childTnLst>
                                </p:cTn>
                              </p:par>
                              <p:par>
                                <p:cTn id="156" presetID="1" presetClass="entr" presetSubtype="0" fill="hold" grpId="0" nodeType="withEffect">
                                  <p:stCondLst>
                                    <p:cond delay="0"/>
                                  </p:stCondLst>
                                  <p:childTnLst>
                                    <p:set>
                                      <p:cBhvr>
                                        <p:cTn id="157" dur="1" fill="hold">
                                          <p:stCondLst>
                                            <p:cond delay="0"/>
                                          </p:stCondLst>
                                        </p:cTn>
                                        <p:tgtEl>
                                          <p:spTgt spid="46"/>
                                        </p:tgtEl>
                                        <p:attrNameLst>
                                          <p:attrName>style.visibility</p:attrName>
                                        </p:attrNameLst>
                                      </p:cBhvr>
                                      <p:to>
                                        <p:strVal val="visible"/>
                                      </p:to>
                                    </p:set>
                                  </p:childTnLst>
                                </p:cTn>
                              </p:par>
                              <p:par>
                                <p:cTn id="158" presetID="1" presetClass="entr" presetSubtype="0" fill="hold" grpId="0" nodeType="withEffect">
                                  <p:stCondLst>
                                    <p:cond delay="0"/>
                                  </p:stCondLst>
                                  <p:childTnLst>
                                    <p:set>
                                      <p:cBhvr>
                                        <p:cTn id="159" dur="1" fill="hold">
                                          <p:stCondLst>
                                            <p:cond delay="0"/>
                                          </p:stCondLst>
                                        </p:cTn>
                                        <p:tgtEl>
                                          <p:spTgt spid="68"/>
                                        </p:tgtEl>
                                        <p:attrNameLst>
                                          <p:attrName>style.visibility</p:attrName>
                                        </p:attrNameLst>
                                      </p:cBhvr>
                                      <p:to>
                                        <p:strVal val="visible"/>
                                      </p:to>
                                    </p:set>
                                  </p:childTnLst>
                                </p:cTn>
                              </p:par>
                              <p:par>
                                <p:cTn id="160" presetID="1" presetClass="entr" presetSubtype="0" fill="hold" grpId="0" nodeType="withEffect">
                                  <p:stCondLst>
                                    <p:cond delay="0"/>
                                  </p:stCondLst>
                                  <p:childTnLst>
                                    <p:set>
                                      <p:cBhvr>
                                        <p:cTn id="161" dur="1" fill="hold">
                                          <p:stCondLst>
                                            <p:cond delay="0"/>
                                          </p:stCondLst>
                                        </p:cTn>
                                        <p:tgtEl>
                                          <p:spTgt spid="70"/>
                                        </p:tgtEl>
                                        <p:attrNameLst>
                                          <p:attrName>style.visibility</p:attrName>
                                        </p:attrNameLst>
                                      </p:cBhvr>
                                      <p:to>
                                        <p:strVal val="visible"/>
                                      </p:to>
                                    </p:set>
                                  </p:childTnLst>
                                </p:cTn>
                              </p:par>
                              <p:par>
                                <p:cTn id="162" presetID="1" presetClass="entr" presetSubtype="0" fill="hold" grpId="0" nodeType="withEffect">
                                  <p:stCondLst>
                                    <p:cond delay="0"/>
                                  </p:stCondLst>
                                  <p:childTnLst>
                                    <p:set>
                                      <p:cBhvr>
                                        <p:cTn id="163" dur="1" fill="hold">
                                          <p:stCondLst>
                                            <p:cond delay="0"/>
                                          </p:stCondLst>
                                        </p:cTn>
                                        <p:tgtEl>
                                          <p:spTgt spid="74"/>
                                        </p:tgtEl>
                                        <p:attrNameLst>
                                          <p:attrName>style.visibility</p:attrName>
                                        </p:attrNameLst>
                                      </p:cBhvr>
                                      <p:to>
                                        <p:strVal val="visible"/>
                                      </p:to>
                                    </p:set>
                                  </p:childTnLst>
                                </p:cTn>
                              </p:par>
                              <p:par>
                                <p:cTn id="164" presetID="1" presetClass="entr" presetSubtype="0" fill="hold" grpId="0" nodeType="withEffect">
                                  <p:stCondLst>
                                    <p:cond delay="0"/>
                                  </p:stCondLst>
                                  <p:childTnLst>
                                    <p:set>
                                      <p:cBhvr>
                                        <p:cTn id="165" dur="1" fill="hold">
                                          <p:stCondLst>
                                            <p:cond delay="0"/>
                                          </p:stCondLst>
                                        </p:cTn>
                                        <p:tgtEl>
                                          <p:spTgt spid="73"/>
                                        </p:tgtEl>
                                        <p:attrNameLst>
                                          <p:attrName>style.visibility</p:attrName>
                                        </p:attrNameLst>
                                      </p:cBhvr>
                                      <p:to>
                                        <p:strVal val="visible"/>
                                      </p:to>
                                    </p:set>
                                  </p:childTnLst>
                                </p:cTn>
                              </p:par>
                              <p:par>
                                <p:cTn id="166" presetID="1" presetClass="entr" presetSubtype="0" fill="hold" grpId="0" nodeType="withEffect">
                                  <p:stCondLst>
                                    <p:cond delay="0"/>
                                  </p:stCondLst>
                                  <p:childTnLst>
                                    <p:set>
                                      <p:cBhvr>
                                        <p:cTn id="167" dur="1" fill="hold">
                                          <p:stCondLst>
                                            <p:cond delay="0"/>
                                          </p:stCondLst>
                                        </p:cTn>
                                        <p:tgtEl>
                                          <p:spTgt spid="72"/>
                                        </p:tgtEl>
                                        <p:attrNameLst>
                                          <p:attrName>style.visibility</p:attrName>
                                        </p:attrNameLst>
                                      </p:cBhvr>
                                      <p:to>
                                        <p:strVal val="visible"/>
                                      </p:to>
                                    </p:set>
                                  </p:childTnLst>
                                </p:cTn>
                              </p:par>
                              <p:par>
                                <p:cTn id="168" presetID="1" presetClass="entr" presetSubtype="0" fill="hold" grpId="0" nodeType="withEffect">
                                  <p:stCondLst>
                                    <p:cond delay="0"/>
                                  </p:stCondLst>
                                  <p:childTnLst>
                                    <p:set>
                                      <p:cBhvr>
                                        <p:cTn id="169" dur="1" fill="hold">
                                          <p:stCondLst>
                                            <p:cond delay="0"/>
                                          </p:stCondLst>
                                        </p:cTn>
                                        <p:tgtEl>
                                          <p:spTgt spid="71"/>
                                        </p:tgtEl>
                                        <p:attrNameLst>
                                          <p:attrName>style.visibility</p:attrName>
                                        </p:attrNameLst>
                                      </p:cBhvr>
                                      <p:to>
                                        <p:strVal val="visible"/>
                                      </p:to>
                                    </p:set>
                                  </p:childTnLst>
                                </p:cTn>
                              </p:par>
                              <p:par>
                                <p:cTn id="170" presetID="1" presetClass="entr" presetSubtype="0" fill="hold" grpId="0" nodeType="withEffect">
                                  <p:stCondLst>
                                    <p:cond delay="0"/>
                                  </p:stCondLst>
                                  <p:childTnLst>
                                    <p:set>
                                      <p:cBhvr>
                                        <p:cTn id="171" dur="1" fill="hold">
                                          <p:stCondLst>
                                            <p:cond delay="0"/>
                                          </p:stCondLst>
                                        </p:cTn>
                                        <p:tgtEl>
                                          <p:spTgt spid="69"/>
                                        </p:tgtEl>
                                        <p:attrNameLst>
                                          <p:attrName>style.visibility</p:attrName>
                                        </p:attrNameLst>
                                      </p:cBhvr>
                                      <p:to>
                                        <p:strVal val="visible"/>
                                      </p:to>
                                    </p:set>
                                  </p:childTnLst>
                                </p:cTn>
                              </p:par>
                              <p:par>
                                <p:cTn id="172" presetID="1" presetClass="entr" presetSubtype="0" fill="hold" grpId="0" nodeType="withEffect">
                                  <p:stCondLst>
                                    <p:cond delay="0"/>
                                  </p:stCondLst>
                                  <p:childTnLst>
                                    <p:set>
                                      <p:cBhvr>
                                        <p:cTn id="173" dur="1" fill="hold">
                                          <p:stCondLst>
                                            <p:cond delay="0"/>
                                          </p:stCondLst>
                                        </p:cTn>
                                        <p:tgtEl>
                                          <p:spTgt spid="67"/>
                                        </p:tgtEl>
                                        <p:attrNameLst>
                                          <p:attrName>style.visibility</p:attrName>
                                        </p:attrNameLst>
                                      </p:cBhvr>
                                      <p:to>
                                        <p:strVal val="visible"/>
                                      </p:to>
                                    </p:set>
                                  </p:childTnLst>
                                </p:cTn>
                              </p:par>
                              <p:par>
                                <p:cTn id="174" presetID="1" presetClass="entr" presetSubtype="0" fill="hold" grpId="0" nodeType="withEffect">
                                  <p:stCondLst>
                                    <p:cond delay="0"/>
                                  </p:stCondLst>
                                  <p:childTnLst>
                                    <p:set>
                                      <p:cBhvr>
                                        <p:cTn id="175" dur="1" fill="hold">
                                          <p:stCondLst>
                                            <p:cond delay="0"/>
                                          </p:stCondLst>
                                        </p:cTn>
                                        <p:tgtEl>
                                          <p:spTgt spid="45"/>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presetID="55" presetClass="entr" presetSubtype="0" fill="hold" grpId="0" nodeType="clickEffect">
                                  <p:stCondLst>
                                    <p:cond delay="0"/>
                                  </p:stCondLst>
                                  <p:childTnLst>
                                    <p:set>
                                      <p:cBhvr>
                                        <p:cTn id="179" dur="1" fill="hold">
                                          <p:stCondLst>
                                            <p:cond delay="0"/>
                                          </p:stCondLst>
                                        </p:cTn>
                                        <p:tgtEl>
                                          <p:spTgt spid="75"/>
                                        </p:tgtEl>
                                        <p:attrNameLst>
                                          <p:attrName>style.visibility</p:attrName>
                                        </p:attrNameLst>
                                      </p:cBhvr>
                                      <p:to>
                                        <p:strVal val="visible"/>
                                      </p:to>
                                    </p:set>
                                    <p:anim calcmode="lin" valueType="num">
                                      <p:cBhvr>
                                        <p:cTn id="180" dur="1000" fill="hold"/>
                                        <p:tgtEl>
                                          <p:spTgt spid="75"/>
                                        </p:tgtEl>
                                        <p:attrNameLst>
                                          <p:attrName>ppt_w</p:attrName>
                                        </p:attrNameLst>
                                      </p:cBhvr>
                                      <p:tavLst>
                                        <p:tav tm="0">
                                          <p:val>
                                            <p:strVal val="#ppt_w*0.70"/>
                                          </p:val>
                                        </p:tav>
                                        <p:tav tm="100000">
                                          <p:val>
                                            <p:strVal val="#ppt_w"/>
                                          </p:val>
                                        </p:tav>
                                      </p:tavLst>
                                    </p:anim>
                                    <p:anim calcmode="lin" valueType="num">
                                      <p:cBhvr>
                                        <p:cTn id="181" dur="1000" fill="hold"/>
                                        <p:tgtEl>
                                          <p:spTgt spid="75"/>
                                        </p:tgtEl>
                                        <p:attrNameLst>
                                          <p:attrName>ppt_h</p:attrName>
                                        </p:attrNameLst>
                                      </p:cBhvr>
                                      <p:tavLst>
                                        <p:tav tm="0">
                                          <p:val>
                                            <p:strVal val="#ppt_h"/>
                                          </p:val>
                                        </p:tav>
                                        <p:tav tm="100000">
                                          <p:val>
                                            <p:strVal val="#ppt_h"/>
                                          </p:val>
                                        </p:tav>
                                      </p:tavLst>
                                    </p:anim>
                                    <p:animEffect transition="in" filter="fade">
                                      <p:cBhvr>
                                        <p:cTn id="182" dur="1000"/>
                                        <p:tgtEl>
                                          <p:spTgt spid="75"/>
                                        </p:tgtEl>
                                      </p:cBhvr>
                                    </p:animEffect>
                                  </p:childTnLst>
                                </p:cTn>
                              </p:par>
                            </p:childTnLst>
                          </p:cTn>
                        </p:par>
                      </p:childTnLst>
                    </p:cTn>
                  </p:par>
                  <p:par>
                    <p:cTn id="183" fill="hold">
                      <p:stCondLst>
                        <p:cond delay="indefinite"/>
                      </p:stCondLst>
                      <p:childTnLst>
                        <p:par>
                          <p:cTn id="184" fill="hold">
                            <p:stCondLst>
                              <p:cond delay="0"/>
                            </p:stCondLst>
                            <p:childTnLst>
                              <p:par>
                                <p:cTn id="185" presetID="2" presetClass="entr" presetSubtype="4" fill="hold" grpId="0" nodeType="clickEffect">
                                  <p:stCondLst>
                                    <p:cond delay="0"/>
                                  </p:stCondLst>
                                  <p:childTnLst>
                                    <p:set>
                                      <p:cBhvr>
                                        <p:cTn id="186" dur="1" fill="hold">
                                          <p:stCondLst>
                                            <p:cond delay="0"/>
                                          </p:stCondLst>
                                        </p:cTn>
                                        <p:tgtEl>
                                          <p:spTgt spid="76"/>
                                        </p:tgtEl>
                                        <p:attrNameLst>
                                          <p:attrName>style.visibility</p:attrName>
                                        </p:attrNameLst>
                                      </p:cBhvr>
                                      <p:to>
                                        <p:strVal val="visible"/>
                                      </p:to>
                                    </p:set>
                                    <p:anim calcmode="lin" valueType="num">
                                      <p:cBhvr additive="base">
                                        <p:cTn id="187" dur="500" fill="hold"/>
                                        <p:tgtEl>
                                          <p:spTgt spid="76"/>
                                        </p:tgtEl>
                                        <p:attrNameLst>
                                          <p:attrName>ppt_x</p:attrName>
                                        </p:attrNameLst>
                                      </p:cBhvr>
                                      <p:tavLst>
                                        <p:tav tm="0">
                                          <p:val>
                                            <p:strVal val="#ppt_x"/>
                                          </p:val>
                                        </p:tav>
                                        <p:tav tm="100000">
                                          <p:val>
                                            <p:strVal val="#ppt_x"/>
                                          </p:val>
                                        </p:tav>
                                      </p:tavLst>
                                    </p:anim>
                                    <p:anim calcmode="lin" valueType="num">
                                      <p:cBhvr additive="base">
                                        <p:cTn id="188"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189" fill="hold">
                      <p:stCondLst>
                        <p:cond delay="indefinite"/>
                      </p:stCondLst>
                      <p:childTnLst>
                        <p:par>
                          <p:cTn id="190" fill="hold">
                            <p:stCondLst>
                              <p:cond delay="0"/>
                            </p:stCondLst>
                            <p:childTnLst>
                              <p:par>
                                <p:cTn id="191" presetID="2" presetClass="entr" presetSubtype="4" fill="hold" grpId="0" nodeType="clickEffect">
                                  <p:stCondLst>
                                    <p:cond delay="0"/>
                                  </p:stCondLst>
                                  <p:childTnLst>
                                    <p:set>
                                      <p:cBhvr>
                                        <p:cTn id="192" dur="1" fill="hold">
                                          <p:stCondLst>
                                            <p:cond delay="0"/>
                                          </p:stCondLst>
                                        </p:cTn>
                                        <p:tgtEl>
                                          <p:spTgt spid="78"/>
                                        </p:tgtEl>
                                        <p:attrNameLst>
                                          <p:attrName>style.visibility</p:attrName>
                                        </p:attrNameLst>
                                      </p:cBhvr>
                                      <p:to>
                                        <p:strVal val="visible"/>
                                      </p:to>
                                    </p:set>
                                    <p:anim calcmode="lin" valueType="num">
                                      <p:cBhvr additive="base">
                                        <p:cTn id="193" dur="500" fill="hold"/>
                                        <p:tgtEl>
                                          <p:spTgt spid="78"/>
                                        </p:tgtEl>
                                        <p:attrNameLst>
                                          <p:attrName>ppt_x</p:attrName>
                                        </p:attrNameLst>
                                      </p:cBhvr>
                                      <p:tavLst>
                                        <p:tav tm="0">
                                          <p:val>
                                            <p:strVal val="#ppt_x"/>
                                          </p:val>
                                        </p:tav>
                                        <p:tav tm="100000">
                                          <p:val>
                                            <p:strVal val="#ppt_x"/>
                                          </p:val>
                                        </p:tav>
                                      </p:tavLst>
                                    </p:anim>
                                    <p:anim calcmode="lin" valueType="num">
                                      <p:cBhvr additive="base">
                                        <p:cTn id="194" dur="500" fill="hold"/>
                                        <p:tgtEl>
                                          <p:spTgt spid="78"/>
                                        </p:tgtEl>
                                        <p:attrNameLst>
                                          <p:attrName>ppt_y</p:attrName>
                                        </p:attrNameLst>
                                      </p:cBhvr>
                                      <p:tavLst>
                                        <p:tav tm="0">
                                          <p:val>
                                            <p:strVal val="1+#ppt_h/2"/>
                                          </p:val>
                                        </p:tav>
                                        <p:tav tm="100000">
                                          <p:val>
                                            <p:strVal val="#ppt_y"/>
                                          </p:val>
                                        </p:tav>
                                      </p:tavLst>
                                    </p:anim>
                                  </p:childTnLst>
                                </p:cTn>
                              </p:par>
                            </p:childTnLst>
                          </p:cTn>
                        </p:par>
                      </p:childTnLst>
                    </p:cTn>
                  </p:par>
                  <p:par>
                    <p:cTn id="195" fill="hold">
                      <p:stCondLst>
                        <p:cond delay="indefinite"/>
                      </p:stCondLst>
                      <p:childTnLst>
                        <p:par>
                          <p:cTn id="196" fill="hold">
                            <p:stCondLst>
                              <p:cond delay="0"/>
                            </p:stCondLst>
                            <p:childTnLst>
                              <p:par>
                                <p:cTn id="197" presetID="2" presetClass="entr" presetSubtype="4" fill="hold" grpId="0" nodeType="clickEffect">
                                  <p:stCondLst>
                                    <p:cond delay="0"/>
                                  </p:stCondLst>
                                  <p:childTnLst>
                                    <p:set>
                                      <p:cBhvr>
                                        <p:cTn id="198" dur="1" fill="hold">
                                          <p:stCondLst>
                                            <p:cond delay="0"/>
                                          </p:stCondLst>
                                        </p:cTn>
                                        <p:tgtEl>
                                          <p:spTgt spid="77"/>
                                        </p:tgtEl>
                                        <p:attrNameLst>
                                          <p:attrName>style.visibility</p:attrName>
                                        </p:attrNameLst>
                                      </p:cBhvr>
                                      <p:to>
                                        <p:strVal val="visible"/>
                                      </p:to>
                                    </p:set>
                                    <p:anim calcmode="lin" valueType="num">
                                      <p:cBhvr additive="base">
                                        <p:cTn id="199" dur="500" fill="hold"/>
                                        <p:tgtEl>
                                          <p:spTgt spid="77"/>
                                        </p:tgtEl>
                                        <p:attrNameLst>
                                          <p:attrName>ppt_x</p:attrName>
                                        </p:attrNameLst>
                                      </p:cBhvr>
                                      <p:tavLst>
                                        <p:tav tm="0">
                                          <p:val>
                                            <p:strVal val="#ppt_x"/>
                                          </p:val>
                                        </p:tav>
                                        <p:tav tm="100000">
                                          <p:val>
                                            <p:strVal val="#ppt_x"/>
                                          </p:val>
                                        </p:tav>
                                      </p:tavLst>
                                    </p:anim>
                                    <p:anim calcmode="lin" valueType="num">
                                      <p:cBhvr additive="base">
                                        <p:cTn id="200" dur="500" fill="hold"/>
                                        <p:tgtEl>
                                          <p:spTgt spid="77"/>
                                        </p:tgtEl>
                                        <p:attrNameLst>
                                          <p:attrName>ppt_y</p:attrName>
                                        </p:attrNameLst>
                                      </p:cBhvr>
                                      <p:tavLst>
                                        <p:tav tm="0">
                                          <p:val>
                                            <p:strVal val="1+#ppt_h/2"/>
                                          </p:val>
                                        </p:tav>
                                        <p:tav tm="100000">
                                          <p:val>
                                            <p:strVal val="#ppt_y"/>
                                          </p:val>
                                        </p:tav>
                                      </p:tavLst>
                                    </p:anim>
                                  </p:childTnLst>
                                </p:cTn>
                              </p:par>
                            </p:childTnLst>
                          </p:cTn>
                        </p:par>
                      </p:childTnLst>
                    </p:cTn>
                  </p:par>
                  <p:par>
                    <p:cTn id="201" fill="hold">
                      <p:stCondLst>
                        <p:cond delay="indefinite"/>
                      </p:stCondLst>
                      <p:childTnLst>
                        <p:par>
                          <p:cTn id="202" fill="hold">
                            <p:stCondLst>
                              <p:cond delay="0"/>
                            </p:stCondLst>
                            <p:childTnLst>
                              <p:par>
                                <p:cTn id="203" presetID="2" presetClass="entr" presetSubtype="4" fill="hold" grpId="0" nodeType="clickEffect">
                                  <p:stCondLst>
                                    <p:cond delay="0"/>
                                  </p:stCondLst>
                                  <p:childTnLst>
                                    <p:set>
                                      <p:cBhvr>
                                        <p:cTn id="204" dur="1" fill="hold">
                                          <p:stCondLst>
                                            <p:cond delay="0"/>
                                          </p:stCondLst>
                                        </p:cTn>
                                        <p:tgtEl>
                                          <p:spTgt spid="80"/>
                                        </p:tgtEl>
                                        <p:attrNameLst>
                                          <p:attrName>style.visibility</p:attrName>
                                        </p:attrNameLst>
                                      </p:cBhvr>
                                      <p:to>
                                        <p:strVal val="visible"/>
                                      </p:to>
                                    </p:set>
                                    <p:anim calcmode="lin" valueType="num">
                                      <p:cBhvr additive="base">
                                        <p:cTn id="205" dur="500" fill="hold"/>
                                        <p:tgtEl>
                                          <p:spTgt spid="80"/>
                                        </p:tgtEl>
                                        <p:attrNameLst>
                                          <p:attrName>ppt_x</p:attrName>
                                        </p:attrNameLst>
                                      </p:cBhvr>
                                      <p:tavLst>
                                        <p:tav tm="0">
                                          <p:val>
                                            <p:strVal val="#ppt_x"/>
                                          </p:val>
                                        </p:tav>
                                        <p:tav tm="100000">
                                          <p:val>
                                            <p:strVal val="#ppt_x"/>
                                          </p:val>
                                        </p:tav>
                                      </p:tavLst>
                                    </p:anim>
                                    <p:anim calcmode="lin" valueType="num">
                                      <p:cBhvr additive="base">
                                        <p:cTn id="206" dur="500" fill="hold"/>
                                        <p:tgtEl>
                                          <p:spTgt spid="80"/>
                                        </p:tgtEl>
                                        <p:attrNameLst>
                                          <p:attrName>ppt_y</p:attrName>
                                        </p:attrNameLst>
                                      </p:cBhvr>
                                      <p:tavLst>
                                        <p:tav tm="0">
                                          <p:val>
                                            <p:strVal val="1+#ppt_h/2"/>
                                          </p:val>
                                        </p:tav>
                                        <p:tav tm="100000">
                                          <p:val>
                                            <p:strVal val="#ppt_y"/>
                                          </p:val>
                                        </p:tav>
                                      </p:tavLst>
                                    </p:anim>
                                  </p:childTnLst>
                                </p:cTn>
                              </p:par>
                              <p:par>
                                <p:cTn id="207" presetID="2" presetClass="entr" presetSubtype="4" fill="hold" grpId="0" nodeType="withEffect">
                                  <p:stCondLst>
                                    <p:cond delay="0"/>
                                  </p:stCondLst>
                                  <p:childTnLst>
                                    <p:set>
                                      <p:cBhvr>
                                        <p:cTn id="208" dur="1" fill="hold">
                                          <p:stCondLst>
                                            <p:cond delay="0"/>
                                          </p:stCondLst>
                                        </p:cTn>
                                        <p:tgtEl>
                                          <p:spTgt spid="79"/>
                                        </p:tgtEl>
                                        <p:attrNameLst>
                                          <p:attrName>style.visibility</p:attrName>
                                        </p:attrNameLst>
                                      </p:cBhvr>
                                      <p:to>
                                        <p:strVal val="visible"/>
                                      </p:to>
                                    </p:set>
                                    <p:anim calcmode="lin" valueType="num">
                                      <p:cBhvr additive="base">
                                        <p:cTn id="209" dur="500" fill="hold"/>
                                        <p:tgtEl>
                                          <p:spTgt spid="79"/>
                                        </p:tgtEl>
                                        <p:attrNameLst>
                                          <p:attrName>ppt_x</p:attrName>
                                        </p:attrNameLst>
                                      </p:cBhvr>
                                      <p:tavLst>
                                        <p:tav tm="0">
                                          <p:val>
                                            <p:strVal val="#ppt_x"/>
                                          </p:val>
                                        </p:tav>
                                        <p:tav tm="100000">
                                          <p:val>
                                            <p:strVal val="#ppt_x"/>
                                          </p:val>
                                        </p:tav>
                                      </p:tavLst>
                                    </p:anim>
                                    <p:anim calcmode="lin" valueType="num">
                                      <p:cBhvr additive="base">
                                        <p:cTn id="210"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par>
                    <p:cTn id="211" fill="hold">
                      <p:stCondLst>
                        <p:cond delay="indefinite"/>
                      </p:stCondLst>
                      <p:childTnLst>
                        <p:par>
                          <p:cTn id="212" fill="hold">
                            <p:stCondLst>
                              <p:cond delay="0"/>
                            </p:stCondLst>
                            <p:childTnLst>
                              <p:par>
                                <p:cTn id="213" presetID="8" presetClass="emph" presetSubtype="0" fill="hold" grpId="0" nodeType="clickEffect">
                                  <p:stCondLst>
                                    <p:cond delay="0"/>
                                  </p:stCondLst>
                                  <p:childTnLst>
                                    <p:animRot by="21600000">
                                      <p:cBhvr>
                                        <p:cTn id="214" dur="2000" fill="hold"/>
                                        <p:tgtEl>
                                          <p:spTgt spid="8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19" grpId="0"/>
      <p:bldP spid="14" grpId="0" animBg="1"/>
      <p:bldP spid="21" grpId="0"/>
      <p:bldP spid="20" grpId="0"/>
      <p:bldP spid="28" grpId="0" animBg="1"/>
      <p:bldP spid="29" grpId="0"/>
      <p:bldP spid="30" grpId="0" animBg="1"/>
      <p:bldP spid="23" grpId="0"/>
      <p:bldP spid="34" grpId="0" animBg="1"/>
      <p:bldP spid="35" grpId="0" animBg="1"/>
      <p:bldP spid="36" grpId="0" animBg="1"/>
      <p:bldP spid="37" grpId="0"/>
      <p:bldP spid="38" grpId="0" animBg="1"/>
      <p:bldP spid="39" grpId="0" animBg="1"/>
      <p:bldP spid="40" grpId="0"/>
      <p:bldP spid="41" grpId="0" animBg="1"/>
      <p:bldP spid="42" grpId="0" animBg="1"/>
      <p:bldP spid="43" grpId="0"/>
      <p:bldP spid="44" grpId="0" animBg="1"/>
      <p:bldP spid="45" grpId="0" animBg="1"/>
      <p:bldP spid="46" grpId="0"/>
      <p:bldP spid="47" grpId="0"/>
      <p:bldP spid="48" grpId="0"/>
      <p:bldP spid="49" grpId="0"/>
      <p:bldP spid="50" grpId="0"/>
      <p:bldP spid="51" grpId="0" animBg="1"/>
      <p:bldP spid="52" grpId="0"/>
      <p:bldP spid="57" grpId="0" animBg="1"/>
      <p:bldP spid="58" grpId="0"/>
      <p:bldP spid="59" grpId="0" animBg="1"/>
      <p:bldP spid="60" grpId="0"/>
      <p:bldP spid="61" grpId="0" animBg="1"/>
      <p:bldP spid="62" grpId="0"/>
      <p:bldP spid="63" grpId="0" animBg="1"/>
      <p:bldP spid="64" grpId="0" animBg="1"/>
      <p:bldP spid="65" grpId="0"/>
      <p:bldP spid="66" grpId="0"/>
      <p:bldP spid="67" grpId="0" animBg="1"/>
      <p:bldP spid="68" grpId="0"/>
      <p:bldP spid="69" grpId="0" animBg="1"/>
      <p:bldP spid="70" grpId="0"/>
      <p:bldP spid="71" grpId="0" animBg="1"/>
      <p:bldP spid="72" grpId="0" animBg="1"/>
      <p:bldP spid="73" grpId="0"/>
      <p:bldP spid="74" grpId="0"/>
      <p:bldP spid="75" grpId="0" animBg="1"/>
      <p:bldP spid="76" grpId="0"/>
      <p:bldP spid="77" grpId="0"/>
      <p:bldP spid="78" grpId="0"/>
      <p:bldP spid="79" grpId="0"/>
      <p:bldP spid="80" grpId="0" animBg="1"/>
      <p:bldP spid="8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610068"/>
            <a:ext cx="7886700" cy="634117"/>
          </a:xfrm>
        </p:spPr>
        <p:txBody>
          <a:bodyPr>
            <a:normAutofit fontScale="90000"/>
          </a:bodyPr>
          <a:lstStyle/>
          <a:p>
            <a:r>
              <a:rPr lang="en-GB" dirty="0"/>
              <a:t>Compound Interest</a:t>
            </a:r>
          </a:p>
        </p:txBody>
      </p:sp>
      <p:sp>
        <p:nvSpPr>
          <p:cNvPr id="3" name="Content Placeholder 2"/>
          <p:cNvSpPr>
            <a:spLocks noGrp="1"/>
          </p:cNvSpPr>
          <p:nvPr>
            <p:ph idx="1"/>
          </p:nvPr>
        </p:nvSpPr>
        <p:spPr>
          <a:xfrm>
            <a:off x="301466" y="1223371"/>
            <a:ext cx="8663022" cy="540001"/>
          </a:xfrm>
        </p:spPr>
        <p:txBody>
          <a:bodyPr>
            <a:normAutofit/>
          </a:bodyPr>
          <a:lstStyle/>
          <a:p>
            <a:pPr marL="0" indent="0">
              <a:buClr>
                <a:srgbClr val="C00000"/>
              </a:buClr>
              <a:buSzPct val="90000"/>
              <a:buNone/>
            </a:pPr>
            <a:r>
              <a:rPr lang="en-GB" sz="1600" dirty="0">
                <a:solidFill>
                  <a:schemeClr val="tx1"/>
                </a:solidFill>
                <a:latin typeface="Arial" panose="020B0604020202020204" pitchFamily="34" charset="0"/>
                <a:cs typeface="Arial" panose="020B0604020202020204" pitchFamily="34" charset="0"/>
              </a:rPr>
              <a:t>Same 5 year, 5% investment plan but </a:t>
            </a:r>
            <a:r>
              <a:rPr lang="en-GB" sz="1600" dirty="0">
                <a:latin typeface="Arial" panose="020B0604020202020204" pitchFamily="34" charset="0"/>
                <a:ea typeface="Cambria Math" panose="02040503050406030204" pitchFamily="18" charset="0"/>
                <a:cs typeface="Arial" panose="020B0604020202020204" pitchFamily="34" charset="0"/>
              </a:rPr>
              <a:t>with </a:t>
            </a:r>
            <a:r>
              <a:rPr lang="en-GB" sz="1600" i="1" dirty="0">
                <a:latin typeface="Arial" panose="020B0604020202020204" pitchFamily="34" charset="0"/>
                <a:ea typeface="Cambria Math" panose="02040503050406030204" pitchFamily="18" charset="0"/>
                <a:cs typeface="Arial" panose="020B0604020202020204" pitchFamily="34" charset="0"/>
              </a:rPr>
              <a:t>annual </a:t>
            </a:r>
            <a:r>
              <a:rPr lang="en-GB" sz="1600" i="1" u="sng" dirty="0">
                <a:latin typeface="Arial" panose="020B0604020202020204" pitchFamily="34" charset="0"/>
                <a:ea typeface="Cambria Math" panose="02040503050406030204" pitchFamily="18" charset="0"/>
                <a:cs typeface="Arial" panose="020B0604020202020204" pitchFamily="34" charset="0"/>
              </a:rPr>
              <a:t>compound</a:t>
            </a:r>
            <a:r>
              <a:rPr lang="en-GB" sz="1600" i="1" dirty="0">
                <a:latin typeface="Arial" panose="020B0604020202020204" pitchFamily="34" charset="0"/>
                <a:ea typeface="Cambria Math" panose="02040503050406030204" pitchFamily="18" charset="0"/>
                <a:cs typeface="Arial" panose="020B0604020202020204" pitchFamily="34" charset="0"/>
              </a:rPr>
              <a:t> </a:t>
            </a:r>
            <a:r>
              <a:rPr lang="en-GB" sz="1600" dirty="0">
                <a:latin typeface="Arial" panose="020B0604020202020204" pitchFamily="34" charset="0"/>
                <a:ea typeface="Cambria Math" panose="02040503050406030204" pitchFamily="18" charset="0"/>
                <a:cs typeface="Arial" panose="020B0604020202020204" pitchFamily="34" charset="0"/>
              </a:rPr>
              <a:t>interest</a:t>
            </a:r>
          </a:p>
          <a:p>
            <a:pPr marL="0" indent="0">
              <a:buClr>
                <a:srgbClr val="C00000"/>
              </a:buClr>
              <a:buSzPct val="90000"/>
              <a:buNone/>
            </a:pPr>
            <a:endParaRPr lang="en-GB" sz="1800" i="1" dirty="0">
              <a:solidFill>
                <a:srgbClr val="C00000"/>
              </a:solidFill>
              <a:latin typeface="Cambria Math" panose="02040503050406030204" pitchFamily="18" charset="0"/>
              <a:ea typeface="Cambria Math" panose="02040503050406030204" pitchFamily="18" charset="0"/>
            </a:endParaRPr>
          </a:p>
          <a:p>
            <a:pPr marL="0" indent="0">
              <a:buClr>
                <a:srgbClr val="C00000"/>
              </a:buClr>
              <a:buSzPct val="90000"/>
              <a:buNone/>
            </a:pPr>
            <a:endParaRPr lang="en-GB" sz="1800" i="1" dirty="0">
              <a:solidFill>
                <a:srgbClr val="C00000"/>
              </a:solidFill>
              <a:latin typeface="Cambria Math" panose="02040503050406030204" pitchFamily="18" charset="0"/>
              <a:ea typeface="Cambria Math" panose="02040503050406030204" pitchFamily="18" charset="0"/>
            </a:endParaRPr>
          </a:p>
          <a:p>
            <a:pPr marL="0" indent="0">
              <a:buClr>
                <a:srgbClr val="C00000"/>
              </a:buClr>
              <a:buSzPct val="90000"/>
              <a:buNone/>
            </a:pPr>
            <a:endParaRPr lang="en-GB" sz="1800" i="1" dirty="0">
              <a:solidFill>
                <a:srgbClr val="C00000"/>
              </a:solidFill>
              <a:latin typeface="Cambria Math" panose="02040503050406030204" pitchFamily="18" charset="0"/>
              <a:ea typeface="Cambria Math" panose="02040503050406030204" pitchFamily="18" charset="0"/>
            </a:endParaRPr>
          </a:p>
          <a:p>
            <a:pPr marL="0" indent="0">
              <a:buClr>
                <a:srgbClr val="C00000"/>
              </a:buClr>
              <a:buSzPct val="90000"/>
              <a:buNone/>
            </a:pPr>
            <a:endParaRPr lang="en-GB" sz="1800" i="1" dirty="0">
              <a:solidFill>
                <a:srgbClr val="C00000"/>
              </a:solidFill>
              <a:latin typeface="Cambria Math" panose="02040503050406030204" pitchFamily="18" charset="0"/>
              <a:ea typeface="Cambria Math" panose="02040503050406030204" pitchFamily="18" charset="0"/>
            </a:endParaRPr>
          </a:p>
          <a:p>
            <a:pPr marL="0" indent="0">
              <a:buClr>
                <a:srgbClr val="C00000"/>
              </a:buClr>
              <a:buSzPct val="90000"/>
              <a:buNone/>
            </a:pPr>
            <a:endParaRPr lang="en-GB" sz="900" i="1" dirty="0">
              <a:solidFill>
                <a:srgbClr val="C00000"/>
              </a:solidFill>
              <a:latin typeface="Cambria Math" panose="02040503050406030204" pitchFamily="18" charset="0"/>
              <a:ea typeface="Cambria Math" panose="02040503050406030204" pitchFamily="18" charset="0"/>
            </a:endParaRPr>
          </a:p>
          <a:p>
            <a:pPr marL="0" indent="0">
              <a:buClr>
                <a:srgbClr val="C00000"/>
              </a:buClr>
              <a:buSzPct val="90000"/>
              <a:buNone/>
            </a:pPr>
            <a:endParaRPr lang="en-GB" sz="1800" i="1" dirty="0">
              <a:solidFill>
                <a:srgbClr val="C00000"/>
              </a:solidFill>
              <a:latin typeface="Cambria Math" panose="02040503050406030204" pitchFamily="18" charset="0"/>
              <a:ea typeface="Cambria Math" panose="02040503050406030204" pitchFamily="18" charset="0"/>
            </a:endParaRPr>
          </a:p>
          <a:p>
            <a:pPr marL="0" indent="0">
              <a:buClr>
                <a:srgbClr val="C00000"/>
              </a:buClr>
              <a:buSzPct val="90000"/>
              <a:buNone/>
            </a:pPr>
            <a:endParaRPr lang="en-GB" sz="1800" i="1" dirty="0">
              <a:solidFill>
                <a:srgbClr val="C00000"/>
              </a:solidFill>
              <a:latin typeface="Cambria Math" panose="02040503050406030204" pitchFamily="18" charset="0"/>
              <a:ea typeface="Cambria Math" panose="02040503050406030204" pitchFamily="18" charset="0"/>
            </a:endParaRPr>
          </a:p>
          <a:p>
            <a:pPr marL="0" indent="0">
              <a:buClr>
                <a:srgbClr val="C00000"/>
              </a:buClr>
              <a:buSzPct val="90000"/>
              <a:buNone/>
            </a:pPr>
            <a:endParaRPr lang="en-GB" sz="1800" dirty="0"/>
          </a:p>
        </p:txBody>
      </p:sp>
      <p:sp>
        <p:nvSpPr>
          <p:cNvPr id="4" name="Slide Number Placeholder 3"/>
          <p:cNvSpPr>
            <a:spLocks noGrp="1"/>
          </p:cNvSpPr>
          <p:nvPr>
            <p:ph type="sldNum" sz="quarter" idx="12"/>
          </p:nvPr>
        </p:nvSpPr>
        <p:spPr>
          <a:xfrm>
            <a:off x="8548754" y="5927332"/>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35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9</a:t>
            </a:fld>
            <a:endParaRPr lang="en-GB" sz="1350" dirty="0">
              <a:solidFill>
                <a:prstClr val="black">
                  <a:lumMod val="50000"/>
                  <a:lumOff val="50000"/>
                </a:prstClr>
              </a:solidFill>
              <a:latin typeface="Calibri" panose="020F0502020204030204"/>
              <a:ea typeface="+mn-ea"/>
            </a:endParaRPr>
          </a:p>
        </p:txBody>
      </p:sp>
      <p:cxnSp>
        <p:nvCxnSpPr>
          <p:cNvPr id="6" name="Straight Connector 5">
            <a:extLst>
              <a:ext uri="{FF2B5EF4-FFF2-40B4-BE49-F238E27FC236}">
                <a16:creationId xmlns:a16="http://schemas.microsoft.com/office/drawing/2014/main" id="{FA2167AA-98EA-4279-B410-6F3AD66EC39D}"/>
              </a:ext>
            </a:extLst>
          </p:cNvPr>
          <p:cNvCxnSpPr/>
          <p:nvPr/>
        </p:nvCxnSpPr>
        <p:spPr>
          <a:xfrm>
            <a:off x="1105946" y="5533759"/>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DC5707A-55D9-45D0-AA4E-1AD5A9F83CD0}"/>
              </a:ext>
            </a:extLst>
          </p:cNvPr>
          <p:cNvCxnSpPr>
            <a:cxnSpLocks/>
          </p:cNvCxnSpPr>
          <p:nvPr/>
        </p:nvCxnSpPr>
        <p:spPr>
          <a:xfrm>
            <a:off x="1119382" y="5682846"/>
            <a:ext cx="675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0F1E744-C5A1-488E-B178-50C069C8365A}"/>
              </a:ext>
            </a:extLst>
          </p:cNvPr>
          <p:cNvCxnSpPr/>
          <p:nvPr/>
        </p:nvCxnSpPr>
        <p:spPr>
          <a:xfrm>
            <a:off x="2470830" y="5533759"/>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0660C1C-F3CC-44FF-80EB-DE6B93AFDDAD}"/>
              </a:ext>
            </a:extLst>
          </p:cNvPr>
          <p:cNvCxnSpPr/>
          <p:nvPr/>
        </p:nvCxnSpPr>
        <p:spPr>
          <a:xfrm>
            <a:off x="3823242" y="5533759"/>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C6C3FFD-344B-4068-A56B-ADABC109A9F8}"/>
              </a:ext>
            </a:extLst>
          </p:cNvPr>
          <p:cNvCxnSpPr/>
          <p:nvPr/>
        </p:nvCxnSpPr>
        <p:spPr>
          <a:xfrm>
            <a:off x="5175656" y="5533759"/>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F72C9A4-AFF1-426C-AA54-5AE6CBDDE035}"/>
              </a:ext>
            </a:extLst>
          </p:cNvPr>
          <p:cNvCxnSpPr/>
          <p:nvPr/>
        </p:nvCxnSpPr>
        <p:spPr>
          <a:xfrm>
            <a:off x="6527378" y="5533759"/>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24BE7AF-8CBC-4712-8507-63D336BF8B1C}"/>
              </a:ext>
            </a:extLst>
          </p:cNvPr>
          <p:cNvCxnSpPr/>
          <p:nvPr/>
        </p:nvCxnSpPr>
        <p:spPr>
          <a:xfrm>
            <a:off x="7879099" y="5533759"/>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E4DEB9D-4864-4367-93A1-898C425CFE1A}"/>
                  </a:ext>
                </a:extLst>
              </p:cNvPr>
              <p:cNvSpPr txBox="1"/>
              <p:nvPr/>
            </p:nvSpPr>
            <p:spPr>
              <a:xfrm>
                <a:off x="788226" y="5923952"/>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=0</m:t>
                      </m:r>
                    </m:oMath>
                  </m:oMathPara>
                </a14:m>
                <a:endParaRPr lang="en-GB" sz="1350" dirty="0">
                  <a:solidFill>
                    <a:prstClr val="black"/>
                  </a:solidFill>
                  <a:latin typeface="Calibri" panose="020F0502020204030204"/>
                  <a:ea typeface="+mn-ea"/>
                </a:endParaRPr>
              </a:p>
            </p:txBody>
          </p:sp>
        </mc:Choice>
        <mc:Fallback xmlns="">
          <p:sp>
            <p:nvSpPr>
              <p:cNvPr id="15" name="TextBox 14">
                <a:extLst>
                  <a:ext uri="{FF2B5EF4-FFF2-40B4-BE49-F238E27FC236}">
                    <a16:creationId xmlns:a16="http://schemas.microsoft.com/office/drawing/2014/main" id="{2E4DEB9D-4864-4367-93A1-898C425CFE1A}"/>
                  </a:ext>
                </a:extLst>
              </p:cNvPr>
              <p:cNvSpPr txBox="1">
                <a:spLocks noRot="1" noChangeAspect="1" noMove="1" noResize="1" noEditPoints="1" noAdjustHandles="1" noChangeArrowheads="1" noChangeShapeType="1" noTextEdit="1"/>
              </p:cNvSpPr>
              <p:nvPr/>
            </p:nvSpPr>
            <p:spPr>
              <a:xfrm>
                <a:off x="788226" y="5923952"/>
                <a:ext cx="660382" cy="300082"/>
              </a:xfrm>
              <a:prstGeom prst="rect">
                <a:avLst/>
              </a:prstGeom>
              <a:blipFill>
                <a:blip r:embed="rId3"/>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6622AB7-5AC3-4B1D-A4CE-34F332DEC861}"/>
                  </a:ext>
                </a:extLst>
              </p:cNvPr>
              <p:cNvSpPr txBox="1"/>
              <p:nvPr/>
            </p:nvSpPr>
            <p:spPr>
              <a:xfrm>
                <a:off x="2140639" y="5926353"/>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=1</m:t>
                      </m:r>
                    </m:oMath>
                  </m:oMathPara>
                </a14:m>
                <a:endParaRPr lang="en-GB" sz="1350" dirty="0">
                  <a:solidFill>
                    <a:prstClr val="black"/>
                  </a:solidFill>
                  <a:latin typeface="Calibri" panose="020F0502020204030204"/>
                  <a:ea typeface="+mn-ea"/>
                </a:endParaRPr>
              </a:p>
            </p:txBody>
          </p:sp>
        </mc:Choice>
        <mc:Fallback xmlns="">
          <p:sp>
            <p:nvSpPr>
              <p:cNvPr id="16" name="TextBox 15">
                <a:extLst>
                  <a:ext uri="{FF2B5EF4-FFF2-40B4-BE49-F238E27FC236}">
                    <a16:creationId xmlns:a16="http://schemas.microsoft.com/office/drawing/2014/main" id="{56622AB7-5AC3-4B1D-A4CE-34F332DEC861}"/>
                  </a:ext>
                </a:extLst>
              </p:cNvPr>
              <p:cNvSpPr txBox="1">
                <a:spLocks noRot="1" noChangeAspect="1" noMove="1" noResize="1" noEditPoints="1" noAdjustHandles="1" noChangeArrowheads="1" noChangeShapeType="1" noTextEdit="1"/>
              </p:cNvSpPr>
              <p:nvPr/>
            </p:nvSpPr>
            <p:spPr>
              <a:xfrm>
                <a:off x="2140639" y="5926353"/>
                <a:ext cx="660382" cy="300082"/>
              </a:xfrm>
              <a:prstGeom prst="rect">
                <a:avLst/>
              </a:prstGeom>
              <a:blipFill>
                <a:blip r:embed="rId4"/>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0CAA269-841E-41E2-B599-FE6AA72A6C82}"/>
                  </a:ext>
                </a:extLst>
              </p:cNvPr>
              <p:cNvSpPr txBox="1"/>
              <p:nvPr/>
            </p:nvSpPr>
            <p:spPr>
              <a:xfrm>
                <a:off x="3493052" y="5926353"/>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=2</m:t>
                      </m:r>
                    </m:oMath>
                  </m:oMathPara>
                </a14:m>
                <a:endParaRPr lang="en-GB" sz="1350" dirty="0">
                  <a:solidFill>
                    <a:prstClr val="black"/>
                  </a:solidFill>
                  <a:latin typeface="Calibri" panose="020F0502020204030204"/>
                  <a:ea typeface="+mn-ea"/>
                </a:endParaRPr>
              </a:p>
            </p:txBody>
          </p:sp>
        </mc:Choice>
        <mc:Fallback xmlns="">
          <p:sp>
            <p:nvSpPr>
              <p:cNvPr id="17" name="TextBox 16">
                <a:extLst>
                  <a:ext uri="{FF2B5EF4-FFF2-40B4-BE49-F238E27FC236}">
                    <a16:creationId xmlns:a16="http://schemas.microsoft.com/office/drawing/2014/main" id="{50CAA269-841E-41E2-B599-FE6AA72A6C82}"/>
                  </a:ext>
                </a:extLst>
              </p:cNvPr>
              <p:cNvSpPr txBox="1">
                <a:spLocks noRot="1" noChangeAspect="1" noMove="1" noResize="1" noEditPoints="1" noAdjustHandles="1" noChangeArrowheads="1" noChangeShapeType="1" noTextEdit="1"/>
              </p:cNvSpPr>
              <p:nvPr/>
            </p:nvSpPr>
            <p:spPr>
              <a:xfrm>
                <a:off x="3493052" y="5926353"/>
                <a:ext cx="660382" cy="300082"/>
              </a:xfrm>
              <a:prstGeom prst="rect">
                <a:avLst/>
              </a:prstGeom>
              <a:blipFill>
                <a:blip r:embed="rId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22FBA94-402D-412D-B6C3-F4E8DFB52032}"/>
                  </a:ext>
                </a:extLst>
              </p:cNvPr>
              <p:cNvSpPr txBox="1"/>
              <p:nvPr/>
            </p:nvSpPr>
            <p:spPr>
              <a:xfrm>
                <a:off x="4845465" y="5930303"/>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=3</m:t>
                      </m:r>
                    </m:oMath>
                  </m:oMathPara>
                </a14:m>
                <a:endParaRPr lang="en-GB" sz="1350" dirty="0">
                  <a:solidFill>
                    <a:prstClr val="black"/>
                  </a:solidFill>
                  <a:latin typeface="Calibri" panose="020F0502020204030204"/>
                  <a:ea typeface="+mn-ea"/>
                </a:endParaRPr>
              </a:p>
            </p:txBody>
          </p:sp>
        </mc:Choice>
        <mc:Fallback xmlns="">
          <p:sp>
            <p:nvSpPr>
              <p:cNvPr id="18" name="TextBox 17">
                <a:extLst>
                  <a:ext uri="{FF2B5EF4-FFF2-40B4-BE49-F238E27FC236}">
                    <a16:creationId xmlns:a16="http://schemas.microsoft.com/office/drawing/2014/main" id="{322FBA94-402D-412D-B6C3-F4E8DFB52032}"/>
                  </a:ext>
                </a:extLst>
              </p:cNvPr>
              <p:cNvSpPr txBox="1">
                <a:spLocks noRot="1" noChangeAspect="1" noMove="1" noResize="1" noEditPoints="1" noAdjustHandles="1" noChangeArrowheads="1" noChangeShapeType="1" noTextEdit="1"/>
              </p:cNvSpPr>
              <p:nvPr/>
            </p:nvSpPr>
            <p:spPr>
              <a:xfrm>
                <a:off x="4845465" y="5930303"/>
                <a:ext cx="660382" cy="300082"/>
              </a:xfrm>
              <a:prstGeom prst="rect">
                <a:avLst/>
              </a:prstGeom>
              <a:blipFill>
                <a:blip r:embed="rId6"/>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CE5B13D-06C9-4867-B8B1-495C26DD0645}"/>
                  </a:ext>
                </a:extLst>
              </p:cNvPr>
              <p:cNvSpPr txBox="1"/>
              <p:nvPr/>
            </p:nvSpPr>
            <p:spPr>
              <a:xfrm>
                <a:off x="6197187" y="5923952"/>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=4</m:t>
                      </m:r>
                    </m:oMath>
                  </m:oMathPara>
                </a14:m>
                <a:endParaRPr lang="en-GB" sz="1350" dirty="0">
                  <a:solidFill>
                    <a:prstClr val="black"/>
                  </a:solidFill>
                  <a:latin typeface="Calibri" panose="020F0502020204030204"/>
                  <a:ea typeface="+mn-ea"/>
                </a:endParaRPr>
              </a:p>
            </p:txBody>
          </p:sp>
        </mc:Choice>
        <mc:Fallback xmlns="">
          <p:sp>
            <p:nvSpPr>
              <p:cNvPr id="19" name="TextBox 18">
                <a:extLst>
                  <a:ext uri="{FF2B5EF4-FFF2-40B4-BE49-F238E27FC236}">
                    <a16:creationId xmlns:a16="http://schemas.microsoft.com/office/drawing/2014/main" id="{1CE5B13D-06C9-4867-B8B1-495C26DD0645}"/>
                  </a:ext>
                </a:extLst>
              </p:cNvPr>
              <p:cNvSpPr txBox="1">
                <a:spLocks noRot="1" noChangeAspect="1" noMove="1" noResize="1" noEditPoints="1" noAdjustHandles="1" noChangeArrowheads="1" noChangeShapeType="1" noTextEdit="1"/>
              </p:cNvSpPr>
              <p:nvPr/>
            </p:nvSpPr>
            <p:spPr>
              <a:xfrm>
                <a:off x="6197187" y="5923952"/>
                <a:ext cx="660382" cy="300082"/>
              </a:xfrm>
              <a:prstGeom prst="rect">
                <a:avLst/>
              </a:prstGeom>
              <a:blipFill>
                <a:blip r:embed="rId7"/>
                <a:stretch>
                  <a:fillRect/>
                </a:stretch>
              </a:blipFill>
              <a:ln>
                <a:noFill/>
              </a:ln>
            </p:spPr>
            <p:txBody>
              <a:bodyPr/>
              <a:lstStyle/>
              <a:p>
                <a:r>
                  <a:rPr lang="en-GB">
                    <a:noFill/>
                  </a:rPr>
                  <a:t> </a:t>
                </a:r>
              </a:p>
            </p:txBody>
          </p:sp>
        </mc:Fallback>
      </mc:AlternateContent>
      <p:sp>
        <p:nvSpPr>
          <p:cNvPr id="14" name="Rectangle 13">
            <a:extLst>
              <a:ext uri="{FF2B5EF4-FFF2-40B4-BE49-F238E27FC236}">
                <a16:creationId xmlns:a16="http://schemas.microsoft.com/office/drawing/2014/main" id="{B3F377C7-3BBC-4BF7-9A5D-0583D70C8381}"/>
              </a:ext>
            </a:extLst>
          </p:cNvPr>
          <p:cNvSpPr/>
          <p:nvPr/>
        </p:nvSpPr>
        <p:spPr>
          <a:xfrm>
            <a:off x="778798" y="4746321"/>
            <a:ext cx="644936" cy="64893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C0E22DE-942B-4ABC-A336-818F69F044C0}"/>
                  </a:ext>
                </a:extLst>
              </p:cNvPr>
              <p:cNvSpPr txBox="1"/>
              <p:nvPr/>
            </p:nvSpPr>
            <p:spPr>
              <a:xfrm>
                <a:off x="7548908" y="5930303"/>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=5</m:t>
                      </m:r>
                    </m:oMath>
                  </m:oMathPara>
                </a14:m>
                <a:endParaRPr lang="en-GB" sz="1350" dirty="0">
                  <a:solidFill>
                    <a:prstClr val="black"/>
                  </a:solidFill>
                  <a:latin typeface="Calibri" panose="020F0502020204030204"/>
                  <a:ea typeface="+mn-ea"/>
                </a:endParaRPr>
              </a:p>
            </p:txBody>
          </p:sp>
        </mc:Choice>
        <mc:Fallback xmlns="">
          <p:sp>
            <p:nvSpPr>
              <p:cNvPr id="21" name="TextBox 20">
                <a:extLst>
                  <a:ext uri="{FF2B5EF4-FFF2-40B4-BE49-F238E27FC236}">
                    <a16:creationId xmlns:a16="http://schemas.microsoft.com/office/drawing/2014/main" id="{1C0E22DE-942B-4ABC-A336-818F69F044C0}"/>
                  </a:ext>
                </a:extLst>
              </p:cNvPr>
              <p:cNvSpPr txBox="1">
                <a:spLocks noRot="1" noChangeAspect="1" noMove="1" noResize="1" noEditPoints="1" noAdjustHandles="1" noChangeArrowheads="1" noChangeShapeType="1" noTextEdit="1"/>
              </p:cNvSpPr>
              <p:nvPr/>
            </p:nvSpPr>
            <p:spPr>
              <a:xfrm>
                <a:off x="7548908" y="5930303"/>
                <a:ext cx="660382" cy="300082"/>
              </a:xfrm>
              <a:prstGeom prst="rect">
                <a:avLst/>
              </a:prstGeom>
              <a:blipFill>
                <a:blip r:embed="rId8"/>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92E8F1A-169B-4C59-8280-2C08B716F97D}"/>
                  </a:ext>
                </a:extLst>
              </p:cNvPr>
              <p:cNvSpPr txBox="1"/>
              <p:nvPr/>
            </p:nvSpPr>
            <p:spPr>
              <a:xfrm>
                <a:off x="762574" y="4920748"/>
                <a:ext cx="583571"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ea typeface="+mn-ea"/>
                        </a:rPr>
                        <m:t>£1,000</m:t>
                      </m:r>
                    </m:oMath>
                  </m:oMathPara>
                </a14:m>
                <a:endParaRPr lang="en-GB" sz="1500" dirty="0">
                  <a:latin typeface="Calibri" panose="020F0502020204030204"/>
                  <a:ea typeface="+mn-ea"/>
                </a:endParaRPr>
              </a:p>
            </p:txBody>
          </p:sp>
        </mc:Choice>
        <mc:Fallback xmlns="">
          <p:sp>
            <p:nvSpPr>
              <p:cNvPr id="20" name="TextBox 19">
                <a:extLst>
                  <a:ext uri="{FF2B5EF4-FFF2-40B4-BE49-F238E27FC236}">
                    <a16:creationId xmlns:a16="http://schemas.microsoft.com/office/drawing/2014/main" id="{F92E8F1A-169B-4C59-8280-2C08B716F97D}"/>
                  </a:ext>
                </a:extLst>
              </p:cNvPr>
              <p:cNvSpPr txBox="1">
                <a:spLocks noRot="1" noChangeAspect="1" noMove="1" noResize="1" noEditPoints="1" noAdjustHandles="1" noChangeArrowheads="1" noChangeShapeType="1" noTextEdit="1"/>
              </p:cNvSpPr>
              <p:nvPr/>
            </p:nvSpPr>
            <p:spPr>
              <a:xfrm>
                <a:off x="762574" y="4920748"/>
                <a:ext cx="583571" cy="323165"/>
              </a:xfrm>
              <a:prstGeom prst="rect">
                <a:avLst/>
              </a:prstGeom>
              <a:blipFill>
                <a:blip r:embed="rId9"/>
                <a:stretch>
                  <a:fillRect r="-21875"/>
                </a:stretch>
              </a:blipFill>
              <a:ln>
                <a:noFill/>
              </a:ln>
            </p:spPr>
            <p:txBody>
              <a:bodyPr/>
              <a:lstStyle/>
              <a:p>
                <a:r>
                  <a:rPr lang="en-GB">
                    <a:noFill/>
                  </a:rPr>
                  <a:t> </a:t>
                </a:r>
              </a:p>
            </p:txBody>
          </p:sp>
        </mc:Fallback>
      </mc:AlternateContent>
      <p:sp>
        <p:nvSpPr>
          <p:cNvPr id="27" name="Callout: Double Bent Line with Accent Bar 26">
            <a:extLst>
              <a:ext uri="{FF2B5EF4-FFF2-40B4-BE49-F238E27FC236}">
                <a16:creationId xmlns:a16="http://schemas.microsoft.com/office/drawing/2014/main" id="{80F703BF-7033-412F-A289-A5C1EFF84AFB}"/>
              </a:ext>
            </a:extLst>
          </p:cNvPr>
          <p:cNvSpPr/>
          <p:nvPr/>
        </p:nvSpPr>
        <p:spPr>
          <a:xfrm rot="16200000">
            <a:off x="877712" y="5876495"/>
            <a:ext cx="353294" cy="1043758"/>
          </a:xfrm>
          <a:prstGeom prst="accentCallout3">
            <a:avLst>
              <a:gd name="adj1" fmla="val 18750"/>
              <a:gd name="adj2" fmla="val -8333"/>
              <a:gd name="adj3" fmla="val 27253"/>
              <a:gd name="adj4" fmla="val -36367"/>
              <a:gd name="adj5" fmla="val 96356"/>
              <a:gd name="adj6" fmla="val -37352"/>
              <a:gd name="adj7" fmla="val 115420"/>
              <a:gd name="adj8" fmla="val -70151"/>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GB" dirty="0">
                <a:solidFill>
                  <a:schemeClr val="tx1"/>
                </a:solidFill>
              </a:rPr>
              <a:t>Principal</a:t>
            </a:r>
          </a:p>
        </p:txBody>
      </p:sp>
      <p:sp>
        <p:nvSpPr>
          <p:cNvPr id="28" name="Rectangle 27">
            <a:extLst>
              <a:ext uri="{FF2B5EF4-FFF2-40B4-BE49-F238E27FC236}">
                <a16:creationId xmlns:a16="http://schemas.microsoft.com/office/drawing/2014/main" id="{F661D6EF-2D6C-47BA-A674-8FEC256BF2E4}"/>
              </a:ext>
            </a:extLst>
          </p:cNvPr>
          <p:cNvSpPr/>
          <p:nvPr/>
        </p:nvSpPr>
        <p:spPr>
          <a:xfrm>
            <a:off x="2137516" y="4746321"/>
            <a:ext cx="644936" cy="64893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C716CCC-FC48-4E43-B252-32DE757A7BDC}"/>
                  </a:ext>
                </a:extLst>
              </p:cNvPr>
              <p:cNvSpPr txBox="1"/>
              <p:nvPr/>
            </p:nvSpPr>
            <p:spPr>
              <a:xfrm>
                <a:off x="2121292" y="4920748"/>
                <a:ext cx="583571"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ea typeface="+mn-ea"/>
                        </a:rPr>
                        <m:t>£1,000</m:t>
                      </m:r>
                    </m:oMath>
                  </m:oMathPara>
                </a14:m>
                <a:endParaRPr lang="en-GB" sz="1500" dirty="0">
                  <a:latin typeface="Calibri" panose="020F0502020204030204"/>
                  <a:ea typeface="+mn-ea"/>
                </a:endParaRPr>
              </a:p>
            </p:txBody>
          </p:sp>
        </mc:Choice>
        <mc:Fallback xmlns="">
          <p:sp>
            <p:nvSpPr>
              <p:cNvPr id="29" name="TextBox 28">
                <a:extLst>
                  <a:ext uri="{FF2B5EF4-FFF2-40B4-BE49-F238E27FC236}">
                    <a16:creationId xmlns:a16="http://schemas.microsoft.com/office/drawing/2014/main" id="{4C716CCC-FC48-4E43-B252-32DE757A7BDC}"/>
                  </a:ext>
                </a:extLst>
              </p:cNvPr>
              <p:cNvSpPr txBox="1">
                <a:spLocks noRot="1" noChangeAspect="1" noMove="1" noResize="1" noEditPoints="1" noAdjustHandles="1" noChangeArrowheads="1" noChangeShapeType="1" noTextEdit="1"/>
              </p:cNvSpPr>
              <p:nvPr/>
            </p:nvSpPr>
            <p:spPr>
              <a:xfrm>
                <a:off x="2121292" y="4920748"/>
                <a:ext cx="583571" cy="323165"/>
              </a:xfrm>
              <a:prstGeom prst="rect">
                <a:avLst/>
              </a:prstGeom>
              <a:blipFill>
                <a:blip r:embed="rId10"/>
                <a:stretch>
                  <a:fillRect r="-21875"/>
                </a:stretch>
              </a:blipFill>
              <a:ln>
                <a:noFill/>
              </a:ln>
            </p:spPr>
            <p:txBody>
              <a:bodyPr/>
              <a:lstStyle/>
              <a:p>
                <a:r>
                  <a:rPr lang="en-GB">
                    <a:noFill/>
                  </a:rPr>
                  <a:t> </a:t>
                </a:r>
              </a:p>
            </p:txBody>
          </p:sp>
        </mc:Fallback>
      </mc:AlternateContent>
      <p:sp>
        <p:nvSpPr>
          <p:cNvPr id="30" name="Flowchart: Connector 29">
            <a:extLst>
              <a:ext uri="{FF2B5EF4-FFF2-40B4-BE49-F238E27FC236}">
                <a16:creationId xmlns:a16="http://schemas.microsoft.com/office/drawing/2014/main" id="{8FACA88F-A6B5-4C1C-861D-7A6F7557D40D}"/>
              </a:ext>
            </a:extLst>
          </p:cNvPr>
          <p:cNvSpPr/>
          <p:nvPr/>
        </p:nvSpPr>
        <p:spPr>
          <a:xfrm>
            <a:off x="2268329" y="4294110"/>
            <a:ext cx="405000" cy="405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42805FD-0EB8-4D72-8BE2-D47C2013A8EC}"/>
                  </a:ext>
                </a:extLst>
              </p:cNvPr>
              <p:cNvSpPr txBox="1"/>
              <p:nvPr/>
            </p:nvSpPr>
            <p:spPr>
              <a:xfrm>
                <a:off x="2249143" y="4353616"/>
                <a:ext cx="3278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£50</m:t>
                      </m:r>
                    </m:oMath>
                  </m:oMathPara>
                </a14:m>
                <a:endParaRPr lang="en-GB" sz="1500" dirty="0">
                  <a:solidFill>
                    <a:schemeClr val="accent6">
                      <a:lumMod val="75000"/>
                    </a:schemeClr>
                  </a:solidFill>
                  <a:latin typeface="Calibri" panose="020F0502020204030204"/>
                  <a:ea typeface="+mn-ea"/>
                </a:endParaRPr>
              </a:p>
            </p:txBody>
          </p:sp>
        </mc:Choice>
        <mc:Fallback xmlns="">
          <p:sp>
            <p:nvSpPr>
              <p:cNvPr id="23" name="TextBox 22">
                <a:extLst>
                  <a:ext uri="{FF2B5EF4-FFF2-40B4-BE49-F238E27FC236}">
                    <a16:creationId xmlns:a16="http://schemas.microsoft.com/office/drawing/2014/main" id="{742805FD-0EB8-4D72-8BE2-D47C2013A8EC}"/>
                  </a:ext>
                </a:extLst>
              </p:cNvPr>
              <p:cNvSpPr txBox="1">
                <a:spLocks noRot="1" noChangeAspect="1" noMove="1" noResize="1" noEditPoints="1" noAdjustHandles="1" noChangeArrowheads="1" noChangeShapeType="1" noTextEdit="1"/>
              </p:cNvSpPr>
              <p:nvPr/>
            </p:nvSpPr>
            <p:spPr>
              <a:xfrm>
                <a:off x="2249143" y="4353616"/>
                <a:ext cx="327869" cy="323165"/>
              </a:xfrm>
              <a:prstGeom prst="rect">
                <a:avLst/>
              </a:prstGeom>
              <a:blipFill>
                <a:blip r:embed="rId11"/>
                <a:stretch>
                  <a:fillRect r="-40741"/>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Callout: Double Bent Line with Accent Bar 33">
                <a:extLst>
                  <a:ext uri="{FF2B5EF4-FFF2-40B4-BE49-F238E27FC236}">
                    <a16:creationId xmlns:a16="http://schemas.microsoft.com/office/drawing/2014/main" id="{99CD89BD-21F5-4142-987E-F02945CF6171}"/>
                  </a:ext>
                </a:extLst>
              </p:cNvPr>
              <p:cNvSpPr/>
              <p:nvPr/>
            </p:nvSpPr>
            <p:spPr>
              <a:xfrm rot="16200000">
                <a:off x="1426769" y="3546434"/>
                <a:ext cx="543911" cy="1003030"/>
              </a:xfrm>
              <a:prstGeom prst="accentCallout3">
                <a:avLst>
                  <a:gd name="adj1" fmla="val 18750"/>
                  <a:gd name="adj2" fmla="val -8333"/>
                  <a:gd name="adj3" fmla="val 27253"/>
                  <a:gd name="adj4" fmla="val -36367"/>
                  <a:gd name="adj5" fmla="val 96356"/>
                  <a:gd name="adj6" fmla="val -37352"/>
                  <a:gd name="adj7" fmla="val 108104"/>
                  <a:gd name="adj8" fmla="val -36898"/>
                </a:avLst>
              </a:prstGeom>
              <a:noFill/>
              <a:ln w="190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1,000</m:t>
                      </m:r>
                      <m:r>
                        <a:rPr lang="en-GB" b="0" i="1" smtClean="0">
                          <a:solidFill>
                            <a:schemeClr val="tx1"/>
                          </a:solidFill>
                          <a:latin typeface="Cambria Math" panose="02040503050406030204" pitchFamily="18" charset="0"/>
                          <a:ea typeface="Cambria Math" panose="02040503050406030204" pitchFamily="18" charset="0"/>
                        </a:rPr>
                        <m:t>×5%</m:t>
                      </m:r>
                    </m:oMath>
                  </m:oMathPara>
                </a14:m>
                <a:endParaRPr lang="en-GB" dirty="0">
                  <a:solidFill>
                    <a:schemeClr val="tx1"/>
                  </a:solidFill>
                </a:endParaRPr>
              </a:p>
            </p:txBody>
          </p:sp>
        </mc:Choice>
        <mc:Fallback xmlns="">
          <p:sp>
            <p:nvSpPr>
              <p:cNvPr id="34" name="Callout: Double Bent Line with Accent Bar 33">
                <a:extLst>
                  <a:ext uri="{FF2B5EF4-FFF2-40B4-BE49-F238E27FC236}">
                    <a16:creationId xmlns:a16="http://schemas.microsoft.com/office/drawing/2014/main" id="{99CD89BD-21F5-4142-987E-F02945CF6171}"/>
                  </a:ext>
                </a:extLst>
              </p:cNvPr>
              <p:cNvSpPr>
                <a:spLocks noRot="1" noChangeAspect="1" noMove="1" noResize="1" noEditPoints="1" noAdjustHandles="1" noChangeArrowheads="1" noChangeShapeType="1" noTextEdit="1"/>
              </p:cNvSpPr>
              <p:nvPr/>
            </p:nvSpPr>
            <p:spPr>
              <a:xfrm rot="16200000">
                <a:off x="1426769" y="3546434"/>
                <a:ext cx="543911" cy="1003030"/>
              </a:xfrm>
              <a:prstGeom prst="accentCallout3">
                <a:avLst>
                  <a:gd name="adj1" fmla="val 18750"/>
                  <a:gd name="adj2" fmla="val -8333"/>
                  <a:gd name="adj3" fmla="val 27253"/>
                  <a:gd name="adj4" fmla="val -36367"/>
                  <a:gd name="adj5" fmla="val 96356"/>
                  <a:gd name="adj6" fmla="val -37352"/>
                  <a:gd name="adj7" fmla="val 108104"/>
                  <a:gd name="adj8" fmla="val -36898"/>
                </a:avLst>
              </a:prstGeom>
              <a:blipFill>
                <a:blip r:embed="rId12"/>
                <a:stretch>
                  <a:fillRect t="-286667"/>
                </a:stretch>
              </a:blipFill>
              <a:ln w="19050">
                <a:solidFill>
                  <a:schemeClr val="accent6">
                    <a:lumMod val="60000"/>
                    <a:lumOff val="40000"/>
                  </a:schemeClr>
                </a:solidFill>
              </a:ln>
            </p:spPr>
            <p:txBody>
              <a:bodyPr/>
              <a:lstStyle/>
              <a:p>
                <a:r>
                  <a:rPr lang="en-GB">
                    <a:noFill/>
                  </a:rPr>
                  <a:t> </a:t>
                </a:r>
              </a:p>
            </p:txBody>
          </p:sp>
        </mc:Fallback>
      </mc:AlternateContent>
      <p:sp>
        <p:nvSpPr>
          <p:cNvPr id="35" name="Rectangle 34">
            <a:extLst>
              <a:ext uri="{FF2B5EF4-FFF2-40B4-BE49-F238E27FC236}">
                <a16:creationId xmlns:a16="http://schemas.microsoft.com/office/drawing/2014/main" id="{A06F1D8F-BE50-4029-A2A2-A7FC7DD97545}"/>
              </a:ext>
            </a:extLst>
          </p:cNvPr>
          <p:cNvSpPr/>
          <p:nvPr/>
        </p:nvSpPr>
        <p:spPr>
          <a:xfrm>
            <a:off x="3500774" y="4260750"/>
            <a:ext cx="644936" cy="1134509"/>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6" name="Flowchart: Connector 35">
            <a:extLst>
              <a:ext uri="{FF2B5EF4-FFF2-40B4-BE49-F238E27FC236}">
                <a16:creationId xmlns:a16="http://schemas.microsoft.com/office/drawing/2014/main" id="{64294E61-A371-4984-AA1F-8C2149EE740D}"/>
              </a:ext>
            </a:extLst>
          </p:cNvPr>
          <p:cNvSpPr/>
          <p:nvPr/>
        </p:nvSpPr>
        <p:spPr>
          <a:xfrm>
            <a:off x="3631587" y="4294110"/>
            <a:ext cx="405000" cy="405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22567083-ADB4-4251-83D7-FFD2E8DE7F41}"/>
                  </a:ext>
                </a:extLst>
              </p:cNvPr>
              <p:cNvSpPr txBox="1"/>
              <p:nvPr/>
            </p:nvSpPr>
            <p:spPr>
              <a:xfrm>
                <a:off x="3613166" y="4353616"/>
                <a:ext cx="2815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£50</m:t>
                      </m:r>
                    </m:oMath>
                  </m:oMathPara>
                </a14:m>
                <a:endParaRPr lang="en-GB" sz="1500" dirty="0">
                  <a:solidFill>
                    <a:schemeClr val="accent6">
                      <a:lumMod val="75000"/>
                    </a:schemeClr>
                  </a:solidFill>
                  <a:latin typeface="Calibri" panose="020F0502020204030204"/>
                  <a:ea typeface="+mn-ea"/>
                </a:endParaRPr>
              </a:p>
            </p:txBody>
          </p:sp>
        </mc:Choice>
        <mc:Fallback xmlns="">
          <p:sp>
            <p:nvSpPr>
              <p:cNvPr id="37" name="TextBox 36">
                <a:extLst>
                  <a:ext uri="{FF2B5EF4-FFF2-40B4-BE49-F238E27FC236}">
                    <a16:creationId xmlns:a16="http://schemas.microsoft.com/office/drawing/2014/main" id="{22567083-ADB4-4251-83D7-FFD2E8DE7F41}"/>
                  </a:ext>
                </a:extLst>
              </p:cNvPr>
              <p:cNvSpPr txBox="1">
                <a:spLocks noRot="1" noChangeAspect="1" noMove="1" noResize="1" noEditPoints="1" noAdjustHandles="1" noChangeArrowheads="1" noChangeShapeType="1" noTextEdit="1"/>
              </p:cNvSpPr>
              <p:nvPr/>
            </p:nvSpPr>
            <p:spPr>
              <a:xfrm>
                <a:off x="3613166" y="4353616"/>
                <a:ext cx="281569" cy="323165"/>
              </a:xfrm>
              <a:prstGeom prst="rect">
                <a:avLst/>
              </a:prstGeom>
              <a:blipFill>
                <a:blip r:embed="rId13"/>
                <a:stretch>
                  <a:fillRect r="-65217"/>
                </a:stretch>
              </a:blipFill>
              <a:ln>
                <a:noFill/>
              </a:ln>
            </p:spPr>
            <p:txBody>
              <a:bodyPr/>
              <a:lstStyle/>
              <a:p>
                <a:r>
                  <a:rPr lang="en-GB">
                    <a:noFill/>
                  </a:rPr>
                  <a:t> </a:t>
                </a:r>
              </a:p>
            </p:txBody>
          </p:sp>
        </mc:Fallback>
      </mc:AlternateContent>
      <p:sp>
        <p:nvSpPr>
          <p:cNvPr id="38" name="Rectangle 37">
            <a:extLst>
              <a:ext uri="{FF2B5EF4-FFF2-40B4-BE49-F238E27FC236}">
                <a16:creationId xmlns:a16="http://schemas.microsoft.com/office/drawing/2014/main" id="{BB5195E6-91AA-42CB-BEEE-4B685918F671}"/>
              </a:ext>
            </a:extLst>
          </p:cNvPr>
          <p:cNvSpPr/>
          <p:nvPr/>
        </p:nvSpPr>
        <p:spPr>
          <a:xfrm>
            <a:off x="4860910" y="3700441"/>
            <a:ext cx="644936" cy="169857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9" name="Flowchart: Connector 38">
            <a:extLst>
              <a:ext uri="{FF2B5EF4-FFF2-40B4-BE49-F238E27FC236}">
                <a16:creationId xmlns:a16="http://schemas.microsoft.com/office/drawing/2014/main" id="{C23ECBF0-9669-4BB6-97B0-BC31639D2D45}"/>
              </a:ext>
            </a:extLst>
          </p:cNvPr>
          <p:cNvSpPr/>
          <p:nvPr/>
        </p:nvSpPr>
        <p:spPr>
          <a:xfrm>
            <a:off x="4991723" y="4297866"/>
            <a:ext cx="405000" cy="405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920624C-1CA8-4388-9E65-663E31D21B02}"/>
                  </a:ext>
                </a:extLst>
              </p:cNvPr>
              <p:cNvSpPr txBox="1"/>
              <p:nvPr/>
            </p:nvSpPr>
            <p:spPr>
              <a:xfrm>
                <a:off x="4959286" y="4341259"/>
                <a:ext cx="3278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£50</m:t>
                      </m:r>
                    </m:oMath>
                  </m:oMathPara>
                </a14:m>
                <a:endParaRPr lang="en-GB" sz="1500" dirty="0">
                  <a:solidFill>
                    <a:schemeClr val="accent6">
                      <a:lumMod val="75000"/>
                    </a:schemeClr>
                  </a:solidFill>
                  <a:latin typeface="Calibri" panose="020F0502020204030204"/>
                  <a:ea typeface="+mn-ea"/>
                </a:endParaRPr>
              </a:p>
            </p:txBody>
          </p:sp>
        </mc:Choice>
        <mc:Fallback xmlns="">
          <p:sp>
            <p:nvSpPr>
              <p:cNvPr id="40" name="TextBox 39">
                <a:extLst>
                  <a:ext uri="{FF2B5EF4-FFF2-40B4-BE49-F238E27FC236}">
                    <a16:creationId xmlns:a16="http://schemas.microsoft.com/office/drawing/2014/main" id="{C920624C-1CA8-4388-9E65-663E31D21B02}"/>
                  </a:ext>
                </a:extLst>
              </p:cNvPr>
              <p:cNvSpPr txBox="1">
                <a:spLocks noRot="1" noChangeAspect="1" noMove="1" noResize="1" noEditPoints="1" noAdjustHandles="1" noChangeArrowheads="1" noChangeShapeType="1" noTextEdit="1"/>
              </p:cNvSpPr>
              <p:nvPr/>
            </p:nvSpPr>
            <p:spPr>
              <a:xfrm>
                <a:off x="4959286" y="4341259"/>
                <a:ext cx="327869" cy="323165"/>
              </a:xfrm>
              <a:prstGeom prst="rect">
                <a:avLst/>
              </a:prstGeom>
              <a:blipFill>
                <a:blip r:embed="rId14"/>
                <a:stretch>
                  <a:fillRect r="-43396"/>
                </a:stretch>
              </a:blipFill>
              <a:ln>
                <a:noFill/>
              </a:ln>
            </p:spPr>
            <p:txBody>
              <a:bodyPr/>
              <a:lstStyle/>
              <a:p>
                <a:r>
                  <a:rPr lang="en-GB">
                    <a:noFill/>
                  </a:rPr>
                  <a:t> </a:t>
                </a:r>
              </a:p>
            </p:txBody>
          </p:sp>
        </mc:Fallback>
      </mc:AlternateContent>
      <p:sp>
        <p:nvSpPr>
          <p:cNvPr id="41" name="Rectangle 40">
            <a:extLst>
              <a:ext uri="{FF2B5EF4-FFF2-40B4-BE49-F238E27FC236}">
                <a16:creationId xmlns:a16="http://schemas.microsoft.com/office/drawing/2014/main" id="{721FAD92-B8B8-446D-ABE6-6E33AC56674A}"/>
              </a:ext>
            </a:extLst>
          </p:cNvPr>
          <p:cNvSpPr/>
          <p:nvPr/>
        </p:nvSpPr>
        <p:spPr>
          <a:xfrm>
            <a:off x="6207751" y="3106931"/>
            <a:ext cx="644936" cy="2277742"/>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2" name="Flowchart: Connector 41">
            <a:extLst>
              <a:ext uri="{FF2B5EF4-FFF2-40B4-BE49-F238E27FC236}">
                <a16:creationId xmlns:a16="http://schemas.microsoft.com/office/drawing/2014/main" id="{7B37BCC2-0BB0-43E2-A597-7D2C3139BAFD}"/>
              </a:ext>
            </a:extLst>
          </p:cNvPr>
          <p:cNvSpPr/>
          <p:nvPr/>
        </p:nvSpPr>
        <p:spPr>
          <a:xfrm>
            <a:off x="6338564" y="4283524"/>
            <a:ext cx="405000" cy="405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C0BE375-64E3-4E21-9868-AA1EFE4C6C02}"/>
                  </a:ext>
                </a:extLst>
              </p:cNvPr>
              <p:cNvSpPr txBox="1"/>
              <p:nvPr/>
            </p:nvSpPr>
            <p:spPr>
              <a:xfrm>
                <a:off x="6313410" y="4343559"/>
                <a:ext cx="3278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£50</m:t>
                      </m:r>
                    </m:oMath>
                  </m:oMathPara>
                </a14:m>
                <a:endParaRPr lang="en-GB" sz="1500" dirty="0">
                  <a:solidFill>
                    <a:schemeClr val="accent6">
                      <a:lumMod val="75000"/>
                    </a:schemeClr>
                  </a:solidFill>
                  <a:latin typeface="Calibri" panose="020F0502020204030204"/>
                  <a:ea typeface="+mn-ea"/>
                </a:endParaRPr>
              </a:p>
            </p:txBody>
          </p:sp>
        </mc:Choice>
        <mc:Fallback xmlns="">
          <p:sp>
            <p:nvSpPr>
              <p:cNvPr id="43" name="TextBox 42">
                <a:extLst>
                  <a:ext uri="{FF2B5EF4-FFF2-40B4-BE49-F238E27FC236}">
                    <a16:creationId xmlns:a16="http://schemas.microsoft.com/office/drawing/2014/main" id="{2C0BE375-64E3-4E21-9868-AA1EFE4C6C02}"/>
                  </a:ext>
                </a:extLst>
              </p:cNvPr>
              <p:cNvSpPr txBox="1">
                <a:spLocks noRot="1" noChangeAspect="1" noMove="1" noResize="1" noEditPoints="1" noAdjustHandles="1" noChangeArrowheads="1" noChangeShapeType="1" noTextEdit="1"/>
              </p:cNvSpPr>
              <p:nvPr/>
            </p:nvSpPr>
            <p:spPr>
              <a:xfrm>
                <a:off x="6313410" y="4343559"/>
                <a:ext cx="327869" cy="323165"/>
              </a:xfrm>
              <a:prstGeom prst="rect">
                <a:avLst/>
              </a:prstGeom>
              <a:blipFill>
                <a:blip r:embed="rId15"/>
                <a:stretch>
                  <a:fillRect r="-43396"/>
                </a:stretch>
              </a:blipFill>
              <a:ln>
                <a:noFill/>
              </a:ln>
            </p:spPr>
            <p:txBody>
              <a:bodyPr/>
              <a:lstStyle/>
              <a:p>
                <a:r>
                  <a:rPr lang="en-GB">
                    <a:noFill/>
                  </a:rPr>
                  <a:t> </a:t>
                </a:r>
              </a:p>
            </p:txBody>
          </p:sp>
        </mc:Fallback>
      </mc:AlternateContent>
      <p:sp>
        <p:nvSpPr>
          <p:cNvPr id="44" name="Rectangle 43">
            <a:extLst>
              <a:ext uri="{FF2B5EF4-FFF2-40B4-BE49-F238E27FC236}">
                <a16:creationId xmlns:a16="http://schemas.microsoft.com/office/drawing/2014/main" id="{C5E05F6B-3321-40C4-9576-4ED23CE42D0F}"/>
              </a:ext>
            </a:extLst>
          </p:cNvPr>
          <p:cNvSpPr/>
          <p:nvPr/>
        </p:nvSpPr>
        <p:spPr>
          <a:xfrm>
            <a:off x="7564354" y="2423130"/>
            <a:ext cx="644936" cy="295906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5" name="Flowchart: Connector 44">
            <a:extLst>
              <a:ext uri="{FF2B5EF4-FFF2-40B4-BE49-F238E27FC236}">
                <a16:creationId xmlns:a16="http://schemas.microsoft.com/office/drawing/2014/main" id="{FDAB1F8C-2D6F-4739-A9F4-90B33DBBEEAD}"/>
              </a:ext>
            </a:extLst>
          </p:cNvPr>
          <p:cNvSpPr/>
          <p:nvPr/>
        </p:nvSpPr>
        <p:spPr>
          <a:xfrm>
            <a:off x="7695167" y="4281048"/>
            <a:ext cx="405000" cy="405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1C6DE69-95BC-4BF4-B2BD-68E3F39593FE}"/>
                  </a:ext>
                </a:extLst>
              </p:cNvPr>
              <p:cNvSpPr txBox="1"/>
              <p:nvPr/>
            </p:nvSpPr>
            <p:spPr>
              <a:xfrm>
                <a:off x="7675384" y="4341259"/>
                <a:ext cx="3278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£50</m:t>
                      </m:r>
                    </m:oMath>
                  </m:oMathPara>
                </a14:m>
                <a:endParaRPr lang="en-GB" sz="1500" dirty="0">
                  <a:solidFill>
                    <a:schemeClr val="accent6">
                      <a:lumMod val="75000"/>
                    </a:schemeClr>
                  </a:solidFill>
                  <a:latin typeface="Calibri" panose="020F0502020204030204"/>
                  <a:ea typeface="+mn-ea"/>
                </a:endParaRPr>
              </a:p>
            </p:txBody>
          </p:sp>
        </mc:Choice>
        <mc:Fallback xmlns="">
          <p:sp>
            <p:nvSpPr>
              <p:cNvPr id="46" name="TextBox 45">
                <a:extLst>
                  <a:ext uri="{FF2B5EF4-FFF2-40B4-BE49-F238E27FC236}">
                    <a16:creationId xmlns:a16="http://schemas.microsoft.com/office/drawing/2014/main" id="{D1C6DE69-95BC-4BF4-B2BD-68E3F39593FE}"/>
                  </a:ext>
                </a:extLst>
              </p:cNvPr>
              <p:cNvSpPr txBox="1">
                <a:spLocks noRot="1" noChangeAspect="1" noMove="1" noResize="1" noEditPoints="1" noAdjustHandles="1" noChangeArrowheads="1" noChangeShapeType="1" noTextEdit="1"/>
              </p:cNvSpPr>
              <p:nvPr/>
            </p:nvSpPr>
            <p:spPr>
              <a:xfrm>
                <a:off x="7675384" y="4341259"/>
                <a:ext cx="327869" cy="323165"/>
              </a:xfrm>
              <a:prstGeom prst="rect">
                <a:avLst/>
              </a:prstGeom>
              <a:blipFill>
                <a:blip r:embed="rId16"/>
                <a:stretch>
                  <a:fillRect r="-42593"/>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DDFC15CC-397F-4D43-89A0-307CC42A1C90}"/>
                  </a:ext>
                </a:extLst>
              </p:cNvPr>
              <p:cNvSpPr txBox="1"/>
              <p:nvPr/>
            </p:nvSpPr>
            <p:spPr>
              <a:xfrm>
                <a:off x="3493051" y="4920748"/>
                <a:ext cx="583571"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ea typeface="+mn-ea"/>
                        </a:rPr>
                        <m:t>£1,000</m:t>
                      </m:r>
                    </m:oMath>
                  </m:oMathPara>
                </a14:m>
                <a:endParaRPr lang="en-GB" sz="1500" dirty="0">
                  <a:latin typeface="Calibri" panose="020F0502020204030204"/>
                  <a:ea typeface="+mn-ea"/>
                </a:endParaRPr>
              </a:p>
            </p:txBody>
          </p:sp>
        </mc:Choice>
        <mc:Fallback xmlns="">
          <p:sp>
            <p:nvSpPr>
              <p:cNvPr id="47" name="TextBox 46">
                <a:extLst>
                  <a:ext uri="{FF2B5EF4-FFF2-40B4-BE49-F238E27FC236}">
                    <a16:creationId xmlns:a16="http://schemas.microsoft.com/office/drawing/2014/main" id="{DDFC15CC-397F-4D43-89A0-307CC42A1C90}"/>
                  </a:ext>
                </a:extLst>
              </p:cNvPr>
              <p:cNvSpPr txBox="1">
                <a:spLocks noRot="1" noChangeAspect="1" noMove="1" noResize="1" noEditPoints="1" noAdjustHandles="1" noChangeArrowheads="1" noChangeShapeType="1" noTextEdit="1"/>
              </p:cNvSpPr>
              <p:nvPr/>
            </p:nvSpPr>
            <p:spPr>
              <a:xfrm>
                <a:off x="3493051" y="4920748"/>
                <a:ext cx="583571" cy="323165"/>
              </a:xfrm>
              <a:prstGeom prst="rect">
                <a:avLst/>
              </a:prstGeom>
              <a:blipFill>
                <a:blip r:embed="rId17"/>
                <a:stretch>
                  <a:fillRect r="-21875"/>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BBAB1EB1-99CA-4653-84FD-00EC9368D91A}"/>
                  </a:ext>
                </a:extLst>
              </p:cNvPr>
              <p:cNvSpPr txBox="1"/>
              <p:nvPr/>
            </p:nvSpPr>
            <p:spPr>
              <a:xfrm>
                <a:off x="4837165" y="4922938"/>
                <a:ext cx="583571"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ea typeface="+mn-ea"/>
                        </a:rPr>
                        <m:t>£1,000</m:t>
                      </m:r>
                    </m:oMath>
                  </m:oMathPara>
                </a14:m>
                <a:endParaRPr lang="en-GB" sz="1500" dirty="0">
                  <a:latin typeface="Calibri" panose="020F0502020204030204"/>
                  <a:ea typeface="+mn-ea"/>
                </a:endParaRPr>
              </a:p>
            </p:txBody>
          </p:sp>
        </mc:Choice>
        <mc:Fallback xmlns="">
          <p:sp>
            <p:nvSpPr>
              <p:cNvPr id="48" name="TextBox 47">
                <a:extLst>
                  <a:ext uri="{FF2B5EF4-FFF2-40B4-BE49-F238E27FC236}">
                    <a16:creationId xmlns:a16="http://schemas.microsoft.com/office/drawing/2014/main" id="{BBAB1EB1-99CA-4653-84FD-00EC9368D91A}"/>
                  </a:ext>
                </a:extLst>
              </p:cNvPr>
              <p:cNvSpPr txBox="1">
                <a:spLocks noRot="1" noChangeAspect="1" noMove="1" noResize="1" noEditPoints="1" noAdjustHandles="1" noChangeArrowheads="1" noChangeShapeType="1" noTextEdit="1"/>
              </p:cNvSpPr>
              <p:nvPr/>
            </p:nvSpPr>
            <p:spPr>
              <a:xfrm>
                <a:off x="4837165" y="4922938"/>
                <a:ext cx="583571" cy="323165"/>
              </a:xfrm>
              <a:prstGeom prst="rect">
                <a:avLst/>
              </a:prstGeom>
              <a:blipFill>
                <a:blip r:embed="rId18"/>
                <a:stretch>
                  <a:fillRect r="-21875"/>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EE520EA2-FB4F-404B-802B-4D3EACE83288}"/>
                  </a:ext>
                </a:extLst>
              </p:cNvPr>
              <p:cNvSpPr txBox="1"/>
              <p:nvPr/>
            </p:nvSpPr>
            <p:spPr>
              <a:xfrm>
                <a:off x="6179670" y="4920748"/>
                <a:ext cx="583571"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ea typeface="+mn-ea"/>
                        </a:rPr>
                        <m:t>£1,000</m:t>
                      </m:r>
                    </m:oMath>
                  </m:oMathPara>
                </a14:m>
                <a:endParaRPr lang="en-GB" sz="1500" dirty="0">
                  <a:latin typeface="Calibri" panose="020F0502020204030204"/>
                  <a:ea typeface="+mn-ea"/>
                </a:endParaRPr>
              </a:p>
            </p:txBody>
          </p:sp>
        </mc:Choice>
        <mc:Fallback xmlns="">
          <p:sp>
            <p:nvSpPr>
              <p:cNvPr id="49" name="TextBox 48">
                <a:extLst>
                  <a:ext uri="{FF2B5EF4-FFF2-40B4-BE49-F238E27FC236}">
                    <a16:creationId xmlns:a16="http://schemas.microsoft.com/office/drawing/2014/main" id="{EE520EA2-FB4F-404B-802B-4D3EACE83288}"/>
                  </a:ext>
                </a:extLst>
              </p:cNvPr>
              <p:cNvSpPr txBox="1">
                <a:spLocks noRot="1" noChangeAspect="1" noMove="1" noResize="1" noEditPoints="1" noAdjustHandles="1" noChangeArrowheads="1" noChangeShapeType="1" noTextEdit="1"/>
              </p:cNvSpPr>
              <p:nvPr/>
            </p:nvSpPr>
            <p:spPr>
              <a:xfrm>
                <a:off x="6179670" y="4920748"/>
                <a:ext cx="583571" cy="323165"/>
              </a:xfrm>
              <a:prstGeom prst="rect">
                <a:avLst/>
              </a:prstGeom>
              <a:blipFill>
                <a:blip r:embed="rId19"/>
                <a:stretch>
                  <a:fillRect r="-23158"/>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A5CD27D9-0B49-4923-8A81-E3061433AEC1}"/>
                  </a:ext>
                </a:extLst>
              </p:cNvPr>
              <p:cNvSpPr txBox="1"/>
              <p:nvPr/>
            </p:nvSpPr>
            <p:spPr>
              <a:xfrm>
                <a:off x="7548907" y="4920489"/>
                <a:ext cx="583571"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ea typeface="+mn-ea"/>
                        </a:rPr>
                        <m:t>£1,000</m:t>
                      </m:r>
                    </m:oMath>
                  </m:oMathPara>
                </a14:m>
                <a:endParaRPr lang="en-GB" sz="1500" dirty="0">
                  <a:latin typeface="Calibri" panose="020F0502020204030204"/>
                  <a:ea typeface="+mn-ea"/>
                </a:endParaRPr>
              </a:p>
            </p:txBody>
          </p:sp>
        </mc:Choice>
        <mc:Fallback xmlns="">
          <p:sp>
            <p:nvSpPr>
              <p:cNvPr id="50" name="TextBox 49">
                <a:extLst>
                  <a:ext uri="{FF2B5EF4-FFF2-40B4-BE49-F238E27FC236}">
                    <a16:creationId xmlns:a16="http://schemas.microsoft.com/office/drawing/2014/main" id="{A5CD27D9-0B49-4923-8A81-E3061433AEC1}"/>
                  </a:ext>
                </a:extLst>
              </p:cNvPr>
              <p:cNvSpPr txBox="1">
                <a:spLocks noRot="1" noChangeAspect="1" noMove="1" noResize="1" noEditPoints="1" noAdjustHandles="1" noChangeArrowheads="1" noChangeShapeType="1" noTextEdit="1"/>
              </p:cNvSpPr>
              <p:nvPr/>
            </p:nvSpPr>
            <p:spPr>
              <a:xfrm>
                <a:off x="7548907" y="4920489"/>
                <a:ext cx="583571" cy="323165"/>
              </a:xfrm>
              <a:prstGeom prst="rect">
                <a:avLst/>
              </a:prstGeom>
              <a:blipFill>
                <a:blip r:embed="rId20"/>
                <a:stretch>
                  <a:fillRect r="-21875"/>
                </a:stretch>
              </a:blipFill>
              <a:ln>
                <a:noFill/>
              </a:ln>
            </p:spPr>
            <p:txBody>
              <a:bodyPr/>
              <a:lstStyle/>
              <a:p>
                <a:r>
                  <a:rPr lang="en-GB">
                    <a:noFill/>
                  </a:rPr>
                  <a:t> </a:t>
                </a:r>
              </a:p>
            </p:txBody>
          </p:sp>
        </mc:Fallback>
      </mc:AlternateContent>
      <p:sp>
        <p:nvSpPr>
          <p:cNvPr id="51" name="Flowchart: Connector 50">
            <a:extLst>
              <a:ext uri="{FF2B5EF4-FFF2-40B4-BE49-F238E27FC236}">
                <a16:creationId xmlns:a16="http://schemas.microsoft.com/office/drawing/2014/main" id="{41B752E5-4FEB-44F1-BC88-9495C5750888}"/>
              </a:ext>
            </a:extLst>
          </p:cNvPr>
          <p:cNvSpPr/>
          <p:nvPr/>
        </p:nvSpPr>
        <p:spPr>
          <a:xfrm>
            <a:off x="3599875" y="3746554"/>
            <a:ext cx="486000" cy="486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FE8EAC75-2DAE-4DD8-947E-9D1DEF5D193F}"/>
                  </a:ext>
                </a:extLst>
              </p:cNvPr>
              <p:cNvSpPr txBox="1"/>
              <p:nvPr/>
            </p:nvSpPr>
            <p:spPr>
              <a:xfrm>
                <a:off x="3542189" y="3827419"/>
                <a:ext cx="548927"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£52.5</m:t>
                      </m:r>
                    </m:oMath>
                  </m:oMathPara>
                </a14:m>
                <a:endParaRPr lang="en-GB" sz="1500" dirty="0">
                  <a:solidFill>
                    <a:schemeClr val="accent6">
                      <a:lumMod val="75000"/>
                    </a:schemeClr>
                  </a:solidFill>
                  <a:latin typeface="Calibri" panose="020F0502020204030204"/>
                  <a:ea typeface="+mn-ea"/>
                </a:endParaRPr>
              </a:p>
            </p:txBody>
          </p:sp>
        </mc:Choice>
        <mc:Fallback xmlns="">
          <p:sp>
            <p:nvSpPr>
              <p:cNvPr id="52" name="TextBox 51">
                <a:extLst>
                  <a:ext uri="{FF2B5EF4-FFF2-40B4-BE49-F238E27FC236}">
                    <a16:creationId xmlns:a16="http://schemas.microsoft.com/office/drawing/2014/main" id="{FE8EAC75-2DAE-4DD8-947E-9D1DEF5D193F}"/>
                  </a:ext>
                </a:extLst>
              </p:cNvPr>
              <p:cNvSpPr txBox="1">
                <a:spLocks noRot="1" noChangeAspect="1" noMove="1" noResize="1" noEditPoints="1" noAdjustHandles="1" noChangeArrowheads="1" noChangeShapeType="1" noTextEdit="1"/>
              </p:cNvSpPr>
              <p:nvPr/>
            </p:nvSpPr>
            <p:spPr>
              <a:xfrm>
                <a:off x="3542189" y="3827419"/>
                <a:ext cx="548927" cy="323165"/>
              </a:xfrm>
              <a:prstGeom prst="rect">
                <a:avLst/>
              </a:prstGeom>
              <a:blipFill>
                <a:blip r:embed="rId21"/>
                <a:stretch>
                  <a:fillRect r="-12222"/>
                </a:stretch>
              </a:blipFill>
              <a:ln>
                <a:noFill/>
              </a:ln>
            </p:spPr>
            <p:txBody>
              <a:bodyPr/>
              <a:lstStyle/>
              <a:p>
                <a:r>
                  <a:rPr lang="en-GB">
                    <a:noFill/>
                  </a:rPr>
                  <a:t> </a:t>
                </a:r>
              </a:p>
            </p:txBody>
          </p:sp>
        </mc:Fallback>
      </mc:AlternateContent>
      <p:sp>
        <p:nvSpPr>
          <p:cNvPr id="57" name="Flowchart: Connector 56">
            <a:extLst>
              <a:ext uri="{FF2B5EF4-FFF2-40B4-BE49-F238E27FC236}">
                <a16:creationId xmlns:a16="http://schemas.microsoft.com/office/drawing/2014/main" id="{7AB3EE27-E0F6-453F-A0BB-858AF8B2D8DB}"/>
              </a:ext>
            </a:extLst>
          </p:cNvPr>
          <p:cNvSpPr/>
          <p:nvPr/>
        </p:nvSpPr>
        <p:spPr>
          <a:xfrm>
            <a:off x="4957416" y="3751839"/>
            <a:ext cx="459000" cy="459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84C4678D-574A-4DF4-8641-5D3C3B74FD80}"/>
                  </a:ext>
                </a:extLst>
              </p:cNvPr>
              <p:cNvSpPr txBox="1"/>
              <p:nvPr/>
            </p:nvSpPr>
            <p:spPr>
              <a:xfrm>
                <a:off x="4894989" y="3838041"/>
                <a:ext cx="2815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£52.5</m:t>
                      </m:r>
                    </m:oMath>
                  </m:oMathPara>
                </a14:m>
                <a:endParaRPr lang="en-GB" sz="1500" dirty="0">
                  <a:solidFill>
                    <a:schemeClr val="accent6">
                      <a:lumMod val="75000"/>
                    </a:schemeClr>
                  </a:solidFill>
                  <a:latin typeface="Calibri" panose="020F0502020204030204"/>
                  <a:ea typeface="+mn-ea"/>
                </a:endParaRPr>
              </a:p>
            </p:txBody>
          </p:sp>
        </mc:Choice>
        <mc:Fallback xmlns="">
          <p:sp>
            <p:nvSpPr>
              <p:cNvPr id="58" name="TextBox 57">
                <a:extLst>
                  <a:ext uri="{FF2B5EF4-FFF2-40B4-BE49-F238E27FC236}">
                    <a16:creationId xmlns:a16="http://schemas.microsoft.com/office/drawing/2014/main" id="{84C4678D-574A-4DF4-8641-5D3C3B74FD80}"/>
                  </a:ext>
                </a:extLst>
              </p:cNvPr>
              <p:cNvSpPr txBox="1">
                <a:spLocks noRot="1" noChangeAspect="1" noMove="1" noResize="1" noEditPoints="1" noAdjustHandles="1" noChangeArrowheads="1" noChangeShapeType="1" noTextEdit="1"/>
              </p:cNvSpPr>
              <p:nvPr/>
            </p:nvSpPr>
            <p:spPr>
              <a:xfrm>
                <a:off x="4894989" y="3838041"/>
                <a:ext cx="281569" cy="323165"/>
              </a:xfrm>
              <a:prstGeom prst="rect">
                <a:avLst/>
              </a:prstGeom>
              <a:blipFill>
                <a:blip r:embed="rId22"/>
                <a:stretch>
                  <a:fillRect r="-117391"/>
                </a:stretch>
              </a:blipFill>
              <a:ln>
                <a:noFill/>
              </a:ln>
            </p:spPr>
            <p:txBody>
              <a:bodyPr/>
              <a:lstStyle/>
              <a:p>
                <a:r>
                  <a:rPr lang="en-GB">
                    <a:noFill/>
                  </a:rPr>
                  <a:t> </a:t>
                </a:r>
              </a:p>
            </p:txBody>
          </p:sp>
        </mc:Fallback>
      </mc:AlternateContent>
      <p:sp>
        <p:nvSpPr>
          <p:cNvPr id="59" name="Flowchart: Connector 58">
            <a:extLst>
              <a:ext uri="{FF2B5EF4-FFF2-40B4-BE49-F238E27FC236}">
                <a16:creationId xmlns:a16="http://schemas.microsoft.com/office/drawing/2014/main" id="{F525AEFC-798F-4157-A83C-1C4CD4F1B163}"/>
              </a:ext>
            </a:extLst>
          </p:cNvPr>
          <p:cNvSpPr/>
          <p:nvPr/>
        </p:nvSpPr>
        <p:spPr>
          <a:xfrm>
            <a:off x="4905655" y="3150315"/>
            <a:ext cx="540000" cy="540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121418BD-00F0-4C53-BE2C-EA9B9A4DB516}"/>
                  </a:ext>
                </a:extLst>
              </p:cNvPr>
              <p:cNvSpPr txBox="1"/>
              <p:nvPr/>
            </p:nvSpPr>
            <p:spPr>
              <a:xfrm>
                <a:off x="4829929" y="3270527"/>
                <a:ext cx="583571"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£55.13</m:t>
                      </m:r>
                    </m:oMath>
                  </m:oMathPara>
                </a14:m>
                <a:endParaRPr lang="en-GB" sz="1500" dirty="0">
                  <a:solidFill>
                    <a:schemeClr val="accent6">
                      <a:lumMod val="75000"/>
                    </a:schemeClr>
                  </a:solidFill>
                  <a:latin typeface="Calibri" panose="020F0502020204030204"/>
                  <a:ea typeface="+mn-ea"/>
                </a:endParaRPr>
              </a:p>
            </p:txBody>
          </p:sp>
        </mc:Choice>
        <mc:Fallback xmlns="">
          <p:sp>
            <p:nvSpPr>
              <p:cNvPr id="60" name="TextBox 59">
                <a:extLst>
                  <a:ext uri="{FF2B5EF4-FFF2-40B4-BE49-F238E27FC236}">
                    <a16:creationId xmlns:a16="http://schemas.microsoft.com/office/drawing/2014/main" id="{121418BD-00F0-4C53-BE2C-EA9B9A4DB516}"/>
                  </a:ext>
                </a:extLst>
              </p:cNvPr>
              <p:cNvSpPr txBox="1">
                <a:spLocks noRot="1" noChangeAspect="1" noMove="1" noResize="1" noEditPoints="1" noAdjustHandles="1" noChangeArrowheads="1" noChangeShapeType="1" noTextEdit="1"/>
              </p:cNvSpPr>
              <p:nvPr/>
            </p:nvSpPr>
            <p:spPr>
              <a:xfrm>
                <a:off x="4829929" y="3270527"/>
                <a:ext cx="583571" cy="323165"/>
              </a:xfrm>
              <a:prstGeom prst="rect">
                <a:avLst/>
              </a:prstGeom>
              <a:blipFill>
                <a:blip r:embed="rId23"/>
                <a:stretch>
                  <a:fillRect r="-21875"/>
                </a:stretch>
              </a:blipFill>
              <a:ln>
                <a:noFill/>
              </a:ln>
            </p:spPr>
            <p:txBody>
              <a:bodyPr/>
              <a:lstStyle/>
              <a:p>
                <a:r>
                  <a:rPr lang="en-GB">
                    <a:noFill/>
                  </a:rPr>
                  <a:t> </a:t>
                </a:r>
              </a:p>
            </p:txBody>
          </p:sp>
        </mc:Fallback>
      </mc:AlternateContent>
      <p:sp>
        <p:nvSpPr>
          <p:cNvPr id="61" name="Flowchart: Connector 60">
            <a:extLst>
              <a:ext uri="{FF2B5EF4-FFF2-40B4-BE49-F238E27FC236}">
                <a16:creationId xmlns:a16="http://schemas.microsoft.com/office/drawing/2014/main" id="{1EBF0DFF-9FD0-4CEA-BAC3-F040B99A25DF}"/>
              </a:ext>
            </a:extLst>
          </p:cNvPr>
          <p:cNvSpPr/>
          <p:nvPr/>
        </p:nvSpPr>
        <p:spPr>
          <a:xfrm>
            <a:off x="6324468" y="3750987"/>
            <a:ext cx="459000" cy="459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692F8C8-8338-4E74-BAE0-6A23B8F5560B}"/>
                  </a:ext>
                </a:extLst>
              </p:cNvPr>
              <p:cNvSpPr txBox="1"/>
              <p:nvPr/>
            </p:nvSpPr>
            <p:spPr>
              <a:xfrm>
                <a:off x="6255587" y="3825567"/>
                <a:ext cx="54260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£52.5</m:t>
                      </m:r>
                    </m:oMath>
                  </m:oMathPara>
                </a14:m>
                <a:endParaRPr lang="en-GB" sz="1500" dirty="0">
                  <a:solidFill>
                    <a:schemeClr val="accent6">
                      <a:lumMod val="75000"/>
                    </a:schemeClr>
                  </a:solidFill>
                  <a:latin typeface="Calibri" panose="020F0502020204030204"/>
                  <a:ea typeface="+mn-ea"/>
                </a:endParaRPr>
              </a:p>
            </p:txBody>
          </p:sp>
        </mc:Choice>
        <mc:Fallback xmlns="">
          <p:sp>
            <p:nvSpPr>
              <p:cNvPr id="62" name="TextBox 61">
                <a:extLst>
                  <a:ext uri="{FF2B5EF4-FFF2-40B4-BE49-F238E27FC236}">
                    <a16:creationId xmlns:a16="http://schemas.microsoft.com/office/drawing/2014/main" id="{6692F8C8-8338-4E74-BAE0-6A23B8F5560B}"/>
                  </a:ext>
                </a:extLst>
              </p:cNvPr>
              <p:cNvSpPr txBox="1">
                <a:spLocks noRot="1" noChangeAspect="1" noMove="1" noResize="1" noEditPoints="1" noAdjustHandles="1" noChangeArrowheads="1" noChangeShapeType="1" noTextEdit="1"/>
              </p:cNvSpPr>
              <p:nvPr/>
            </p:nvSpPr>
            <p:spPr>
              <a:xfrm>
                <a:off x="6255587" y="3825567"/>
                <a:ext cx="542609" cy="323165"/>
              </a:xfrm>
              <a:prstGeom prst="rect">
                <a:avLst/>
              </a:prstGeom>
              <a:blipFill>
                <a:blip r:embed="rId24"/>
                <a:stretch>
                  <a:fillRect r="-13483"/>
                </a:stretch>
              </a:blipFill>
              <a:ln>
                <a:noFill/>
              </a:ln>
            </p:spPr>
            <p:txBody>
              <a:bodyPr/>
              <a:lstStyle/>
              <a:p>
                <a:r>
                  <a:rPr lang="en-GB">
                    <a:noFill/>
                  </a:rPr>
                  <a:t> </a:t>
                </a:r>
              </a:p>
            </p:txBody>
          </p:sp>
        </mc:Fallback>
      </mc:AlternateContent>
      <p:sp>
        <p:nvSpPr>
          <p:cNvPr id="63" name="Flowchart: Connector 62">
            <a:extLst>
              <a:ext uri="{FF2B5EF4-FFF2-40B4-BE49-F238E27FC236}">
                <a16:creationId xmlns:a16="http://schemas.microsoft.com/office/drawing/2014/main" id="{5D2CFCF2-C5D5-4E1D-8899-4BCE374764EF}"/>
              </a:ext>
            </a:extLst>
          </p:cNvPr>
          <p:cNvSpPr/>
          <p:nvPr/>
        </p:nvSpPr>
        <p:spPr>
          <a:xfrm>
            <a:off x="6261661" y="3150315"/>
            <a:ext cx="540000" cy="540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4" name="Flowchart: Connector 63">
            <a:extLst>
              <a:ext uri="{FF2B5EF4-FFF2-40B4-BE49-F238E27FC236}">
                <a16:creationId xmlns:a16="http://schemas.microsoft.com/office/drawing/2014/main" id="{E3AC82D4-BCF9-4D8F-A0E1-2964DFCD6704}"/>
              </a:ext>
            </a:extLst>
          </p:cNvPr>
          <p:cNvSpPr/>
          <p:nvPr/>
        </p:nvSpPr>
        <p:spPr>
          <a:xfrm>
            <a:off x="6283968" y="2539647"/>
            <a:ext cx="540000" cy="540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004D6619-EB55-4EF1-8FB6-2235D046BD22}"/>
                  </a:ext>
                </a:extLst>
              </p:cNvPr>
              <p:cNvSpPr txBox="1"/>
              <p:nvPr/>
            </p:nvSpPr>
            <p:spPr>
              <a:xfrm>
                <a:off x="6213177" y="2676261"/>
                <a:ext cx="2815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£57.88</m:t>
                      </m:r>
                    </m:oMath>
                  </m:oMathPara>
                </a14:m>
                <a:endParaRPr lang="en-GB" sz="1500" dirty="0">
                  <a:solidFill>
                    <a:schemeClr val="accent6">
                      <a:lumMod val="75000"/>
                    </a:schemeClr>
                  </a:solidFill>
                  <a:latin typeface="Calibri" panose="020F0502020204030204"/>
                  <a:ea typeface="+mn-ea"/>
                </a:endParaRPr>
              </a:p>
            </p:txBody>
          </p:sp>
        </mc:Choice>
        <mc:Fallback xmlns="">
          <p:sp>
            <p:nvSpPr>
              <p:cNvPr id="65" name="TextBox 64">
                <a:extLst>
                  <a:ext uri="{FF2B5EF4-FFF2-40B4-BE49-F238E27FC236}">
                    <a16:creationId xmlns:a16="http://schemas.microsoft.com/office/drawing/2014/main" id="{004D6619-EB55-4EF1-8FB6-2235D046BD22}"/>
                  </a:ext>
                </a:extLst>
              </p:cNvPr>
              <p:cNvSpPr txBox="1">
                <a:spLocks noRot="1" noChangeAspect="1" noMove="1" noResize="1" noEditPoints="1" noAdjustHandles="1" noChangeArrowheads="1" noChangeShapeType="1" noTextEdit="1"/>
              </p:cNvSpPr>
              <p:nvPr/>
            </p:nvSpPr>
            <p:spPr>
              <a:xfrm>
                <a:off x="6213177" y="2676261"/>
                <a:ext cx="281569" cy="323165"/>
              </a:xfrm>
              <a:prstGeom prst="rect">
                <a:avLst/>
              </a:prstGeom>
              <a:blipFill>
                <a:blip r:embed="rId25"/>
                <a:stretch>
                  <a:fillRect r="-154348"/>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D4C78F0E-70D0-42EA-B0FB-EACC3C6FDC87}"/>
                  </a:ext>
                </a:extLst>
              </p:cNvPr>
              <p:cNvSpPr txBox="1"/>
              <p:nvPr/>
            </p:nvSpPr>
            <p:spPr>
              <a:xfrm>
                <a:off x="6157241" y="3265699"/>
                <a:ext cx="725403"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£55.13</m:t>
                      </m:r>
                    </m:oMath>
                  </m:oMathPara>
                </a14:m>
                <a:endParaRPr lang="en-GB" sz="1500" dirty="0">
                  <a:solidFill>
                    <a:schemeClr val="accent6">
                      <a:lumMod val="75000"/>
                    </a:schemeClr>
                  </a:solidFill>
                  <a:latin typeface="Calibri" panose="020F0502020204030204"/>
                  <a:ea typeface="+mn-ea"/>
                </a:endParaRPr>
              </a:p>
            </p:txBody>
          </p:sp>
        </mc:Choice>
        <mc:Fallback xmlns="">
          <p:sp>
            <p:nvSpPr>
              <p:cNvPr id="66" name="TextBox 65">
                <a:extLst>
                  <a:ext uri="{FF2B5EF4-FFF2-40B4-BE49-F238E27FC236}">
                    <a16:creationId xmlns:a16="http://schemas.microsoft.com/office/drawing/2014/main" id="{D4C78F0E-70D0-42EA-B0FB-EACC3C6FDC87}"/>
                  </a:ext>
                </a:extLst>
              </p:cNvPr>
              <p:cNvSpPr txBox="1">
                <a:spLocks noRot="1" noChangeAspect="1" noMove="1" noResize="1" noEditPoints="1" noAdjustHandles="1" noChangeArrowheads="1" noChangeShapeType="1" noTextEdit="1"/>
              </p:cNvSpPr>
              <p:nvPr/>
            </p:nvSpPr>
            <p:spPr>
              <a:xfrm>
                <a:off x="6157241" y="3265699"/>
                <a:ext cx="725403" cy="323165"/>
              </a:xfrm>
              <a:prstGeom prst="rect">
                <a:avLst/>
              </a:prstGeom>
              <a:blipFill>
                <a:blip r:embed="rId26"/>
                <a:stretch>
                  <a:fillRect/>
                </a:stretch>
              </a:blipFill>
              <a:ln>
                <a:noFill/>
              </a:ln>
            </p:spPr>
            <p:txBody>
              <a:bodyPr/>
              <a:lstStyle/>
              <a:p>
                <a:r>
                  <a:rPr lang="en-GB">
                    <a:noFill/>
                  </a:rPr>
                  <a:t> </a:t>
                </a:r>
              </a:p>
            </p:txBody>
          </p:sp>
        </mc:Fallback>
      </mc:AlternateContent>
      <p:sp>
        <p:nvSpPr>
          <p:cNvPr id="67" name="Flowchart: Connector 66">
            <a:extLst>
              <a:ext uri="{FF2B5EF4-FFF2-40B4-BE49-F238E27FC236}">
                <a16:creationId xmlns:a16="http://schemas.microsoft.com/office/drawing/2014/main" id="{D5534ABE-B66D-4570-8C04-61626C550D3A}"/>
              </a:ext>
            </a:extLst>
          </p:cNvPr>
          <p:cNvSpPr/>
          <p:nvPr/>
        </p:nvSpPr>
        <p:spPr>
          <a:xfrm>
            <a:off x="7668167" y="3773554"/>
            <a:ext cx="459000" cy="459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D4E3DD5-1969-49FA-819B-74BDB8CA6DC3}"/>
                  </a:ext>
                </a:extLst>
              </p:cNvPr>
              <p:cNvSpPr txBox="1"/>
              <p:nvPr/>
            </p:nvSpPr>
            <p:spPr>
              <a:xfrm>
                <a:off x="7610170" y="3855406"/>
                <a:ext cx="3278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£52.5</m:t>
                      </m:r>
                    </m:oMath>
                  </m:oMathPara>
                </a14:m>
                <a:endParaRPr lang="en-GB" sz="1500" dirty="0">
                  <a:solidFill>
                    <a:schemeClr val="accent6">
                      <a:lumMod val="75000"/>
                    </a:schemeClr>
                  </a:solidFill>
                  <a:latin typeface="Calibri" panose="020F0502020204030204"/>
                  <a:ea typeface="+mn-ea"/>
                </a:endParaRPr>
              </a:p>
            </p:txBody>
          </p:sp>
        </mc:Choice>
        <mc:Fallback xmlns="">
          <p:sp>
            <p:nvSpPr>
              <p:cNvPr id="68" name="TextBox 67">
                <a:extLst>
                  <a:ext uri="{FF2B5EF4-FFF2-40B4-BE49-F238E27FC236}">
                    <a16:creationId xmlns:a16="http://schemas.microsoft.com/office/drawing/2014/main" id="{6D4E3DD5-1969-49FA-819B-74BDB8CA6DC3}"/>
                  </a:ext>
                </a:extLst>
              </p:cNvPr>
              <p:cNvSpPr txBox="1">
                <a:spLocks noRot="1" noChangeAspect="1" noMove="1" noResize="1" noEditPoints="1" noAdjustHandles="1" noChangeArrowheads="1" noChangeShapeType="1" noTextEdit="1"/>
              </p:cNvSpPr>
              <p:nvPr/>
            </p:nvSpPr>
            <p:spPr>
              <a:xfrm>
                <a:off x="7610170" y="3855406"/>
                <a:ext cx="327869" cy="323165"/>
              </a:xfrm>
              <a:prstGeom prst="rect">
                <a:avLst/>
              </a:prstGeom>
              <a:blipFill>
                <a:blip r:embed="rId27"/>
                <a:stretch>
                  <a:fillRect r="-87037"/>
                </a:stretch>
              </a:blipFill>
              <a:ln>
                <a:noFill/>
              </a:ln>
            </p:spPr>
            <p:txBody>
              <a:bodyPr/>
              <a:lstStyle/>
              <a:p>
                <a:r>
                  <a:rPr lang="en-GB">
                    <a:noFill/>
                  </a:rPr>
                  <a:t> </a:t>
                </a:r>
              </a:p>
            </p:txBody>
          </p:sp>
        </mc:Fallback>
      </mc:AlternateContent>
      <p:sp>
        <p:nvSpPr>
          <p:cNvPr id="69" name="Flowchart: Connector 68">
            <a:extLst>
              <a:ext uri="{FF2B5EF4-FFF2-40B4-BE49-F238E27FC236}">
                <a16:creationId xmlns:a16="http://schemas.microsoft.com/office/drawing/2014/main" id="{C3CD5A69-2A8D-456A-89E7-60D0B402FF51}"/>
              </a:ext>
            </a:extLst>
          </p:cNvPr>
          <p:cNvSpPr/>
          <p:nvPr/>
        </p:nvSpPr>
        <p:spPr>
          <a:xfrm>
            <a:off x="7624429" y="3152539"/>
            <a:ext cx="540000" cy="540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9CF52567-60B6-4224-B738-23DD130B6354}"/>
                  </a:ext>
                </a:extLst>
              </p:cNvPr>
              <p:cNvSpPr txBox="1"/>
              <p:nvPr/>
            </p:nvSpPr>
            <p:spPr>
              <a:xfrm>
                <a:off x="7559636" y="3274919"/>
                <a:ext cx="3278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£55.13</m:t>
                      </m:r>
                    </m:oMath>
                  </m:oMathPara>
                </a14:m>
                <a:endParaRPr lang="en-GB" sz="1500" dirty="0">
                  <a:solidFill>
                    <a:schemeClr val="accent6">
                      <a:lumMod val="75000"/>
                    </a:schemeClr>
                  </a:solidFill>
                  <a:latin typeface="Calibri" panose="020F0502020204030204"/>
                  <a:ea typeface="+mn-ea"/>
                </a:endParaRPr>
              </a:p>
            </p:txBody>
          </p:sp>
        </mc:Choice>
        <mc:Fallback xmlns="">
          <p:sp>
            <p:nvSpPr>
              <p:cNvPr id="70" name="TextBox 69">
                <a:extLst>
                  <a:ext uri="{FF2B5EF4-FFF2-40B4-BE49-F238E27FC236}">
                    <a16:creationId xmlns:a16="http://schemas.microsoft.com/office/drawing/2014/main" id="{9CF52567-60B6-4224-B738-23DD130B6354}"/>
                  </a:ext>
                </a:extLst>
              </p:cNvPr>
              <p:cNvSpPr txBox="1">
                <a:spLocks noRot="1" noChangeAspect="1" noMove="1" noResize="1" noEditPoints="1" noAdjustHandles="1" noChangeArrowheads="1" noChangeShapeType="1" noTextEdit="1"/>
              </p:cNvSpPr>
              <p:nvPr/>
            </p:nvSpPr>
            <p:spPr>
              <a:xfrm>
                <a:off x="7559636" y="3274919"/>
                <a:ext cx="327869" cy="323165"/>
              </a:xfrm>
              <a:prstGeom prst="rect">
                <a:avLst/>
              </a:prstGeom>
              <a:blipFill>
                <a:blip r:embed="rId28"/>
                <a:stretch>
                  <a:fillRect r="-116667"/>
                </a:stretch>
              </a:blipFill>
              <a:ln>
                <a:noFill/>
              </a:ln>
            </p:spPr>
            <p:txBody>
              <a:bodyPr/>
              <a:lstStyle/>
              <a:p>
                <a:r>
                  <a:rPr lang="en-GB">
                    <a:noFill/>
                  </a:rPr>
                  <a:t> </a:t>
                </a:r>
              </a:p>
            </p:txBody>
          </p:sp>
        </mc:Fallback>
      </mc:AlternateContent>
      <p:sp>
        <p:nvSpPr>
          <p:cNvPr id="71" name="Flowchart: Connector 70">
            <a:extLst>
              <a:ext uri="{FF2B5EF4-FFF2-40B4-BE49-F238E27FC236}">
                <a16:creationId xmlns:a16="http://schemas.microsoft.com/office/drawing/2014/main" id="{7E27C9FB-39B7-4FEB-AD1E-7E7F08DF0706}"/>
              </a:ext>
            </a:extLst>
          </p:cNvPr>
          <p:cNvSpPr/>
          <p:nvPr/>
        </p:nvSpPr>
        <p:spPr>
          <a:xfrm>
            <a:off x="7619104" y="2540456"/>
            <a:ext cx="540000" cy="540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2" name="Flowchart: Connector 71">
            <a:extLst>
              <a:ext uri="{FF2B5EF4-FFF2-40B4-BE49-F238E27FC236}">
                <a16:creationId xmlns:a16="http://schemas.microsoft.com/office/drawing/2014/main" id="{83BB42EC-8AD2-4601-B728-8F5E4F0D2F3B}"/>
              </a:ext>
            </a:extLst>
          </p:cNvPr>
          <p:cNvSpPr/>
          <p:nvPr/>
        </p:nvSpPr>
        <p:spPr>
          <a:xfrm>
            <a:off x="7608288" y="1851370"/>
            <a:ext cx="540000" cy="540000"/>
          </a:xfrm>
          <a:prstGeom prst="flowChartConnector">
            <a:avLst/>
          </a:prstGeom>
          <a:solidFill>
            <a:schemeClr val="accent6">
              <a:lumMod val="20000"/>
              <a:lumOff val="8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23BA17D8-9CAC-4EE0-9FC3-94F584DE1ECC}"/>
                  </a:ext>
                </a:extLst>
              </p:cNvPr>
              <p:cNvSpPr txBox="1"/>
              <p:nvPr/>
            </p:nvSpPr>
            <p:spPr>
              <a:xfrm>
                <a:off x="7532302" y="1971169"/>
                <a:ext cx="281569"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£60.76</m:t>
                      </m:r>
                    </m:oMath>
                  </m:oMathPara>
                </a14:m>
                <a:endParaRPr lang="en-GB" sz="1500" dirty="0">
                  <a:solidFill>
                    <a:schemeClr val="accent6">
                      <a:lumMod val="75000"/>
                    </a:schemeClr>
                  </a:solidFill>
                  <a:latin typeface="Calibri" panose="020F0502020204030204"/>
                  <a:ea typeface="+mn-ea"/>
                </a:endParaRPr>
              </a:p>
            </p:txBody>
          </p:sp>
        </mc:Choice>
        <mc:Fallback xmlns="">
          <p:sp>
            <p:nvSpPr>
              <p:cNvPr id="73" name="TextBox 72">
                <a:extLst>
                  <a:ext uri="{FF2B5EF4-FFF2-40B4-BE49-F238E27FC236}">
                    <a16:creationId xmlns:a16="http://schemas.microsoft.com/office/drawing/2014/main" id="{23BA17D8-9CAC-4EE0-9FC3-94F584DE1ECC}"/>
                  </a:ext>
                </a:extLst>
              </p:cNvPr>
              <p:cNvSpPr txBox="1">
                <a:spLocks noRot="1" noChangeAspect="1" noMove="1" noResize="1" noEditPoints="1" noAdjustHandles="1" noChangeArrowheads="1" noChangeShapeType="1" noTextEdit="1"/>
              </p:cNvSpPr>
              <p:nvPr/>
            </p:nvSpPr>
            <p:spPr>
              <a:xfrm>
                <a:off x="7532302" y="1971169"/>
                <a:ext cx="281569" cy="323165"/>
              </a:xfrm>
              <a:prstGeom prst="rect">
                <a:avLst/>
              </a:prstGeom>
              <a:blipFill>
                <a:blip r:embed="rId29"/>
                <a:stretch>
                  <a:fillRect r="-154348"/>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F8D82D37-4B3E-493E-907C-FCF67E6CE1B3}"/>
                  </a:ext>
                </a:extLst>
              </p:cNvPr>
              <p:cNvSpPr txBox="1"/>
              <p:nvPr/>
            </p:nvSpPr>
            <p:spPr>
              <a:xfrm>
                <a:off x="7537684" y="2662372"/>
                <a:ext cx="633747"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solidFill>
                            <a:schemeClr val="accent6">
                              <a:lumMod val="75000"/>
                            </a:schemeClr>
                          </a:solidFill>
                          <a:latin typeface="Cambria Math" panose="02040503050406030204" pitchFamily="18" charset="0"/>
                          <a:ea typeface="+mn-ea"/>
                        </a:rPr>
                        <m:t>£57.88</m:t>
                      </m:r>
                    </m:oMath>
                  </m:oMathPara>
                </a14:m>
                <a:endParaRPr lang="en-GB" sz="1500" dirty="0">
                  <a:solidFill>
                    <a:schemeClr val="accent6">
                      <a:lumMod val="75000"/>
                    </a:schemeClr>
                  </a:solidFill>
                  <a:latin typeface="Calibri" panose="020F0502020204030204"/>
                  <a:ea typeface="+mn-ea"/>
                </a:endParaRPr>
              </a:p>
            </p:txBody>
          </p:sp>
        </mc:Choice>
        <mc:Fallback xmlns="">
          <p:sp>
            <p:nvSpPr>
              <p:cNvPr id="74" name="TextBox 73">
                <a:extLst>
                  <a:ext uri="{FF2B5EF4-FFF2-40B4-BE49-F238E27FC236}">
                    <a16:creationId xmlns:a16="http://schemas.microsoft.com/office/drawing/2014/main" id="{F8D82D37-4B3E-493E-907C-FCF67E6CE1B3}"/>
                  </a:ext>
                </a:extLst>
              </p:cNvPr>
              <p:cNvSpPr txBox="1">
                <a:spLocks noRot="1" noChangeAspect="1" noMove="1" noResize="1" noEditPoints="1" noAdjustHandles="1" noChangeArrowheads="1" noChangeShapeType="1" noTextEdit="1"/>
              </p:cNvSpPr>
              <p:nvPr/>
            </p:nvSpPr>
            <p:spPr>
              <a:xfrm>
                <a:off x="7537684" y="2662372"/>
                <a:ext cx="633747" cy="323165"/>
              </a:xfrm>
              <a:prstGeom prst="rect">
                <a:avLst/>
              </a:prstGeom>
              <a:blipFill>
                <a:blip r:embed="rId30"/>
                <a:stretch>
                  <a:fillRect r="-12500"/>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9" name="Rectangle 78">
                <a:extLst>
                  <a:ext uri="{FF2B5EF4-FFF2-40B4-BE49-F238E27FC236}">
                    <a16:creationId xmlns:a16="http://schemas.microsoft.com/office/drawing/2014/main" id="{2349127C-7B69-4919-A3E0-95D89AF032FA}"/>
                  </a:ext>
                </a:extLst>
              </p:cNvPr>
              <p:cNvSpPr/>
              <p:nvPr/>
            </p:nvSpPr>
            <p:spPr>
              <a:xfrm>
                <a:off x="8106210" y="3846877"/>
                <a:ext cx="1106970" cy="9541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1400" b="1" i="1" smtClean="0">
                          <a:latin typeface="Cambria Math" panose="02040503050406030204" pitchFamily="18" charset="0"/>
                        </a:rPr>
                        <m:t>𝟏</m:t>
                      </m:r>
                      <m:r>
                        <a:rPr lang="en-GB" sz="1400" b="1" i="1" smtClean="0">
                          <a:latin typeface="Cambria Math" panose="02040503050406030204" pitchFamily="18" charset="0"/>
                        </a:rPr>
                        <m:t>,</m:t>
                      </m:r>
                      <m:r>
                        <a:rPr lang="en-GB" sz="1400" b="1" i="1" smtClean="0">
                          <a:latin typeface="Cambria Math" panose="02040503050406030204" pitchFamily="18" charset="0"/>
                        </a:rPr>
                        <m:t>𝟐𝟏𝟓</m:t>
                      </m:r>
                      <m:r>
                        <a:rPr lang="en-GB" sz="1400" b="1" i="1" smtClean="0">
                          <a:latin typeface="Cambria Math" panose="02040503050406030204" pitchFamily="18" charset="0"/>
                        </a:rPr>
                        <m:t>.</m:t>
                      </m:r>
                      <m:r>
                        <a:rPr lang="en-GB" sz="1400" b="1" i="1" smtClean="0">
                          <a:latin typeface="Cambria Math" panose="02040503050406030204" pitchFamily="18" charset="0"/>
                        </a:rPr>
                        <m:t>𝟓𝟏</m:t>
                      </m:r>
                    </m:oMath>
                  </m:oMathPara>
                </a14:m>
                <a:endParaRPr lang="en-GB" sz="1400" b="1" i="1"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GB" sz="1400" b="1" i="1" smtClean="0">
                          <a:latin typeface="Cambria Math" panose="02040503050406030204" pitchFamily="18" charset="0"/>
                        </a:rPr>
                        <m:t>+ </m:t>
                      </m:r>
                      <m:r>
                        <a:rPr lang="en-GB" sz="1400" b="1" i="1" smtClean="0">
                          <a:latin typeface="Cambria Math" panose="02040503050406030204" pitchFamily="18" charset="0"/>
                        </a:rPr>
                        <m:t>𝟔𝟎</m:t>
                      </m:r>
                      <m:r>
                        <a:rPr lang="en-GB" sz="1400" b="1" i="1" smtClean="0">
                          <a:latin typeface="Cambria Math" panose="02040503050406030204" pitchFamily="18" charset="0"/>
                        </a:rPr>
                        <m:t>.</m:t>
                      </m:r>
                      <m:r>
                        <a:rPr lang="en-GB" sz="1400" b="1" i="1" smtClean="0">
                          <a:latin typeface="Cambria Math" panose="02040503050406030204" pitchFamily="18" charset="0"/>
                        </a:rPr>
                        <m:t>𝟕𝟔</m:t>
                      </m:r>
                    </m:oMath>
                  </m:oMathPara>
                </a14:m>
                <a:endParaRPr lang="en-GB" sz="1400" b="1" i="1"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GB" sz="1400" b="1" i="1" smtClean="0">
                          <a:latin typeface="Cambria Math" panose="02040503050406030204" pitchFamily="18" charset="0"/>
                        </a:rPr>
                        <m:t>=</m:t>
                      </m:r>
                    </m:oMath>
                  </m:oMathPara>
                </a14:m>
                <a:endParaRPr lang="en-GB" sz="1400" b="1" i="1" dirty="0">
                  <a:latin typeface="Arial" panose="020B0604020202020204" pitchFamily="34"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GB" sz="1400" b="1" i="1" smtClean="0">
                          <a:latin typeface="Cambria Math" panose="02040503050406030204" pitchFamily="18" charset="0"/>
                        </a:rPr>
                        <m:t>£</m:t>
                      </m:r>
                      <m:r>
                        <a:rPr lang="en-GB" sz="1400" b="1" i="1" smtClean="0">
                          <a:latin typeface="Cambria Math" panose="02040503050406030204" pitchFamily="18" charset="0"/>
                        </a:rPr>
                        <m:t>𝟏</m:t>
                      </m:r>
                      <m:r>
                        <a:rPr lang="en-GB" sz="1400" b="1" i="1" smtClean="0">
                          <a:latin typeface="Cambria Math" panose="02040503050406030204" pitchFamily="18" charset="0"/>
                        </a:rPr>
                        <m:t>,</m:t>
                      </m:r>
                      <m:r>
                        <a:rPr lang="en-GB" sz="1400" b="1" i="1" smtClean="0">
                          <a:latin typeface="Cambria Math" panose="02040503050406030204" pitchFamily="18" charset="0"/>
                        </a:rPr>
                        <m:t>𝟐𝟕𝟔</m:t>
                      </m:r>
                      <m:r>
                        <a:rPr lang="en-GB" sz="1400" b="1" i="1" smtClean="0">
                          <a:latin typeface="Cambria Math" panose="02040503050406030204" pitchFamily="18" charset="0"/>
                        </a:rPr>
                        <m:t>.</m:t>
                      </m:r>
                      <m:r>
                        <a:rPr lang="en-GB" sz="1400" b="1" i="1" smtClean="0">
                          <a:latin typeface="Cambria Math" panose="02040503050406030204" pitchFamily="18" charset="0"/>
                        </a:rPr>
                        <m:t>𝟐𝟕</m:t>
                      </m:r>
                    </m:oMath>
                  </m:oMathPara>
                </a14:m>
                <a:endParaRPr lang="en-GB" sz="1400" b="1" dirty="0">
                  <a:latin typeface="Arial" panose="020B0604020202020204" pitchFamily="34" charset="0"/>
                  <a:cs typeface="Arial" panose="020B0604020202020204" pitchFamily="34" charset="0"/>
                </a:endParaRPr>
              </a:p>
            </p:txBody>
          </p:sp>
        </mc:Choice>
        <mc:Fallback xmlns="">
          <p:sp>
            <p:nvSpPr>
              <p:cNvPr id="79" name="Rectangle 78">
                <a:extLst>
                  <a:ext uri="{FF2B5EF4-FFF2-40B4-BE49-F238E27FC236}">
                    <a16:creationId xmlns:a16="http://schemas.microsoft.com/office/drawing/2014/main" id="{2349127C-7B69-4919-A3E0-95D89AF032FA}"/>
                  </a:ext>
                </a:extLst>
              </p:cNvPr>
              <p:cNvSpPr>
                <a:spLocks noRot="1" noChangeAspect="1" noMove="1" noResize="1" noEditPoints="1" noAdjustHandles="1" noChangeArrowheads="1" noChangeShapeType="1" noTextEdit="1"/>
              </p:cNvSpPr>
              <p:nvPr/>
            </p:nvSpPr>
            <p:spPr>
              <a:xfrm>
                <a:off x="8106210" y="3846877"/>
                <a:ext cx="1106970" cy="954107"/>
              </a:xfrm>
              <a:prstGeom prst="rect">
                <a:avLst/>
              </a:prstGeom>
              <a:blipFill>
                <a:blip r:embed="rId31"/>
                <a:stretch>
                  <a:fillRect/>
                </a:stretch>
              </a:blipFill>
            </p:spPr>
            <p:txBody>
              <a:bodyPr/>
              <a:lstStyle/>
              <a:p>
                <a:r>
                  <a:rPr lang="en-GB">
                    <a:noFill/>
                  </a:rPr>
                  <a:t> </a:t>
                </a:r>
              </a:p>
            </p:txBody>
          </p:sp>
        </mc:Fallback>
      </mc:AlternateContent>
      <p:sp>
        <p:nvSpPr>
          <p:cNvPr id="80" name="Callout: Double Bent Line with Accent Bar 79">
            <a:extLst>
              <a:ext uri="{FF2B5EF4-FFF2-40B4-BE49-F238E27FC236}">
                <a16:creationId xmlns:a16="http://schemas.microsoft.com/office/drawing/2014/main" id="{AEE976D4-742E-4F2D-9107-0FE9FC6D963A}"/>
              </a:ext>
            </a:extLst>
          </p:cNvPr>
          <p:cNvSpPr/>
          <p:nvPr/>
        </p:nvSpPr>
        <p:spPr>
          <a:xfrm rot="5400000">
            <a:off x="8532098" y="4613069"/>
            <a:ext cx="323165" cy="915441"/>
          </a:xfrm>
          <a:prstGeom prst="accentCallout3">
            <a:avLst>
              <a:gd name="adj1" fmla="val 18750"/>
              <a:gd name="adj2" fmla="val -8333"/>
              <a:gd name="adj3" fmla="val 27253"/>
              <a:gd name="adj4" fmla="val -36367"/>
              <a:gd name="adj5" fmla="val 56791"/>
              <a:gd name="adj6" fmla="val -35407"/>
              <a:gd name="adj7" fmla="val 58066"/>
              <a:gd name="adj8" fmla="val -87011"/>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dirty="0">
                <a:solidFill>
                  <a:schemeClr val="tx1"/>
                </a:solidFill>
              </a:rPr>
              <a:t>Future Value</a:t>
            </a:r>
          </a:p>
        </p:txBody>
      </p:sp>
      <mc:AlternateContent xmlns:mc="http://schemas.openxmlformats.org/markup-compatibility/2006" xmlns:a14="http://schemas.microsoft.com/office/drawing/2010/main">
        <mc:Choice Requires="a14">
          <p:sp>
            <p:nvSpPr>
              <p:cNvPr id="81" name="Callout: Double Bent Line with Accent Bar 80">
                <a:extLst>
                  <a:ext uri="{FF2B5EF4-FFF2-40B4-BE49-F238E27FC236}">
                    <a16:creationId xmlns:a16="http://schemas.microsoft.com/office/drawing/2014/main" id="{96B97CFE-4C41-4FBE-B10B-CB372FD029F6}"/>
                  </a:ext>
                </a:extLst>
              </p:cNvPr>
              <p:cNvSpPr/>
              <p:nvPr/>
            </p:nvSpPr>
            <p:spPr>
              <a:xfrm rot="16200000">
                <a:off x="4008326" y="2502403"/>
                <a:ext cx="543911" cy="1173139"/>
              </a:xfrm>
              <a:prstGeom prst="accentCallout3">
                <a:avLst>
                  <a:gd name="adj1" fmla="val 18750"/>
                  <a:gd name="adj2" fmla="val -8333"/>
                  <a:gd name="adj3" fmla="val 27253"/>
                  <a:gd name="adj4" fmla="val -36367"/>
                  <a:gd name="adj5" fmla="val 96356"/>
                  <a:gd name="adj6" fmla="val -37352"/>
                  <a:gd name="adj7" fmla="val 108104"/>
                  <a:gd name="adj8" fmla="val -36898"/>
                </a:avLst>
              </a:prstGeom>
              <a:noFill/>
              <a:ln w="190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1,102.5</m:t>
                      </m:r>
                      <m:r>
                        <a:rPr lang="en-GB" b="0" i="1" smtClean="0">
                          <a:solidFill>
                            <a:schemeClr val="tx1"/>
                          </a:solidFill>
                          <a:latin typeface="Cambria Math" panose="02040503050406030204" pitchFamily="18" charset="0"/>
                          <a:ea typeface="Cambria Math" panose="02040503050406030204" pitchFamily="18" charset="0"/>
                        </a:rPr>
                        <m:t>×5%</m:t>
                      </m:r>
                    </m:oMath>
                  </m:oMathPara>
                </a14:m>
                <a:endParaRPr lang="en-GB" dirty="0">
                  <a:solidFill>
                    <a:schemeClr val="tx1"/>
                  </a:solidFill>
                </a:endParaRPr>
              </a:p>
            </p:txBody>
          </p:sp>
        </mc:Choice>
        <mc:Fallback xmlns="">
          <p:sp>
            <p:nvSpPr>
              <p:cNvPr id="81" name="Callout: Double Bent Line with Accent Bar 80">
                <a:extLst>
                  <a:ext uri="{FF2B5EF4-FFF2-40B4-BE49-F238E27FC236}">
                    <a16:creationId xmlns:a16="http://schemas.microsoft.com/office/drawing/2014/main" id="{96B97CFE-4C41-4FBE-B10B-CB372FD029F6}"/>
                  </a:ext>
                </a:extLst>
              </p:cNvPr>
              <p:cNvSpPr>
                <a:spLocks noRot="1" noChangeAspect="1" noMove="1" noResize="1" noEditPoints="1" noAdjustHandles="1" noChangeArrowheads="1" noChangeShapeType="1" noTextEdit="1"/>
              </p:cNvSpPr>
              <p:nvPr/>
            </p:nvSpPr>
            <p:spPr>
              <a:xfrm rot="16200000">
                <a:off x="4008326" y="2502403"/>
                <a:ext cx="543911" cy="1173139"/>
              </a:xfrm>
              <a:prstGeom prst="accentCallout3">
                <a:avLst>
                  <a:gd name="adj1" fmla="val 18750"/>
                  <a:gd name="adj2" fmla="val -8333"/>
                  <a:gd name="adj3" fmla="val 27253"/>
                  <a:gd name="adj4" fmla="val -36367"/>
                  <a:gd name="adj5" fmla="val 96356"/>
                  <a:gd name="adj6" fmla="val -37352"/>
                  <a:gd name="adj7" fmla="val 108104"/>
                  <a:gd name="adj8" fmla="val -36898"/>
                </a:avLst>
              </a:prstGeom>
              <a:blipFill>
                <a:blip r:embed="rId32"/>
                <a:stretch>
                  <a:fillRect t="-286667"/>
                </a:stretch>
              </a:blipFill>
              <a:ln w="19050">
                <a:solidFill>
                  <a:schemeClr val="accent6">
                    <a:lumMod val="60000"/>
                    <a:lumOff val="40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2" name="Callout: Double Bent Line with Accent Bar 81">
                <a:extLst>
                  <a:ext uri="{FF2B5EF4-FFF2-40B4-BE49-F238E27FC236}">
                    <a16:creationId xmlns:a16="http://schemas.microsoft.com/office/drawing/2014/main" id="{D795A532-8429-4677-BFDC-C67B466D7F1A}"/>
                  </a:ext>
                </a:extLst>
              </p:cNvPr>
              <p:cNvSpPr/>
              <p:nvPr/>
            </p:nvSpPr>
            <p:spPr>
              <a:xfrm rot="16200000">
                <a:off x="2765820" y="3124706"/>
                <a:ext cx="543911" cy="1003030"/>
              </a:xfrm>
              <a:prstGeom prst="accentCallout3">
                <a:avLst>
                  <a:gd name="adj1" fmla="val 18750"/>
                  <a:gd name="adj2" fmla="val -8333"/>
                  <a:gd name="adj3" fmla="val 27253"/>
                  <a:gd name="adj4" fmla="val -36367"/>
                  <a:gd name="adj5" fmla="val 96356"/>
                  <a:gd name="adj6" fmla="val -37352"/>
                  <a:gd name="adj7" fmla="val 108104"/>
                  <a:gd name="adj8" fmla="val -36898"/>
                </a:avLst>
              </a:prstGeom>
              <a:noFill/>
              <a:ln w="190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1,050</m:t>
                      </m:r>
                      <m:r>
                        <a:rPr lang="en-GB" b="0" i="1" smtClean="0">
                          <a:solidFill>
                            <a:schemeClr val="tx1"/>
                          </a:solidFill>
                          <a:latin typeface="Cambria Math" panose="02040503050406030204" pitchFamily="18" charset="0"/>
                          <a:ea typeface="Cambria Math" panose="02040503050406030204" pitchFamily="18" charset="0"/>
                        </a:rPr>
                        <m:t>×5%</m:t>
                      </m:r>
                    </m:oMath>
                  </m:oMathPara>
                </a14:m>
                <a:endParaRPr lang="en-GB" dirty="0">
                  <a:solidFill>
                    <a:schemeClr val="tx1"/>
                  </a:solidFill>
                </a:endParaRPr>
              </a:p>
            </p:txBody>
          </p:sp>
        </mc:Choice>
        <mc:Fallback xmlns="">
          <p:sp>
            <p:nvSpPr>
              <p:cNvPr id="82" name="Callout: Double Bent Line with Accent Bar 81">
                <a:extLst>
                  <a:ext uri="{FF2B5EF4-FFF2-40B4-BE49-F238E27FC236}">
                    <a16:creationId xmlns:a16="http://schemas.microsoft.com/office/drawing/2014/main" id="{D795A532-8429-4677-BFDC-C67B466D7F1A}"/>
                  </a:ext>
                </a:extLst>
              </p:cNvPr>
              <p:cNvSpPr>
                <a:spLocks noRot="1" noChangeAspect="1" noMove="1" noResize="1" noEditPoints="1" noAdjustHandles="1" noChangeArrowheads="1" noChangeShapeType="1" noTextEdit="1"/>
              </p:cNvSpPr>
              <p:nvPr/>
            </p:nvSpPr>
            <p:spPr>
              <a:xfrm rot="16200000">
                <a:off x="2765820" y="3124706"/>
                <a:ext cx="543911" cy="1003030"/>
              </a:xfrm>
              <a:prstGeom prst="accentCallout3">
                <a:avLst>
                  <a:gd name="adj1" fmla="val 18750"/>
                  <a:gd name="adj2" fmla="val -8333"/>
                  <a:gd name="adj3" fmla="val 27253"/>
                  <a:gd name="adj4" fmla="val -36367"/>
                  <a:gd name="adj5" fmla="val 96356"/>
                  <a:gd name="adj6" fmla="val -37352"/>
                  <a:gd name="adj7" fmla="val 108104"/>
                  <a:gd name="adj8" fmla="val -36898"/>
                </a:avLst>
              </a:prstGeom>
              <a:blipFill>
                <a:blip r:embed="rId33"/>
                <a:stretch>
                  <a:fillRect t="-286667"/>
                </a:stretch>
              </a:blipFill>
              <a:ln w="19050">
                <a:solidFill>
                  <a:schemeClr val="accent6">
                    <a:lumMod val="60000"/>
                    <a:lumOff val="40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3" name="Callout: Double Bent Line with Accent Bar 82">
                <a:extLst>
                  <a:ext uri="{FF2B5EF4-FFF2-40B4-BE49-F238E27FC236}">
                    <a16:creationId xmlns:a16="http://schemas.microsoft.com/office/drawing/2014/main" id="{83FDEF7D-CF65-44DF-883A-3B15E8F030E1}"/>
                  </a:ext>
                </a:extLst>
              </p:cNvPr>
              <p:cNvSpPr/>
              <p:nvPr/>
            </p:nvSpPr>
            <p:spPr>
              <a:xfrm rot="16200000">
                <a:off x="5370692" y="1907342"/>
                <a:ext cx="543911" cy="1173139"/>
              </a:xfrm>
              <a:prstGeom prst="accentCallout3">
                <a:avLst>
                  <a:gd name="adj1" fmla="val 18750"/>
                  <a:gd name="adj2" fmla="val -8333"/>
                  <a:gd name="adj3" fmla="val 27253"/>
                  <a:gd name="adj4" fmla="val -36367"/>
                  <a:gd name="adj5" fmla="val 96356"/>
                  <a:gd name="adj6" fmla="val -37352"/>
                  <a:gd name="adj7" fmla="val 108104"/>
                  <a:gd name="adj8" fmla="val -36898"/>
                </a:avLst>
              </a:prstGeom>
              <a:noFill/>
              <a:ln w="190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1,157.63</m:t>
                      </m:r>
                      <m:r>
                        <a:rPr lang="en-GB" b="0" i="1" smtClean="0">
                          <a:solidFill>
                            <a:schemeClr val="tx1"/>
                          </a:solidFill>
                          <a:latin typeface="Cambria Math" panose="02040503050406030204" pitchFamily="18" charset="0"/>
                          <a:ea typeface="Cambria Math" panose="02040503050406030204" pitchFamily="18" charset="0"/>
                        </a:rPr>
                        <m:t>×5%</m:t>
                      </m:r>
                    </m:oMath>
                  </m:oMathPara>
                </a14:m>
                <a:endParaRPr lang="en-GB" dirty="0">
                  <a:solidFill>
                    <a:schemeClr val="tx1"/>
                  </a:solidFill>
                </a:endParaRPr>
              </a:p>
            </p:txBody>
          </p:sp>
        </mc:Choice>
        <mc:Fallback xmlns="">
          <p:sp>
            <p:nvSpPr>
              <p:cNvPr id="83" name="Callout: Double Bent Line with Accent Bar 82">
                <a:extLst>
                  <a:ext uri="{FF2B5EF4-FFF2-40B4-BE49-F238E27FC236}">
                    <a16:creationId xmlns:a16="http://schemas.microsoft.com/office/drawing/2014/main" id="{83FDEF7D-CF65-44DF-883A-3B15E8F030E1}"/>
                  </a:ext>
                </a:extLst>
              </p:cNvPr>
              <p:cNvSpPr>
                <a:spLocks noRot="1" noChangeAspect="1" noMove="1" noResize="1" noEditPoints="1" noAdjustHandles="1" noChangeArrowheads="1" noChangeShapeType="1" noTextEdit="1"/>
              </p:cNvSpPr>
              <p:nvPr/>
            </p:nvSpPr>
            <p:spPr>
              <a:xfrm rot="16200000">
                <a:off x="5370692" y="1907342"/>
                <a:ext cx="543911" cy="1173139"/>
              </a:xfrm>
              <a:prstGeom prst="accentCallout3">
                <a:avLst>
                  <a:gd name="adj1" fmla="val 18750"/>
                  <a:gd name="adj2" fmla="val -8333"/>
                  <a:gd name="adj3" fmla="val 27253"/>
                  <a:gd name="adj4" fmla="val -36367"/>
                  <a:gd name="adj5" fmla="val 96356"/>
                  <a:gd name="adj6" fmla="val -37352"/>
                  <a:gd name="adj7" fmla="val 108104"/>
                  <a:gd name="adj8" fmla="val -36898"/>
                </a:avLst>
              </a:prstGeom>
              <a:blipFill>
                <a:blip r:embed="rId34"/>
                <a:stretch>
                  <a:fillRect t="-286667"/>
                </a:stretch>
              </a:blipFill>
              <a:ln w="19050">
                <a:solidFill>
                  <a:schemeClr val="accent6">
                    <a:lumMod val="60000"/>
                    <a:lumOff val="40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1" name="Callout: Double Bent Line with Accent Bar 100">
                <a:extLst>
                  <a:ext uri="{FF2B5EF4-FFF2-40B4-BE49-F238E27FC236}">
                    <a16:creationId xmlns:a16="http://schemas.microsoft.com/office/drawing/2014/main" id="{4A41946D-87FF-4AB5-9CFC-CC52309790A1}"/>
                  </a:ext>
                </a:extLst>
              </p:cNvPr>
              <p:cNvSpPr/>
              <p:nvPr/>
            </p:nvSpPr>
            <p:spPr>
              <a:xfrm rot="16200000">
                <a:off x="6684791" y="1195315"/>
                <a:ext cx="543911" cy="1173139"/>
              </a:xfrm>
              <a:prstGeom prst="accentCallout3">
                <a:avLst>
                  <a:gd name="adj1" fmla="val 18750"/>
                  <a:gd name="adj2" fmla="val -8333"/>
                  <a:gd name="adj3" fmla="val 27253"/>
                  <a:gd name="adj4" fmla="val -36367"/>
                  <a:gd name="adj5" fmla="val 96356"/>
                  <a:gd name="adj6" fmla="val -37352"/>
                  <a:gd name="adj7" fmla="val 108104"/>
                  <a:gd name="adj8" fmla="val -36898"/>
                </a:avLst>
              </a:prstGeom>
              <a:noFill/>
              <a:ln w="19050">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14:m>
                  <m:oMathPara xmlns:m="http://schemas.openxmlformats.org/officeDocument/2006/math">
                    <m:oMathParaPr>
                      <m:jc m:val="centerGroup"/>
                    </m:oMathParaPr>
                    <m:oMath xmlns:m="http://schemas.openxmlformats.org/officeDocument/2006/math">
                      <m:r>
                        <a:rPr lang="en-GB" b="0" i="1" smtClean="0">
                          <a:solidFill>
                            <a:schemeClr val="tx1"/>
                          </a:solidFill>
                          <a:latin typeface="Cambria Math" panose="02040503050406030204" pitchFamily="18" charset="0"/>
                        </a:rPr>
                        <m:t>1,215.51</m:t>
                      </m:r>
                      <m:r>
                        <a:rPr lang="en-GB" b="0" i="1" smtClean="0">
                          <a:solidFill>
                            <a:schemeClr val="tx1"/>
                          </a:solidFill>
                          <a:latin typeface="Cambria Math" panose="02040503050406030204" pitchFamily="18" charset="0"/>
                          <a:ea typeface="Cambria Math" panose="02040503050406030204" pitchFamily="18" charset="0"/>
                        </a:rPr>
                        <m:t>×5%</m:t>
                      </m:r>
                    </m:oMath>
                  </m:oMathPara>
                </a14:m>
                <a:endParaRPr lang="en-GB" dirty="0">
                  <a:solidFill>
                    <a:schemeClr val="tx1"/>
                  </a:solidFill>
                </a:endParaRPr>
              </a:p>
            </p:txBody>
          </p:sp>
        </mc:Choice>
        <mc:Fallback xmlns="">
          <p:sp>
            <p:nvSpPr>
              <p:cNvPr id="101" name="Callout: Double Bent Line with Accent Bar 100">
                <a:extLst>
                  <a:ext uri="{FF2B5EF4-FFF2-40B4-BE49-F238E27FC236}">
                    <a16:creationId xmlns:a16="http://schemas.microsoft.com/office/drawing/2014/main" id="{4A41946D-87FF-4AB5-9CFC-CC52309790A1}"/>
                  </a:ext>
                </a:extLst>
              </p:cNvPr>
              <p:cNvSpPr>
                <a:spLocks noRot="1" noChangeAspect="1" noMove="1" noResize="1" noEditPoints="1" noAdjustHandles="1" noChangeArrowheads="1" noChangeShapeType="1" noTextEdit="1"/>
              </p:cNvSpPr>
              <p:nvPr/>
            </p:nvSpPr>
            <p:spPr>
              <a:xfrm rot="16200000">
                <a:off x="6684791" y="1195315"/>
                <a:ext cx="543911" cy="1173139"/>
              </a:xfrm>
              <a:prstGeom prst="accentCallout3">
                <a:avLst>
                  <a:gd name="adj1" fmla="val 18750"/>
                  <a:gd name="adj2" fmla="val -8333"/>
                  <a:gd name="adj3" fmla="val 27253"/>
                  <a:gd name="adj4" fmla="val -36367"/>
                  <a:gd name="adj5" fmla="val 96356"/>
                  <a:gd name="adj6" fmla="val -37352"/>
                  <a:gd name="adj7" fmla="val 108104"/>
                  <a:gd name="adj8" fmla="val -36898"/>
                </a:avLst>
              </a:prstGeom>
              <a:blipFill>
                <a:blip r:embed="rId35"/>
                <a:stretch>
                  <a:fillRect t="-286667"/>
                </a:stretch>
              </a:blipFill>
              <a:ln w="19050">
                <a:solidFill>
                  <a:schemeClr val="accent6">
                    <a:lumMod val="60000"/>
                    <a:lumOff val="40000"/>
                  </a:schemeClr>
                </a:solidFill>
              </a:ln>
            </p:spPr>
            <p:txBody>
              <a:bodyPr/>
              <a:lstStyle/>
              <a:p>
                <a:r>
                  <a:rPr lang="en-GB">
                    <a:noFill/>
                  </a:rPr>
                  <a:t> </a:t>
                </a:r>
              </a:p>
            </p:txBody>
          </p:sp>
        </mc:Fallback>
      </mc:AlternateContent>
      <mc:AlternateContent xmlns:mc="http://schemas.openxmlformats.org/markup-compatibility/2006" xmlns:p14="http://schemas.microsoft.com/office/powerpoint/2010/main">
        <mc:Choice Requires="p14">
          <p:contentPart p14:bwMode="auto" r:id="rId36">
            <p14:nvContentPartPr>
              <p14:cNvPr id="5" name="Ink 4">
                <a:extLst>
                  <a:ext uri="{FF2B5EF4-FFF2-40B4-BE49-F238E27FC236}">
                    <a16:creationId xmlns:a16="http://schemas.microsoft.com/office/drawing/2014/main" id="{B0492E72-2ED0-448F-8CBC-F7B2E4B71C8D}"/>
                  </a:ext>
                </a:extLst>
              </p14:cNvPr>
              <p14:cNvContentPartPr/>
              <p14:nvPr/>
            </p14:nvContentPartPr>
            <p14:xfrm>
              <a:off x="3138480" y="3769564"/>
              <a:ext cx="270" cy="270"/>
            </p14:xfrm>
          </p:contentPart>
        </mc:Choice>
        <mc:Fallback xmlns="">
          <p:pic>
            <p:nvPicPr>
              <p:cNvPr id="5" name="Ink 4">
                <a:extLst>
                  <a:ext uri="{FF2B5EF4-FFF2-40B4-BE49-F238E27FC236}">
                    <a16:creationId xmlns:a16="http://schemas.microsoft.com/office/drawing/2014/main" id="{B0492E72-2ED0-448F-8CBC-F7B2E4B71C8D}"/>
                  </a:ext>
                </a:extLst>
              </p:cNvPr>
              <p:cNvPicPr/>
              <p:nvPr/>
            </p:nvPicPr>
            <p:blipFill>
              <a:blip r:embed="rId37"/>
              <a:stretch>
                <a:fillRect/>
              </a:stretch>
            </p:blipFill>
            <p:spPr>
              <a:xfrm>
                <a:off x="3131460" y="3762544"/>
                <a:ext cx="14310" cy="14310"/>
              </a:xfrm>
              <a:prstGeom prst="rect">
                <a:avLst/>
              </a:prstGeom>
            </p:spPr>
          </p:pic>
        </mc:Fallback>
      </mc:AlternateContent>
    </p:spTree>
    <p:extLst>
      <p:ext uri="{BB962C8B-B14F-4D97-AF65-F5344CB8AC3E}">
        <p14:creationId xmlns:p14="http://schemas.microsoft.com/office/powerpoint/2010/main" val="857883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par>
                                <p:cTn id="17" presetID="53" presetClass="entr" presetSubtype="16"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animEffect transition="in" filter="fade">
                                      <p:cBhvr>
                                        <p:cTn id="21" dur="500"/>
                                        <p:tgtEl>
                                          <p:spTgt spid="9"/>
                                        </p:tgtEl>
                                      </p:cBhvr>
                                    </p:animEffect>
                                  </p:childTnLst>
                                </p:cTn>
                              </p:par>
                              <p:par>
                                <p:cTn id="22" presetID="53" presetClass="entr" presetSubtype="16"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500" fill="hold"/>
                                        <p:tgtEl>
                                          <p:spTgt spid="10"/>
                                        </p:tgtEl>
                                        <p:attrNameLst>
                                          <p:attrName>ppt_w</p:attrName>
                                        </p:attrNameLst>
                                      </p:cBhvr>
                                      <p:tavLst>
                                        <p:tav tm="0">
                                          <p:val>
                                            <p:fltVal val="0"/>
                                          </p:val>
                                        </p:tav>
                                        <p:tav tm="100000">
                                          <p:val>
                                            <p:strVal val="#ppt_w"/>
                                          </p:val>
                                        </p:tav>
                                      </p:tavLst>
                                    </p:anim>
                                    <p:anim calcmode="lin" valueType="num">
                                      <p:cBhvr>
                                        <p:cTn id="25" dur="500" fill="hold"/>
                                        <p:tgtEl>
                                          <p:spTgt spid="10"/>
                                        </p:tgtEl>
                                        <p:attrNameLst>
                                          <p:attrName>ppt_h</p:attrName>
                                        </p:attrNameLst>
                                      </p:cBhvr>
                                      <p:tavLst>
                                        <p:tav tm="0">
                                          <p:val>
                                            <p:fltVal val="0"/>
                                          </p:val>
                                        </p:tav>
                                        <p:tav tm="100000">
                                          <p:val>
                                            <p:strVal val="#ppt_h"/>
                                          </p:val>
                                        </p:tav>
                                      </p:tavLst>
                                    </p:anim>
                                    <p:animEffect transition="in" filter="fade">
                                      <p:cBhvr>
                                        <p:cTn id="26" dur="500"/>
                                        <p:tgtEl>
                                          <p:spTgt spid="10"/>
                                        </p:tgtEl>
                                      </p:cBhvr>
                                    </p:animEffect>
                                  </p:childTnLst>
                                </p:cTn>
                              </p:par>
                              <p:par>
                                <p:cTn id="27" presetID="53" presetClass="entr" presetSubtype="16"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fltVal val="0"/>
                                          </p:val>
                                        </p:tav>
                                        <p:tav tm="100000">
                                          <p:val>
                                            <p:strVal val="#ppt_h"/>
                                          </p:val>
                                        </p:tav>
                                      </p:tavLst>
                                    </p:anim>
                                    <p:animEffect transition="in" filter="fade">
                                      <p:cBhvr>
                                        <p:cTn id="31" dur="500"/>
                                        <p:tgtEl>
                                          <p:spTgt spid="11"/>
                                        </p:tgtEl>
                                      </p:cBhvr>
                                    </p:animEffect>
                                  </p:childTnLst>
                                </p:cTn>
                              </p:par>
                              <p:par>
                                <p:cTn id="32" presetID="53" presetClass="entr" presetSubtype="16"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p:cTn id="34" dur="500" fill="hold"/>
                                        <p:tgtEl>
                                          <p:spTgt spid="12"/>
                                        </p:tgtEl>
                                        <p:attrNameLst>
                                          <p:attrName>ppt_w</p:attrName>
                                        </p:attrNameLst>
                                      </p:cBhvr>
                                      <p:tavLst>
                                        <p:tav tm="0">
                                          <p:val>
                                            <p:fltVal val="0"/>
                                          </p:val>
                                        </p:tav>
                                        <p:tav tm="100000">
                                          <p:val>
                                            <p:strVal val="#ppt_w"/>
                                          </p:val>
                                        </p:tav>
                                      </p:tavLst>
                                    </p:anim>
                                    <p:anim calcmode="lin" valueType="num">
                                      <p:cBhvr>
                                        <p:cTn id="35" dur="500" fill="hold"/>
                                        <p:tgtEl>
                                          <p:spTgt spid="12"/>
                                        </p:tgtEl>
                                        <p:attrNameLst>
                                          <p:attrName>ppt_h</p:attrName>
                                        </p:attrNameLst>
                                      </p:cBhvr>
                                      <p:tavLst>
                                        <p:tav tm="0">
                                          <p:val>
                                            <p:fltVal val="0"/>
                                          </p:val>
                                        </p:tav>
                                        <p:tav tm="100000">
                                          <p:val>
                                            <p:strVal val="#ppt_h"/>
                                          </p:val>
                                        </p:tav>
                                      </p:tavLst>
                                    </p:anim>
                                    <p:animEffect transition="in" filter="fade">
                                      <p:cBhvr>
                                        <p:cTn id="36" dur="500"/>
                                        <p:tgtEl>
                                          <p:spTgt spid="12"/>
                                        </p:tgtEl>
                                      </p:cBhvr>
                                    </p:animEffect>
                                  </p:childTnLst>
                                </p:cTn>
                              </p:par>
                              <p:par>
                                <p:cTn id="37" presetID="53" presetClass="entr" presetSubtype="16"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p:cTn id="39" dur="500" fill="hold"/>
                                        <p:tgtEl>
                                          <p:spTgt spid="13"/>
                                        </p:tgtEl>
                                        <p:attrNameLst>
                                          <p:attrName>ppt_w</p:attrName>
                                        </p:attrNameLst>
                                      </p:cBhvr>
                                      <p:tavLst>
                                        <p:tav tm="0">
                                          <p:val>
                                            <p:fltVal val="0"/>
                                          </p:val>
                                        </p:tav>
                                        <p:tav tm="100000">
                                          <p:val>
                                            <p:strVal val="#ppt_w"/>
                                          </p:val>
                                        </p:tav>
                                      </p:tavLst>
                                    </p:anim>
                                    <p:anim calcmode="lin" valueType="num">
                                      <p:cBhvr>
                                        <p:cTn id="40" dur="500" fill="hold"/>
                                        <p:tgtEl>
                                          <p:spTgt spid="13"/>
                                        </p:tgtEl>
                                        <p:attrNameLst>
                                          <p:attrName>ppt_h</p:attrName>
                                        </p:attrNameLst>
                                      </p:cBhvr>
                                      <p:tavLst>
                                        <p:tav tm="0">
                                          <p:val>
                                            <p:fltVal val="0"/>
                                          </p:val>
                                        </p:tav>
                                        <p:tav tm="100000">
                                          <p:val>
                                            <p:strVal val="#ppt_h"/>
                                          </p:val>
                                        </p:tav>
                                      </p:tavLst>
                                    </p:anim>
                                    <p:animEffect transition="in" filter="fade">
                                      <p:cBhvr>
                                        <p:cTn id="41" dur="500"/>
                                        <p:tgtEl>
                                          <p:spTgt spid="13"/>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p:cTn id="44" dur="500" fill="hold"/>
                                        <p:tgtEl>
                                          <p:spTgt spid="15"/>
                                        </p:tgtEl>
                                        <p:attrNameLst>
                                          <p:attrName>ppt_w</p:attrName>
                                        </p:attrNameLst>
                                      </p:cBhvr>
                                      <p:tavLst>
                                        <p:tav tm="0">
                                          <p:val>
                                            <p:fltVal val="0"/>
                                          </p:val>
                                        </p:tav>
                                        <p:tav tm="100000">
                                          <p:val>
                                            <p:strVal val="#ppt_w"/>
                                          </p:val>
                                        </p:tav>
                                      </p:tavLst>
                                    </p:anim>
                                    <p:anim calcmode="lin" valueType="num">
                                      <p:cBhvr>
                                        <p:cTn id="45" dur="500" fill="hold"/>
                                        <p:tgtEl>
                                          <p:spTgt spid="15"/>
                                        </p:tgtEl>
                                        <p:attrNameLst>
                                          <p:attrName>ppt_h</p:attrName>
                                        </p:attrNameLst>
                                      </p:cBhvr>
                                      <p:tavLst>
                                        <p:tav tm="0">
                                          <p:val>
                                            <p:fltVal val="0"/>
                                          </p:val>
                                        </p:tav>
                                        <p:tav tm="100000">
                                          <p:val>
                                            <p:strVal val="#ppt_h"/>
                                          </p:val>
                                        </p:tav>
                                      </p:tavLst>
                                    </p:anim>
                                    <p:animEffect transition="in" filter="fade">
                                      <p:cBhvr>
                                        <p:cTn id="46" dur="500"/>
                                        <p:tgtEl>
                                          <p:spTgt spid="15"/>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fltVal val="0"/>
                                          </p:val>
                                        </p:tav>
                                        <p:tav tm="100000">
                                          <p:val>
                                            <p:strVal val="#ppt_w"/>
                                          </p:val>
                                        </p:tav>
                                      </p:tavLst>
                                    </p:anim>
                                    <p:anim calcmode="lin" valueType="num">
                                      <p:cBhvr>
                                        <p:cTn id="50" dur="500" fill="hold"/>
                                        <p:tgtEl>
                                          <p:spTgt spid="16"/>
                                        </p:tgtEl>
                                        <p:attrNameLst>
                                          <p:attrName>ppt_h</p:attrName>
                                        </p:attrNameLst>
                                      </p:cBhvr>
                                      <p:tavLst>
                                        <p:tav tm="0">
                                          <p:val>
                                            <p:fltVal val="0"/>
                                          </p:val>
                                        </p:tav>
                                        <p:tav tm="100000">
                                          <p:val>
                                            <p:strVal val="#ppt_h"/>
                                          </p:val>
                                        </p:tav>
                                      </p:tavLst>
                                    </p:anim>
                                    <p:animEffect transition="in" filter="fade">
                                      <p:cBhvr>
                                        <p:cTn id="51" dur="500"/>
                                        <p:tgtEl>
                                          <p:spTgt spid="16"/>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 calcmode="lin" valueType="num">
                                      <p:cBhvr>
                                        <p:cTn id="54" dur="500" fill="hold"/>
                                        <p:tgtEl>
                                          <p:spTgt spid="17"/>
                                        </p:tgtEl>
                                        <p:attrNameLst>
                                          <p:attrName>ppt_w</p:attrName>
                                        </p:attrNameLst>
                                      </p:cBhvr>
                                      <p:tavLst>
                                        <p:tav tm="0">
                                          <p:val>
                                            <p:fltVal val="0"/>
                                          </p:val>
                                        </p:tav>
                                        <p:tav tm="100000">
                                          <p:val>
                                            <p:strVal val="#ppt_w"/>
                                          </p:val>
                                        </p:tav>
                                      </p:tavLst>
                                    </p:anim>
                                    <p:anim calcmode="lin" valueType="num">
                                      <p:cBhvr>
                                        <p:cTn id="55" dur="500" fill="hold"/>
                                        <p:tgtEl>
                                          <p:spTgt spid="17"/>
                                        </p:tgtEl>
                                        <p:attrNameLst>
                                          <p:attrName>ppt_h</p:attrName>
                                        </p:attrNameLst>
                                      </p:cBhvr>
                                      <p:tavLst>
                                        <p:tav tm="0">
                                          <p:val>
                                            <p:fltVal val="0"/>
                                          </p:val>
                                        </p:tav>
                                        <p:tav tm="100000">
                                          <p:val>
                                            <p:strVal val="#ppt_h"/>
                                          </p:val>
                                        </p:tav>
                                      </p:tavLst>
                                    </p:anim>
                                    <p:animEffect transition="in" filter="fade">
                                      <p:cBhvr>
                                        <p:cTn id="56" dur="500"/>
                                        <p:tgtEl>
                                          <p:spTgt spid="17"/>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p:cTn id="59" dur="500" fill="hold"/>
                                        <p:tgtEl>
                                          <p:spTgt spid="18"/>
                                        </p:tgtEl>
                                        <p:attrNameLst>
                                          <p:attrName>ppt_w</p:attrName>
                                        </p:attrNameLst>
                                      </p:cBhvr>
                                      <p:tavLst>
                                        <p:tav tm="0">
                                          <p:val>
                                            <p:fltVal val="0"/>
                                          </p:val>
                                        </p:tav>
                                        <p:tav tm="100000">
                                          <p:val>
                                            <p:strVal val="#ppt_w"/>
                                          </p:val>
                                        </p:tav>
                                      </p:tavLst>
                                    </p:anim>
                                    <p:anim calcmode="lin" valueType="num">
                                      <p:cBhvr>
                                        <p:cTn id="60" dur="500" fill="hold"/>
                                        <p:tgtEl>
                                          <p:spTgt spid="18"/>
                                        </p:tgtEl>
                                        <p:attrNameLst>
                                          <p:attrName>ppt_h</p:attrName>
                                        </p:attrNameLst>
                                      </p:cBhvr>
                                      <p:tavLst>
                                        <p:tav tm="0">
                                          <p:val>
                                            <p:fltVal val="0"/>
                                          </p:val>
                                        </p:tav>
                                        <p:tav tm="100000">
                                          <p:val>
                                            <p:strVal val="#ppt_h"/>
                                          </p:val>
                                        </p:tav>
                                      </p:tavLst>
                                    </p:anim>
                                    <p:animEffect transition="in" filter="fade">
                                      <p:cBhvr>
                                        <p:cTn id="61" dur="500"/>
                                        <p:tgtEl>
                                          <p:spTgt spid="18"/>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 calcmode="lin" valueType="num">
                                      <p:cBhvr>
                                        <p:cTn id="64" dur="500" fill="hold"/>
                                        <p:tgtEl>
                                          <p:spTgt spid="19"/>
                                        </p:tgtEl>
                                        <p:attrNameLst>
                                          <p:attrName>ppt_w</p:attrName>
                                        </p:attrNameLst>
                                      </p:cBhvr>
                                      <p:tavLst>
                                        <p:tav tm="0">
                                          <p:val>
                                            <p:fltVal val="0"/>
                                          </p:val>
                                        </p:tav>
                                        <p:tav tm="100000">
                                          <p:val>
                                            <p:strVal val="#ppt_w"/>
                                          </p:val>
                                        </p:tav>
                                      </p:tavLst>
                                    </p:anim>
                                    <p:anim calcmode="lin" valueType="num">
                                      <p:cBhvr>
                                        <p:cTn id="65" dur="500" fill="hold"/>
                                        <p:tgtEl>
                                          <p:spTgt spid="19"/>
                                        </p:tgtEl>
                                        <p:attrNameLst>
                                          <p:attrName>ppt_h</p:attrName>
                                        </p:attrNameLst>
                                      </p:cBhvr>
                                      <p:tavLst>
                                        <p:tav tm="0">
                                          <p:val>
                                            <p:fltVal val="0"/>
                                          </p:val>
                                        </p:tav>
                                        <p:tav tm="100000">
                                          <p:val>
                                            <p:strVal val="#ppt_h"/>
                                          </p:val>
                                        </p:tav>
                                      </p:tavLst>
                                    </p:anim>
                                    <p:animEffect transition="in" filter="fade">
                                      <p:cBhvr>
                                        <p:cTn id="66" dur="500"/>
                                        <p:tgtEl>
                                          <p:spTgt spid="19"/>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anim calcmode="lin" valueType="num">
                                      <p:cBhvr>
                                        <p:cTn id="69" dur="500" fill="hold"/>
                                        <p:tgtEl>
                                          <p:spTgt spid="21"/>
                                        </p:tgtEl>
                                        <p:attrNameLst>
                                          <p:attrName>ppt_w</p:attrName>
                                        </p:attrNameLst>
                                      </p:cBhvr>
                                      <p:tavLst>
                                        <p:tav tm="0">
                                          <p:val>
                                            <p:fltVal val="0"/>
                                          </p:val>
                                        </p:tav>
                                        <p:tav tm="100000">
                                          <p:val>
                                            <p:strVal val="#ppt_w"/>
                                          </p:val>
                                        </p:tav>
                                      </p:tavLst>
                                    </p:anim>
                                    <p:anim calcmode="lin" valueType="num">
                                      <p:cBhvr>
                                        <p:cTn id="70" dur="500" fill="hold"/>
                                        <p:tgtEl>
                                          <p:spTgt spid="21"/>
                                        </p:tgtEl>
                                        <p:attrNameLst>
                                          <p:attrName>ppt_h</p:attrName>
                                        </p:attrNameLst>
                                      </p:cBhvr>
                                      <p:tavLst>
                                        <p:tav tm="0">
                                          <p:val>
                                            <p:fltVal val="0"/>
                                          </p:val>
                                        </p:tav>
                                        <p:tav tm="100000">
                                          <p:val>
                                            <p:strVal val="#ppt_h"/>
                                          </p:val>
                                        </p:tav>
                                      </p:tavLst>
                                    </p:anim>
                                    <p:animEffect transition="in" filter="fade">
                                      <p:cBhvr>
                                        <p:cTn id="71" dur="500"/>
                                        <p:tgtEl>
                                          <p:spTgt spid="21"/>
                                        </p:tgtEl>
                                      </p:cBhvr>
                                    </p:animEffect>
                                  </p:childTnLst>
                                </p:cTn>
                              </p:par>
                            </p:childTnLst>
                          </p:cTn>
                        </p:par>
                      </p:childTnLst>
                    </p:cTn>
                  </p:par>
                  <p:par>
                    <p:cTn id="72" fill="hold">
                      <p:stCondLst>
                        <p:cond delay="indefinite"/>
                      </p:stCondLst>
                      <p:childTnLst>
                        <p:par>
                          <p:cTn id="73" fill="hold">
                            <p:stCondLst>
                              <p:cond delay="0"/>
                            </p:stCondLst>
                            <p:childTnLst>
                              <p:par>
                                <p:cTn id="74" presetID="12" presetClass="entr" presetSubtype="4" fill="hold" grpId="0" nodeType="clickEffect">
                                  <p:stCondLst>
                                    <p:cond delay="0"/>
                                  </p:stCondLst>
                                  <p:childTnLst>
                                    <p:set>
                                      <p:cBhvr>
                                        <p:cTn id="75" dur="1" fill="hold">
                                          <p:stCondLst>
                                            <p:cond delay="0"/>
                                          </p:stCondLst>
                                        </p:cTn>
                                        <p:tgtEl>
                                          <p:spTgt spid="14"/>
                                        </p:tgtEl>
                                        <p:attrNameLst>
                                          <p:attrName>style.visibility</p:attrName>
                                        </p:attrNameLst>
                                      </p:cBhvr>
                                      <p:to>
                                        <p:strVal val="visible"/>
                                      </p:to>
                                    </p:set>
                                    <p:anim calcmode="lin" valueType="num">
                                      <p:cBhvr additive="base">
                                        <p:cTn id="76" dur="500"/>
                                        <p:tgtEl>
                                          <p:spTgt spid="14"/>
                                        </p:tgtEl>
                                        <p:attrNameLst>
                                          <p:attrName>ppt_y</p:attrName>
                                        </p:attrNameLst>
                                      </p:cBhvr>
                                      <p:tavLst>
                                        <p:tav tm="0">
                                          <p:val>
                                            <p:strVal val="#ppt_y+#ppt_h*1.125000"/>
                                          </p:val>
                                        </p:tav>
                                        <p:tav tm="100000">
                                          <p:val>
                                            <p:strVal val="#ppt_y"/>
                                          </p:val>
                                        </p:tav>
                                      </p:tavLst>
                                    </p:anim>
                                    <p:animEffect transition="in" filter="wipe(up)">
                                      <p:cBhvr>
                                        <p:cTn id="77" dur="500"/>
                                        <p:tgtEl>
                                          <p:spTgt spid="14"/>
                                        </p:tgtEl>
                                      </p:cBhvr>
                                    </p:animEffect>
                                  </p:childTnLst>
                                </p:cTn>
                              </p:par>
                            </p:childTnLst>
                          </p:cTn>
                        </p:par>
                        <p:par>
                          <p:cTn id="78" fill="hold">
                            <p:stCondLst>
                              <p:cond delay="500"/>
                            </p:stCondLst>
                            <p:childTnLst>
                              <p:par>
                                <p:cTn id="79" presetID="1" presetClass="entr" presetSubtype="0" fill="hold" grpId="0" nodeType="afterEffect">
                                  <p:stCondLst>
                                    <p:cond delay="0"/>
                                  </p:stCondLst>
                                  <p:childTnLst>
                                    <p:set>
                                      <p:cBhvr>
                                        <p:cTn id="80" dur="1" fill="hold">
                                          <p:stCondLst>
                                            <p:cond delay="0"/>
                                          </p:stCondLst>
                                        </p:cTn>
                                        <p:tgtEl>
                                          <p:spTgt spid="2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2" presetClass="entr" presetSubtype="4" fill="hold" grpId="0" nodeType="clickEffect">
                                  <p:stCondLst>
                                    <p:cond delay="0"/>
                                  </p:stCondLst>
                                  <p:childTnLst>
                                    <p:set>
                                      <p:cBhvr>
                                        <p:cTn id="86" dur="1" fill="hold">
                                          <p:stCondLst>
                                            <p:cond delay="0"/>
                                          </p:stCondLst>
                                        </p:cTn>
                                        <p:tgtEl>
                                          <p:spTgt spid="28"/>
                                        </p:tgtEl>
                                        <p:attrNameLst>
                                          <p:attrName>style.visibility</p:attrName>
                                        </p:attrNameLst>
                                      </p:cBhvr>
                                      <p:to>
                                        <p:strVal val="visible"/>
                                      </p:to>
                                    </p:set>
                                    <p:anim calcmode="lin" valueType="num">
                                      <p:cBhvr additive="base">
                                        <p:cTn id="87" dur="500"/>
                                        <p:tgtEl>
                                          <p:spTgt spid="28"/>
                                        </p:tgtEl>
                                        <p:attrNameLst>
                                          <p:attrName>ppt_y</p:attrName>
                                        </p:attrNameLst>
                                      </p:cBhvr>
                                      <p:tavLst>
                                        <p:tav tm="0">
                                          <p:val>
                                            <p:strVal val="#ppt_y+#ppt_h*1.125000"/>
                                          </p:val>
                                        </p:tav>
                                        <p:tav tm="100000">
                                          <p:val>
                                            <p:strVal val="#ppt_y"/>
                                          </p:val>
                                        </p:tav>
                                      </p:tavLst>
                                    </p:anim>
                                    <p:animEffect transition="in" filter="wipe(up)">
                                      <p:cBhvr>
                                        <p:cTn id="88" dur="500"/>
                                        <p:tgtEl>
                                          <p:spTgt spid="28"/>
                                        </p:tgtEl>
                                      </p:cBhvr>
                                    </p:animEffect>
                                  </p:childTnLst>
                                </p:cTn>
                              </p:par>
                            </p:childTnLst>
                          </p:cTn>
                        </p:par>
                        <p:par>
                          <p:cTn id="89" fill="hold">
                            <p:stCondLst>
                              <p:cond delay="500"/>
                            </p:stCondLst>
                            <p:childTnLst>
                              <p:par>
                                <p:cTn id="90" presetID="1" presetClass="entr" presetSubtype="0" fill="hold" grpId="0" nodeType="afterEffect">
                                  <p:stCondLst>
                                    <p:cond delay="0"/>
                                  </p:stCondLst>
                                  <p:childTnLst>
                                    <p:set>
                                      <p:cBhvr>
                                        <p:cTn id="91" dur="1" fill="hold">
                                          <p:stCondLst>
                                            <p:cond delay="0"/>
                                          </p:stCondLst>
                                        </p:cTn>
                                        <p:tgtEl>
                                          <p:spTgt spid="29"/>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30"/>
                                        </p:tgtEl>
                                        <p:attrNameLst>
                                          <p:attrName>style.visibility</p:attrName>
                                        </p:attrNameLst>
                                      </p:cBhvr>
                                      <p:to>
                                        <p:strVal val="visible"/>
                                      </p:to>
                                    </p:set>
                                  </p:childTnLst>
                                </p:cTn>
                              </p:par>
                            </p:childTnLst>
                          </p:cTn>
                        </p:par>
                        <p:par>
                          <p:cTn id="94" fill="hold">
                            <p:stCondLst>
                              <p:cond delay="500"/>
                            </p:stCondLst>
                            <p:childTnLst>
                              <p:par>
                                <p:cTn id="95" presetID="1" presetClass="entr" presetSubtype="0" fill="hold" grpId="0" nodeType="afterEffect">
                                  <p:stCondLst>
                                    <p:cond delay="0"/>
                                  </p:stCondLst>
                                  <p:childTnLst>
                                    <p:set>
                                      <p:cBhvr>
                                        <p:cTn id="96" dur="1" fill="hold">
                                          <p:stCondLst>
                                            <p:cond delay="0"/>
                                          </p:stCondLst>
                                        </p:cTn>
                                        <p:tgtEl>
                                          <p:spTgt spid="23"/>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2" presetClass="entr" presetSubtype="4" fill="hold" grpId="0" nodeType="clickEffect">
                                  <p:stCondLst>
                                    <p:cond delay="0"/>
                                  </p:stCondLst>
                                  <p:childTnLst>
                                    <p:set>
                                      <p:cBhvr>
                                        <p:cTn id="102" dur="1" fill="hold">
                                          <p:stCondLst>
                                            <p:cond delay="0"/>
                                          </p:stCondLst>
                                        </p:cTn>
                                        <p:tgtEl>
                                          <p:spTgt spid="35"/>
                                        </p:tgtEl>
                                        <p:attrNameLst>
                                          <p:attrName>style.visibility</p:attrName>
                                        </p:attrNameLst>
                                      </p:cBhvr>
                                      <p:to>
                                        <p:strVal val="visible"/>
                                      </p:to>
                                    </p:set>
                                    <p:anim calcmode="lin" valueType="num">
                                      <p:cBhvr additive="base">
                                        <p:cTn id="103" dur="500"/>
                                        <p:tgtEl>
                                          <p:spTgt spid="35"/>
                                        </p:tgtEl>
                                        <p:attrNameLst>
                                          <p:attrName>ppt_y</p:attrName>
                                        </p:attrNameLst>
                                      </p:cBhvr>
                                      <p:tavLst>
                                        <p:tav tm="0">
                                          <p:val>
                                            <p:strVal val="#ppt_y+#ppt_h*1.125000"/>
                                          </p:val>
                                        </p:tav>
                                        <p:tav tm="100000">
                                          <p:val>
                                            <p:strVal val="#ppt_y"/>
                                          </p:val>
                                        </p:tav>
                                      </p:tavLst>
                                    </p:anim>
                                    <p:animEffect transition="in" filter="wipe(up)">
                                      <p:cBhvr>
                                        <p:cTn id="104" dur="500"/>
                                        <p:tgtEl>
                                          <p:spTgt spid="35"/>
                                        </p:tgtEl>
                                      </p:cBhvr>
                                    </p:animEffect>
                                  </p:childTnLst>
                                </p:cTn>
                              </p:par>
                            </p:childTnLst>
                          </p:cTn>
                        </p:par>
                        <p:par>
                          <p:cTn id="105" fill="hold">
                            <p:stCondLst>
                              <p:cond delay="500"/>
                            </p:stCondLst>
                            <p:childTnLst>
                              <p:par>
                                <p:cTn id="106" presetID="1" presetClass="entr" presetSubtype="0" fill="hold" grpId="0" nodeType="afterEffect">
                                  <p:stCondLst>
                                    <p:cond delay="0"/>
                                  </p:stCondLst>
                                  <p:childTnLst>
                                    <p:set>
                                      <p:cBhvr>
                                        <p:cTn id="107" dur="1" fill="hold">
                                          <p:stCondLst>
                                            <p:cond delay="0"/>
                                          </p:stCondLst>
                                        </p:cTn>
                                        <p:tgtEl>
                                          <p:spTgt spid="47"/>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36"/>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37"/>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52"/>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51"/>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82"/>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2" presetClass="entr" presetSubtype="4" fill="hold" grpId="0" nodeType="clickEffect">
                                  <p:stCondLst>
                                    <p:cond delay="0"/>
                                  </p:stCondLst>
                                  <p:childTnLst>
                                    <p:set>
                                      <p:cBhvr>
                                        <p:cTn id="123" dur="1" fill="hold">
                                          <p:stCondLst>
                                            <p:cond delay="0"/>
                                          </p:stCondLst>
                                        </p:cTn>
                                        <p:tgtEl>
                                          <p:spTgt spid="38"/>
                                        </p:tgtEl>
                                        <p:attrNameLst>
                                          <p:attrName>style.visibility</p:attrName>
                                        </p:attrNameLst>
                                      </p:cBhvr>
                                      <p:to>
                                        <p:strVal val="visible"/>
                                      </p:to>
                                    </p:set>
                                    <p:anim calcmode="lin" valueType="num">
                                      <p:cBhvr additive="base">
                                        <p:cTn id="124" dur="500"/>
                                        <p:tgtEl>
                                          <p:spTgt spid="38"/>
                                        </p:tgtEl>
                                        <p:attrNameLst>
                                          <p:attrName>ppt_y</p:attrName>
                                        </p:attrNameLst>
                                      </p:cBhvr>
                                      <p:tavLst>
                                        <p:tav tm="0">
                                          <p:val>
                                            <p:strVal val="#ppt_y+#ppt_h*1.125000"/>
                                          </p:val>
                                        </p:tav>
                                        <p:tav tm="100000">
                                          <p:val>
                                            <p:strVal val="#ppt_y"/>
                                          </p:val>
                                        </p:tav>
                                      </p:tavLst>
                                    </p:anim>
                                    <p:animEffect transition="in" filter="wipe(up)">
                                      <p:cBhvr>
                                        <p:cTn id="125" dur="500"/>
                                        <p:tgtEl>
                                          <p:spTgt spid="38"/>
                                        </p:tgtEl>
                                      </p:cBhvr>
                                    </p:animEffect>
                                  </p:childTnLst>
                                </p:cTn>
                              </p:par>
                            </p:childTnLst>
                          </p:cTn>
                        </p:par>
                        <p:par>
                          <p:cTn id="126" fill="hold">
                            <p:stCondLst>
                              <p:cond delay="500"/>
                            </p:stCondLst>
                            <p:childTnLst>
                              <p:par>
                                <p:cTn id="127" presetID="1" presetClass="entr" presetSubtype="0" fill="hold" grpId="0" nodeType="afterEffect">
                                  <p:stCondLst>
                                    <p:cond delay="0"/>
                                  </p:stCondLst>
                                  <p:childTnLst>
                                    <p:set>
                                      <p:cBhvr>
                                        <p:cTn id="128" dur="1" fill="hold">
                                          <p:stCondLst>
                                            <p:cond delay="0"/>
                                          </p:stCondLst>
                                        </p:cTn>
                                        <p:tgtEl>
                                          <p:spTgt spid="48"/>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40"/>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39"/>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57"/>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58"/>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60"/>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59"/>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81"/>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2" presetClass="entr" presetSubtype="4" fill="hold" grpId="0" nodeType="clickEffect">
                                  <p:stCondLst>
                                    <p:cond delay="0"/>
                                  </p:stCondLst>
                                  <p:childTnLst>
                                    <p:set>
                                      <p:cBhvr>
                                        <p:cTn id="148" dur="1" fill="hold">
                                          <p:stCondLst>
                                            <p:cond delay="0"/>
                                          </p:stCondLst>
                                        </p:cTn>
                                        <p:tgtEl>
                                          <p:spTgt spid="41"/>
                                        </p:tgtEl>
                                        <p:attrNameLst>
                                          <p:attrName>style.visibility</p:attrName>
                                        </p:attrNameLst>
                                      </p:cBhvr>
                                      <p:to>
                                        <p:strVal val="visible"/>
                                      </p:to>
                                    </p:set>
                                    <p:anim calcmode="lin" valueType="num">
                                      <p:cBhvr additive="base">
                                        <p:cTn id="149" dur="500"/>
                                        <p:tgtEl>
                                          <p:spTgt spid="41"/>
                                        </p:tgtEl>
                                        <p:attrNameLst>
                                          <p:attrName>ppt_y</p:attrName>
                                        </p:attrNameLst>
                                      </p:cBhvr>
                                      <p:tavLst>
                                        <p:tav tm="0">
                                          <p:val>
                                            <p:strVal val="#ppt_y+#ppt_h*1.125000"/>
                                          </p:val>
                                        </p:tav>
                                        <p:tav tm="100000">
                                          <p:val>
                                            <p:strVal val="#ppt_y"/>
                                          </p:val>
                                        </p:tav>
                                      </p:tavLst>
                                    </p:anim>
                                    <p:animEffect transition="in" filter="wipe(up)">
                                      <p:cBhvr>
                                        <p:cTn id="150" dur="500"/>
                                        <p:tgtEl>
                                          <p:spTgt spid="41"/>
                                        </p:tgtEl>
                                      </p:cBhvr>
                                    </p:animEffect>
                                  </p:childTnLst>
                                </p:cTn>
                              </p:par>
                            </p:childTnLst>
                          </p:cTn>
                        </p:par>
                        <p:par>
                          <p:cTn id="151" fill="hold">
                            <p:stCondLst>
                              <p:cond delay="500"/>
                            </p:stCondLst>
                            <p:childTnLst>
                              <p:par>
                                <p:cTn id="152" presetID="1" presetClass="entr" presetSubtype="0" fill="hold" grpId="0" nodeType="afterEffect">
                                  <p:stCondLst>
                                    <p:cond delay="0"/>
                                  </p:stCondLst>
                                  <p:childTnLst>
                                    <p:set>
                                      <p:cBhvr>
                                        <p:cTn id="153" dur="1" fill="hold">
                                          <p:stCondLst>
                                            <p:cond delay="0"/>
                                          </p:stCondLst>
                                        </p:cTn>
                                        <p:tgtEl>
                                          <p:spTgt spid="49"/>
                                        </p:tgtEl>
                                        <p:attrNameLst>
                                          <p:attrName>style.visibility</p:attrName>
                                        </p:attrNameLst>
                                      </p:cBhvr>
                                      <p:to>
                                        <p:strVal val="visible"/>
                                      </p:to>
                                    </p:set>
                                  </p:childTnLst>
                                </p:cTn>
                              </p:par>
                              <p:par>
                                <p:cTn id="154" presetID="1" presetClass="entr" presetSubtype="0" fill="hold" grpId="0" nodeType="withEffect">
                                  <p:stCondLst>
                                    <p:cond delay="0"/>
                                  </p:stCondLst>
                                  <p:childTnLst>
                                    <p:set>
                                      <p:cBhvr>
                                        <p:cTn id="155" dur="1" fill="hold">
                                          <p:stCondLst>
                                            <p:cond delay="0"/>
                                          </p:stCondLst>
                                        </p:cTn>
                                        <p:tgtEl>
                                          <p:spTgt spid="42"/>
                                        </p:tgtEl>
                                        <p:attrNameLst>
                                          <p:attrName>style.visibility</p:attrName>
                                        </p:attrNameLst>
                                      </p:cBhvr>
                                      <p:to>
                                        <p:strVal val="visible"/>
                                      </p:to>
                                    </p:set>
                                  </p:childTnLst>
                                </p:cTn>
                              </p:par>
                              <p:par>
                                <p:cTn id="156" presetID="1" presetClass="entr" presetSubtype="0" fill="hold" grpId="0" nodeType="withEffect">
                                  <p:stCondLst>
                                    <p:cond delay="0"/>
                                  </p:stCondLst>
                                  <p:childTnLst>
                                    <p:set>
                                      <p:cBhvr>
                                        <p:cTn id="157" dur="1" fill="hold">
                                          <p:stCondLst>
                                            <p:cond delay="0"/>
                                          </p:stCondLst>
                                        </p:cTn>
                                        <p:tgtEl>
                                          <p:spTgt spid="66"/>
                                        </p:tgtEl>
                                        <p:attrNameLst>
                                          <p:attrName>style.visibility</p:attrName>
                                        </p:attrNameLst>
                                      </p:cBhvr>
                                      <p:to>
                                        <p:strVal val="visible"/>
                                      </p:to>
                                    </p:set>
                                  </p:childTnLst>
                                </p:cTn>
                              </p:par>
                              <p:par>
                                <p:cTn id="158" presetID="1" presetClass="entr" presetSubtype="0" fill="hold" grpId="0" nodeType="withEffect">
                                  <p:stCondLst>
                                    <p:cond delay="0"/>
                                  </p:stCondLst>
                                  <p:childTnLst>
                                    <p:set>
                                      <p:cBhvr>
                                        <p:cTn id="159" dur="1" fill="hold">
                                          <p:stCondLst>
                                            <p:cond delay="0"/>
                                          </p:stCondLst>
                                        </p:cTn>
                                        <p:tgtEl>
                                          <p:spTgt spid="62"/>
                                        </p:tgtEl>
                                        <p:attrNameLst>
                                          <p:attrName>style.visibility</p:attrName>
                                        </p:attrNameLst>
                                      </p:cBhvr>
                                      <p:to>
                                        <p:strVal val="visible"/>
                                      </p:to>
                                    </p:set>
                                  </p:childTnLst>
                                </p:cTn>
                              </p:par>
                              <p:par>
                                <p:cTn id="160" presetID="1" presetClass="entr" presetSubtype="0" fill="hold" grpId="0" nodeType="withEffect">
                                  <p:stCondLst>
                                    <p:cond delay="0"/>
                                  </p:stCondLst>
                                  <p:childTnLst>
                                    <p:set>
                                      <p:cBhvr>
                                        <p:cTn id="161" dur="1" fill="hold">
                                          <p:stCondLst>
                                            <p:cond delay="0"/>
                                          </p:stCondLst>
                                        </p:cTn>
                                        <p:tgtEl>
                                          <p:spTgt spid="43"/>
                                        </p:tgtEl>
                                        <p:attrNameLst>
                                          <p:attrName>style.visibility</p:attrName>
                                        </p:attrNameLst>
                                      </p:cBhvr>
                                      <p:to>
                                        <p:strVal val="visible"/>
                                      </p:to>
                                    </p:set>
                                  </p:childTnLst>
                                </p:cTn>
                              </p:par>
                              <p:par>
                                <p:cTn id="162" presetID="1" presetClass="entr" presetSubtype="0" fill="hold" grpId="0" nodeType="withEffect">
                                  <p:stCondLst>
                                    <p:cond delay="0"/>
                                  </p:stCondLst>
                                  <p:childTnLst>
                                    <p:set>
                                      <p:cBhvr>
                                        <p:cTn id="163" dur="1" fill="hold">
                                          <p:stCondLst>
                                            <p:cond delay="0"/>
                                          </p:stCondLst>
                                        </p:cTn>
                                        <p:tgtEl>
                                          <p:spTgt spid="63"/>
                                        </p:tgtEl>
                                        <p:attrNameLst>
                                          <p:attrName>style.visibility</p:attrName>
                                        </p:attrNameLst>
                                      </p:cBhvr>
                                      <p:to>
                                        <p:strVal val="visible"/>
                                      </p:to>
                                    </p:set>
                                  </p:childTnLst>
                                </p:cTn>
                              </p:par>
                              <p:par>
                                <p:cTn id="164" presetID="1" presetClass="entr" presetSubtype="0" fill="hold" grpId="0" nodeType="withEffect">
                                  <p:stCondLst>
                                    <p:cond delay="0"/>
                                  </p:stCondLst>
                                  <p:childTnLst>
                                    <p:set>
                                      <p:cBhvr>
                                        <p:cTn id="165" dur="1" fill="hold">
                                          <p:stCondLst>
                                            <p:cond delay="0"/>
                                          </p:stCondLst>
                                        </p:cTn>
                                        <p:tgtEl>
                                          <p:spTgt spid="61"/>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1" presetClass="entr" presetSubtype="0" fill="hold" grpId="0" nodeType="clickEffect">
                                  <p:stCondLst>
                                    <p:cond delay="0"/>
                                  </p:stCondLst>
                                  <p:childTnLst>
                                    <p:set>
                                      <p:cBhvr>
                                        <p:cTn id="169" dur="1" fill="hold">
                                          <p:stCondLst>
                                            <p:cond delay="0"/>
                                          </p:stCondLst>
                                        </p:cTn>
                                        <p:tgtEl>
                                          <p:spTgt spid="83"/>
                                        </p:tgtEl>
                                        <p:attrNameLst>
                                          <p:attrName>style.visibility</p:attrName>
                                        </p:attrNameLst>
                                      </p:cBhvr>
                                      <p:to>
                                        <p:strVal val="visible"/>
                                      </p:to>
                                    </p:set>
                                  </p:childTnLst>
                                </p:cTn>
                              </p:par>
                              <p:par>
                                <p:cTn id="170" presetID="1" presetClass="entr" presetSubtype="0" fill="hold" grpId="0" nodeType="withEffect">
                                  <p:stCondLst>
                                    <p:cond delay="0"/>
                                  </p:stCondLst>
                                  <p:childTnLst>
                                    <p:set>
                                      <p:cBhvr>
                                        <p:cTn id="171" dur="1" fill="hold">
                                          <p:stCondLst>
                                            <p:cond delay="0"/>
                                          </p:stCondLst>
                                        </p:cTn>
                                        <p:tgtEl>
                                          <p:spTgt spid="65"/>
                                        </p:tgtEl>
                                        <p:attrNameLst>
                                          <p:attrName>style.visibility</p:attrName>
                                        </p:attrNameLst>
                                      </p:cBhvr>
                                      <p:to>
                                        <p:strVal val="visible"/>
                                      </p:to>
                                    </p:set>
                                  </p:childTnLst>
                                </p:cTn>
                              </p:par>
                              <p:par>
                                <p:cTn id="172" presetID="1" presetClass="entr" presetSubtype="0" fill="hold" grpId="0" nodeType="withEffect">
                                  <p:stCondLst>
                                    <p:cond delay="0"/>
                                  </p:stCondLst>
                                  <p:childTnLst>
                                    <p:set>
                                      <p:cBhvr>
                                        <p:cTn id="173" dur="1" fill="hold">
                                          <p:stCondLst>
                                            <p:cond delay="0"/>
                                          </p:stCondLst>
                                        </p:cTn>
                                        <p:tgtEl>
                                          <p:spTgt spid="64"/>
                                        </p:tgtEl>
                                        <p:attrNameLst>
                                          <p:attrName>style.visibility</p:attrName>
                                        </p:attrNameLst>
                                      </p:cBhvr>
                                      <p:to>
                                        <p:strVal val="visible"/>
                                      </p:to>
                                    </p:set>
                                  </p:childTnLst>
                                </p:cTn>
                              </p:par>
                            </p:childTnLst>
                          </p:cTn>
                        </p:par>
                      </p:childTnLst>
                    </p:cTn>
                  </p:par>
                  <p:par>
                    <p:cTn id="174" fill="hold">
                      <p:stCondLst>
                        <p:cond delay="indefinite"/>
                      </p:stCondLst>
                      <p:childTnLst>
                        <p:par>
                          <p:cTn id="175" fill="hold">
                            <p:stCondLst>
                              <p:cond delay="0"/>
                            </p:stCondLst>
                            <p:childTnLst>
                              <p:par>
                                <p:cTn id="176" presetID="12" presetClass="entr" presetSubtype="4" fill="hold" grpId="0" nodeType="clickEffect">
                                  <p:stCondLst>
                                    <p:cond delay="0"/>
                                  </p:stCondLst>
                                  <p:childTnLst>
                                    <p:set>
                                      <p:cBhvr>
                                        <p:cTn id="177" dur="1" fill="hold">
                                          <p:stCondLst>
                                            <p:cond delay="0"/>
                                          </p:stCondLst>
                                        </p:cTn>
                                        <p:tgtEl>
                                          <p:spTgt spid="44"/>
                                        </p:tgtEl>
                                        <p:attrNameLst>
                                          <p:attrName>style.visibility</p:attrName>
                                        </p:attrNameLst>
                                      </p:cBhvr>
                                      <p:to>
                                        <p:strVal val="visible"/>
                                      </p:to>
                                    </p:set>
                                    <p:anim calcmode="lin" valueType="num">
                                      <p:cBhvr additive="base">
                                        <p:cTn id="178" dur="500"/>
                                        <p:tgtEl>
                                          <p:spTgt spid="44"/>
                                        </p:tgtEl>
                                        <p:attrNameLst>
                                          <p:attrName>ppt_y</p:attrName>
                                        </p:attrNameLst>
                                      </p:cBhvr>
                                      <p:tavLst>
                                        <p:tav tm="0">
                                          <p:val>
                                            <p:strVal val="#ppt_y+#ppt_h*1.125000"/>
                                          </p:val>
                                        </p:tav>
                                        <p:tav tm="100000">
                                          <p:val>
                                            <p:strVal val="#ppt_y"/>
                                          </p:val>
                                        </p:tav>
                                      </p:tavLst>
                                    </p:anim>
                                    <p:animEffect transition="in" filter="wipe(up)">
                                      <p:cBhvr>
                                        <p:cTn id="179" dur="500"/>
                                        <p:tgtEl>
                                          <p:spTgt spid="44"/>
                                        </p:tgtEl>
                                      </p:cBhvr>
                                    </p:animEffect>
                                  </p:childTnLst>
                                </p:cTn>
                              </p:par>
                            </p:childTnLst>
                          </p:cTn>
                        </p:par>
                        <p:par>
                          <p:cTn id="180" fill="hold">
                            <p:stCondLst>
                              <p:cond delay="500"/>
                            </p:stCondLst>
                            <p:childTnLst>
                              <p:par>
                                <p:cTn id="181" presetID="1" presetClass="entr" presetSubtype="0" fill="hold" grpId="0" nodeType="afterEffect">
                                  <p:stCondLst>
                                    <p:cond delay="0"/>
                                  </p:stCondLst>
                                  <p:childTnLst>
                                    <p:set>
                                      <p:cBhvr>
                                        <p:cTn id="182" dur="1" fill="hold">
                                          <p:stCondLst>
                                            <p:cond delay="0"/>
                                          </p:stCondLst>
                                        </p:cTn>
                                        <p:tgtEl>
                                          <p:spTgt spid="50"/>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46"/>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68"/>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70"/>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74"/>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71"/>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69"/>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67"/>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45"/>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grpId="0" nodeType="clickEffect">
                                  <p:stCondLst>
                                    <p:cond delay="0"/>
                                  </p:stCondLst>
                                  <p:childTnLst>
                                    <p:set>
                                      <p:cBhvr>
                                        <p:cTn id="202" dur="1" fill="hold">
                                          <p:stCondLst>
                                            <p:cond delay="0"/>
                                          </p:stCondLst>
                                        </p:cTn>
                                        <p:tgtEl>
                                          <p:spTgt spid="101"/>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73"/>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72"/>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2" presetClass="entr" presetSubtype="4" fill="hold" grpId="0" nodeType="clickEffect">
                                  <p:stCondLst>
                                    <p:cond delay="0"/>
                                  </p:stCondLst>
                                  <p:childTnLst>
                                    <p:set>
                                      <p:cBhvr>
                                        <p:cTn id="210" dur="1" fill="hold">
                                          <p:stCondLst>
                                            <p:cond delay="0"/>
                                          </p:stCondLst>
                                        </p:cTn>
                                        <p:tgtEl>
                                          <p:spTgt spid="79"/>
                                        </p:tgtEl>
                                        <p:attrNameLst>
                                          <p:attrName>style.visibility</p:attrName>
                                        </p:attrNameLst>
                                      </p:cBhvr>
                                      <p:to>
                                        <p:strVal val="visible"/>
                                      </p:to>
                                    </p:set>
                                    <p:anim calcmode="lin" valueType="num">
                                      <p:cBhvr additive="base">
                                        <p:cTn id="211" dur="500" fill="hold"/>
                                        <p:tgtEl>
                                          <p:spTgt spid="79"/>
                                        </p:tgtEl>
                                        <p:attrNameLst>
                                          <p:attrName>ppt_x</p:attrName>
                                        </p:attrNameLst>
                                      </p:cBhvr>
                                      <p:tavLst>
                                        <p:tav tm="0">
                                          <p:val>
                                            <p:strVal val="#ppt_x"/>
                                          </p:val>
                                        </p:tav>
                                        <p:tav tm="100000">
                                          <p:val>
                                            <p:strVal val="#ppt_x"/>
                                          </p:val>
                                        </p:tav>
                                      </p:tavLst>
                                    </p:anim>
                                    <p:anim calcmode="lin" valueType="num">
                                      <p:cBhvr additive="base">
                                        <p:cTn id="212"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par>
                    <p:cTn id="213" fill="hold">
                      <p:stCondLst>
                        <p:cond delay="indefinite"/>
                      </p:stCondLst>
                      <p:childTnLst>
                        <p:par>
                          <p:cTn id="214" fill="hold">
                            <p:stCondLst>
                              <p:cond delay="0"/>
                            </p:stCondLst>
                            <p:childTnLst>
                              <p:par>
                                <p:cTn id="215" presetID="2" presetClass="entr" presetSubtype="4" fill="hold" grpId="0" nodeType="clickEffect">
                                  <p:stCondLst>
                                    <p:cond delay="0"/>
                                  </p:stCondLst>
                                  <p:childTnLst>
                                    <p:set>
                                      <p:cBhvr>
                                        <p:cTn id="216" dur="1" fill="hold">
                                          <p:stCondLst>
                                            <p:cond delay="0"/>
                                          </p:stCondLst>
                                        </p:cTn>
                                        <p:tgtEl>
                                          <p:spTgt spid="80"/>
                                        </p:tgtEl>
                                        <p:attrNameLst>
                                          <p:attrName>style.visibility</p:attrName>
                                        </p:attrNameLst>
                                      </p:cBhvr>
                                      <p:to>
                                        <p:strVal val="visible"/>
                                      </p:to>
                                    </p:set>
                                    <p:anim calcmode="lin" valueType="num">
                                      <p:cBhvr additive="base">
                                        <p:cTn id="217" dur="500" fill="hold"/>
                                        <p:tgtEl>
                                          <p:spTgt spid="80"/>
                                        </p:tgtEl>
                                        <p:attrNameLst>
                                          <p:attrName>ppt_x</p:attrName>
                                        </p:attrNameLst>
                                      </p:cBhvr>
                                      <p:tavLst>
                                        <p:tav tm="0">
                                          <p:val>
                                            <p:strVal val="#ppt_x"/>
                                          </p:val>
                                        </p:tav>
                                        <p:tav tm="100000">
                                          <p:val>
                                            <p:strVal val="#ppt_x"/>
                                          </p:val>
                                        </p:tav>
                                      </p:tavLst>
                                    </p:anim>
                                    <p:anim calcmode="lin" valueType="num">
                                      <p:cBhvr additive="base">
                                        <p:cTn id="218" dur="500" fill="hold"/>
                                        <p:tgtEl>
                                          <p:spTgt spid="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19" grpId="0"/>
      <p:bldP spid="14" grpId="0" animBg="1"/>
      <p:bldP spid="21" grpId="0"/>
      <p:bldP spid="20" grpId="0"/>
      <p:bldP spid="27" grpId="0" animBg="1"/>
      <p:bldP spid="28" grpId="0" animBg="1"/>
      <p:bldP spid="29" grpId="0"/>
      <p:bldP spid="30" grpId="0" animBg="1"/>
      <p:bldP spid="23" grpId="0"/>
      <p:bldP spid="34" grpId="0" animBg="1"/>
      <p:bldP spid="35" grpId="0" animBg="1"/>
      <p:bldP spid="36" grpId="0" animBg="1"/>
      <p:bldP spid="37" grpId="0"/>
      <p:bldP spid="38" grpId="0" animBg="1"/>
      <p:bldP spid="39" grpId="0" animBg="1"/>
      <p:bldP spid="40" grpId="0"/>
      <p:bldP spid="41" grpId="0" animBg="1"/>
      <p:bldP spid="42" grpId="0" animBg="1"/>
      <p:bldP spid="43" grpId="0"/>
      <p:bldP spid="44" grpId="0" animBg="1"/>
      <p:bldP spid="45" grpId="0" animBg="1"/>
      <p:bldP spid="46" grpId="0"/>
      <p:bldP spid="47" grpId="0"/>
      <p:bldP spid="48" grpId="0"/>
      <p:bldP spid="49" grpId="0"/>
      <p:bldP spid="50" grpId="0"/>
      <p:bldP spid="51" grpId="0" animBg="1"/>
      <p:bldP spid="52" grpId="0"/>
      <p:bldP spid="57" grpId="0" animBg="1"/>
      <p:bldP spid="58" grpId="0"/>
      <p:bldP spid="59" grpId="0" animBg="1"/>
      <p:bldP spid="60" grpId="0"/>
      <p:bldP spid="61" grpId="0" animBg="1"/>
      <p:bldP spid="62" grpId="0"/>
      <p:bldP spid="63" grpId="0" animBg="1"/>
      <p:bldP spid="64" grpId="0" animBg="1"/>
      <p:bldP spid="65" grpId="0"/>
      <p:bldP spid="66" grpId="0"/>
      <p:bldP spid="67" grpId="0" animBg="1"/>
      <p:bldP spid="68" grpId="0"/>
      <p:bldP spid="69" grpId="0" animBg="1"/>
      <p:bldP spid="70" grpId="0"/>
      <p:bldP spid="71" grpId="0" animBg="1"/>
      <p:bldP spid="72" grpId="0" animBg="1"/>
      <p:bldP spid="73" grpId="0"/>
      <p:bldP spid="74" grpId="0"/>
      <p:bldP spid="79" grpId="0"/>
      <p:bldP spid="80" grpId="0" animBg="1"/>
      <p:bldP spid="81" grpId="0" animBg="1"/>
      <p:bldP spid="82" grpId="0" animBg="1"/>
      <p:bldP spid="83" grpId="0" animBg="1"/>
      <p:bldP spid="10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700" y="966888"/>
            <a:ext cx="7886700" cy="634117"/>
          </a:xfrm>
        </p:spPr>
        <p:txBody>
          <a:bodyPr>
            <a:normAutofit fontScale="90000"/>
          </a:bodyPr>
          <a:lstStyle/>
          <a:p>
            <a:r>
              <a:rPr lang="en-GB" dirty="0"/>
              <a:t>Compound Interest</a:t>
            </a:r>
          </a:p>
        </p:txBody>
      </p:sp>
      <p:sp>
        <p:nvSpPr>
          <p:cNvPr id="3" name="Content Placeholder 2"/>
          <p:cNvSpPr>
            <a:spLocks noGrp="1"/>
          </p:cNvSpPr>
          <p:nvPr>
            <p:ph idx="1"/>
          </p:nvPr>
        </p:nvSpPr>
        <p:spPr>
          <a:xfrm>
            <a:off x="266700" y="1704974"/>
            <a:ext cx="8591550" cy="4005724"/>
          </a:xfrm>
        </p:spPr>
        <p:txBody>
          <a:bodyPr>
            <a:normAutofit/>
          </a:bodyPr>
          <a:lstStyle/>
          <a:p>
            <a:pPr marL="0" indent="0">
              <a:buClr>
                <a:srgbClr val="C00000"/>
              </a:buClr>
              <a:buSzPct val="90000"/>
              <a:buNone/>
            </a:pPr>
            <a:r>
              <a:rPr lang="en-GB" sz="1500" dirty="0">
                <a:solidFill>
                  <a:srgbClr val="0070C0"/>
                </a:solidFill>
              </a:rPr>
              <a:t>Scheme 1: </a:t>
            </a:r>
            <a:r>
              <a:rPr lang="en-GB" sz="1500" dirty="0">
                <a:ea typeface="Cambria Math" panose="02040503050406030204" pitchFamily="18" charset="0"/>
              </a:rPr>
              <a:t>a 5-year plan with an </a:t>
            </a:r>
            <a:r>
              <a:rPr lang="en-GB" sz="1500" i="1" dirty="0">
                <a:ea typeface="Cambria Math" panose="02040503050406030204" pitchFamily="18" charset="0"/>
              </a:rPr>
              <a:t>annual compound </a:t>
            </a:r>
            <a:r>
              <a:rPr lang="en-GB" sz="1500" dirty="0">
                <a:ea typeface="Cambria Math" panose="02040503050406030204" pitchFamily="18" charset="0"/>
              </a:rPr>
              <a:t>interest rate of 5%. </a:t>
            </a:r>
          </a:p>
          <a:p>
            <a:pPr marL="0" indent="0">
              <a:buClr>
                <a:srgbClr val="C00000"/>
              </a:buClr>
              <a:buSzPct val="90000"/>
              <a:buNone/>
            </a:pPr>
            <a:endParaRPr lang="en-GB" sz="1800" i="1" dirty="0">
              <a:solidFill>
                <a:srgbClr val="C00000"/>
              </a:solidFill>
              <a:latin typeface="Cambria Math" panose="02040503050406030204" pitchFamily="18" charset="0"/>
              <a:ea typeface="Cambria Math" panose="02040503050406030204" pitchFamily="18" charset="0"/>
            </a:endParaRPr>
          </a:p>
          <a:p>
            <a:pPr marL="0" indent="0">
              <a:buClr>
                <a:srgbClr val="C00000"/>
              </a:buClr>
              <a:buSzPct val="90000"/>
              <a:buNone/>
            </a:pPr>
            <a:endParaRPr lang="en-GB" sz="1800" i="1" dirty="0">
              <a:solidFill>
                <a:srgbClr val="C00000"/>
              </a:solidFill>
              <a:latin typeface="Cambria Math" panose="02040503050406030204" pitchFamily="18" charset="0"/>
              <a:ea typeface="Cambria Math" panose="02040503050406030204" pitchFamily="18" charset="0"/>
            </a:endParaRPr>
          </a:p>
          <a:p>
            <a:pPr marL="0" indent="0">
              <a:buClr>
                <a:srgbClr val="C00000"/>
              </a:buClr>
              <a:buSzPct val="90000"/>
              <a:buNone/>
            </a:pPr>
            <a:endParaRPr lang="en-GB" sz="1800" i="1" dirty="0">
              <a:solidFill>
                <a:srgbClr val="C00000"/>
              </a:solidFill>
              <a:latin typeface="Cambria Math" panose="02040503050406030204" pitchFamily="18" charset="0"/>
              <a:ea typeface="Cambria Math" panose="02040503050406030204" pitchFamily="18" charset="0"/>
            </a:endParaRPr>
          </a:p>
          <a:p>
            <a:pPr marL="0" indent="0">
              <a:buClr>
                <a:srgbClr val="C00000"/>
              </a:buClr>
              <a:buSzPct val="90000"/>
              <a:buNone/>
            </a:pPr>
            <a:endParaRPr lang="en-GB" sz="1800" i="1" dirty="0">
              <a:solidFill>
                <a:srgbClr val="C00000"/>
              </a:solidFill>
              <a:latin typeface="Cambria Math" panose="02040503050406030204" pitchFamily="18" charset="0"/>
              <a:ea typeface="Cambria Math" panose="02040503050406030204" pitchFamily="18" charset="0"/>
            </a:endParaRPr>
          </a:p>
          <a:p>
            <a:pPr marL="0" indent="0">
              <a:buClr>
                <a:srgbClr val="C00000"/>
              </a:buClr>
              <a:buSzPct val="90000"/>
              <a:buNone/>
            </a:pPr>
            <a:endParaRPr lang="en-GB" sz="900" i="1" dirty="0">
              <a:solidFill>
                <a:srgbClr val="C00000"/>
              </a:solidFill>
              <a:latin typeface="Cambria Math" panose="02040503050406030204" pitchFamily="18" charset="0"/>
              <a:ea typeface="Cambria Math" panose="02040503050406030204" pitchFamily="18" charset="0"/>
            </a:endParaRPr>
          </a:p>
          <a:p>
            <a:pPr marL="0" indent="0">
              <a:buClr>
                <a:srgbClr val="C00000"/>
              </a:buClr>
              <a:buSzPct val="90000"/>
              <a:buNone/>
            </a:pPr>
            <a:endParaRPr lang="en-GB" sz="1800" i="1" dirty="0">
              <a:solidFill>
                <a:srgbClr val="C00000"/>
              </a:solidFill>
              <a:latin typeface="Cambria Math" panose="02040503050406030204" pitchFamily="18" charset="0"/>
              <a:ea typeface="Cambria Math" panose="02040503050406030204" pitchFamily="18" charset="0"/>
            </a:endParaRPr>
          </a:p>
          <a:p>
            <a:pPr marL="0" indent="0">
              <a:buClr>
                <a:srgbClr val="C00000"/>
              </a:buClr>
              <a:buSzPct val="90000"/>
              <a:buNone/>
            </a:pPr>
            <a:endParaRPr lang="en-GB" sz="1800" i="1" dirty="0">
              <a:solidFill>
                <a:srgbClr val="C00000"/>
              </a:solidFill>
              <a:latin typeface="Cambria Math" panose="02040503050406030204" pitchFamily="18" charset="0"/>
              <a:ea typeface="Cambria Math" panose="02040503050406030204" pitchFamily="18" charset="0"/>
            </a:endParaRPr>
          </a:p>
          <a:p>
            <a:pPr marL="0" indent="0">
              <a:buClr>
                <a:srgbClr val="C00000"/>
              </a:buClr>
              <a:buSzPct val="90000"/>
              <a:buNone/>
            </a:pPr>
            <a:endParaRPr lang="en-GB" sz="1800" dirty="0"/>
          </a:p>
        </p:txBody>
      </p:sp>
      <p:sp>
        <p:nvSpPr>
          <p:cNvPr id="4" name="Slide Number Placeholder 3"/>
          <p:cNvSpPr>
            <a:spLocks noGrp="1"/>
          </p:cNvSpPr>
          <p:nvPr>
            <p:ph type="sldNum" sz="quarter" idx="12"/>
          </p:nvPr>
        </p:nvSpPr>
        <p:spPr>
          <a:xfrm>
            <a:off x="8548754" y="5710698"/>
            <a:ext cx="679467" cy="405323"/>
          </a:xfrm>
          <a:ln w="12700"/>
        </p:spPr>
        <p:txBody>
          <a:bodyPr/>
          <a:lstStyle/>
          <a:p>
            <a:pPr algn="ctr" defTabSz="685800" eaLnBrk="1" fontAlgn="auto" hangingPunct="1">
              <a:spcBef>
                <a:spcPts val="0"/>
              </a:spcBef>
              <a:spcAft>
                <a:spcPts val="0"/>
              </a:spcAft>
              <a:defRPr/>
            </a:pPr>
            <a:fld id="{0F99C4FB-888A-4D12-A1C4-C744D94026CD}" type="slidenum">
              <a:rPr lang="en-GB" sz="1350">
                <a:solidFill>
                  <a:prstClr val="black">
                    <a:lumMod val="50000"/>
                    <a:lumOff val="50000"/>
                  </a:prstClr>
                </a:solidFill>
                <a:latin typeface="Calibri" panose="020F0502020204030204"/>
                <a:ea typeface="+mn-ea"/>
              </a:rPr>
              <a:pPr algn="ctr" defTabSz="685800" eaLnBrk="1" fontAlgn="auto" hangingPunct="1">
                <a:spcBef>
                  <a:spcPts val="0"/>
                </a:spcBef>
                <a:spcAft>
                  <a:spcPts val="0"/>
                </a:spcAft>
                <a:defRPr/>
              </a:pPr>
              <a:t>10</a:t>
            </a:fld>
            <a:endParaRPr lang="en-GB" sz="1350" dirty="0">
              <a:solidFill>
                <a:prstClr val="black">
                  <a:lumMod val="50000"/>
                  <a:lumOff val="50000"/>
                </a:prstClr>
              </a:solidFill>
              <a:latin typeface="Calibri" panose="020F0502020204030204"/>
              <a:ea typeface="+mn-ea"/>
            </a:endParaRPr>
          </a:p>
        </p:txBody>
      </p:sp>
      <p:cxnSp>
        <p:nvCxnSpPr>
          <p:cNvPr id="6" name="Straight Connector 5">
            <a:extLst>
              <a:ext uri="{FF2B5EF4-FFF2-40B4-BE49-F238E27FC236}">
                <a16:creationId xmlns:a16="http://schemas.microsoft.com/office/drawing/2014/main" id="{FA2167AA-98EA-4279-B410-6F3AD66EC39D}"/>
              </a:ext>
            </a:extLst>
          </p:cNvPr>
          <p:cNvCxnSpPr/>
          <p:nvPr/>
        </p:nvCxnSpPr>
        <p:spPr>
          <a:xfrm>
            <a:off x="1105946" y="5317125"/>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DC5707A-55D9-45D0-AA4E-1AD5A9F83CD0}"/>
              </a:ext>
            </a:extLst>
          </p:cNvPr>
          <p:cNvCxnSpPr>
            <a:cxnSpLocks/>
          </p:cNvCxnSpPr>
          <p:nvPr/>
        </p:nvCxnSpPr>
        <p:spPr>
          <a:xfrm>
            <a:off x="1119382" y="5466212"/>
            <a:ext cx="6750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0F1E744-C5A1-488E-B178-50C069C8365A}"/>
              </a:ext>
            </a:extLst>
          </p:cNvPr>
          <p:cNvCxnSpPr/>
          <p:nvPr/>
        </p:nvCxnSpPr>
        <p:spPr>
          <a:xfrm>
            <a:off x="2470830" y="5317125"/>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0660C1C-F3CC-44FF-80EB-DE6B93AFDDAD}"/>
              </a:ext>
            </a:extLst>
          </p:cNvPr>
          <p:cNvCxnSpPr/>
          <p:nvPr/>
        </p:nvCxnSpPr>
        <p:spPr>
          <a:xfrm>
            <a:off x="3823242" y="5317125"/>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C6C3FFD-344B-4068-A56B-ADABC109A9F8}"/>
              </a:ext>
            </a:extLst>
          </p:cNvPr>
          <p:cNvCxnSpPr/>
          <p:nvPr/>
        </p:nvCxnSpPr>
        <p:spPr>
          <a:xfrm>
            <a:off x="5175656" y="5317125"/>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F72C9A4-AFF1-426C-AA54-5AE6CBDDE035}"/>
              </a:ext>
            </a:extLst>
          </p:cNvPr>
          <p:cNvCxnSpPr/>
          <p:nvPr/>
        </p:nvCxnSpPr>
        <p:spPr>
          <a:xfrm>
            <a:off x="6527378" y="5317125"/>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24BE7AF-8CBC-4712-8507-63D336BF8B1C}"/>
              </a:ext>
            </a:extLst>
          </p:cNvPr>
          <p:cNvCxnSpPr/>
          <p:nvPr/>
        </p:nvCxnSpPr>
        <p:spPr>
          <a:xfrm>
            <a:off x="7879099" y="5317125"/>
            <a:ext cx="0" cy="2981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E4DEB9D-4864-4367-93A1-898C425CFE1A}"/>
                  </a:ext>
                </a:extLst>
              </p:cNvPr>
              <p:cNvSpPr txBox="1"/>
              <p:nvPr/>
            </p:nvSpPr>
            <p:spPr>
              <a:xfrm>
                <a:off x="788226" y="5707318"/>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=0</m:t>
                      </m:r>
                    </m:oMath>
                  </m:oMathPara>
                </a14:m>
                <a:endParaRPr lang="en-GB" sz="1350" dirty="0">
                  <a:solidFill>
                    <a:prstClr val="black"/>
                  </a:solidFill>
                  <a:latin typeface="Calibri" panose="020F0502020204030204"/>
                  <a:ea typeface="+mn-ea"/>
                </a:endParaRPr>
              </a:p>
            </p:txBody>
          </p:sp>
        </mc:Choice>
        <mc:Fallback xmlns="">
          <p:sp>
            <p:nvSpPr>
              <p:cNvPr id="15" name="TextBox 14">
                <a:extLst>
                  <a:ext uri="{FF2B5EF4-FFF2-40B4-BE49-F238E27FC236}">
                    <a16:creationId xmlns:a16="http://schemas.microsoft.com/office/drawing/2014/main" id="{2E4DEB9D-4864-4367-93A1-898C425CFE1A}"/>
                  </a:ext>
                </a:extLst>
              </p:cNvPr>
              <p:cNvSpPr txBox="1">
                <a:spLocks noRot="1" noChangeAspect="1" noMove="1" noResize="1" noEditPoints="1" noAdjustHandles="1" noChangeArrowheads="1" noChangeShapeType="1" noTextEdit="1"/>
              </p:cNvSpPr>
              <p:nvPr/>
            </p:nvSpPr>
            <p:spPr>
              <a:xfrm>
                <a:off x="788226" y="5707318"/>
                <a:ext cx="660382" cy="300082"/>
              </a:xfrm>
              <a:prstGeom prst="rect">
                <a:avLst/>
              </a:prstGeom>
              <a:blipFill>
                <a:blip r:embed="rId3"/>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56622AB7-5AC3-4B1D-A4CE-34F332DEC861}"/>
                  </a:ext>
                </a:extLst>
              </p:cNvPr>
              <p:cNvSpPr txBox="1"/>
              <p:nvPr/>
            </p:nvSpPr>
            <p:spPr>
              <a:xfrm>
                <a:off x="2140639" y="5709719"/>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=1</m:t>
                      </m:r>
                    </m:oMath>
                  </m:oMathPara>
                </a14:m>
                <a:endParaRPr lang="en-GB" sz="1350" dirty="0">
                  <a:solidFill>
                    <a:prstClr val="black"/>
                  </a:solidFill>
                  <a:latin typeface="Calibri" panose="020F0502020204030204"/>
                  <a:ea typeface="+mn-ea"/>
                </a:endParaRPr>
              </a:p>
            </p:txBody>
          </p:sp>
        </mc:Choice>
        <mc:Fallback xmlns="">
          <p:sp>
            <p:nvSpPr>
              <p:cNvPr id="16" name="TextBox 15">
                <a:extLst>
                  <a:ext uri="{FF2B5EF4-FFF2-40B4-BE49-F238E27FC236}">
                    <a16:creationId xmlns:a16="http://schemas.microsoft.com/office/drawing/2014/main" id="{56622AB7-5AC3-4B1D-A4CE-34F332DEC861}"/>
                  </a:ext>
                </a:extLst>
              </p:cNvPr>
              <p:cNvSpPr txBox="1">
                <a:spLocks noRot="1" noChangeAspect="1" noMove="1" noResize="1" noEditPoints="1" noAdjustHandles="1" noChangeArrowheads="1" noChangeShapeType="1" noTextEdit="1"/>
              </p:cNvSpPr>
              <p:nvPr/>
            </p:nvSpPr>
            <p:spPr>
              <a:xfrm>
                <a:off x="2140639" y="5709719"/>
                <a:ext cx="660382" cy="300082"/>
              </a:xfrm>
              <a:prstGeom prst="rect">
                <a:avLst/>
              </a:prstGeom>
              <a:blipFill>
                <a:blip r:embed="rId4"/>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0CAA269-841E-41E2-B599-FE6AA72A6C82}"/>
                  </a:ext>
                </a:extLst>
              </p:cNvPr>
              <p:cNvSpPr txBox="1"/>
              <p:nvPr/>
            </p:nvSpPr>
            <p:spPr>
              <a:xfrm>
                <a:off x="3493052" y="5709719"/>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=2</m:t>
                      </m:r>
                    </m:oMath>
                  </m:oMathPara>
                </a14:m>
                <a:endParaRPr lang="en-GB" sz="1350" dirty="0">
                  <a:solidFill>
                    <a:prstClr val="black"/>
                  </a:solidFill>
                  <a:latin typeface="Calibri" panose="020F0502020204030204"/>
                  <a:ea typeface="+mn-ea"/>
                </a:endParaRPr>
              </a:p>
            </p:txBody>
          </p:sp>
        </mc:Choice>
        <mc:Fallback xmlns="">
          <p:sp>
            <p:nvSpPr>
              <p:cNvPr id="17" name="TextBox 16">
                <a:extLst>
                  <a:ext uri="{FF2B5EF4-FFF2-40B4-BE49-F238E27FC236}">
                    <a16:creationId xmlns:a16="http://schemas.microsoft.com/office/drawing/2014/main" id="{50CAA269-841E-41E2-B599-FE6AA72A6C82}"/>
                  </a:ext>
                </a:extLst>
              </p:cNvPr>
              <p:cNvSpPr txBox="1">
                <a:spLocks noRot="1" noChangeAspect="1" noMove="1" noResize="1" noEditPoints="1" noAdjustHandles="1" noChangeArrowheads="1" noChangeShapeType="1" noTextEdit="1"/>
              </p:cNvSpPr>
              <p:nvPr/>
            </p:nvSpPr>
            <p:spPr>
              <a:xfrm>
                <a:off x="3493052" y="5709719"/>
                <a:ext cx="660382" cy="300082"/>
              </a:xfrm>
              <a:prstGeom prst="rect">
                <a:avLst/>
              </a:prstGeom>
              <a:blipFill>
                <a:blip r:embed="rId5"/>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22FBA94-402D-412D-B6C3-F4E8DFB52032}"/>
                  </a:ext>
                </a:extLst>
              </p:cNvPr>
              <p:cNvSpPr txBox="1"/>
              <p:nvPr/>
            </p:nvSpPr>
            <p:spPr>
              <a:xfrm>
                <a:off x="4845465" y="5713669"/>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=3</m:t>
                      </m:r>
                    </m:oMath>
                  </m:oMathPara>
                </a14:m>
                <a:endParaRPr lang="en-GB" sz="1350" dirty="0">
                  <a:solidFill>
                    <a:prstClr val="black"/>
                  </a:solidFill>
                  <a:latin typeface="Calibri" panose="020F0502020204030204"/>
                  <a:ea typeface="+mn-ea"/>
                </a:endParaRPr>
              </a:p>
            </p:txBody>
          </p:sp>
        </mc:Choice>
        <mc:Fallback xmlns="">
          <p:sp>
            <p:nvSpPr>
              <p:cNvPr id="18" name="TextBox 17">
                <a:extLst>
                  <a:ext uri="{FF2B5EF4-FFF2-40B4-BE49-F238E27FC236}">
                    <a16:creationId xmlns:a16="http://schemas.microsoft.com/office/drawing/2014/main" id="{322FBA94-402D-412D-B6C3-F4E8DFB52032}"/>
                  </a:ext>
                </a:extLst>
              </p:cNvPr>
              <p:cNvSpPr txBox="1">
                <a:spLocks noRot="1" noChangeAspect="1" noMove="1" noResize="1" noEditPoints="1" noAdjustHandles="1" noChangeArrowheads="1" noChangeShapeType="1" noTextEdit="1"/>
              </p:cNvSpPr>
              <p:nvPr/>
            </p:nvSpPr>
            <p:spPr>
              <a:xfrm>
                <a:off x="4845465" y="5713669"/>
                <a:ext cx="660382" cy="300082"/>
              </a:xfrm>
              <a:prstGeom prst="rect">
                <a:avLst/>
              </a:prstGeom>
              <a:blipFill>
                <a:blip r:embed="rId6"/>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CE5B13D-06C9-4867-B8B1-495C26DD0645}"/>
                  </a:ext>
                </a:extLst>
              </p:cNvPr>
              <p:cNvSpPr txBox="1"/>
              <p:nvPr/>
            </p:nvSpPr>
            <p:spPr>
              <a:xfrm>
                <a:off x="6197187" y="5707318"/>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=4</m:t>
                      </m:r>
                    </m:oMath>
                  </m:oMathPara>
                </a14:m>
                <a:endParaRPr lang="en-GB" sz="1350" dirty="0">
                  <a:solidFill>
                    <a:prstClr val="black"/>
                  </a:solidFill>
                  <a:latin typeface="Calibri" panose="020F0502020204030204"/>
                  <a:ea typeface="+mn-ea"/>
                </a:endParaRPr>
              </a:p>
            </p:txBody>
          </p:sp>
        </mc:Choice>
        <mc:Fallback xmlns="">
          <p:sp>
            <p:nvSpPr>
              <p:cNvPr id="19" name="TextBox 18">
                <a:extLst>
                  <a:ext uri="{FF2B5EF4-FFF2-40B4-BE49-F238E27FC236}">
                    <a16:creationId xmlns:a16="http://schemas.microsoft.com/office/drawing/2014/main" id="{1CE5B13D-06C9-4867-B8B1-495C26DD0645}"/>
                  </a:ext>
                </a:extLst>
              </p:cNvPr>
              <p:cNvSpPr txBox="1">
                <a:spLocks noRot="1" noChangeAspect="1" noMove="1" noResize="1" noEditPoints="1" noAdjustHandles="1" noChangeArrowheads="1" noChangeShapeType="1" noTextEdit="1"/>
              </p:cNvSpPr>
              <p:nvPr/>
            </p:nvSpPr>
            <p:spPr>
              <a:xfrm>
                <a:off x="6197187" y="5707318"/>
                <a:ext cx="660382" cy="300082"/>
              </a:xfrm>
              <a:prstGeom prst="rect">
                <a:avLst/>
              </a:prstGeom>
              <a:blipFill>
                <a:blip r:embed="rId7"/>
                <a:stretch>
                  <a:fillRect/>
                </a:stretch>
              </a:blipFill>
              <a:ln>
                <a:noFill/>
              </a:ln>
            </p:spPr>
            <p:txBody>
              <a:bodyPr/>
              <a:lstStyle/>
              <a:p>
                <a:r>
                  <a:rPr lang="en-GB">
                    <a:noFill/>
                  </a:rPr>
                  <a:t> </a:t>
                </a:r>
              </a:p>
            </p:txBody>
          </p:sp>
        </mc:Fallback>
      </mc:AlternateContent>
      <p:sp>
        <p:nvSpPr>
          <p:cNvPr id="14" name="Rectangle 13">
            <a:extLst>
              <a:ext uri="{FF2B5EF4-FFF2-40B4-BE49-F238E27FC236}">
                <a16:creationId xmlns:a16="http://schemas.microsoft.com/office/drawing/2014/main" id="{B3F377C7-3BBC-4BF7-9A5D-0583D70C8381}"/>
              </a:ext>
            </a:extLst>
          </p:cNvPr>
          <p:cNvSpPr/>
          <p:nvPr/>
        </p:nvSpPr>
        <p:spPr>
          <a:xfrm>
            <a:off x="778798" y="4529687"/>
            <a:ext cx="644936" cy="64893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C0E22DE-942B-4ABC-A336-818F69F044C0}"/>
                  </a:ext>
                </a:extLst>
              </p:cNvPr>
              <p:cNvSpPr txBox="1"/>
              <p:nvPr/>
            </p:nvSpPr>
            <p:spPr>
              <a:xfrm>
                <a:off x="7548908" y="5713669"/>
                <a:ext cx="660382" cy="300082"/>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350" i="1">
                          <a:solidFill>
                            <a:prstClr val="black"/>
                          </a:solidFill>
                          <a:latin typeface="Cambria Math" panose="02040503050406030204" pitchFamily="18" charset="0"/>
                          <a:ea typeface="+mn-ea"/>
                        </a:rPr>
                        <m:t>𝑡</m:t>
                      </m:r>
                      <m:r>
                        <a:rPr lang="en-GB" sz="1350" i="1">
                          <a:solidFill>
                            <a:prstClr val="black"/>
                          </a:solidFill>
                          <a:latin typeface="Cambria Math" panose="02040503050406030204" pitchFamily="18" charset="0"/>
                          <a:ea typeface="+mn-ea"/>
                        </a:rPr>
                        <m:t>=5</m:t>
                      </m:r>
                    </m:oMath>
                  </m:oMathPara>
                </a14:m>
                <a:endParaRPr lang="en-GB" sz="1350" dirty="0">
                  <a:solidFill>
                    <a:prstClr val="black"/>
                  </a:solidFill>
                  <a:latin typeface="Calibri" panose="020F0502020204030204"/>
                  <a:ea typeface="+mn-ea"/>
                </a:endParaRPr>
              </a:p>
            </p:txBody>
          </p:sp>
        </mc:Choice>
        <mc:Fallback xmlns="">
          <p:sp>
            <p:nvSpPr>
              <p:cNvPr id="21" name="TextBox 20">
                <a:extLst>
                  <a:ext uri="{FF2B5EF4-FFF2-40B4-BE49-F238E27FC236}">
                    <a16:creationId xmlns:a16="http://schemas.microsoft.com/office/drawing/2014/main" id="{1C0E22DE-942B-4ABC-A336-818F69F044C0}"/>
                  </a:ext>
                </a:extLst>
              </p:cNvPr>
              <p:cNvSpPr txBox="1">
                <a:spLocks noRot="1" noChangeAspect="1" noMove="1" noResize="1" noEditPoints="1" noAdjustHandles="1" noChangeArrowheads="1" noChangeShapeType="1" noTextEdit="1"/>
              </p:cNvSpPr>
              <p:nvPr/>
            </p:nvSpPr>
            <p:spPr>
              <a:xfrm>
                <a:off x="7548908" y="5713669"/>
                <a:ext cx="660382" cy="300082"/>
              </a:xfrm>
              <a:prstGeom prst="rect">
                <a:avLst/>
              </a:prstGeom>
              <a:blipFill>
                <a:blip r:embed="rId8"/>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92E8F1A-169B-4C59-8280-2C08B716F97D}"/>
                  </a:ext>
                </a:extLst>
              </p:cNvPr>
              <p:cNvSpPr txBox="1"/>
              <p:nvPr/>
            </p:nvSpPr>
            <p:spPr>
              <a:xfrm>
                <a:off x="762574" y="4704114"/>
                <a:ext cx="583571" cy="32316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500" i="1">
                          <a:latin typeface="Cambria Math" panose="02040503050406030204" pitchFamily="18" charset="0"/>
                          <a:ea typeface="+mn-ea"/>
                        </a:rPr>
                        <m:t>£1,000</m:t>
                      </m:r>
                    </m:oMath>
                  </m:oMathPara>
                </a14:m>
                <a:endParaRPr lang="en-GB" sz="1500" dirty="0">
                  <a:latin typeface="Calibri" panose="020F0502020204030204"/>
                  <a:ea typeface="+mn-ea"/>
                </a:endParaRPr>
              </a:p>
            </p:txBody>
          </p:sp>
        </mc:Choice>
        <mc:Fallback xmlns="">
          <p:sp>
            <p:nvSpPr>
              <p:cNvPr id="20" name="TextBox 19">
                <a:extLst>
                  <a:ext uri="{FF2B5EF4-FFF2-40B4-BE49-F238E27FC236}">
                    <a16:creationId xmlns:a16="http://schemas.microsoft.com/office/drawing/2014/main" id="{F92E8F1A-169B-4C59-8280-2C08B716F97D}"/>
                  </a:ext>
                </a:extLst>
              </p:cNvPr>
              <p:cNvSpPr txBox="1">
                <a:spLocks noRot="1" noChangeAspect="1" noMove="1" noResize="1" noEditPoints="1" noAdjustHandles="1" noChangeArrowheads="1" noChangeShapeType="1" noTextEdit="1"/>
              </p:cNvSpPr>
              <p:nvPr/>
            </p:nvSpPr>
            <p:spPr>
              <a:xfrm>
                <a:off x="762574" y="4704114"/>
                <a:ext cx="583571" cy="323165"/>
              </a:xfrm>
              <a:prstGeom prst="rect">
                <a:avLst/>
              </a:prstGeom>
              <a:blipFill>
                <a:blip r:embed="rId9"/>
                <a:stretch>
                  <a:fillRect r="-21875"/>
                </a:stretch>
              </a:blipFill>
              <a:ln>
                <a:noFill/>
              </a:ln>
            </p:spPr>
            <p:txBody>
              <a:bodyPr/>
              <a:lstStyle/>
              <a:p>
                <a:r>
                  <a:rPr lang="en-GB">
                    <a:noFill/>
                  </a:rPr>
                  <a:t> </a:t>
                </a:r>
              </a:p>
            </p:txBody>
          </p:sp>
        </mc:Fallback>
      </mc:AlternateContent>
      <p:sp>
        <p:nvSpPr>
          <p:cNvPr id="28" name="Rectangle 27">
            <a:extLst>
              <a:ext uri="{FF2B5EF4-FFF2-40B4-BE49-F238E27FC236}">
                <a16:creationId xmlns:a16="http://schemas.microsoft.com/office/drawing/2014/main" id="{F661D6EF-2D6C-47BA-A674-8FEC256BF2E4}"/>
              </a:ext>
            </a:extLst>
          </p:cNvPr>
          <p:cNvSpPr/>
          <p:nvPr/>
        </p:nvSpPr>
        <p:spPr>
          <a:xfrm>
            <a:off x="2090262" y="3993353"/>
            <a:ext cx="729000" cy="1185272"/>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4C716CCC-FC48-4E43-B252-32DE757A7BDC}"/>
                  </a:ext>
                </a:extLst>
              </p:cNvPr>
              <p:cNvSpPr txBox="1"/>
              <p:nvPr/>
            </p:nvSpPr>
            <p:spPr>
              <a:xfrm>
                <a:off x="2020106" y="3996621"/>
                <a:ext cx="872807" cy="830997"/>
              </a:xfrm>
              <a:prstGeom prst="rect">
                <a:avLst/>
              </a:prstGeom>
              <a:noFill/>
              <a:ln>
                <a:noFill/>
              </a:ln>
            </p:spPr>
            <p:txBody>
              <a:bodyPr wrap="square" rtlCol="0">
                <a:spAutoFit/>
              </a:bodyPr>
              <a:lstStyle/>
              <a:p>
                <a:pPr lvl="0">
                  <a:defRPr/>
                </a:pPr>
                <a14:m>
                  <m:oMathPara xmlns:m="http://schemas.openxmlformats.org/officeDocument/2006/math">
                    <m:oMathParaPr>
                      <m:jc m:val="centerGroup"/>
                    </m:oMathParaPr>
                    <m:oMath xmlns:m="http://schemas.openxmlformats.org/officeDocument/2006/math">
                      <m:r>
                        <a:rPr lang="en-GB" sz="1200" b="1" i="1">
                          <a:latin typeface="Cambria Math" panose="02040503050406030204" pitchFamily="18" charset="0"/>
                        </a:rPr>
                        <m:t>£</m:t>
                      </m:r>
                      <m:r>
                        <a:rPr lang="en-GB" sz="1200" b="1" i="1">
                          <a:latin typeface="Cambria Math" panose="02040503050406030204" pitchFamily="18" charset="0"/>
                        </a:rPr>
                        <m:t>𝟏</m:t>
                      </m:r>
                      <m:r>
                        <a:rPr lang="en-GB" sz="1200" b="1" i="1">
                          <a:latin typeface="Cambria Math" panose="02040503050406030204" pitchFamily="18" charset="0"/>
                        </a:rPr>
                        <m:t>,</m:t>
                      </m:r>
                      <m:r>
                        <a:rPr lang="en-GB" sz="1200" b="1" i="1">
                          <a:latin typeface="Cambria Math" panose="02040503050406030204" pitchFamily="18" charset="0"/>
                        </a:rPr>
                        <m:t>𝟎𝟎𝟎</m:t>
                      </m:r>
                    </m:oMath>
                  </m:oMathPara>
                </a14:m>
                <a:endParaRPr lang="en-GB" sz="1200" b="1" i="1" dirty="0">
                  <a:latin typeface="Arial" panose="020B0604020202020204" pitchFamily="34"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r>
                        <a:rPr lang="en-GB" sz="1200" i="1" smtClean="0">
                          <a:solidFill>
                            <a:srgbClr val="C00000"/>
                          </a:solidFill>
                          <a:latin typeface="Cambria Math" panose="02040503050406030204" pitchFamily="18" charset="0"/>
                          <a:ea typeface="Cambria Math" panose="02040503050406030204" pitchFamily="18" charset="0"/>
                        </a:rPr>
                        <m:t>×</m:t>
                      </m:r>
                    </m:oMath>
                  </m:oMathPara>
                </a14:m>
                <a:endParaRPr lang="en-GB" sz="1200" i="1" dirty="0">
                  <a:solidFill>
                    <a:srgbClr val="C00000"/>
                  </a:solidFill>
                  <a:latin typeface="Arial" panose="020B0604020202020204" pitchFamily="34" charset="0"/>
                  <a:ea typeface="Cambria Math" panose="02040503050406030204" pitchFamily="18"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r>
                        <a:rPr lang="en-GB" sz="1200" i="1">
                          <a:solidFill>
                            <a:srgbClr val="C00000"/>
                          </a:solidFill>
                          <a:latin typeface="Cambria Math" panose="02040503050406030204" pitchFamily="18" charset="0"/>
                          <a:ea typeface="Cambria Math" panose="02040503050406030204" pitchFamily="18" charset="0"/>
                        </a:rPr>
                        <m:t>(1+5%)</m:t>
                      </m:r>
                    </m:oMath>
                  </m:oMathPara>
                </a14:m>
                <a:endParaRPr lang="en-GB" sz="1200" dirty="0">
                  <a:solidFill>
                    <a:srgbClr val="C00000"/>
                  </a:solidFill>
                  <a:latin typeface="Arial" panose="020B0604020202020204" pitchFamily="34" charset="0"/>
                  <a:cs typeface="Arial" panose="020B0604020202020204" pitchFamily="34" charset="0"/>
                </a:endParaRPr>
              </a:p>
              <a:p>
                <a:pPr defTabSz="685800" eaLnBrk="1" fontAlgn="auto" hangingPunct="1">
                  <a:spcBef>
                    <a:spcPts val="0"/>
                  </a:spcBef>
                  <a:spcAft>
                    <a:spcPts val="0"/>
                  </a:spcAft>
                  <a:defRPr/>
                </a:pPr>
                <a:endParaRPr lang="en-GB" sz="1200" dirty="0">
                  <a:latin typeface="Arial" panose="020B0604020202020204" pitchFamily="34" charset="0"/>
                  <a:cs typeface="Arial" panose="020B0604020202020204" pitchFamily="34" charset="0"/>
                </a:endParaRPr>
              </a:p>
            </p:txBody>
          </p:sp>
        </mc:Choice>
        <mc:Fallback xmlns="">
          <p:sp>
            <p:nvSpPr>
              <p:cNvPr id="29" name="TextBox 28">
                <a:extLst>
                  <a:ext uri="{FF2B5EF4-FFF2-40B4-BE49-F238E27FC236}">
                    <a16:creationId xmlns:a16="http://schemas.microsoft.com/office/drawing/2014/main" id="{4C716CCC-FC48-4E43-B252-32DE757A7BDC}"/>
                  </a:ext>
                </a:extLst>
              </p:cNvPr>
              <p:cNvSpPr txBox="1">
                <a:spLocks noRot="1" noChangeAspect="1" noMove="1" noResize="1" noEditPoints="1" noAdjustHandles="1" noChangeArrowheads="1" noChangeShapeType="1" noTextEdit="1"/>
              </p:cNvSpPr>
              <p:nvPr/>
            </p:nvSpPr>
            <p:spPr>
              <a:xfrm>
                <a:off x="2020106" y="3996621"/>
                <a:ext cx="872807" cy="830997"/>
              </a:xfrm>
              <a:prstGeom prst="rect">
                <a:avLst/>
              </a:prstGeom>
              <a:blipFill>
                <a:blip r:embed="rId10"/>
                <a:stretch>
                  <a:fillRect/>
                </a:stretch>
              </a:blipFill>
              <a:ln>
                <a:noFill/>
              </a:ln>
            </p:spPr>
            <p:txBody>
              <a:bodyPr/>
              <a:lstStyle/>
              <a:p>
                <a:r>
                  <a:rPr lang="en-GB">
                    <a:noFill/>
                  </a:rPr>
                  <a:t> </a:t>
                </a:r>
              </a:p>
            </p:txBody>
          </p:sp>
        </mc:Fallback>
      </mc:AlternateContent>
      <p:sp>
        <p:nvSpPr>
          <p:cNvPr id="35" name="Rectangle 34">
            <a:extLst>
              <a:ext uri="{FF2B5EF4-FFF2-40B4-BE49-F238E27FC236}">
                <a16:creationId xmlns:a16="http://schemas.microsoft.com/office/drawing/2014/main" id="{A06F1D8F-BE50-4029-A2A2-A7FC7DD97545}"/>
              </a:ext>
            </a:extLst>
          </p:cNvPr>
          <p:cNvSpPr/>
          <p:nvPr/>
        </p:nvSpPr>
        <p:spPr>
          <a:xfrm>
            <a:off x="3470886" y="3473681"/>
            <a:ext cx="729000" cy="170494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8" name="Rectangle 37">
            <a:extLst>
              <a:ext uri="{FF2B5EF4-FFF2-40B4-BE49-F238E27FC236}">
                <a16:creationId xmlns:a16="http://schemas.microsoft.com/office/drawing/2014/main" id="{BB5195E6-91AA-42CB-BEEE-4B685918F671}"/>
              </a:ext>
            </a:extLst>
          </p:cNvPr>
          <p:cNvSpPr/>
          <p:nvPr/>
        </p:nvSpPr>
        <p:spPr>
          <a:xfrm>
            <a:off x="4796918" y="2889456"/>
            <a:ext cx="729000" cy="2292084"/>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1" name="Rectangle 40">
            <a:extLst>
              <a:ext uri="{FF2B5EF4-FFF2-40B4-BE49-F238E27FC236}">
                <a16:creationId xmlns:a16="http://schemas.microsoft.com/office/drawing/2014/main" id="{721FAD92-B8B8-446D-ABE6-6E33AC56674A}"/>
              </a:ext>
            </a:extLst>
          </p:cNvPr>
          <p:cNvSpPr/>
          <p:nvPr/>
        </p:nvSpPr>
        <p:spPr>
          <a:xfrm>
            <a:off x="6162877" y="2205257"/>
            <a:ext cx="729000" cy="296154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4" name="Rectangle 43">
            <a:extLst>
              <a:ext uri="{FF2B5EF4-FFF2-40B4-BE49-F238E27FC236}">
                <a16:creationId xmlns:a16="http://schemas.microsoft.com/office/drawing/2014/main" id="{C5E05F6B-3321-40C4-9576-4ED23CE42D0F}"/>
              </a:ext>
            </a:extLst>
          </p:cNvPr>
          <p:cNvSpPr/>
          <p:nvPr/>
        </p:nvSpPr>
        <p:spPr>
          <a:xfrm>
            <a:off x="7517685" y="1601005"/>
            <a:ext cx="729000" cy="3564559"/>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DDFC15CC-397F-4D43-89A0-307CC42A1C90}"/>
                  </a:ext>
                </a:extLst>
              </p:cNvPr>
              <p:cNvSpPr txBox="1"/>
              <p:nvPr/>
            </p:nvSpPr>
            <p:spPr>
              <a:xfrm>
                <a:off x="3384231" y="3429001"/>
                <a:ext cx="930197" cy="1758495"/>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200" b="1" i="1">
                          <a:latin typeface="Cambria Math" panose="02040503050406030204" pitchFamily="18" charset="0"/>
                        </a:rPr>
                        <m:t>£</m:t>
                      </m:r>
                      <m:r>
                        <a:rPr lang="en-GB" sz="1200" b="1" i="1">
                          <a:latin typeface="Cambria Math" panose="02040503050406030204" pitchFamily="18" charset="0"/>
                        </a:rPr>
                        <m:t>𝟏</m:t>
                      </m:r>
                      <m:r>
                        <a:rPr lang="en-GB" sz="1200" b="1" i="1">
                          <a:latin typeface="Cambria Math" panose="02040503050406030204" pitchFamily="18" charset="0"/>
                        </a:rPr>
                        <m:t>,</m:t>
                      </m:r>
                      <m:r>
                        <a:rPr lang="en-GB" sz="1200" b="1" i="1">
                          <a:latin typeface="Cambria Math" panose="02040503050406030204" pitchFamily="18" charset="0"/>
                        </a:rPr>
                        <m:t>𝟎𝟎𝟎</m:t>
                      </m:r>
                    </m:oMath>
                  </m:oMathPara>
                </a14:m>
                <a:endParaRPr lang="en-GB" sz="1200" b="1" dirty="0">
                  <a:latin typeface="Arial" panose="020B0604020202020204" pitchFamily="34"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r>
                        <a:rPr lang="en-GB" sz="1200" b="1" i="1">
                          <a:solidFill>
                            <a:schemeClr val="tx1"/>
                          </a:solidFill>
                          <a:latin typeface="Cambria Math" panose="02040503050406030204" pitchFamily="18" charset="0"/>
                          <a:ea typeface="Cambria Math" panose="02040503050406030204" pitchFamily="18" charset="0"/>
                        </a:rPr>
                        <m:t>×</m:t>
                      </m:r>
                    </m:oMath>
                  </m:oMathPara>
                </a14:m>
                <a:endParaRPr lang="en-GB" sz="1200" b="1" i="1" dirty="0">
                  <a:solidFill>
                    <a:schemeClr val="tx1"/>
                  </a:solidFill>
                  <a:latin typeface="Arial" panose="020B0604020202020204" pitchFamily="34" charset="0"/>
                  <a:ea typeface="Cambria Math" panose="02040503050406030204" pitchFamily="18"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r>
                        <a:rPr lang="en-GB" sz="1200" b="1" i="1">
                          <a:solidFill>
                            <a:schemeClr val="tx1"/>
                          </a:solidFill>
                          <a:latin typeface="Cambria Math" panose="02040503050406030204" pitchFamily="18" charset="0"/>
                          <a:ea typeface="Cambria Math" panose="02040503050406030204" pitchFamily="18" charset="0"/>
                        </a:rPr>
                        <m:t>(</m:t>
                      </m:r>
                      <m:r>
                        <a:rPr lang="en-GB" sz="1200" b="1" i="1">
                          <a:solidFill>
                            <a:schemeClr val="tx1"/>
                          </a:solidFill>
                          <a:latin typeface="Cambria Math" panose="02040503050406030204" pitchFamily="18" charset="0"/>
                          <a:ea typeface="Cambria Math" panose="02040503050406030204" pitchFamily="18" charset="0"/>
                        </a:rPr>
                        <m:t>𝟏</m:t>
                      </m:r>
                      <m:r>
                        <a:rPr lang="en-GB" sz="1200" b="1" i="1">
                          <a:solidFill>
                            <a:schemeClr val="tx1"/>
                          </a:solidFill>
                          <a:latin typeface="Cambria Math" panose="02040503050406030204" pitchFamily="18" charset="0"/>
                          <a:ea typeface="Cambria Math" panose="02040503050406030204" pitchFamily="18" charset="0"/>
                        </a:rPr>
                        <m:t>+</m:t>
                      </m:r>
                      <m:r>
                        <a:rPr lang="en-GB" sz="1200" b="1" i="1">
                          <a:solidFill>
                            <a:schemeClr val="tx1"/>
                          </a:solidFill>
                          <a:latin typeface="Cambria Math" panose="02040503050406030204" pitchFamily="18" charset="0"/>
                          <a:ea typeface="Cambria Math" panose="02040503050406030204" pitchFamily="18" charset="0"/>
                        </a:rPr>
                        <m:t>𝟓</m:t>
                      </m:r>
                      <m:r>
                        <a:rPr lang="en-GB" sz="1200" b="1" i="1">
                          <a:solidFill>
                            <a:schemeClr val="tx1"/>
                          </a:solidFill>
                          <a:latin typeface="Cambria Math" panose="02040503050406030204" pitchFamily="18" charset="0"/>
                          <a:ea typeface="Cambria Math" panose="02040503050406030204" pitchFamily="18" charset="0"/>
                        </a:rPr>
                        <m:t>%)</m:t>
                      </m:r>
                    </m:oMath>
                  </m:oMathPara>
                </a14:m>
                <a:endParaRPr lang="en-GB" sz="1200" b="1" dirty="0">
                  <a:solidFill>
                    <a:schemeClr val="tx1"/>
                  </a:solidFill>
                  <a:latin typeface="Arial" panose="020B0604020202020204" pitchFamily="34"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r>
                        <a:rPr lang="en-GB" sz="1200" i="1" smtClean="0">
                          <a:solidFill>
                            <a:srgbClr val="C00000"/>
                          </a:solidFill>
                          <a:latin typeface="Cambria Math" panose="02040503050406030204" pitchFamily="18" charset="0"/>
                          <a:ea typeface="Cambria Math" panose="02040503050406030204" pitchFamily="18" charset="0"/>
                        </a:rPr>
                        <m:t>×</m:t>
                      </m:r>
                    </m:oMath>
                  </m:oMathPara>
                </a14:m>
                <a:endParaRPr lang="en-GB" sz="1200" i="1" dirty="0">
                  <a:solidFill>
                    <a:srgbClr val="C00000"/>
                  </a:solidFill>
                  <a:latin typeface="Arial" panose="020B0604020202020204" pitchFamily="34" charset="0"/>
                  <a:ea typeface="Cambria Math" panose="02040503050406030204" pitchFamily="18"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r>
                        <a:rPr lang="en-GB" sz="1200" i="1">
                          <a:solidFill>
                            <a:srgbClr val="C00000"/>
                          </a:solidFill>
                          <a:latin typeface="Cambria Math" panose="02040503050406030204" pitchFamily="18" charset="0"/>
                          <a:ea typeface="Cambria Math" panose="02040503050406030204" pitchFamily="18" charset="0"/>
                        </a:rPr>
                        <m:t>(1+5%)</m:t>
                      </m:r>
                    </m:oMath>
                  </m:oMathPara>
                </a14:m>
                <a:endParaRPr lang="en-GB" sz="1200" dirty="0">
                  <a:solidFill>
                    <a:srgbClr val="C00000"/>
                  </a:solidFill>
                  <a:latin typeface="Arial" panose="020B0604020202020204" pitchFamily="34"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r>
                        <a:rPr lang="en-GB" sz="1200" b="0" i="1" smtClean="0">
                          <a:solidFill>
                            <a:prstClr val="black"/>
                          </a:solidFill>
                          <a:latin typeface="Cambria Math" panose="02040503050406030204" pitchFamily="18" charset="0"/>
                          <a:ea typeface="Cambria Math" panose="02040503050406030204" pitchFamily="18" charset="0"/>
                        </a:rPr>
                        <m:t>=£1,000</m:t>
                      </m:r>
                    </m:oMath>
                  </m:oMathPara>
                </a14:m>
                <a:endParaRPr lang="en-GB" sz="1200" i="1" dirty="0">
                  <a:solidFill>
                    <a:prstClr val="black"/>
                  </a:solidFill>
                  <a:latin typeface="Arial" panose="020B0604020202020204" pitchFamily="34" charset="0"/>
                  <a:ea typeface="Cambria Math" panose="02040503050406030204" pitchFamily="18"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r>
                        <a:rPr lang="en-GB" sz="1200" i="1" smtClean="0">
                          <a:solidFill>
                            <a:prstClr val="black"/>
                          </a:solidFill>
                          <a:latin typeface="Cambria Math" panose="02040503050406030204" pitchFamily="18" charset="0"/>
                          <a:ea typeface="Cambria Math" panose="02040503050406030204" pitchFamily="18" charset="0"/>
                        </a:rPr>
                        <m:t>×</m:t>
                      </m:r>
                    </m:oMath>
                  </m:oMathPara>
                </a14:m>
                <a:endParaRPr lang="en-GB" sz="1200" i="1" dirty="0">
                  <a:solidFill>
                    <a:prstClr val="black"/>
                  </a:solidFill>
                  <a:latin typeface="Arial" panose="020B0604020202020204" pitchFamily="34" charset="0"/>
                  <a:ea typeface="Cambria Math" panose="02040503050406030204" pitchFamily="18"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sSup>
                        <m:sSupPr>
                          <m:ctrlPr>
                            <a:rPr lang="en-GB" sz="1200" b="0" i="1" smtClean="0">
                              <a:solidFill>
                                <a:prstClr val="black"/>
                              </a:solidFill>
                              <a:latin typeface="Cambria Math" panose="02040503050406030204" pitchFamily="18" charset="0"/>
                              <a:ea typeface="Cambria Math" panose="02040503050406030204" pitchFamily="18" charset="0"/>
                            </a:rPr>
                          </m:ctrlPr>
                        </m:sSupPr>
                        <m:e>
                          <m:d>
                            <m:dPr>
                              <m:ctrlPr>
                                <a:rPr lang="en-GB" sz="1200" i="1">
                                  <a:solidFill>
                                    <a:prstClr val="black"/>
                                  </a:solidFill>
                                  <a:latin typeface="Cambria Math" panose="02040503050406030204" pitchFamily="18" charset="0"/>
                                  <a:ea typeface="Cambria Math" panose="02040503050406030204" pitchFamily="18" charset="0"/>
                                </a:rPr>
                              </m:ctrlPr>
                            </m:dPr>
                            <m:e>
                              <m:r>
                                <a:rPr lang="en-GB" sz="1200" i="1">
                                  <a:solidFill>
                                    <a:prstClr val="black"/>
                                  </a:solidFill>
                                  <a:latin typeface="Cambria Math" panose="02040503050406030204" pitchFamily="18" charset="0"/>
                                  <a:ea typeface="Cambria Math" panose="02040503050406030204" pitchFamily="18" charset="0"/>
                                </a:rPr>
                                <m:t>1+5%</m:t>
                              </m:r>
                            </m:e>
                          </m:d>
                        </m:e>
                        <m:sup>
                          <m:r>
                            <a:rPr lang="en-GB" sz="1200" b="1" i="1" smtClean="0">
                              <a:solidFill>
                                <a:srgbClr val="C00000"/>
                              </a:solidFill>
                              <a:latin typeface="Cambria Math" panose="02040503050406030204" pitchFamily="18" charset="0"/>
                              <a:ea typeface="Cambria Math" panose="02040503050406030204" pitchFamily="18" charset="0"/>
                            </a:rPr>
                            <m:t>𝟐</m:t>
                          </m:r>
                        </m:sup>
                      </m:sSup>
                    </m:oMath>
                  </m:oMathPara>
                </a14:m>
                <a:endParaRPr lang="en-GB" sz="1200" dirty="0">
                  <a:latin typeface="Arial" panose="020B0604020202020204" pitchFamily="34" charset="0"/>
                  <a:cs typeface="Arial" panose="020B0604020202020204" pitchFamily="34" charset="0"/>
                </a:endParaRPr>
              </a:p>
              <a:p>
                <a:pPr defTabSz="685800" eaLnBrk="1" fontAlgn="auto" hangingPunct="1">
                  <a:spcBef>
                    <a:spcPts val="0"/>
                  </a:spcBef>
                  <a:spcAft>
                    <a:spcPts val="0"/>
                  </a:spcAft>
                  <a:defRPr/>
                </a:pPr>
                <a:endParaRPr lang="en-GB" sz="1200" dirty="0">
                  <a:latin typeface="Arial" panose="020B0604020202020204" pitchFamily="34" charset="0"/>
                  <a:cs typeface="Arial" panose="020B0604020202020204" pitchFamily="34" charset="0"/>
                </a:endParaRPr>
              </a:p>
            </p:txBody>
          </p:sp>
        </mc:Choice>
        <mc:Fallback xmlns="">
          <p:sp>
            <p:nvSpPr>
              <p:cNvPr id="47" name="TextBox 46">
                <a:extLst>
                  <a:ext uri="{FF2B5EF4-FFF2-40B4-BE49-F238E27FC236}">
                    <a16:creationId xmlns:a16="http://schemas.microsoft.com/office/drawing/2014/main" id="{DDFC15CC-397F-4D43-89A0-307CC42A1C90}"/>
                  </a:ext>
                </a:extLst>
              </p:cNvPr>
              <p:cNvSpPr txBox="1">
                <a:spLocks noRot="1" noChangeAspect="1" noMove="1" noResize="1" noEditPoints="1" noAdjustHandles="1" noChangeArrowheads="1" noChangeShapeType="1" noTextEdit="1"/>
              </p:cNvSpPr>
              <p:nvPr/>
            </p:nvSpPr>
            <p:spPr>
              <a:xfrm>
                <a:off x="3384231" y="3429001"/>
                <a:ext cx="930197" cy="1758495"/>
              </a:xfrm>
              <a:prstGeom prst="rect">
                <a:avLst/>
              </a:prstGeom>
              <a:blipFill>
                <a:blip r:embed="rId11"/>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BBAB1EB1-99CA-4653-84FD-00EC9368D91A}"/>
                  </a:ext>
                </a:extLst>
              </p:cNvPr>
              <p:cNvSpPr txBox="1"/>
              <p:nvPr/>
            </p:nvSpPr>
            <p:spPr>
              <a:xfrm>
                <a:off x="4666885" y="2886485"/>
                <a:ext cx="989066" cy="1577996"/>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200" b="1" i="1">
                          <a:latin typeface="Cambria Math" panose="02040503050406030204" pitchFamily="18" charset="0"/>
                        </a:rPr>
                        <m:t>£</m:t>
                      </m:r>
                      <m:r>
                        <a:rPr lang="en-GB" sz="1200" b="1" i="1">
                          <a:latin typeface="Cambria Math" panose="02040503050406030204" pitchFamily="18" charset="0"/>
                        </a:rPr>
                        <m:t>𝟏</m:t>
                      </m:r>
                      <m:r>
                        <a:rPr lang="en-GB" sz="1200" b="1" i="1">
                          <a:latin typeface="Cambria Math" panose="02040503050406030204" pitchFamily="18" charset="0"/>
                        </a:rPr>
                        <m:t>,</m:t>
                      </m:r>
                      <m:r>
                        <a:rPr lang="en-GB" sz="1200" b="1" i="1">
                          <a:latin typeface="Cambria Math" panose="02040503050406030204" pitchFamily="18" charset="0"/>
                        </a:rPr>
                        <m:t>𝟎𝟎𝟎</m:t>
                      </m:r>
                    </m:oMath>
                  </m:oMathPara>
                </a14:m>
                <a:endParaRPr lang="en-GB" sz="1200" b="1" dirty="0">
                  <a:latin typeface="Arial" panose="020B0604020202020204" pitchFamily="34"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r>
                        <a:rPr lang="en-GB" sz="1200" b="1" i="1">
                          <a:solidFill>
                            <a:schemeClr val="tx1"/>
                          </a:solidFill>
                          <a:latin typeface="Cambria Math" panose="02040503050406030204" pitchFamily="18" charset="0"/>
                          <a:ea typeface="Cambria Math" panose="02040503050406030204" pitchFamily="18" charset="0"/>
                        </a:rPr>
                        <m:t>×</m:t>
                      </m:r>
                    </m:oMath>
                  </m:oMathPara>
                </a14:m>
                <a:endParaRPr lang="en-GB" sz="1200" b="1" i="1" dirty="0">
                  <a:solidFill>
                    <a:schemeClr val="tx1"/>
                  </a:solidFill>
                  <a:latin typeface="Arial" panose="020B0604020202020204" pitchFamily="34" charset="0"/>
                  <a:ea typeface="Cambria Math" panose="02040503050406030204" pitchFamily="18"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sSup>
                        <m:sSupPr>
                          <m:ctrlPr>
                            <a:rPr lang="en-GB" sz="1200" b="1" i="1">
                              <a:solidFill>
                                <a:schemeClr val="tx1"/>
                              </a:solidFill>
                              <a:latin typeface="Cambria Math" panose="02040503050406030204" pitchFamily="18" charset="0"/>
                              <a:ea typeface="Cambria Math" panose="02040503050406030204" pitchFamily="18" charset="0"/>
                            </a:rPr>
                          </m:ctrlPr>
                        </m:sSupPr>
                        <m:e>
                          <m:d>
                            <m:dPr>
                              <m:ctrlPr>
                                <a:rPr lang="en-GB" sz="1200" b="1" i="1">
                                  <a:solidFill>
                                    <a:schemeClr val="tx1"/>
                                  </a:solidFill>
                                  <a:latin typeface="Cambria Math" panose="02040503050406030204" pitchFamily="18" charset="0"/>
                                  <a:ea typeface="Cambria Math" panose="02040503050406030204" pitchFamily="18" charset="0"/>
                                </a:rPr>
                              </m:ctrlPr>
                            </m:dPr>
                            <m:e>
                              <m:r>
                                <a:rPr lang="en-GB" sz="1200" b="1" i="1">
                                  <a:solidFill>
                                    <a:schemeClr val="tx1"/>
                                  </a:solidFill>
                                  <a:latin typeface="Cambria Math" panose="02040503050406030204" pitchFamily="18" charset="0"/>
                                  <a:ea typeface="Cambria Math" panose="02040503050406030204" pitchFamily="18" charset="0"/>
                                </a:rPr>
                                <m:t>𝟏</m:t>
                              </m:r>
                              <m:r>
                                <a:rPr lang="en-GB" sz="1200" b="1" i="1">
                                  <a:solidFill>
                                    <a:schemeClr val="tx1"/>
                                  </a:solidFill>
                                  <a:latin typeface="Cambria Math" panose="02040503050406030204" pitchFamily="18" charset="0"/>
                                  <a:ea typeface="Cambria Math" panose="02040503050406030204" pitchFamily="18" charset="0"/>
                                </a:rPr>
                                <m:t>+</m:t>
                              </m:r>
                              <m:r>
                                <a:rPr lang="en-GB" sz="1200" b="1" i="1">
                                  <a:solidFill>
                                    <a:schemeClr val="tx1"/>
                                  </a:solidFill>
                                  <a:latin typeface="Cambria Math" panose="02040503050406030204" pitchFamily="18" charset="0"/>
                                  <a:ea typeface="Cambria Math" panose="02040503050406030204" pitchFamily="18" charset="0"/>
                                </a:rPr>
                                <m:t>𝟓</m:t>
                              </m:r>
                              <m:r>
                                <a:rPr lang="en-GB" sz="1200" b="1" i="1">
                                  <a:solidFill>
                                    <a:schemeClr val="tx1"/>
                                  </a:solidFill>
                                  <a:latin typeface="Cambria Math" panose="02040503050406030204" pitchFamily="18" charset="0"/>
                                  <a:ea typeface="Cambria Math" panose="02040503050406030204" pitchFamily="18" charset="0"/>
                                </a:rPr>
                                <m:t>%</m:t>
                              </m:r>
                            </m:e>
                          </m:d>
                        </m:e>
                        <m:sup>
                          <m:r>
                            <a:rPr lang="en-GB" sz="1200" b="1" i="1">
                              <a:solidFill>
                                <a:schemeClr val="tx1"/>
                              </a:solidFill>
                              <a:latin typeface="Cambria Math" panose="02040503050406030204" pitchFamily="18" charset="0"/>
                              <a:ea typeface="Cambria Math" panose="02040503050406030204" pitchFamily="18" charset="0"/>
                            </a:rPr>
                            <m:t>𝟐</m:t>
                          </m:r>
                        </m:sup>
                      </m:sSup>
                    </m:oMath>
                  </m:oMathPara>
                </a14:m>
                <a:endParaRPr lang="en-GB" sz="1200" b="1" dirty="0">
                  <a:latin typeface="Arial" panose="020B0604020202020204" pitchFamily="34"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r>
                        <a:rPr lang="en-GB" sz="1200" i="1" smtClean="0">
                          <a:solidFill>
                            <a:srgbClr val="C00000"/>
                          </a:solidFill>
                          <a:latin typeface="Cambria Math" panose="02040503050406030204" pitchFamily="18" charset="0"/>
                          <a:ea typeface="Cambria Math" panose="02040503050406030204" pitchFamily="18" charset="0"/>
                        </a:rPr>
                        <m:t>×</m:t>
                      </m:r>
                    </m:oMath>
                  </m:oMathPara>
                </a14:m>
                <a:endParaRPr lang="en-GB" sz="1200" i="1" dirty="0">
                  <a:solidFill>
                    <a:srgbClr val="C00000"/>
                  </a:solidFill>
                  <a:latin typeface="Arial" panose="020B0604020202020204" pitchFamily="34" charset="0"/>
                  <a:ea typeface="Cambria Math" panose="02040503050406030204" pitchFamily="18"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r>
                        <a:rPr lang="en-GB" sz="1200" i="1">
                          <a:solidFill>
                            <a:srgbClr val="C00000"/>
                          </a:solidFill>
                          <a:latin typeface="Cambria Math" panose="02040503050406030204" pitchFamily="18" charset="0"/>
                          <a:ea typeface="Cambria Math" panose="02040503050406030204" pitchFamily="18" charset="0"/>
                        </a:rPr>
                        <m:t>(1+5%)</m:t>
                      </m:r>
                    </m:oMath>
                  </m:oMathPara>
                </a14:m>
                <a:endParaRPr lang="en-GB" sz="1200" dirty="0">
                  <a:solidFill>
                    <a:srgbClr val="C00000"/>
                  </a:solidFill>
                  <a:latin typeface="Arial" panose="020B0604020202020204" pitchFamily="34"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r>
                        <a:rPr lang="en-GB" sz="1200" i="1">
                          <a:solidFill>
                            <a:prstClr val="black"/>
                          </a:solidFill>
                          <a:latin typeface="Cambria Math" panose="02040503050406030204" pitchFamily="18" charset="0"/>
                          <a:ea typeface="Cambria Math" panose="02040503050406030204" pitchFamily="18" charset="0"/>
                        </a:rPr>
                        <m:t>=£1,000</m:t>
                      </m:r>
                    </m:oMath>
                  </m:oMathPara>
                </a14:m>
                <a:endParaRPr lang="en-GB" sz="1200" i="1" dirty="0">
                  <a:solidFill>
                    <a:prstClr val="black"/>
                  </a:solidFill>
                  <a:latin typeface="Arial" panose="020B0604020202020204" pitchFamily="34" charset="0"/>
                  <a:ea typeface="Cambria Math" panose="02040503050406030204" pitchFamily="18"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r>
                        <a:rPr lang="en-GB" sz="1200" i="1">
                          <a:solidFill>
                            <a:prstClr val="black"/>
                          </a:solidFill>
                          <a:latin typeface="Cambria Math" panose="02040503050406030204" pitchFamily="18" charset="0"/>
                          <a:ea typeface="Cambria Math" panose="02040503050406030204" pitchFamily="18" charset="0"/>
                        </a:rPr>
                        <m:t>×</m:t>
                      </m:r>
                    </m:oMath>
                  </m:oMathPara>
                </a14:m>
                <a:endParaRPr lang="en-GB" sz="1200" i="1" dirty="0">
                  <a:solidFill>
                    <a:prstClr val="black"/>
                  </a:solidFill>
                  <a:latin typeface="Arial" panose="020B0604020202020204" pitchFamily="34" charset="0"/>
                  <a:ea typeface="Cambria Math" panose="02040503050406030204" pitchFamily="18"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sSup>
                        <m:sSupPr>
                          <m:ctrlPr>
                            <a:rPr lang="en-GB" sz="1200" i="1">
                              <a:solidFill>
                                <a:prstClr val="black"/>
                              </a:solidFill>
                              <a:latin typeface="Cambria Math" panose="02040503050406030204" pitchFamily="18" charset="0"/>
                              <a:ea typeface="Cambria Math" panose="02040503050406030204" pitchFamily="18" charset="0"/>
                            </a:rPr>
                          </m:ctrlPr>
                        </m:sSupPr>
                        <m:e>
                          <m:d>
                            <m:dPr>
                              <m:ctrlPr>
                                <a:rPr lang="en-GB" sz="1200" i="1">
                                  <a:solidFill>
                                    <a:prstClr val="black"/>
                                  </a:solidFill>
                                  <a:latin typeface="Cambria Math" panose="02040503050406030204" pitchFamily="18" charset="0"/>
                                  <a:ea typeface="Cambria Math" panose="02040503050406030204" pitchFamily="18" charset="0"/>
                                </a:rPr>
                              </m:ctrlPr>
                            </m:dPr>
                            <m:e>
                              <m:r>
                                <a:rPr lang="en-GB" sz="1200" i="1">
                                  <a:solidFill>
                                    <a:prstClr val="black"/>
                                  </a:solidFill>
                                  <a:latin typeface="Cambria Math" panose="02040503050406030204" pitchFamily="18" charset="0"/>
                                  <a:ea typeface="Cambria Math" panose="02040503050406030204" pitchFamily="18" charset="0"/>
                                </a:rPr>
                                <m:t>1+5%</m:t>
                              </m:r>
                            </m:e>
                          </m:d>
                        </m:e>
                        <m:sup>
                          <m:r>
                            <a:rPr lang="en-GB" sz="1200" b="1" i="1" smtClean="0">
                              <a:solidFill>
                                <a:srgbClr val="C00000"/>
                              </a:solidFill>
                              <a:latin typeface="Cambria Math" panose="02040503050406030204" pitchFamily="18" charset="0"/>
                              <a:ea typeface="Cambria Math" panose="02040503050406030204" pitchFamily="18" charset="0"/>
                            </a:rPr>
                            <m:t>𝟑</m:t>
                          </m:r>
                        </m:sup>
                      </m:sSup>
                    </m:oMath>
                  </m:oMathPara>
                </a14:m>
                <a:endParaRPr lang="en-GB" sz="1200" dirty="0">
                  <a:latin typeface="Arial" panose="020B0604020202020204" pitchFamily="34" charset="0"/>
                  <a:ea typeface="+mn-ea"/>
                  <a:cs typeface="Arial" panose="020B0604020202020204" pitchFamily="34" charset="0"/>
                </a:endParaRPr>
              </a:p>
            </p:txBody>
          </p:sp>
        </mc:Choice>
        <mc:Fallback xmlns="">
          <p:sp>
            <p:nvSpPr>
              <p:cNvPr id="48" name="TextBox 47">
                <a:extLst>
                  <a:ext uri="{FF2B5EF4-FFF2-40B4-BE49-F238E27FC236}">
                    <a16:creationId xmlns:a16="http://schemas.microsoft.com/office/drawing/2014/main" id="{BBAB1EB1-99CA-4653-84FD-00EC9368D91A}"/>
                  </a:ext>
                </a:extLst>
              </p:cNvPr>
              <p:cNvSpPr txBox="1">
                <a:spLocks noRot="1" noChangeAspect="1" noMove="1" noResize="1" noEditPoints="1" noAdjustHandles="1" noChangeArrowheads="1" noChangeShapeType="1" noTextEdit="1"/>
              </p:cNvSpPr>
              <p:nvPr/>
            </p:nvSpPr>
            <p:spPr>
              <a:xfrm>
                <a:off x="4666885" y="2886485"/>
                <a:ext cx="989066" cy="1577996"/>
              </a:xfrm>
              <a:prstGeom prst="rect">
                <a:avLst/>
              </a:prstGeom>
              <a:blipFill>
                <a:blip r:embed="rId12"/>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EE520EA2-FB4F-404B-802B-4D3EACE83288}"/>
                  </a:ext>
                </a:extLst>
              </p:cNvPr>
              <p:cNvSpPr txBox="1"/>
              <p:nvPr/>
            </p:nvSpPr>
            <p:spPr>
              <a:xfrm>
                <a:off x="6035711" y="2202286"/>
                <a:ext cx="989066" cy="1577548"/>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200" b="1" i="1">
                          <a:latin typeface="Cambria Math" panose="02040503050406030204" pitchFamily="18" charset="0"/>
                        </a:rPr>
                        <m:t>£</m:t>
                      </m:r>
                      <m:r>
                        <a:rPr lang="en-GB" sz="1200" b="1" i="1">
                          <a:latin typeface="Cambria Math" panose="02040503050406030204" pitchFamily="18" charset="0"/>
                        </a:rPr>
                        <m:t>𝟏</m:t>
                      </m:r>
                      <m:r>
                        <a:rPr lang="en-GB" sz="1200" b="1" i="1">
                          <a:latin typeface="Cambria Math" panose="02040503050406030204" pitchFamily="18" charset="0"/>
                        </a:rPr>
                        <m:t>,</m:t>
                      </m:r>
                      <m:r>
                        <a:rPr lang="en-GB" sz="1200" b="1" i="1">
                          <a:latin typeface="Cambria Math" panose="02040503050406030204" pitchFamily="18" charset="0"/>
                        </a:rPr>
                        <m:t>𝟎𝟎𝟎</m:t>
                      </m:r>
                    </m:oMath>
                  </m:oMathPara>
                </a14:m>
                <a:endParaRPr lang="en-GB" sz="1200" b="1" dirty="0">
                  <a:latin typeface="Arial" panose="020B0604020202020204" pitchFamily="34"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r>
                        <a:rPr lang="en-GB" sz="1200" b="1" i="1">
                          <a:solidFill>
                            <a:schemeClr val="tx1"/>
                          </a:solidFill>
                          <a:latin typeface="Cambria Math" panose="02040503050406030204" pitchFamily="18" charset="0"/>
                          <a:ea typeface="Cambria Math" panose="02040503050406030204" pitchFamily="18" charset="0"/>
                        </a:rPr>
                        <m:t>×</m:t>
                      </m:r>
                    </m:oMath>
                  </m:oMathPara>
                </a14:m>
                <a:endParaRPr lang="en-GB" sz="1200" b="1" i="1" dirty="0">
                  <a:solidFill>
                    <a:schemeClr val="tx1"/>
                  </a:solidFill>
                  <a:latin typeface="Arial" panose="020B0604020202020204" pitchFamily="34" charset="0"/>
                  <a:ea typeface="Cambria Math" panose="02040503050406030204" pitchFamily="18"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sSup>
                        <m:sSupPr>
                          <m:ctrlPr>
                            <a:rPr lang="en-GB" sz="1200" b="1" i="1">
                              <a:solidFill>
                                <a:schemeClr val="tx1"/>
                              </a:solidFill>
                              <a:latin typeface="Cambria Math" panose="02040503050406030204" pitchFamily="18" charset="0"/>
                              <a:ea typeface="Cambria Math" panose="02040503050406030204" pitchFamily="18" charset="0"/>
                            </a:rPr>
                          </m:ctrlPr>
                        </m:sSupPr>
                        <m:e>
                          <m:d>
                            <m:dPr>
                              <m:ctrlPr>
                                <a:rPr lang="en-GB" sz="1200" b="1" i="1">
                                  <a:solidFill>
                                    <a:schemeClr val="tx1"/>
                                  </a:solidFill>
                                  <a:latin typeface="Cambria Math" panose="02040503050406030204" pitchFamily="18" charset="0"/>
                                  <a:ea typeface="Cambria Math" panose="02040503050406030204" pitchFamily="18" charset="0"/>
                                </a:rPr>
                              </m:ctrlPr>
                            </m:dPr>
                            <m:e>
                              <m:r>
                                <a:rPr lang="en-GB" sz="1200" b="1" i="1">
                                  <a:solidFill>
                                    <a:schemeClr val="tx1"/>
                                  </a:solidFill>
                                  <a:latin typeface="Cambria Math" panose="02040503050406030204" pitchFamily="18" charset="0"/>
                                  <a:ea typeface="Cambria Math" panose="02040503050406030204" pitchFamily="18" charset="0"/>
                                </a:rPr>
                                <m:t>𝟏</m:t>
                              </m:r>
                              <m:r>
                                <a:rPr lang="en-GB" sz="1200" b="1" i="1">
                                  <a:solidFill>
                                    <a:schemeClr val="tx1"/>
                                  </a:solidFill>
                                  <a:latin typeface="Cambria Math" panose="02040503050406030204" pitchFamily="18" charset="0"/>
                                  <a:ea typeface="Cambria Math" panose="02040503050406030204" pitchFamily="18" charset="0"/>
                                </a:rPr>
                                <m:t>+</m:t>
                              </m:r>
                              <m:r>
                                <a:rPr lang="en-GB" sz="1200" b="1" i="1">
                                  <a:solidFill>
                                    <a:schemeClr val="tx1"/>
                                  </a:solidFill>
                                  <a:latin typeface="Cambria Math" panose="02040503050406030204" pitchFamily="18" charset="0"/>
                                  <a:ea typeface="Cambria Math" panose="02040503050406030204" pitchFamily="18" charset="0"/>
                                </a:rPr>
                                <m:t>𝟓</m:t>
                              </m:r>
                              <m:r>
                                <a:rPr lang="en-GB" sz="1200" b="1" i="1">
                                  <a:solidFill>
                                    <a:schemeClr val="tx1"/>
                                  </a:solidFill>
                                  <a:latin typeface="Cambria Math" panose="02040503050406030204" pitchFamily="18" charset="0"/>
                                  <a:ea typeface="Cambria Math" panose="02040503050406030204" pitchFamily="18" charset="0"/>
                                </a:rPr>
                                <m:t>%</m:t>
                              </m:r>
                            </m:e>
                          </m:d>
                        </m:e>
                        <m:sup>
                          <m:r>
                            <a:rPr lang="en-GB" sz="1200" b="1" i="1">
                              <a:solidFill>
                                <a:schemeClr val="tx1"/>
                              </a:solidFill>
                              <a:latin typeface="Cambria Math" panose="02040503050406030204" pitchFamily="18" charset="0"/>
                              <a:ea typeface="Cambria Math" panose="02040503050406030204" pitchFamily="18" charset="0"/>
                            </a:rPr>
                            <m:t>𝟑</m:t>
                          </m:r>
                        </m:sup>
                      </m:sSup>
                    </m:oMath>
                  </m:oMathPara>
                </a14:m>
                <a:endParaRPr lang="en-GB" sz="1200" b="1" dirty="0">
                  <a:latin typeface="Arial" panose="020B0604020202020204" pitchFamily="34"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r>
                        <a:rPr lang="en-GB" sz="1200" i="1" smtClean="0">
                          <a:solidFill>
                            <a:srgbClr val="C00000"/>
                          </a:solidFill>
                          <a:latin typeface="Cambria Math" panose="02040503050406030204" pitchFamily="18" charset="0"/>
                          <a:ea typeface="Cambria Math" panose="02040503050406030204" pitchFamily="18" charset="0"/>
                        </a:rPr>
                        <m:t>×</m:t>
                      </m:r>
                    </m:oMath>
                  </m:oMathPara>
                </a14:m>
                <a:endParaRPr lang="en-GB" sz="1200" i="1" dirty="0">
                  <a:solidFill>
                    <a:srgbClr val="C00000"/>
                  </a:solidFill>
                  <a:latin typeface="Arial" panose="020B0604020202020204" pitchFamily="34" charset="0"/>
                  <a:ea typeface="Cambria Math" panose="02040503050406030204" pitchFamily="18"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r>
                        <a:rPr lang="en-GB" sz="1200" i="1">
                          <a:solidFill>
                            <a:srgbClr val="C00000"/>
                          </a:solidFill>
                          <a:latin typeface="Cambria Math" panose="02040503050406030204" pitchFamily="18" charset="0"/>
                          <a:ea typeface="Cambria Math" panose="02040503050406030204" pitchFamily="18" charset="0"/>
                        </a:rPr>
                        <m:t>(1+5%)</m:t>
                      </m:r>
                    </m:oMath>
                  </m:oMathPara>
                </a14:m>
                <a:endParaRPr lang="en-GB" sz="1200" dirty="0">
                  <a:solidFill>
                    <a:srgbClr val="C00000"/>
                  </a:solidFill>
                  <a:latin typeface="Arial" panose="020B0604020202020204" pitchFamily="34"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r>
                        <a:rPr lang="en-GB" sz="1200" i="1">
                          <a:solidFill>
                            <a:prstClr val="black"/>
                          </a:solidFill>
                          <a:latin typeface="Cambria Math" panose="02040503050406030204" pitchFamily="18" charset="0"/>
                          <a:ea typeface="Cambria Math" panose="02040503050406030204" pitchFamily="18" charset="0"/>
                        </a:rPr>
                        <m:t>=£1,000</m:t>
                      </m:r>
                    </m:oMath>
                  </m:oMathPara>
                </a14:m>
                <a:endParaRPr lang="en-GB" sz="1200" i="1" dirty="0">
                  <a:solidFill>
                    <a:prstClr val="black"/>
                  </a:solidFill>
                  <a:latin typeface="Arial" panose="020B0604020202020204" pitchFamily="34" charset="0"/>
                  <a:ea typeface="Cambria Math" panose="02040503050406030204" pitchFamily="18"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r>
                        <a:rPr lang="en-GB" sz="1200" i="1">
                          <a:solidFill>
                            <a:prstClr val="black"/>
                          </a:solidFill>
                          <a:latin typeface="Cambria Math" panose="02040503050406030204" pitchFamily="18" charset="0"/>
                          <a:ea typeface="Cambria Math" panose="02040503050406030204" pitchFamily="18" charset="0"/>
                        </a:rPr>
                        <m:t>×</m:t>
                      </m:r>
                    </m:oMath>
                  </m:oMathPara>
                </a14:m>
                <a:endParaRPr lang="en-GB" sz="1200" i="1" dirty="0">
                  <a:solidFill>
                    <a:prstClr val="black"/>
                  </a:solidFill>
                  <a:latin typeface="Arial" panose="020B0604020202020204" pitchFamily="34" charset="0"/>
                  <a:ea typeface="Cambria Math" panose="02040503050406030204" pitchFamily="18"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sSup>
                        <m:sSupPr>
                          <m:ctrlPr>
                            <a:rPr lang="en-GB" sz="1200" i="1">
                              <a:solidFill>
                                <a:prstClr val="black"/>
                              </a:solidFill>
                              <a:latin typeface="Cambria Math" panose="02040503050406030204" pitchFamily="18" charset="0"/>
                              <a:ea typeface="Cambria Math" panose="02040503050406030204" pitchFamily="18" charset="0"/>
                            </a:rPr>
                          </m:ctrlPr>
                        </m:sSupPr>
                        <m:e>
                          <m:d>
                            <m:dPr>
                              <m:ctrlPr>
                                <a:rPr lang="en-GB" sz="1200" i="1">
                                  <a:solidFill>
                                    <a:prstClr val="black"/>
                                  </a:solidFill>
                                  <a:latin typeface="Cambria Math" panose="02040503050406030204" pitchFamily="18" charset="0"/>
                                  <a:ea typeface="Cambria Math" panose="02040503050406030204" pitchFamily="18" charset="0"/>
                                </a:rPr>
                              </m:ctrlPr>
                            </m:dPr>
                            <m:e>
                              <m:r>
                                <a:rPr lang="en-GB" sz="1200" i="1">
                                  <a:solidFill>
                                    <a:prstClr val="black"/>
                                  </a:solidFill>
                                  <a:latin typeface="Cambria Math" panose="02040503050406030204" pitchFamily="18" charset="0"/>
                                  <a:ea typeface="Cambria Math" panose="02040503050406030204" pitchFamily="18" charset="0"/>
                                </a:rPr>
                                <m:t>1+5%</m:t>
                              </m:r>
                            </m:e>
                          </m:d>
                        </m:e>
                        <m:sup>
                          <m:r>
                            <a:rPr lang="en-GB" sz="1200" b="1" i="1" smtClean="0">
                              <a:solidFill>
                                <a:srgbClr val="C00000"/>
                              </a:solidFill>
                              <a:latin typeface="Cambria Math" panose="02040503050406030204" pitchFamily="18" charset="0"/>
                              <a:ea typeface="Cambria Math" panose="02040503050406030204" pitchFamily="18" charset="0"/>
                            </a:rPr>
                            <m:t>𝟒</m:t>
                          </m:r>
                        </m:sup>
                      </m:sSup>
                    </m:oMath>
                  </m:oMathPara>
                </a14:m>
                <a:endParaRPr lang="en-GB" sz="1200" dirty="0">
                  <a:latin typeface="Arial" panose="020B0604020202020204" pitchFamily="34" charset="0"/>
                  <a:ea typeface="+mn-ea"/>
                  <a:cs typeface="Arial" panose="020B0604020202020204" pitchFamily="34" charset="0"/>
                </a:endParaRPr>
              </a:p>
            </p:txBody>
          </p:sp>
        </mc:Choice>
        <mc:Fallback xmlns="">
          <p:sp>
            <p:nvSpPr>
              <p:cNvPr id="49" name="TextBox 48">
                <a:extLst>
                  <a:ext uri="{FF2B5EF4-FFF2-40B4-BE49-F238E27FC236}">
                    <a16:creationId xmlns:a16="http://schemas.microsoft.com/office/drawing/2014/main" id="{EE520EA2-FB4F-404B-802B-4D3EACE83288}"/>
                  </a:ext>
                </a:extLst>
              </p:cNvPr>
              <p:cNvSpPr txBox="1">
                <a:spLocks noRot="1" noChangeAspect="1" noMove="1" noResize="1" noEditPoints="1" noAdjustHandles="1" noChangeArrowheads="1" noChangeShapeType="1" noTextEdit="1"/>
              </p:cNvSpPr>
              <p:nvPr/>
            </p:nvSpPr>
            <p:spPr>
              <a:xfrm>
                <a:off x="6035711" y="2202286"/>
                <a:ext cx="989066" cy="1577548"/>
              </a:xfrm>
              <a:prstGeom prst="rect">
                <a:avLst/>
              </a:prstGeom>
              <a:blipFill>
                <a:blip r:embed="rId13"/>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A5CD27D9-0B49-4923-8A81-E3061433AEC1}"/>
                  </a:ext>
                </a:extLst>
              </p:cNvPr>
              <p:cNvSpPr txBox="1"/>
              <p:nvPr/>
            </p:nvSpPr>
            <p:spPr>
              <a:xfrm>
                <a:off x="7379784" y="1605138"/>
                <a:ext cx="989065" cy="1580304"/>
              </a:xfrm>
              <a:prstGeom prst="rect">
                <a:avLst/>
              </a:prstGeom>
              <a:noFill/>
              <a:ln>
                <a:noFill/>
              </a:ln>
            </p:spPr>
            <p:txBody>
              <a:bodyPr wrap="square" rtlCol="0">
                <a:spAutoFit/>
              </a:bodyPr>
              <a:lstStyle/>
              <a:p>
                <a:pPr defTabSz="685800" eaLnBrk="1" fontAlgn="auto" hangingPunct="1">
                  <a:spcBef>
                    <a:spcPts val="0"/>
                  </a:spcBef>
                  <a:spcAft>
                    <a:spcPts val="0"/>
                  </a:spcAft>
                  <a:defRPr/>
                </a:pPr>
                <a14:m>
                  <m:oMathPara xmlns:m="http://schemas.openxmlformats.org/officeDocument/2006/math">
                    <m:oMathParaPr>
                      <m:jc m:val="centerGroup"/>
                    </m:oMathParaPr>
                    <m:oMath xmlns:m="http://schemas.openxmlformats.org/officeDocument/2006/math">
                      <m:r>
                        <a:rPr lang="en-GB" sz="1200" b="1" i="1" smtClean="0">
                          <a:solidFill>
                            <a:schemeClr val="tx1"/>
                          </a:solidFill>
                          <a:latin typeface="Cambria Math" panose="02040503050406030204" pitchFamily="18" charset="0"/>
                          <a:ea typeface="Cambria Math" panose="02040503050406030204" pitchFamily="18" charset="0"/>
                        </a:rPr>
                        <m:t>£</m:t>
                      </m:r>
                      <m:r>
                        <a:rPr lang="en-GB" sz="1200" b="1" i="1" smtClean="0">
                          <a:solidFill>
                            <a:schemeClr val="tx1"/>
                          </a:solidFill>
                          <a:latin typeface="Cambria Math" panose="02040503050406030204" pitchFamily="18" charset="0"/>
                          <a:ea typeface="Cambria Math" panose="02040503050406030204" pitchFamily="18" charset="0"/>
                        </a:rPr>
                        <m:t>𝟏</m:t>
                      </m:r>
                      <m:r>
                        <a:rPr lang="en-GB" sz="1200" b="1" i="1" smtClean="0">
                          <a:solidFill>
                            <a:schemeClr val="tx1"/>
                          </a:solidFill>
                          <a:latin typeface="Cambria Math" panose="02040503050406030204" pitchFamily="18" charset="0"/>
                          <a:ea typeface="Cambria Math" panose="02040503050406030204" pitchFamily="18" charset="0"/>
                        </a:rPr>
                        <m:t>,</m:t>
                      </m:r>
                      <m:r>
                        <a:rPr lang="en-GB" sz="1200" b="1" i="1" smtClean="0">
                          <a:solidFill>
                            <a:schemeClr val="tx1"/>
                          </a:solidFill>
                          <a:latin typeface="Cambria Math" panose="02040503050406030204" pitchFamily="18" charset="0"/>
                          <a:ea typeface="Cambria Math" panose="02040503050406030204" pitchFamily="18" charset="0"/>
                        </a:rPr>
                        <m:t>𝟎𝟎𝟎</m:t>
                      </m:r>
                    </m:oMath>
                  </m:oMathPara>
                </a14:m>
                <a:endParaRPr lang="en-GB" sz="1200" b="1" i="1" dirty="0">
                  <a:solidFill>
                    <a:schemeClr val="tx1"/>
                  </a:solidFill>
                  <a:latin typeface="Arial" panose="020B0604020202020204" pitchFamily="34" charset="0"/>
                  <a:ea typeface="Cambria Math" panose="02040503050406030204" pitchFamily="18"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r>
                        <a:rPr lang="en-GB" sz="1200" b="1" i="1">
                          <a:solidFill>
                            <a:schemeClr val="tx1"/>
                          </a:solidFill>
                          <a:latin typeface="Cambria Math" panose="02040503050406030204" pitchFamily="18" charset="0"/>
                          <a:ea typeface="Cambria Math" panose="02040503050406030204" pitchFamily="18" charset="0"/>
                        </a:rPr>
                        <m:t>×</m:t>
                      </m:r>
                    </m:oMath>
                  </m:oMathPara>
                </a14:m>
                <a:endParaRPr lang="en-GB" sz="1200" b="1" i="1" dirty="0">
                  <a:solidFill>
                    <a:schemeClr val="tx1"/>
                  </a:solidFill>
                  <a:latin typeface="Arial" panose="020B0604020202020204" pitchFamily="34" charset="0"/>
                  <a:ea typeface="Cambria Math" panose="02040503050406030204" pitchFamily="18"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sSup>
                        <m:sSupPr>
                          <m:ctrlPr>
                            <a:rPr lang="en-GB" sz="1200" b="1" i="1">
                              <a:solidFill>
                                <a:schemeClr val="tx1"/>
                              </a:solidFill>
                              <a:latin typeface="Cambria Math" panose="02040503050406030204" pitchFamily="18" charset="0"/>
                              <a:ea typeface="Cambria Math" panose="02040503050406030204" pitchFamily="18" charset="0"/>
                            </a:rPr>
                          </m:ctrlPr>
                        </m:sSupPr>
                        <m:e>
                          <m:d>
                            <m:dPr>
                              <m:ctrlPr>
                                <a:rPr lang="en-GB" sz="1200" b="1" i="1">
                                  <a:solidFill>
                                    <a:schemeClr val="tx1"/>
                                  </a:solidFill>
                                  <a:latin typeface="Cambria Math" panose="02040503050406030204" pitchFamily="18" charset="0"/>
                                  <a:ea typeface="Cambria Math" panose="02040503050406030204" pitchFamily="18" charset="0"/>
                                </a:rPr>
                              </m:ctrlPr>
                            </m:dPr>
                            <m:e>
                              <m:r>
                                <a:rPr lang="en-GB" sz="1200" b="1" i="1">
                                  <a:solidFill>
                                    <a:schemeClr val="tx1"/>
                                  </a:solidFill>
                                  <a:latin typeface="Cambria Math" panose="02040503050406030204" pitchFamily="18" charset="0"/>
                                  <a:ea typeface="Cambria Math" panose="02040503050406030204" pitchFamily="18" charset="0"/>
                                </a:rPr>
                                <m:t>𝟏</m:t>
                              </m:r>
                              <m:r>
                                <a:rPr lang="en-GB" sz="1200" b="1" i="1">
                                  <a:solidFill>
                                    <a:schemeClr val="tx1"/>
                                  </a:solidFill>
                                  <a:latin typeface="Cambria Math" panose="02040503050406030204" pitchFamily="18" charset="0"/>
                                  <a:ea typeface="Cambria Math" panose="02040503050406030204" pitchFamily="18" charset="0"/>
                                </a:rPr>
                                <m:t>+</m:t>
                              </m:r>
                              <m:r>
                                <a:rPr lang="en-GB" sz="1200" b="1" i="1">
                                  <a:solidFill>
                                    <a:schemeClr val="tx1"/>
                                  </a:solidFill>
                                  <a:latin typeface="Cambria Math" panose="02040503050406030204" pitchFamily="18" charset="0"/>
                                  <a:ea typeface="Cambria Math" panose="02040503050406030204" pitchFamily="18" charset="0"/>
                                </a:rPr>
                                <m:t>𝟓</m:t>
                              </m:r>
                              <m:r>
                                <a:rPr lang="en-GB" sz="1200" b="1" i="1">
                                  <a:solidFill>
                                    <a:schemeClr val="tx1"/>
                                  </a:solidFill>
                                  <a:latin typeface="Cambria Math" panose="02040503050406030204" pitchFamily="18" charset="0"/>
                                  <a:ea typeface="Cambria Math" panose="02040503050406030204" pitchFamily="18" charset="0"/>
                                </a:rPr>
                                <m:t>%</m:t>
                              </m:r>
                            </m:e>
                          </m:d>
                        </m:e>
                        <m:sup>
                          <m:r>
                            <a:rPr lang="en-GB" sz="1200" b="1" i="1">
                              <a:solidFill>
                                <a:schemeClr val="tx1"/>
                              </a:solidFill>
                              <a:latin typeface="Cambria Math" panose="02040503050406030204" pitchFamily="18" charset="0"/>
                              <a:ea typeface="Cambria Math" panose="02040503050406030204" pitchFamily="18" charset="0"/>
                            </a:rPr>
                            <m:t>𝟒</m:t>
                          </m:r>
                        </m:sup>
                      </m:sSup>
                    </m:oMath>
                  </m:oMathPara>
                </a14:m>
                <a:endParaRPr lang="en-GB" sz="1200" b="1" dirty="0">
                  <a:latin typeface="Arial" panose="020B0604020202020204" pitchFamily="34"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r>
                        <a:rPr lang="en-GB" sz="1200" i="1" smtClean="0">
                          <a:solidFill>
                            <a:srgbClr val="C00000"/>
                          </a:solidFill>
                          <a:latin typeface="Cambria Math" panose="02040503050406030204" pitchFamily="18" charset="0"/>
                          <a:ea typeface="Cambria Math" panose="02040503050406030204" pitchFamily="18" charset="0"/>
                        </a:rPr>
                        <m:t>×</m:t>
                      </m:r>
                    </m:oMath>
                  </m:oMathPara>
                </a14:m>
                <a:endParaRPr lang="en-GB" sz="1200" i="1" dirty="0">
                  <a:solidFill>
                    <a:srgbClr val="C00000"/>
                  </a:solidFill>
                  <a:latin typeface="Arial" panose="020B0604020202020204" pitchFamily="34" charset="0"/>
                  <a:ea typeface="Cambria Math" panose="02040503050406030204" pitchFamily="18"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r>
                        <a:rPr lang="en-GB" sz="1200" i="1">
                          <a:solidFill>
                            <a:srgbClr val="C00000"/>
                          </a:solidFill>
                          <a:latin typeface="Cambria Math" panose="02040503050406030204" pitchFamily="18" charset="0"/>
                          <a:ea typeface="Cambria Math" panose="02040503050406030204" pitchFamily="18" charset="0"/>
                        </a:rPr>
                        <m:t>(1+5%)</m:t>
                      </m:r>
                    </m:oMath>
                  </m:oMathPara>
                </a14:m>
                <a:endParaRPr lang="en-GB" sz="1200" dirty="0">
                  <a:solidFill>
                    <a:srgbClr val="C00000"/>
                  </a:solidFill>
                  <a:latin typeface="Arial" panose="020B0604020202020204" pitchFamily="34"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r>
                        <a:rPr lang="en-GB" sz="1200" i="1">
                          <a:solidFill>
                            <a:prstClr val="black"/>
                          </a:solidFill>
                          <a:latin typeface="Cambria Math" panose="02040503050406030204" pitchFamily="18" charset="0"/>
                          <a:ea typeface="Cambria Math" panose="02040503050406030204" pitchFamily="18" charset="0"/>
                        </a:rPr>
                        <m:t>=£1,000</m:t>
                      </m:r>
                    </m:oMath>
                  </m:oMathPara>
                </a14:m>
                <a:endParaRPr lang="en-GB" sz="1200" i="1" dirty="0">
                  <a:solidFill>
                    <a:prstClr val="black"/>
                  </a:solidFill>
                  <a:latin typeface="Arial" panose="020B0604020202020204" pitchFamily="34" charset="0"/>
                  <a:ea typeface="Cambria Math" panose="02040503050406030204" pitchFamily="18"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r>
                        <a:rPr lang="en-GB" sz="1200" i="1">
                          <a:solidFill>
                            <a:prstClr val="black"/>
                          </a:solidFill>
                          <a:latin typeface="Cambria Math" panose="02040503050406030204" pitchFamily="18" charset="0"/>
                          <a:ea typeface="Cambria Math" panose="02040503050406030204" pitchFamily="18" charset="0"/>
                        </a:rPr>
                        <m:t>×</m:t>
                      </m:r>
                    </m:oMath>
                  </m:oMathPara>
                </a14:m>
                <a:endParaRPr lang="en-GB" sz="1200" i="1" dirty="0">
                  <a:solidFill>
                    <a:prstClr val="black"/>
                  </a:solidFill>
                  <a:latin typeface="Arial" panose="020B0604020202020204" pitchFamily="34" charset="0"/>
                  <a:ea typeface="Cambria Math" panose="02040503050406030204" pitchFamily="18" charset="0"/>
                  <a:cs typeface="Arial" panose="020B0604020202020204" pitchFamily="34" charset="0"/>
                </a:endParaRPr>
              </a:p>
              <a:p>
                <a:pPr lvl="0">
                  <a:defRPr/>
                </a:pPr>
                <a14:m>
                  <m:oMathPara xmlns:m="http://schemas.openxmlformats.org/officeDocument/2006/math">
                    <m:oMathParaPr>
                      <m:jc m:val="centerGroup"/>
                    </m:oMathParaPr>
                    <m:oMath xmlns:m="http://schemas.openxmlformats.org/officeDocument/2006/math">
                      <m:sSup>
                        <m:sSupPr>
                          <m:ctrlPr>
                            <a:rPr lang="en-GB" sz="1200" i="1">
                              <a:solidFill>
                                <a:prstClr val="black"/>
                              </a:solidFill>
                              <a:latin typeface="Cambria Math" panose="02040503050406030204" pitchFamily="18" charset="0"/>
                              <a:ea typeface="Cambria Math" panose="02040503050406030204" pitchFamily="18" charset="0"/>
                            </a:rPr>
                          </m:ctrlPr>
                        </m:sSupPr>
                        <m:e>
                          <m:d>
                            <m:dPr>
                              <m:ctrlPr>
                                <a:rPr lang="en-GB" sz="1200" i="1">
                                  <a:solidFill>
                                    <a:prstClr val="black"/>
                                  </a:solidFill>
                                  <a:latin typeface="Cambria Math" panose="02040503050406030204" pitchFamily="18" charset="0"/>
                                  <a:ea typeface="Cambria Math" panose="02040503050406030204" pitchFamily="18" charset="0"/>
                                </a:rPr>
                              </m:ctrlPr>
                            </m:dPr>
                            <m:e>
                              <m:r>
                                <a:rPr lang="en-GB" sz="1200" i="1">
                                  <a:solidFill>
                                    <a:prstClr val="black"/>
                                  </a:solidFill>
                                  <a:latin typeface="Cambria Math" panose="02040503050406030204" pitchFamily="18" charset="0"/>
                                  <a:ea typeface="Cambria Math" panose="02040503050406030204" pitchFamily="18" charset="0"/>
                                </a:rPr>
                                <m:t>1+5%</m:t>
                              </m:r>
                            </m:e>
                          </m:d>
                        </m:e>
                        <m:sup>
                          <m:r>
                            <a:rPr lang="en-GB" sz="1200" b="1" i="1" smtClean="0">
                              <a:solidFill>
                                <a:srgbClr val="C00000"/>
                              </a:solidFill>
                              <a:latin typeface="Cambria Math" panose="02040503050406030204" pitchFamily="18" charset="0"/>
                              <a:ea typeface="Cambria Math" panose="02040503050406030204" pitchFamily="18" charset="0"/>
                            </a:rPr>
                            <m:t>𝟓</m:t>
                          </m:r>
                        </m:sup>
                      </m:sSup>
                    </m:oMath>
                  </m:oMathPara>
                </a14:m>
                <a:endParaRPr lang="en-GB" sz="1200" dirty="0">
                  <a:latin typeface="Arial" panose="020B0604020202020204" pitchFamily="34" charset="0"/>
                  <a:ea typeface="+mn-ea"/>
                  <a:cs typeface="Arial" panose="020B0604020202020204" pitchFamily="34" charset="0"/>
                </a:endParaRPr>
              </a:p>
            </p:txBody>
          </p:sp>
        </mc:Choice>
        <mc:Fallback xmlns="">
          <p:sp>
            <p:nvSpPr>
              <p:cNvPr id="50" name="TextBox 49">
                <a:extLst>
                  <a:ext uri="{FF2B5EF4-FFF2-40B4-BE49-F238E27FC236}">
                    <a16:creationId xmlns:a16="http://schemas.microsoft.com/office/drawing/2014/main" id="{A5CD27D9-0B49-4923-8A81-E3061433AEC1}"/>
                  </a:ext>
                </a:extLst>
              </p:cNvPr>
              <p:cNvSpPr txBox="1">
                <a:spLocks noRot="1" noChangeAspect="1" noMove="1" noResize="1" noEditPoints="1" noAdjustHandles="1" noChangeArrowheads="1" noChangeShapeType="1" noTextEdit="1"/>
              </p:cNvSpPr>
              <p:nvPr/>
            </p:nvSpPr>
            <p:spPr>
              <a:xfrm>
                <a:off x="7379784" y="1605138"/>
                <a:ext cx="989065" cy="1580304"/>
              </a:xfrm>
              <a:prstGeom prst="rect">
                <a:avLst/>
              </a:prstGeom>
              <a:blipFill>
                <a:blip r:embed="rId14"/>
                <a:stretch>
                  <a:fillRect/>
                </a:stretch>
              </a:blipFill>
              <a:ln>
                <a:no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DDBCA90-B02C-82C4-8457-BD801D34B8E4}"/>
                  </a:ext>
                </a:extLst>
              </p:cNvPr>
              <p:cNvSpPr txBox="1"/>
              <p:nvPr/>
            </p:nvSpPr>
            <p:spPr>
              <a:xfrm>
                <a:off x="-108520" y="6226955"/>
                <a:ext cx="9293430" cy="767133"/>
              </a:xfrm>
              <a:prstGeom prst="rect">
                <a:avLst/>
              </a:prstGeom>
              <a:noFill/>
            </p:spPr>
            <p:txBody>
              <a:bodyPr wrap="square">
                <a:spAutoFit/>
              </a:bodyPr>
              <a:lstStyle/>
              <a:p>
                <a:pPr marL="257175" lvl="1" indent="-257175" algn="ctr">
                  <a:spcAft>
                    <a:spcPts val="1350"/>
                  </a:spcAft>
                  <a:buClr>
                    <a:srgbClr val="C00000"/>
                  </a:buClr>
                  <a:buSzPct val="90000"/>
                </a:pPr>
                <a:r>
                  <a:rPr lang="en-GB" sz="1600" dirty="0">
                    <a:latin typeface="Arial" panose="020B0604020202020204" pitchFamily="34" charset="0"/>
                    <a:cs typeface="Arial" panose="020B0604020202020204" pitchFamily="34" charset="0"/>
                  </a:rPr>
                  <a:t>The future value of the initial £1,000:</a:t>
                </a:r>
                <a14:m>
                  <m:oMath xmlns:m="http://schemas.openxmlformats.org/officeDocument/2006/math">
                    <m:r>
                      <a:rPr lang="en-GB" sz="1600" b="0" i="0" smtClean="0">
                        <a:latin typeface="Cambria Math" panose="02040503050406030204" pitchFamily="18" charset="0"/>
                      </a:rPr>
                      <m:t> </m:t>
                    </m:r>
                    <m:r>
                      <a:rPr lang="en-GB" sz="1600" i="1">
                        <a:latin typeface="Cambria Math" panose="02040503050406030204" pitchFamily="18" charset="0"/>
                      </a:rPr>
                      <m:t>𝐹𝑉</m:t>
                    </m:r>
                    <m:r>
                      <a:rPr lang="en-GB" sz="1600" b="0" i="1" smtClean="0">
                        <a:latin typeface="Cambria Math" panose="02040503050406030204" pitchFamily="18" charset="0"/>
                      </a:rPr>
                      <m:t>=</m:t>
                    </m:r>
                    <m:r>
                      <a:rPr lang="en-GB" sz="1600" b="0" i="1" smtClean="0">
                        <a:latin typeface="Cambria Math" panose="02040503050406030204" pitchFamily="18" charset="0"/>
                      </a:rPr>
                      <m:t>𝑃𝑉</m:t>
                    </m:r>
                    <m:r>
                      <a:rPr lang="en-GB" sz="1600" i="1">
                        <a:latin typeface="Cambria Math" panose="02040503050406030204" pitchFamily="18" charset="0"/>
                      </a:rPr>
                      <m:t>×</m:t>
                    </m:r>
                    <m:sSup>
                      <m:sSupPr>
                        <m:ctrlPr>
                          <a:rPr lang="en-GB" sz="1600" i="1">
                            <a:latin typeface="Cambria Math" panose="02040503050406030204" pitchFamily="18" charset="0"/>
                            <a:ea typeface="Cambria Math" panose="02040503050406030204" pitchFamily="18" charset="0"/>
                          </a:rPr>
                        </m:ctrlPr>
                      </m:sSupPr>
                      <m:e>
                        <m:d>
                          <m:dPr>
                            <m:ctrlPr>
                              <a:rPr lang="en-GB" sz="1600" i="1">
                                <a:latin typeface="Cambria Math" panose="02040503050406030204" pitchFamily="18" charset="0"/>
                                <a:ea typeface="Cambria Math" panose="02040503050406030204" pitchFamily="18" charset="0"/>
                              </a:rPr>
                            </m:ctrlPr>
                          </m:dPr>
                          <m:e>
                            <m:r>
                              <a:rPr lang="en-GB" sz="1600" i="1">
                                <a:latin typeface="Cambria Math" panose="02040503050406030204" pitchFamily="18" charset="0"/>
                                <a:ea typeface="Cambria Math" panose="02040503050406030204" pitchFamily="18" charset="0"/>
                              </a:rPr>
                              <m:t>1+5%</m:t>
                            </m:r>
                          </m:e>
                        </m:d>
                      </m:e>
                      <m:sup>
                        <m:r>
                          <a:rPr lang="en-GB" sz="1600" i="1">
                            <a:solidFill>
                              <a:srgbClr val="C00000"/>
                            </a:solidFill>
                            <a:latin typeface="Cambria Math" panose="02040503050406030204" pitchFamily="18" charset="0"/>
                            <a:ea typeface="Cambria Math" panose="02040503050406030204" pitchFamily="18" charset="0"/>
                          </a:rPr>
                          <m:t>5</m:t>
                        </m:r>
                      </m:sup>
                    </m:sSup>
                    <m:r>
                      <a:rPr lang="en-GB" sz="1600" i="1">
                        <a:latin typeface="Cambria Math" panose="02040503050406030204" pitchFamily="18" charset="0"/>
                      </a:rPr>
                      <m:t>=1,000×</m:t>
                    </m:r>
                    <m:sSup>
                      <m:sSupPr>
                        <m:ctrlPr>
                          <a:rPr lang="en-GB" sz="1600" i="1">
                            <a:latin typeface="Cambria Math" panose="02040503050406030204" pitchFamily="18" charset="0"/>
                            <a:ea typeface="Cambria Math" panose="02040503050406030204" pitchFamily="18" charset="0"/>
                          </a:rPr>
                        </m:ctrlPr>
                      </m:sSupPr>
                      <m:e>
                        <m:d>
                          <m:dPr>
                            <m:ctrlPr>
                              <a:rPr lang="en-GB" sz="1600" i="1">
                                <a:latin typeface="Cambria Math" panose="02040503050406030204" pitchFamily="18" charset="0"/>
                                <a:ea typeface="Cambria Math" panose="02040503050406030204" pitchFamily="18" charset="0"/>
                              </a:rPr>
                            </m:ctrlPr>
                          </m:dPr>
                          <m:e>
                            <m:r>
                              <a:rPr lang="en-GB" sz="1600" i="1">
                                <a:latin typeface="Cambria Math" panose="02040503050406030204" pitchFamily="18" charset="0"/>
                                <a:ea typeface="Cambria Math" panose="02040503050406030204" pitchFamily="18" charset="0"/>
                              </a:rPr>
                              <m:t>1+5%</m:t>
                            </m:r>
                          </m:e>
                        </m:d>
                      </m:e>
                      <m:sup>
                        <m:r>
                          <a:rPr lang="en-GB" sz="1600" i="1">
                            <a:solidFill>
                              <a:srgbClr val="C00000"/>
                            </a:solidFill>
                            <a:latin typeface="Cambria Math" panose="02040503050406030204" pitchFamily="18" charset="0"/>
                            <a:ea typeface="Cambria Math" panose="02040503050406030204" pitchFamily="18" charset="0"/>
                          </a:rPr>
                          <m:t>5</m:t>
                        </m:r>
                      </m:sup>
                    </m:sSup>
                    <m:r>
                      <a:rPr lang="en-GB" sz="1600" i="1">
                        <a:latin typeface="Cambria Math" panose="02040503050406030204" pitchFamily="18" charset="0"/>
                        <a:ea typeface="Cambria Math" panose="02040503050406030204" pitchFamily="18" charset="0"/>
                      </a:rPr>
                      <m:t>=</m:t>
                    </m:r>
                    <m:r>
                      <a:rPr lang="en-GB" sz="1600" i="1">
                        <a:solidFill>
                          <a:schemeClr val="accent5">
                            <a:lumMod val="75000"/>
                          </a:schemeClr>
                        </a:solidFill>
                        <a:latin typeface="Cambria Math" panose="02040503050406030204" pitchFamily="18" charset="0"/>
                        <a:ea typeface="Cambria Math" panose="02040503050406030204" pitchFamily="18" charset="0"/>
                      </a:rPr>
                      <m:t>£1,276.38</m:t>
                    </m:r>
                  </m:oMath>
                </a14:m>
                <a:endParaRPr lang="en-GB" sz="1600" dirty="0">
                  <a:latin typeface="Arial" panose="020B0604020202020204" pitchFamily="34" charset="0"/>
                  <a:cs typeface="Arial" panose="020B0604020202020204" pitchFamily="34" charset="0"/>
                </a:endParaRPr>
              </a:p>
              <a:p>
                <a:pPr marL="0" lvl="2" indent="0" algn="ctr">
                  <a:spcAft>
                    <a:spcPts val="900"/>
                  </a:spcAft>
                  <a:buClr>
                    <a:srgbClr val="C00000"/>
                  </a:buClr>
                  <a:buSzPct val="90000"/>
                </a:pPr>
                <a:endParaRPr lang="en-GB" sz="1600" dirty="0">
                  <a:latin typeface="Arial" panose="020B0604020202020204" pitchFamily="34" charset="0"/>
                  <a:cs typeface="Arial" panose="020B0604020202020204" pitchFamily="34" charset="0"/>
                </a:endParaRPr>
              </a:p>
            </p:txBody>
          </p:sp>
        </mc:Choice>
        <mc:Fallback xmlns="">
          <p:sp>
            <p:nvSpPr>
              <p:cNvPr id="5" name="TextBox 4">
                <a:extLst>
                  <a:ext uri="{FF2B5EF4-FFF2-40B4-BE49-F238E27FC236}">
                    <a16:creationId xmlns:a16="http://schemas.microsoft.com/office/drawing/2014/main" id="{7DDBCA90-B02C-82C4-8457-BD801D34B8E4}"/>
                  </a:ext>
                </a:extLst>
              </p:cNvPr>
              <p:cNvSpPr txBox="1">
                <a:spLocks noRot="1" noChangeAspect="1" noMove="1" noResize="1" noEditPoints="1" noAdjustHandles="1" noChangeArrowheads="1" noChangeShapeType="1" noTextEdit="1"/>
              </p:cNvSpPr>
              <p:nvPr/>
            </p:nvSpPr>
            <p:spPr>
              <a:xfrm>
                <a:off x="-108520" y="6226955"/>
                <a:ext cx="9293430" cy="767133"/>
              </a:xfrm>
              <a:prstGeom prst="rect">
                <a:avLst/>
              </a:prstGeom>
              <a:blipFill>
                <a:blip r:embed="rId15"/>
                <a:stretch>
                  <a:fillRect t="-1587"/>
                </a:stretch>
              </a:blipFill>
            </p:spPr>
            <p:txBody>
              <a:bodyPr/>
              <a:lstStyle/>
              <a:p>
                <a:r>
                  <a:rPr lang="en-GB">
                    <a:noFill/>
                  </a:rPr>
                  <a:t> </a:t>
                </a:r>
              </a:p>
            </p:txBody>
          </p:sp>
        </mc:Fallback>
      </mc:AlternateContent>
    </p:spTree>
    <p:extLst>
      <p:ext uri="{BB962C8B-B14F-4D97-AF65-F5344CB8AC3E}">
        <p14:creationId xmlns:p14="http://schemas.microsoft.com/office/powerpoint/2010/main" val="2523996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par>
                                <p:cTn id="17" presetID="53" presetClass="entr" presetSubtype="16"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animEffect transition="in" filter="fade">
                                      <p:cBhvr>
                                        <p:cTn id="21" dur="500"/>
                                        <p:tgtEl>
                                          <p:spTgt spid="9"/>
                                        </p:tgtEl>
                                      </p:cBhvr>
                                    </p:animEffect>
                                  </p:childTnLst>
                                </p:cTn>
                              </p:par>
                              <p:par>
                                <p:cTn id="22" presetID="53" presetClass="entr" presetSubtype="16"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500" fill="hold"/>
                                        <p:tgtEl>
                                          <p:spTgt spid="10"/>
                                        </p:tgtEl>
                                        <p:attrNameLst>
                                          <p:attrName>ppt_w</p:attrName>
                                        </p:attrNameLst>
                                      </p:cBhvr>
                                      <p:tavLst>
                                        <p:tav tm="0">
                                          <p:val>
                                            <p:fltVal val="0"/>
                                          </p:val>
                                        </p:tav>
                                        <p:tav tm="100000">
                                          <p:val>
                                            <p:strVal val="#ppt_w"/>
                                          </p:val>
                                        </p:tav>
                                      </p:tavLst>
                                    </p:anim>
                                    <p:anim calcmode="lin" valueType="num">
                                      <p:cBhvr>
                                        <p:cTn id="25" dur="500" fill="hold"/>
                                        <p:tgtEl>
                                          <p:spTgt spid="10"/>
                                        </p:tgtEl>
                                        <p:attrNameLst>
                                          <p:attrName>ppt_h</p:attrName>
                                        </p:attrNameLst>
                                      </p:cBhvr>
                                      <p:tavLst>
                                        <p:tav tm="0">
                                          <p:val>
                                            <p:fltVal val="0"/>
                                          </p:val>
                                        </p:tav>
                                        <p:tav tm="100000">
                                          <p:val>
                                            <p:strVal val="#ppt_h"/>
                                          </p:val>
                                        </p:tav>
                                      </p:tavLst>
                                    </p:anim>
                                    <p:animEffect transition="in" filter="fade">
                                      <p:cBhvr>
                                        <p:cTn id="26" dur="500"/>
                                        <p:tgtEl>
                                          <p:spTgt spid="10"/>
                                        </p:tgtEl>
                                      </p:cBhvr>
                                    </p:animEffect>
                                  </p:childTnLst>
                                </p:cTn>
                              </p:par>
                              <p:par>
                                <p:cTn id="27" presetID="53" presetClass="entr" presetSubtype="16"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fltVal val="0"/>
                                          </p:val>
                                        </p:tav>
                                        <p:tav tm="100000">
                                          <p:val>
                                            <p:strVal val="#ppt_w"/>
                                          </p:val>
                                        </p:tav>
                                      </p:tavLst>
                                    </p:anim>
                                    <p:anim calcmode="lin" valueType="num">
                                      <p:cBhvr>
                                        <p:cTn id="30" dur="500" fill="hold"/>
                                        <p:tgtEl>
                                          <p:spTgt spid="11"/>
                                        </p:tgtEl>
                                        <p:attrNameLst>
                                          <p:attrName>ppt_h</p:attrName>
                                        </p:attrNameLst>
                                      </p:cBhvr>
                                      <p:tavLst>
                                        <p:tav tm="0">
                                          <p:val>
                                            <p:fltVal val="0"/>
                                          </p:val>
                                        </p:tav>
                                        <p:tav tm="100000">
                                          <p:val>
                                            <p:strVal val="#ppt_h"/>
                                          </p:val>
                                        </p:tav>
                                      </p:tavLst>
                                    </p:anim>
                                    <p:animEffect transition="in" filter="fade">
                                      <p:cBhvr>
                                        <p:cTn id="31" dur="500"/>
                                        <p:tgtEl>
                                          <p:spTgt spid="11"/>
                                        </p:tgtEl>
                                      </p:cBhvr>
                                    </p:animEffect>
                                  </p:childTnLst>
                                </p:cTn>
                              </p:par>
                              <p:par>
                                <p:cTn id="32" presetID="53" presetClass="entr" presetSubtype="16"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p:cTn id="34" dur="500" fill="hold"/>
                                        <p:tgtEl>
                                          <p:spTgt spid="12"/>
                                        </p:tgtEl>
                                        <p:attrNameLst>
                                          <p:attrName>ppt_w</p:attrName>
                                        </p:attrNameLst>
                                      </p:cBhvr>
                                      <p:tavLst>
                                        <p:tav tm="0">
                                          <p:val>
                                            <p:fltVal val="0"/>
                                          </p:val>
                                        </p:tav>
                                        <p:tav tm="100000">
                                          <p:val>
                                            <p:strVal val="#ppt_w"/>
                                          </p:val>
                                        </p:tav>
                                      </p:tavLst>
                                    </p:anim>
                                    <p:anim calcmode="lin" valueType="num">
                                      <p:cBhvr>
                                        <p:cTn id="35" dur="500" fill="hold"/>
                                        <p:tgtEl>
                                          <p:spTgt spid="12"/>
                                        </p:tgtEl>
                                        <p:attrNameLst>
                                          <p:attrName>ppt_h</p:attrName>
                                        </p:attrNameLst>
                                      </p:cBhvr>
                                      <p:tavLst>
                                        <p:tav tm="0">
                                          <p:val>
                                            <p:fltVal val="0"/>
                                          </p:val>
                                        </p:tav>
                                        <p:tav tm="100000">
                                          <p:val>
                                            <p:strVal val="#ppt_h"/>
                                          </p:val>
                                        </p:tav>
                                      </p:tavLst>
                                    </p:anim>
                                    <p:animEffect transition="in" filter="fade">
                                      <p:cBhvr>
                                        <p:cTn id="36" dur="500"/>
                                        <p:tgtEl>
                                          <p:spTgt spid="12"/>
                                        </p:tgtEl>
                                      </p:cBhvr>
                                    </p:animEffect>
                                  </p:childTnLst>
                                </p:cTn>
                              </p:par>
                              <p:par>
                                <p:cTn id="37" presetID="53" presetClass="entr" presetSubtype="16" fill="hold"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p:cTn id="39" dur="500" fill="hold"/>
                                        <p:tgtEl>
                                          <p:spTgt spid="13"/>
                                        </p:tgtEl>
                                        <p:attrNameLst>
                                          <p:attrName>ppt_w</p:attrName>
                                        </p:attrNameLst>
                                      </p:cBhvr>
                                      <p:tavLst>
                                        <p:tav tm="0">
                                          <p:val>
                                            <p:fltVal val="0"/>
                                          </p:val>
                                        </p:tav>
                                        <p:tav tm="100000">
                                          <p:val>
                                            <p:strVal val="#ppt_w"/>
                                          </p:val>
                                        </p:tav>
                                      </p:tavLst>
                                    </p:anim>
                                    <p:anim calcmode="lin" valueType="num">
                                      <p:cBhvr>
                                        <p:cTn id="40" dur="500" fill="hold"/>
                                        <p:tgtEl>
                                          <p:spTgt spid="13"/>
                                        </p:tgtEl>
                                        <p:attrNameLst>
                                          <p:attrName>ppt_h</p:attrName>
                                        </p:attrNameLst>
                                      </p:cBhvr>
                                      <p:tavLst>
                                        <p:tav tm="0">
                                          <p:val>
                                            <p:fltVal val="0"/>
                                          </p:val>
                                        </p:tav>
                                        <p:tav tm="100000">
                                          <p:val>
                                            <p:strVal val="#ppt_h"/>
                                          </p:val>
                                        </p:tav>
                                      </p:tavLst>
                                    </p:anim>
                                    <p:animEffect transition="in" filter="fade">
                                      <p:cBhvr>
                                        <p:cTn id="41" dur="500"/>
                                        <p:tgtEl>
                                          <p:spTgt spid="13"/>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p:cTn id="44" dur="500" fill="hold"/>
                                        <p:tgtEl>
                                          <p:spTgt spid="15"/>
                                        </p:tgtEl>
                                        <p:attrNameLst>
                                          <p:attrName>ppt_w</p:attrName>
                                        </p:attrNameLst>
                                      </p:cBhvr>
                                      <p:tavLst>
                                        <p:tav tm="0">
                                          <p:val>
                                            <p:fltVal val="0"/>
                                          </p:val>
                                        </p:tav>
                                        <p:tav tm="100000">
                                          <p:val>
                                            <p:strVal val="#ppt_w"/>
                                          </p:val>
                                        </p:tav>
                                      </p:tavLst>
                                    </p:anim>
                                    <p:anim calcmode="lin" valueType="num">
                                      <p:cBhvr>
                                        <p:cTn id="45" dur="500" fill="hold"/>
                                        <p:tgtEl>
                                          <p:spTgt spid="15"/>
                                        </p:tgtEl>
                                        <p:attrNameLst>
                                          <p:attrName>ppt_h</p:attrName>
                                        </p:attrNameLst>
                                      </p:cBhvr>
                                      <p:tavLst>
                                        <p:tav tm="0">
                                          <p:val>
                                            <p:fltVal val="0"/>
                                          </p:val>
                                        </p:tav>
                                        <p:tav tm="100000">
                                          <p:val>
                                            <p:strVal val="#ppt_h"/>
                                          </p:val>
                                        </p:tav>
                                      </p:tavLst>
                                    </p:anim>
                                    <p:animEffect transition="in" filter="fade">
                                      <p:cBhvr>
                                        <p:cTn id="46" dur="500"/>
                                        <p:tgtEl>
                                          <p:spTgt spid="15"/>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fltVal val="0"/>
                                          </p:val>
                                        </p:tav>
                                        <p:tav tm="100000">
                                          <p:val>
                                            <p:strVal val="#ppt_w"/>
                                          </p:val>
                                        </p:tav>
                                      </p:tavLst>
                                    </p:anim>
                                    <p:anim calcmode="lin" valueType="num">
                                      <p:cBhvr>
                                        <p:cTn id="50" dur="500" fill="hold"/>
                                        <p:tgtEl>
                                          <p:spTgt spid="16"/>
                                        </p:tgtEl>
                                        <p:attrNameLst>
                                          <p:attrName>ppt_h</p:attrName>
                                        </p:attrNameLst>
                                      </p:cBhvr>
                                      <p:tavLst>
                                        <p:tav tm="0">
                                          <p:val>
                                            <p:fltVal val="0"/>
                                          </p:val>
                                        </p:tav>
                                        <p:tav tm="100000">
                                          <p:val>
                                            <p:strVal val="#ppt_h"/>
                                          </p:val>
                                        </p:tav>
                                      </p:tavLst>
                                    </p:anim>
                                    <p:animEffect transition="in" filter="fade">
                                      <p:cBhvr>
                                        <p:cTn id="51" dur="500"/>
                                        <p:tgtEl>
                                          <p:spTgt spid="16"/>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17"/>
                                        </p:tgtEl>
                                        <p:attrNameLst>
                                          <p:attrName>style.visibility</p:attrName>
                                        </p:attrNameLst>
                                      </p:cBhvr>
                                      <p:to>
                                        <p:strVal val="visible"/>
                                      </p:to>
                                    </p:set>
                                    <p:anim calcmode="lin" valueType="num">
                                      <p:cBhvr>
                                        <p:cTn id="54" dur="500" fill="hold"/>
                                        <p:tgtEl>
                                          <p:spTgt spid="17"/>
                                        </p:tgtEl>
                                        <p:attrNameLst>
                                          <p:attrName>ppt_w</p:attrName>
                                        </p:attrNameLst>
                                      </p:cBhvr>
                                      <p:tavLst>
                                        <p:tav tm="0">
                                          <p:val>
                                            <p:fltVal val="0"/>
                                          </p:val>
                                        </p:tav>
                                        <p:tav tm="100000">
                                          <p:val>
                                            <p:strVal val="#ppt_w"/>
                                          </p:val>
                                        </p:tav>
                                      </p:tavLst>
                                    </p:anim>
                                    <p:anim calcmode="lin" valueType="num">
                                      <p:cBhvr>
                                        <p:cTn id="55" dur="500" fill="hold"/>
                                        <p:tgtEl>
                                          <p:spTgt spid="17"/>
                                        </p:tgtEl>
                                        <p:attrNameLst>
                                          <p:attrName>ppt_h</p:attrName>
                                        </p:attrNameLst>
                                      </p:cBhvr>
                                      <p:tavLst>
                                        <p:tav tm="0">
                                          <p:val>
                                            <p:fltVal val="0"/>
                                          </p:val>
                                        </p:tav>
                                        <p:tav tm="100000">
                                          <p:val>
                                            <p:strVal val="#ppt_h"/>
                                          </p:val>
                                        </p:tav>
                                      </p:tavLst>
                                    </p:anim>
                                    <p:animEffect transition="in" filter="fade">
                                      <p:cBhvr>
                                        <p:cTn id="56" dur="500"/>
                                        <p:tgtEl>
                                          <p:spTgt spid="17"/>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p:cTn id="59" dur="500" fill="hold"/>
                                        <p:tgtEl>
                                          <p:spTgt spid="18"/>
                                        </p:tgtEl>
                                        <p:attrNameLst>
                                          <p:attrName>ppt_w</p:attrName>
                                        </p:attrNameLst>
                                      </p:cBhvr>
                                      <p:tavLst>
                                        <p:tav tm="0">
                                          <p:val>
                                            <p:fltVal val="0"/>
                                          </p:val>
                                        </p:tav>
                                        <p:tav tm="100000">
                                          <p:val>
                                            <p:strVal val="#ppt_w"/>
                                          </p:val>
                                        </p:tav>
                                      </p:tavLst>
                                    </p:anim>
                                    <p:anim calcmode="lin" valueType="num">
                                      <p:cBhvr>
                                        <p:cTn id="60" dur="500" fill="hold"/>
                                        <p:tgtEl>
                                          <p:spTgt spid="18"/>
                                        </p:tgtEl>
                                        <p:attrNameLst>
                                          <p:attrName>ppt_h</p:attrName>
                                        </p:attrNameLst>
                                      </p:cBhvr>
                                      <p:tavLst>
                                        <p:tav tm="0">
                                          <p:val>
                                            <p:fltVal val="0"/>
                                          </p:val>
                                        </p:tav>
                                        <p:tav tm="100000">
                                          <p:val>
                                            <p:strVal val="#ppt_h"/>
                                          </p:val>
                                        </p:tav>
                                      </p:tavLst>
                                    </p:anim>
                                    <p:animEffect transition="in" filter="fade">
                                      <p:cBhvr>
                                        <p:cTn id="61" dur="500"/>
                                        <p:tgtEl>
                                          <p:spTgt spid="18"/>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19"/>
                                        </p:tgtEl>
                                        <p:attrNameLst>
                                          <p:attrName>style.visibility</p:attrName>
                                        </p:attrNameLst>
                                      </p:cBhvr>
                                      <p:to>
                                        <p:strVal val="visible"/>
                                      </p:to>
                                    </p:set>
                                    <p:anim calcmode="lin" valueType="num">
                                      <p:cBhvr>
                                        <p:cTn id="64" dur="500" fill="hold"/>
                                        <p:tgtEl>
                                          <p:spTgt spid="19"/>
                                        </p:tgtEl>
                                        <p:attrNameLst>
                                          <p:attrName>ppt_w</p:attrName>
                                        </p:attrNameLst>
                                      </p:cBhvr>
                                      <p:tavLst>
                                        <p:tav tm="0">
                                          <p:val>
                                            <p:fltVal val="0"/>
                                          </p:val>
                                        </p:tav>
                                        <p:tav tm="100000">
                                          <p:val>
                                            <p:strVal val="#ppt_w"/>
                                          </p:val>
                                        </p:tav>
                                      </p:tavLst>
                                    </p:anim>
                                    <p:anim calcmode="lin" valueType="num">
                                      <p:cBhvr>
                                        <p:cTn id="65" dur="500" fill="hold"/>
                                        <p:tgtEl>
                                          <p:spTgt spid="19"/>
                                        </p:tgtEl>
                                        <p:attrNameLst>
                                          <p:attrName>ppt_h</p:attrName>
                                        </p:attrNameLst>
                                      </p:cBhvr>
                                      <p:tavLst>
                                        <p:tav tm="0">
                                          <p:val>
                                            <p:fltVal val="0"/>
                                          </p:val>
                                        </p:tav>
                                        <p:tav tm="100000">
                                          <p:val>
                                            <p:strVal val="#ppt_h"/>
                                          </p:val>
                                        </p:tav>
                                      </p:tavLst>
                                    </p:anim>
                                    <p:animEffect transition="in" filter="fade">
                                      <p:cBhvr>
                                        <p:cTn id="66" dur="500"/>
                                        <p:tgtEl>
                                          <p:spTgt spid="19"/>
                                        </p:tgtEl>
                                      </p:cBhvr>
                                    </p:animEffect>
                                  </p:childTnLst>
                                </p:cTn>
                              </p:par>
                              <p:par>
                                <p:cTn id="67" presetID="53" presetClass="entr" presetSubtype="16"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anim calcmode="lin" valueType="num">
                                      <p:cBhvr>
                                        <p:cTn id="69" dur="500" fill="hold"/>
                                        <p:tgtEl>
                                          <p:spTgt spid="21"/>
                                        </p:tgtEl>
                                        <p:attrNameLst>
                                          <p:attrName>ppt_w</p:attrName>
                                        </p:attrNameLst>
                                      </p:cBhvr>
                                      <p:tavLst>
                                        <p:tav tm="0">
                                          <p:val>
                                            <p:fltVal val="0"/>
                                          </p:val>
                                        </p:tav>
                                        <p:tav tm="100000">
                                          <p:val>
                                            <p:strVal val="#ppt_w"/>
                                          </p:val>
                                        </p:tav>
                                      </p:tavLst>
                                    </p:anim>
                                    <p:anim calcmode="lin" valueType="num">
                                      <p:cBhvr>
                                        <p:cTn id="70" dur="500" fill="hold"/>
                                        <p:tgtEl>
                                          <p:spTgt spid="21"/>
                                        </p:tgtEl>
                                        <p:attrNameLst>
                                          <p:attrName>ppt_h</p:attrName>
                                        </p:attrNameLst>
                                      </p:cBhvr>
                                      <p:tavLst>
                                        <p:tav tm="0">
                                          <p:val>
                                            <p:fltVal val="0"/>
                                          </p:val>
                                        </p:tav>
                                        <p:tav tm="100000">
                                          <p:val>
                                            <p:strVal val="#ppt_h"/>
                                          </p:val>
                                        </p:tav>
                                      </p:tavLst>
                                    </p:anim>
                                    <p:animEffect transition="in" filter="fade">
                                      <p:cBhvr>
                                        <p:cTn id="71" dur="500"/>
                                        <p:tgtEl>
                                          <p:spTgt spid="21"/>
                                        </p:tgtEl>
                                      </p:cBhvr>
                                    </p:animEffect>
                                  </p:childTnLst>
                                </p:cTn>
                              </p:par>
                            </p:childTnLst>
                          </p:cTn>
                        </p:par>
                      </p:childTnLst>
                    </p:cTn>
                  </p:par>
                  <p:par>
                    <p:cTn id="72" fill="hold">
                      <p:stCondLst>
                        <p:cond delay="indefinite"/>
                      </p:stCondLst>
                      <p:childTnLst>
                        <p:par>
                          <p:cTn id="73" fill="hold">
                            <p:stCondLst>
                              <p:cond delay="0"/>
                            </p:stCondLst>
                            <p:childTnLst>
                              <p:par>
                                <p:cTn id="74" presetID="12" presetClass="entr" presetSubtype="4" fill="hold" grpId="0" nodeType="clickEffect">
                                  <p:stCondLst>
                                    <p:cond delay="0"/>
                                  </p:stCondLst>
                                  <p:childTnLst>
                                    <p:set>
                                      <p:cBhvr>
                                        <p:cTn id="75" dur="1" fill="hold">
                                          <p:stCondLst>
                                            <p:cond delay="0"/>
                                          </p:stCondLst>
                                        </p:cTn>
                                        <p:tgtEl>
                                          <p:spTgt spid="14"/>
                                        </p:tgtEl>
                                        <p:attrNameLst>
                                          <p:attrName>style.visibility</p:attrName>
                                        </p:attrNameLst>
                                      </p:cBhvr>
                                      <p:to>
                                        <p:strVal val="visible"/>
                                      </p:to>
                                    </p:set>
                                    <p:anim calcmode="lin" valueType="num">
                                      <p:cBhvr additive="base">
                                        <p:cTn id="76" dur="500"/>
                                        <p:tgtEl>
                                          <p:spTgt spid="14"/>
                                        </p:tgtEl>
                                        <p:attrNameLst>
                                          <p:attrName>ppt_y</p:attrName>
                                        </p:attrNameLst>
                                      </p:cBhvr>
                                      <p:tavLst>
                                        <p:tav tm="0">
                                          <p:val>
                                            <p:strVal val="#ppt_y+#ppt_h*1.125000"/>
                                          </p:val>
                                        </p:tav>
                                        <p:tav tm="100000">
                                          <p:val>
                                            <p:strVal val="#ppt_y"/>
                                          </p:val>
                                        </p:tav>
                                      </p:tavLst>
                                    </p:anim>
                                    <p:animEffect transition="in" filter="wipe(up)">
                                      <p:cBhvr>
                                        <p:cTn id="77" dur="500"/>
                                        <p:tgtEl>
                                          <p:spTgt spid="14"/>
                                        </p:tgtEl>
                                      </p:cBhvr>
                                    </p:animEffect>
                                  </p:childTnLst>
                                </p:cTn>
                              </p:par>
                            </p:childTnLst>
                          </p:cTn>
                        </p:par>
                        <p:par>
                          <p:cTn id="78" fill="hold">
                            <p:stCondLst>
                              <p:cond delay="500"/>
                            </p:stCondLst>
                            <p:childTnLst>
                              <p:par>
                                <p:cTn id="79" presetID="1" presetClass="entr" presetSubtype="0" fill="hold" grpId="0" nodeType="afterEffect">
                                  <p:stCondLst>
                                    <p:cond delay="0"/>
                                  </p:stCondLst>
                                  <p:childTnLst>
                                    <p:set>
                                      <p:cBhvr>
                                        <p:cTn id="80" dur="1" fill="hold">
                                          <p:stCondLst>
                                            <p:cond delay="0"/>
                                          </p:stCondLst>
                                        </p:cTn>
                                        <p:tgtEl>
                                          <p:spTgt spid="20"/>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2" presetClass="entr" presetSubtype="4" fill="hold" grpId="0" nodeType="clickEffect">
                                  <p:stCondLst>
                                    <p:cond delay="0"/>
                                  </p:stCondLst>
                                  <p:childTnLst>
                                    <p:set>
                                      <p:cBhvr>
                                        <p:cTn id="84" dur="1" fill="hold">
                                          <p:stCondLst>
                                            <p:cond delay="0"/>
                                          </p:stCondLst>
                                        </p:cTn>
                                        <p:tgtEl>
                                          <p:spTgt spid="28"/>
                                        </p:tgtEl>
                                        <p:attrNameLst>
                                          <p:attrName>style.visibility</p:attrName>
                                        </p:attrNameLst>
                                      </p:cBhvr>
                                      <p:to>
                                        <p:strVal val="visible"/>
                                      </p:to>
                                    </p:set>
                                    <p:anim calcmode="lin" valueType="num">
                                      <p:cBhvr additive="base">
                                        <p:cTn id="85" dur="500"/>
                                        <p:tgtEl>
                                          <p:spTgt spid="28"/>
                                        </p:tgtEl>
                                        <p:attrNameLst>
                                          <p:attrName>ppt_y</p:attrName>
                                        </p:attrNameLst>
                                      </p:cBhvr>
                                      <p:tavLst>
                                        <p:tav tm="0">
                                          <p:val>
                                            <p:strVal val="#ppt_y+#ppt_h*1.125000"/>
                                          </p:val>
                                        </p:tav>
                                        <p:tav tm="100000">
                                          <p:val>
                                            <p:strVal val="#ppt_y"/>
                                          </p:val>
                                        </p:tav>
                                      </p:tavLst>
                                    </p:anim>
                                    <p:animEffect transition="in" filter="wipe(up)">
                                      <p:cBhvr>
                                        <p:cTn id="86" dur="500"/>
                                        <p:tgtEl>
                                          <p:spTgt spid="28"/>
                                        </p:tgtEl>
                                      </p:cBhvr>
                                    </p:animEffec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2" presetClass="entr" presetSubtype="4" fill="hold" grpId="0" nodeType="clickEffect">
                                  <p:stCondLst>
                                    <p:cond delay="0"/>
                                  </p:stCondLst>
                                  <p:childTnLst>
                                    <p:set>
                                      <p:cBhvr>
                                        <p:cTn id="94" dur="1" fill="hold">
                                          <p:stCondLst>
                                            <p:cond delay="0"/>
                                          </p:stCondLst>
                                        </p:cTn>
                                        <p:tgtEl>
                                          <p:spTgt spid="35"/>
                                        </p:tgtEl>
                                        <p:attrNameLst>
                                          <p:attrName>style.visibility</p:attrName>
                                        </p:attrNameLst>
                                      </p:cBhvr>
                                      <p:to>
                                        <p:strVal val="visible"/>
                                      </p:to>
                                    </p:set>
                                    <p:anim calcmode="lin" valueType="num">
                                      <p:cBhvr additive="base">
                                        <p:cTn id="95" dur="500"/>
                                        <p:tgtEl>
                                          <p:spTgt spid="35"/>
                                        </p:tgtEl>
                                        <p:attrNameLst>
                                          <p:attrName>ppt_y</p:attrName>
                                        </p:attrNameLst>
                                      </p:cBhvr>
                                      <p:tavLst>
                                        <p:tav tm="0">
                                          <p:val>
                                            <p:strVal val="#ppt_y+#ppt_h*1.125000"/>
                                          </p:val>
                                        </p:tav>
                                        <p:tav tm="100000">
                                          <p:val>
                                            <p:strVal val="#ppt_y"/>
                                          </p:val>
                                        </p:tav>
                                      </p:tavLst>
                                    </p:anim>
                                    <p:animEffect transition="in" filter="wipe(up)">
                                      <p:cBhvr>
                                        <p:cTn id="96" dur="500"/>
                                        <p:tgtEl>
                                          <p:spTgt spid="35"/>
                                        </p:tgtEl>
                                      </p:cBhvr>
                                    </p:animEffec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47"/>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2" presetClass="entr" presetSubtype="4" fill="hold" grpId="0" nodeType="clickEffect">
                                  <p:stCondLst>
                                    <p:cond delay="0"/>
                                  </p:stCondLst>
                                  <p:childTnLst>
                                    <p:set>
                                      <p:cBhvr>
                                        <p:cTn id="104" dur="1" fill="hold">
                                          <p:stCondLst>
                                            <p:cond delay="0"/>
                                          </p:stCondLst>
                                        </p:cTn>
                                        <p:tgtEl>
                                          <p:spTgt spid="38"/>
                                        </p:tgtEl>
                                        <p:attrNameLst>
                                          <p:attrName>style.visibility</p:attrName>
                                        </p:attrNameLst>
                                      </p:cBhvr>
                                      <p:to>
                                        <p:strVal val="visible"/>
                                      </p:to>
                                    </p:set>
                                    <p:anim calcmode="lin" valueType="num">
                                      <p:cBhvr additive="base">
                                        <p:cTn id="105" dur="500"/>
                                        <p:tgtEl>
                                          <p:spTgt spid="38"/>
                                        </p:tgtEl>
                                        <p:attrNameLst>
                                          <p:attrName>ppt_y</p:attrName>
                                        </p:attrNameLst>
                                      </p:cBhvr>
                                      <p:tavLst>
                                        <p:tav tm="0">
                                          <p:val>
                                            <p:strVal val="#ppt_y+#ppt_h*1.125000"/>
                                          </p:val>
                                        </p:tav>
                                        <p:tav tm="100000">
                                          <p:val>
                                            <p:strVal val="#ppt_y"/>
                                          </p:val>
                                        </p:tav>
                                      </p:tavLst>
                                    </p:anim>
                                    <p:animEffect transition="in" filter="wipe(up)">
                                      <p:cBhvr>
                                        <p:cTn id="106" dur="500"/>
                                        <p:tgtEl>
                                          <p:spTgt spid="38"/>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48"/>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2" presetClass="entr" presetSubtype="4" fill="hold" grpId="0" nodeType="clickEffect">
                                  <p:stCondLst>
                                    <p:cond delay="0"/>
                                  </p:stCondLst>
                                  <p:childTnLst>
                                    <p:set>
                                      <p:cBhvr>
                                        <p:cTn id="114" dur="1" fill="hold">
                                          <p:stCondLst>
                                            <p:cond delay="0"/>
                                          </p:stCondLst>
                                        </p:cTn>
                                        <p:tgtEl>
                                          <p:spTgt spid="41"/>
                                        </p:tgtEl>
                                        <p:attrNameLst>
                                          <p:attrName>style.visibility</p:attrName>
                                        </p:attrNameLst>
                                      </p:cBhvr>
                                      <p:to>
                                        <p:strVal val="visible"/>
                                      </p:to>
                                    </p:set>
                                    <p:anim calcmode="lin" valueType="num">
                                      <p:cBhvr additive="base">
                                        <p:cTn id="115" dur="500"/>
                                        <p:tgtEl>
                                          <p:spTgt spid="41"/>
                                        </p:tgtEl>
                                        <p:attrNameLst>
                                          <p:attrName>ppt_y</p:attrName>
                                        </p:attrNameLst>
                                      </p:cBhvr>
                                      <p:tavLst>
                                        <p:tav tm="0">
                                          <p:val>
                                            <p:strVal val="#ppt_y+#ppt_h*1.125000"/>
                                          </p:val>
                                        </p:tav>
                                        <p:tav tm="100000">
                                          <p:val>
                                            <p:strVal val="#ppt_y"/>
                                          </p:val>
                                        </p:tav>
                                      </p:tavLst>
                                    </p:anim>
                                    <p:animEffect transition="in" filter="wipe(up)">
                                      <p:cBhvr>
                                        <p:cTn id="116" dur="500"/>
                                        <p:tgtEl>
                                          <p:spTgt spid="41"/>
                                        </p:tgtEl>
                                      </p:cBhvr>
                                    </p:animEffec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49"/>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2" presetClass="entr" presetSubtype="4" fill="hold" grpId="0" nodeType="clickEffect">
                                  <p:stCondLst>
                                    <p:cond delay="0"/>
                                  </p:stCondLst>
                                  <p:childTnLst>
                                    <p:set>
                                      <p:cBhvr>
                                        <p:cTn id="124" dur="1" fill="hold">
                                          <p:stCondLst>
                                            <p:cond delay="0"/>
                                          </p:stCondLst>
                                        </p:cTn>
                                        <p:tgtEl>
                                          <p:spTgt spid="44"/>
                                        </p:tgtEl>
                                        <p:attrNameLst>
                                          <p:attrName>style.visibility</p:attrName>
                                        </p:attrNameLst>
                                      </p:cBhvr>
                                      <p:to>
                                        <p:strVal val="visible"/>
                                      </p:to>
                                    </p:set>
                                    <p:anim calcmode="lin" valueType="num">
                                      <p:cBhvr additive="base">
                                        <p:cTn id="125" dur="500"/>
                                        <p:tgtEl>
                                          <p:spTgt spid="44"/>
                                        </p:tgtEl>
                                        <p:attrNameLst>
                                          <p:attrName>ppt_y</p:attrName>
                                        </p:attrNameLst>
                                      </p:cBhvr>
                                      <p:tavLst>
                                        <p:tav tm="0">
                                          <p:val>
                                            <p:strVal val="#ppt_y+#ppt_h*1.125000"/>
                                          </p:val>
                                        </p:tav>
                                        <p:tav tm="100000">
                                          <p:val>
                                            <p:strVal val="#ppt_y"/>
                                          </p:val>
                                        </p:tav>
                                      </p:tavLst>
                                    </p:anim>
                                    <p:animEffect transition="in" filter="wipe(up)">
                                      <p:cBhvr>
                                        <p:cTn id="126" dur="500"/>
                                        <p:tgtEl>
                                          <p:spTgt spid="44"/>
                                        </p:tgtEl>
                                      </p:cBhvr>
                                    </p:animEffec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50"/>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19" grpId="0"/>
      <p:bldP spid="14" grpId="0" animBg="1"/>
      <p:bldP spid="21" grpId="0"/>
      <p:bldP spid="20" grpId="0"/>
      <p:bldP spid="28" grpId="0" animBg="1"/>
      <p:bldP spid="29" grpId="0"/>
      <p:bldP spid="35" grpId="0" animBg="1"/>
      <p:bldP spid="38" grpId="0" animBg="1"/>
      <p:bldP spid="41" grpId="0" animBg="1"/>
      <p:bldP spid="44" grpId="0" animBg="1"/>
      <p:bldP spid="47" grpId="0"/>
      <p:bldP spid="48" grpId="0"/>
      <p:bldP spid="49" grpId="0"/>
      <p:bldP spid="50" grpId="0"/>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A8F03-CFFE-A6EE-E586-B80D85BDB2E3}"/>
              </a:ext>
            </a:extLst>
          </p:cNvPr>
          <p:cNvSpPr>
            <a:spLocks noGrp="1"/>
          </p:cNvSpPr>
          <p:nvPr>
            <p:ph type="title"/>
          </p:nvPr>
        </p:nvSpPr>
        <p:spPr>
          <a:xfrm>
            <a:off x="508001" y="1008610"/>
            <a:ext cx="6447501" cy="522230"/>
          </a:xfrm>
        </p:spPr>
        <p:txBody>
          <a:bodyPr>
            <a:normAutofit fontScale="90000"/>
          </a:bodyPr>
          <a:lstStyle/>
          <a:p>
            <a:r>
              <a:rPr lang="en-GB" dirty="0"/>
              <a:t>Compound Interest</a:t>
            </a:r>
          </a:p>
        </p:txBody>
      </p:sp>
      <p:sp>
        <p:nvSpPr>
          <p:cNvPr id="4" name="Content Placeholder 2">
            <a:extLst>
              <a:ext uri="{FF2B5EF4-FFF2-40B4-BE49-F238E27FC236}">
                <a16:creationId xmlns:a16="http://schemas.microsoft.com/office/drawing/2014/main" id="{2237F18D-2BB4-231F-156D-181723CD93F3}"/>
              </a:ext>
            </a:extLst>
          </p:cNvPr>
          <p:cNvSpPr txBox="1">
            <a:spLocks/>
          </p:cNvSpPr>
          <p:nvPr/>
        </p:nvSpPr>
        <p:spPr>
          <a:xfrm>
            <a:off x="491672" y="2929450"/>
            <a:ext cx="7639957" cy="2271200"/>
          </a:xfrm>
          <a:prstGeom prst="rect">
            <a:avLst/>
          </a:prstGeom>
        </p:spPr>
        <p:txBody>
          <a:bodyPr vert="horz" lIns="68580" tIns="34290" rIns="68580" bIns="3429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1350" b="1"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9229F6B-2D13-6DEE-6B89-EC42C38295B9}"/>
                  </a:ext>
                </a:extLst>
              </p:cNvPr>
              <p:cNvSpPr txBox="1"/>
              <p:nvPr/>
            </p:nvSpPr>
            <p:spPr>
              <a:xfrm>
                <a:off x="508001" y="1530840"/>
                <a:ext cx="7639957" cy="1376531"/>
              </a:xfrm>
              <a:prstGeom prst="rect">
                <a:avLst/>
              </a:prstGeom>
              <a:noFill/>
            </p:spPr>
            <p:txBody>
              <a:bodyPr wrap="square">
                <a:spAutoFit/>
              </a:bodyPr>
              <a:lstStyle/>
              <a:p>
                <a:pPr marL="257175" lvl="1" indent="-257175">
                  <a:spcAft>
                    <a:spcPts val="900"/>
                  </a:spcAft>
                  <a:buClr>
                    <a:srgbClr val="C00000"/>
                  </a:buClr>
                  <a:buSzPct val="90000"/>
                </a:pPr>
                <a:r>
                  <a:rPr lang="en-GB" sz="1650" dirty="0"/>
                  <a:t>The generalisation of the </a:t>
                </a:r>
                <a:r>
                  <a:rPr lang="en-GB" sz="1650" u="sng" dirty="0"/>
                  <a:t>compound interest </a:t>
                </a:r>
                <a:r>
                  <a:rPr lang="en-GB" sz="1650" dirty="0"/>
                  <a:t>formula is:</a:t>
                </a:r>
              </a:p>
              <a:p>
                <a:pPr marL="0" lvl="1" indent="0">
                  <a:lnSpc>
                    <a:spcPct val="200000"/>
                  </a:lnSpc>
                  <a:spcAft>
                    <a:spcPts val="900"/>
                  </a:spcAft>
                  <a:buClr>
                    <a:srgbClr val="C00000"/>
                  </a:buClr>
                  <a:buSzPct val="90000"/>
                </a:pPr>
                <a14:m>
                  <m:oMathPara xmlns:m="http://schemas.openxmlformats.org/officeDocument/2006/math">
                    <m:oMathParaPr>
                      <m:jc m:val="centerGroup"/>
                    </m:oMathParaPr>
                    <m:oMath xmlns:m="http://schemas.openxmlformats.org/officeDocument/2006/math">
                      <m:r>
                        <a:rPr lang="en-GB" i="1">
                          <a:solidFill>
                            <a:schemeClr val="accent5">
                              <a:lumMod val="75000"/>
                            </a:schemeClr>
                          </a:solidFill>
                          <a:latin typeface="Cambria Math" panose="02040503050406030204" pitchFamily="18" charset="0"/>
                        </a:rPr>
                        <m:t>𝐹𝑉</m:t>
                      </m:r>
                      <m:r>
                        <a:rPr lang="en-GB" i="1">
                          <a:solidFill>
                            <a:schemeClr val="accent5">
                              <a:lumMod val="75000"/>
                            </a:schemeClr>
                          </a:solidFill>
                          <a:latin typeface="Cambria Math" panose="02040503050406030204" pitchFamily="18" charset="0"/>
                        </a:rPr>
                        <m:t>=</m:t>
                      </m:r>
                      <m:r>
                        <a:rPr lang="en-GB" i="1">
                          <a:solidFill>
                            <a:schemeClr val="accent5">
                              <a:lumMod val="75000"/>
                            </a:schemeClr>
                          </a:solidFill>
                          <a:latin typeface="Cambria Math" panose="02040503050406030204" pitchFamily="18" charset="0"/>
                        </a:rPr>
                        <m:t>𝑃𝑉</m:t>
                      </m:r>
                      <m:r>
                        <a:rPr lang="en-GB" i="1">
                          <a:solidFill>
                            <a:schemeClr val="accent5">
                              <a:lumMod val="75000"/>
                            </a:schemeClr>
                          </a:solidFill>
                          <a:latin typeface="Cambria Math" panose="02040503050406030204" pitchFamily="18" charset="0"/>
                          <a:ea typeface="Cambria Math" panose="02040503050406030204" pitchFamily="18" charset="0"/>
                        </a:rPr>
                        <m:t>×</m:t>
                      </m:r>
                      <m:sSup>
                        <m:sSupPr>
                          <m:ctrlPr>
                            <a:rPr lang="en-GB"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i="1">
                                  <a:solidFill>
                                    <a:schemeClr val="accent5">
                                      <a:lumMod val="75000"/>
                                    </a:schemeClr>
                                  </a:solidFill>
                                  <a:latin typeface="Cambria Math" panose="02040503050406030204" pitchFamily="18" charset="0"/>
                                </a:rPr>
                              </m:ctrlPr>
                            </m:dPr>
                            <m:e>
                              <m:r>
                                <a:rPr lang="en-GB" i="1">
                                  <a:solidFill>
                                    <a:schemeClr val="accent5">
                                      <a:lumMod val="75000"/>
                                    </a:schemeClr>
                                  </a:solidFill>
                                  <a:latin typeface="Cambria Math" panose="02040503050406030204" pitchFamily="18" charset="0"/>
                                </a:rPr>
                                <m:t>1+</m:t>
                              </m:r>
                              <m:r>
                                <a:rPr lang="en-GB" i="1">
                                  <a:solidFill>
                                    <a:schemeClr val="accent5">
                                      <a:lumMod val="75000"/>
                                    </a:schemeClr>
                                  </a:solidFill>
                                  <a:latin typeface="Cambria Math" panose="02040503050406030204" pitchFamily="18" charset="0"/>
                                  <a:ea typeface="Cambria Math" panose="02040503050406030204" pitchFamily="18" charset="0"/>
                                </a:rPr>
                                <m:t>𝑟</m:t>
                              </m:r>
                            </m:e>
                          </m:d>
                        </m:e>
                        <m:sup>
                          <m:r>
                            <a:rPr lang="en-GB" i="1">
                              <a:solidFill>
                                <a:srgbClr val="C00000"/>
                              </a:solidFill>
                              <a:latin typeface="Cambria Math" panose="02040503050406030204" pitchFamily="18" charset="0"/>
                              <a:ea typeface="Cambria Math" panose="02040503050406030204" pitchFamily="18" charset="0"/>
                            </a:rPr>
                            <m:t>𝑡</m:t>
                          </m:r>
                        </m:sup>
                      </m:sSup>
                    </m:oMath>
                  </m:oMathPara>
                </a14:m>
                <a:endParaRPr lang="en-GB" sz="1650" i="1" dirty="0"/>
              </a:p>
              <a:p>
                <a:pPr marL="0" lvl="1" indent="0">
                  <a:spcAft>
                    <a:spcPts val="450"/>
                  </a:spcAft>
                  <a:buClr>
                    <a:srgbClr val="C00000"/>
                  </a:buClr>
                  <a:buSzPct val="90000"/>
                </a:pPr>
                <a14:m>
                  <m:oMath xmlns:m="http://schemas.openxmlformats.org/officeDocument/2006/math">
                    <m:r>
                      <a:rPr lang="en-GB" sz="1650" i="1">
                        <a:latin typeface="Cambria Math" panose="02040503050406030204" pitchFamily="18" charset="0"/>
                      </a:rPr>
                      <m:t>𝑡</m:t>
                    </m:r>
                  </m:oMath>
                </a14:m>
                <a:r>
                  <a:rPr lang="en-GB" sz="1650" dirty="0"/>
                  <a:t>: the number of year to maturity	</a:t>
                </a:r>
                <a:r>
                  <a:rPr lang="en-GB" sz="1650" i="1" dirty="0"/>
                  <a:t>r</a:t>
                </a:r>
                <a:r>
                  <a:rPr lang="en-GB" sz="1650" dirty="0"/>
                  <a:t>: the interest rate	</a:t>
                </a:r>
                <a:r>
                  <a:rPr lang="en-GB" sz="1650" i="1" dirty="0"/>
                  <a:t>PV</a:t>
                </a:r>
                <a:r>
                  <a:rPr lang="en-GB" sz="1650" dirty="0"/>
                  <a:t>: the principal</a:t>
                </a:r>
              </a:p>
            </p:txBody>
          </p:sp>
        </mc:Choice>
        <mc:Fallback xmlns="">
          <p:sp>
            <p:nvSpPr>
              <p:cNvPr id="8" name="TextBox 7">
                <a:extLst>
                  <a:ext uri="{FF2B5EF4-FFF2-40B4-BE49-F238E27FC236}">
                    <a16:creationId xmlns:a16="http://schemas.microsoft.com/office/drawing/2014/main" id="{89229F6B-2D13-6DEE-6B89-EC42C38295B9}"/>
                  </a:ext>
                </a:extLst>
              </p:cNvPr>
              <p:cNvSpPr txBox="1">
                <a:spLocks noRot="1" noChangeAspect="1" noMove="1" noResize="1" noEditPoints="1" noAdjustHandles="1" noChangeArrowheads="1" noChangeShapeType="1" noTextEdit="1"/>
              </p:cNvSpPr>
              <p:nvPr/>
            </p:nvSpPr>
            <p:spPr>
              <a:xfrm>
                <a:off x="508001" y="1530840"/>
                <a:ext cx="7639957" cy="1376531"/>
              </a:xfrm>
              <a:prstGeom prst="rect">
                <a:avLst/>
              </a:prstGeom>
              <a:blipFill>
                <a:blip r:embed="rId2"/>
                <a:stretch>
                  <a:fillRect l="-478" t="-1327" b="-5310"/>
                </a:stretch>
              </a:blipFill>
            </p:spPr>
            <p:txBody>
              <a:bodyPr/>
              <a:lstStyle/>
              <a:p>
                <a:r>
                  <a:rPr lang="en-GB">
                    <a:noFill/>
                  </a:rPr>
                  <a:t> </a:t>
                </a:r>
              </a:p>
            </p:txBody>
          </p:sp>
        </mc:Fallback>
      </mc:AlternateContent>
      <p:graphicFrame>
        <p:nvGraphicFramePr>
          <p:cNvPr id="9" name="Chart 8">
            <a:extLst>
              <a:ext uri="{FF2B5EF4-FFF2-40B4-BE49-F238E27FC236}">
                <a16:creationId xmlns:a16="http://schemas.microsoft.com/office/drawing/2014/main" id="{C457D1DB-0CD6-3F72-FB62-32C98958F901}"/>
              </a:ext>
            </a:extLst>
          </p:cNvPr>
          <p:cNvGraphicFramePr>
            <a:graphicFrameLocks/>
          </p:cNvGraphicFramePr>
          <p:nvPr>
            <p:extLst>
              <p:ext uri="{D42A27DB-BD31-4B8C-83A1-F6EECF244321}">
                <p14:modId xmlns:p14="http://schemas.microsoft.com/office/powerpoint/2010/main" val="2660782841"/>
              </p:ext>
            </p:extLst>
          </p:nvPr>
        </p:nvGraphicFramePr>
        <p:xfrm>
          <a:off x="827583" y="3401559"/>
          <a:ext cx="7304045" cy="319770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91848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circle(in)">
                                      <p:cBhvr>
                                        <p:cTn id="15"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Graphic spid="9"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E9241-3103-193E-A6CE-D47026615A1F}"/>
              </a:ext>
            </a:extLst>
          </p:cNvPr>
          <p:cNvSpPr>
            <a:spLocks noGrp="1"/>
          </p:cNvSpPr>
          <p:nvPr>
            <p:ph type="title"/>
          </p:nvPr>
        </p:nvSpPr>
        <p:spPr>
          <a:xfrm>
            <a:off x="508000" y="641373"/>
            <a:ext cx="6447501" cy="542925"/>
          </a:xfrm>
        </p:spPr>
        <p:txBody>
          <a:bodyPr>
            <a:normAutofit fontScale="90000"/>
          </a:bodyPr>
          <a:lstStyle/>
          <a:p>
            <a:r>
              <a:rPr lang="en-GB" dirty="0"/>
              <a:t>Time Value of Money</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9B7D51A-D2C3-F5BE-671D-2E1BBD64C7DE}"/>
                  </a:ext>
                </a:extLst>
              </p:cNvPr>
              <p:cNvSpPr txBox="1"/>
              <p:nvPr/>
            </p:nvSpPr>
            <p:spPr>
              <a:xfrm>
                <a:off x="395536" y="1700808"/>
                <a:ext cx="8096446" cy="738664"/>
              </a:xfrm>
              <a:prstGeom prst="rect">
                <a:avLst/>
              </a:prstGeom>
              <a:noFill/>
            </p:spPr>
            <p:txBody>
              <a:bodyPr wrap="square">
                <a:spAutoFit/>
              </a:bodyPr>
              <a:lstStyle/>
              <a:p>
                <a:pPr marL="0" lvl="1" indent="0">
                  <a:buClr>
                    <a:srgbClr val="C00000"/>
                  </a:buClr>
                  <a:buSzPct val="90000"/>
                </a:pPr>
                <a:r>
                  <a:rPr lang="en-GB" sz="1400" dirty="0"/>
                  <a:t>When we take a present value to the future, this is called </a:t>
                </a:r>
                <a:r>
                  <a:rPr lang="en-GB" sz="1400" dirty="0">
                    <a:solidFill>
                      <a:srgbClr val="0070C0"/>
                    </a:solidFill>
                  </a:rPr>
                  <a:t>compounding</a:t>
                </a:r>
                <a:r>
                  <a:rPr lang="en-GB" sz="1400" dirty="0"/>
                  <a:t>. Therefore</a:t>
                </a:r>
                <a14:m>
                  <m:oMath xmlns:m="http://schemas.openxmlformats.org/officeDocument/2006/math">
                    <m:r>
                      <a:rPr lang="en-GB" sz="1400">
                        <a:latin typeface="Cambria Math" panose="02040503050406030204" pitchFamily="18" charset="0"/>
                      </a:rPr>
                      <m:t> </m:t>
                    </m:r>
                    <m:r>
                      <a:rPr lang="en-GB" sz="1400" i="1">
                        <a:latin typeface="Cambria Math" panose="02040503050406030204" pitchFamily="18" charset="0"/>
                      </a:rPr>
                      <m:t>𝑟</m:t>
                    </m:r>
                  </m:oMath>
                </a14:m>
                <a:r>
                  <a:rPr lang="en-GB" sz="1400" dirty="0"/>
                  <a:t> is known as the </a:t>
                </a:r>
                <a:r>
                  <a:rPr lang="en-GB" sz="1400" dirty="0">
                    <a:solidFill>
                      <a:srgbClr val="0070C0"/>
                    </a:solidFill>
                  </a:rPr>
                  <a:t>compound rate</a:t>
                </a:r>
                <a:r>
                  <a:rPr lang="en-GB" sz="1400" dirty="0"/>
                  <a:t>. </a:t>
                </a:r>
                <a:r>
                  <a:rPr lang="en-GB" sz="1400" dirty="0" err="1"/>
                  <a:t>Eg</a:t>
                </a:r>
                <a:r>
                  <a:rPr lang="en-GB" sz="1400" dirty="0"/>
                  <a:t> for simple interest </a:t>
                </a:r>
                <a:endParaRPr lang="en-GB" sz="1400" i="1" dirty="0">
                  <a:solidFill>
                    <a:srgbClr val="0070C0"/>
                  </a:solidFill>
                  <a:latin typeface="Cambria Math" panose="02040503050406030204" pitchFamily="18" charset="0"/>
                </a:endParaRPr>
              </a:p>
              <a:p>
                <a:pPr marL="0" lvl="1" indent="0">
                  <a:buClr>
                    <a:srgbClr val="C00000"/>
                  </a:buClr>
                  <a:buSzPct val="90000"/>
                </a:pPr>
                <a14:m>
                  <m:oMathPara xmlns:m="http://schemas.openxmlformats.org/officeDocument/2006/math">
                    <m:oMathParaPr>
                      <m:jc m:val="centerGroup"/>
                    </m:oMathParaPr>
                    <m:oMath xmlns:m="http://schemas.openxmlformats.org/officeDocument/2006/math">
                      <m:r>
                        <a:rPr lang="en-GB" sz="1400" i="1">
                          <a:solidFill>
                            <a:srgbClr val="0070C0"/>
                          </a:solidFill>
                          <a:latin typeface="Cambria Math" panose="02040503050406030204" pitchFamily="18" charset="0"/>
                        </a:rPr>
                        <m:t>𝐹𝑉</m:t>
                      </m:r>
                      <m:r>
                        <a:rPr lang="en-GB" sz="1400" i="1">
                          <a:solidFill>
                            <a:srgbClr val="0070C0"/>
                          </a:solidFill>
                          <a:latin typeface="Cambria Math" panose="02040503050406030204" pitchFamily="18" charset="0"/>
                        </a:rPr>
                        <m:t>=</m:t>
                      </m:r>
                      <m:r>
                        <a:rPr lang="en-GB" sz="1400" i="1">
                          <a:solidFill>
                            <a:srgbClr val="0070C0"/>
                          </a:solidFill>
                          <a:latin typeface="Cambria Math" panose="02040503050406030204" pitchFamily="18" charset="0"/>
                        </a:rPr>
                        <m:t>𝑃𝑉</m:t>
                      </m:r>
                      <m:r>
                        <a:rPr lang="en-GB" sz="1400" i="1">
                          <a:solidFill>
                            <a:srgbClr val="0070C0"/>
                          </a:solidFill>
                          <a:latin typeface="Cambria Math" panose="02040503050406030204" pitchFamily="18" charset="0"/>
                          <a:ea typeface="Cambria Math" panose="02040503050406030204" pitchFamily="18" charset="0"/>
                        </a:rPr>
                        <m:t>×</m:t>
                      </m:r>
                      <m:d>
                        <m:dPr>
                          <m:ctrlPr>
                            <a:rPr lang="en-GB" sz="1400" i="1">
                              <a:solidFill>
                                <a:srgbClr val="0070C0"/>
                              </a:solidFill>
                              <a:latin typeface="Cambria Math" panose="02040503050406030204" pitchFamily="18" charset="0"/>
                            </a:rPr>
                          </m:ctrlPr>
                        </m:dPr>
                        <m:e>
                          <m:r>
                            <a:rPr lang="en-GB" sz="1400" i="1">
                              <a:solidFill>
                                <a:srgbClr val="0070C0"/>
                              </a:solidFill>
                              <a:latin typeface="Cambria Math" panose="02040503050406030204" pitchFamily="18" charset="0"/>
                            </a:rPr>
                            <m:t>1+</m:t>
                          </m:r>
                          <m:r>
                            <a:rPr lang="en-GB" sz="1400" i="1">
                              <a:solidFill>
                                <a:srgbClr val="0070C0"/>
                              </a:solidFill>
                              <a:latin typeface="Cambria Math" panose="02040503050406030204" pitchFamily="18" charset="0"/>
                              <a:ea typeface="Cambria Math" panose="02040503050406030204" pitchFamily="18" charset="0"/>
                            </a:rPr>
                            <m:t>𝑟</m:t>
                          </m:r>
                        </m:e>
                      </m:d>
                      <m:r>
                        <a:rPr lang="en-GB" sz="1400" i="1">
                          <a:solidFill>
                            <a:srgbClr val="0070C0"/>
                          </a:solidFill>
                          <a:latin typeface="Cambria Math" panose="02040503050406030204" pitchFamily="18" charset="0"/>
                          <a:ea typeface="Cambria Math" panose="02040503050406030204" pitchFamily="18" charset="0"/>
                        </a:rPr>
                        <m:t> </m:t>
                      </m:r>
                    </m:oMath>
                  </m:oMathPara>
                </a14:m>
                <a:endParaRPr lang="en-GB" sz="1400" dirty="0"/>
              </a:p>
            </p:txBody>
          </p:sp>
        </mc:Choice>
        <mc:Fallback xmlns="">
          <p:sp>
            <p:nvSpPr>
              <p:cNvPr id="5" name="TextBox 4">
                <a:extLst>
                  <a:ext uri="{FF2B5EF4-FFF2-40B4-BE49-F238E27FC236}">
                    <a16:creationId xmlns:a16="http://schemas.microsoft.com/office/drawing/2014/main" id="{C9B7D51A-D2C3-F5BE-671D-2E1BBD64C7DE}"/>
                  </a:ext>
                </a:extLst>
              </p:cNvPr>
              <p:cNvSpPr txBox="1">
                <a:spLocks noRot="1" noChangeAspect="1" noMove="1" noResize="1" noEditPoints="1" noAdjustHandles="1" noChangeArrowheads="1" noChangeShapeType="1" noTextEdit="1"/>
              </p:cNvSpPr>
              <p:nvPr/>
            </p:nvSpPr>
            <p:spPr>
              <a:xfrm>
                <a:off x="395536" y="1700808"/>
                <a:ext cx="8096446" cy="738664"/>
              </a:xfrm>
              <a:prstGeom prst="rect">
                <a:avLst/>
              </a:prstGeom>
              <a:blipFill>
                <a:blip r:embed="rId2"/>
                <a:stretch>
                  <a:fillRect l="-226" t="-165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D182D7F-E4B7-CC47-19E0-137D1B7B7D52}"/>
                  </a:ext>
                </a:extLst>
              </p:cNvPr>
              <p:cNvSpPr txBox="1"/>
              <p:nvPr/>
            </p:nvSpPr>
            <p:spPr>
              <a:xfrm>
                <a:off x="395536" y="2740538"/>
                <a:ext cx="8096446" cy="738664"/>
              </a:xfrm>
              <a:prstGeom prst="rect">
                <a:avLst/>
              </a:prstGeom>
              <a:noFill/>
            </p:spPr>
            <p:txBody>
              <a:bodyPr wrap="square">
                <a:spAutoFit/>
              </a:bodyPr>
              <a:lstStyle/>
              <a:p>
                <a:pPr indent="-128588">
                  <a:buClr>
                    <a:srgbClr val="0070C0"/>
                  </a:buClr>
                  <a:buSzPct val="90000"/>
                </a:pPr>
                <a:r>
                  <a:rPr lang="en-GB" sz="1400" dirty="0">
                    <a:solidFill>
                      <a:schemeClr val="tx1">
                        <a:lumMod val="75000"/>
                        <a:lumOff val="25000"/>
                      </a:schemeClr>
                    </a:solidFill>
                    <a:latin typeface="Arial" panose="020B0604020202020204" pitchFamily="34" charset="0"/>
                    <a:cs typeface="Arial" panose="020B0604020202020204" pitchFamily="34" charset="0"/>
                  </a:rPr>
                  <a:t>Rearranging this formula, </a:t>
                </a:r>
                <a:r>
                  <a:rPr lang="en-GB" sz="1400" b="1" dirty="0">
                    <a:latin typeface="Arial" panose="020B0604020202020204" pitchFamily="34" charset="0"/>
                    <a:cs typeface="Arial" panose="020B0604020202020204" pitchFamily="34" charset="0"/>
                  </a:rPr>
                  <a:t>the </a:t>
                </a:r>
                <a:r>
                  <a:rPr lang="en-GB" sz="1400" b="1" u="sng" dirty="0">
                    <a:latin typeface="Arial" panose="020B0604020202020204" pitchFamily="34" charset="0"/>
                    <a:cs typeface="Arial" panose="020B0604020202020204" pitchFamily="34" charset="0"/>
                  </a:rPr>
                  <a:t>present value (PV</a:t>
                </a:r>
                <a:r>
                  <a:rPr lang="en-GB" sz="1400" b="1" dirty="0">
                    <a:latin typeface="Arial" panose="020B0604020202020204" pitchFamily="34" charset="0"/>
                    <a:cs typeface="Arial" panose="020B0604020202020204" pitchFamily="34" charset="0"/>
                  </a:rPr>
                  <a:t>) </a:t>
                </a:r>
                <a:r>
                  <a:rPr lang="en-GB" sz="1400" dirty="0">
                    <a:latin typeface="Arial" panose="020B0604020202020204" pitchFamily="34" charset="0"/>
                    <a:cs typeface="Arial" panose="020B0604020202020204" pitchFamily="34" charset="0"/>
                  </a:rPr>
                  <a:t>of a cash flow happening in a year can be calculated as:</a:t>
                </a:r>
              </a:p>
              <a:p>
                <a:pPr indent="-128588">
                  <a:buClr>
                    <a:srgbClr val="0070C0"/>
                  </a:buClr>
                  <a:buSzPct val="90000"/>
                </a:pPr>
                <a14:m>
                  <m:oMathPara xmlns:m="http://schemas.openxmlformats.org/officeDocument/2006/math">
                    <m:oMathParaPr>
                      <m:jc m:val="centerGroup"/>
                    </m:oMathParaPr>
                    <m:oMath xmlns:m="http://schemas.openxmlformats.org/officeDocument/2006/math">
                      <m:r>
                        <a:rPr lang="en-GB" sz="1400" b="0" i="1" smtClean="0">
                          <a:solidFill>
                            <a:srgbClr val="0070C0"/>
                          </a:solidFill>
                          <a:latin typeface="Cambria Math" panose="02040503050406030204" pitchFamily="18" charset="0"/>
                        </a:rPr>
                        <m:t>𝑃𝑉</m:t>
                      </m:r>
                      <m:r>
                        <a:rPr lang="en-GB" sz="1400" i="1">
                          <a:solidFill>
                            <a:srgbClr val="0070C0"/>
                          </a:solidFill>
                          <a:latin typeface="Cambria Math" panose="02040503050406030204" pitchFamily="18" charset="0"/>
                        </a:rPr>
                        <m:t>=</m:t>
                      </m:r>
                      <m:r>
                        <a:rPr lang="en-GB" sz="1400" b="0" i="1" smtClean="0">
                          <a:solidFill>
                            <a:srgbClr val="0070C0"/>
                          </a:solidFill>
                          <a:latin typeface="Cambria Math" panose="02040503050406030204" pitchFamily="18" charset="0"/>
                          <a:ea typeface="Cambria Math" panose="02040503050406030204" pitchFamily="18" charset="0"/>
                        </a:rPr>
                        <m:t>𝐹𝑉</m:t>
                      </m:r>
                      <m:r>
                        <a:rPr lang="en-GB" sz="1400" b="0" i="1" smtClean="0">
                          <a:solidFill>
                            <a:srgbClr val="0070C0"/>
                          </a:solidFill>
                          <a:latin typeface="Cambria Math" panose="02040503050406030204" pitchFamily="18" charset="0"/>
                          <a:ea typeface="Cambria Math" panose="02040503050406030204" pitchFamily="18" charset="0"/>
                        </a:rPr>
                        <m:t>×</m:t>
                      </m:r>
                      <m:sSup>
                        <m:sSupPr>
                          <m:ctrlPr>
                            <a:rPr lang="en-GB" sz="1400" b="0" i="1" smtClean="0">
                              <a:solidFill>
                                <a:srgbClr val="0070C0"/>
                              </a:solidFill>
                              <a:latin typeface="Cambria Math" panose="02040503050406030204" pitchFamily="18" charset="0"/>
                              <a:ea typeface="Cambria Math" panose="02040503050406030204" pitchFamily="18" charset="0"/>
                            </a:rPr>
                          </m:ctrlPr>
                        </m:sSupPr>
                        <m:e>
                          <m:d>
                            <m:dPr>
                              <m:ctrlPr>
                                <a:rPr lang="en-GB" sz="1400" b="0" i="1" smtClean="0">
                                  <a:solidFill>
                                    <a:srgbClr val="0070C0"/>
                                  </a:solidFill>
                                  <a:latin typeface="Cambria Math" panose="02040503050406030204" pitchFamily="18" charset="0"/>
                                  <a:ea typeface="Cambria Math" panose="02040503050406030204" pitchFamily="18" charset="0"/>
                                </a:rPr>
                              </m:ctrlPr>
                            </m:dPr>
                            <m:e>
                              <m:r>
                                <a:rPr lang="en-GB" sz="1400" b="0" i="1" smtClean="0">
                                  <a:solidFill>
                                    <a:srgbClr val="0070C0"/>
                                  </a:solidFill>
                                  <a:latin typeface="Cambria Math" panose="02040503050406030204" pitchFamily="18" charset="0"/>
                                  <a:ea typeface="Cambria Math" panose="02040503050406030204" pitchFamily="18" charset="0"/>
                                </a:rPr>
                                <m:t>1+</m:t>
                              </m:r>
                              <m:r>
                                <a:rPr lang="en-GB" sz="1400" b="0" i="1" smtClean="0">
                                  <a:solidFill>
                                    <a:srgbClr val="0070C0"/>
                                  </a:solidFill>
                                  <a:latin typeface="Cambria Math" panose="02040503050406030204" pitchFamily="18" charset="0"/>
                                  <a:ea typeface="Cambria Math" panose="02040503050406030204" pitchFamily="18" charset="0"/>
                                </a:rPr>
                                <m:t>𝑟</m:t>
                              </m:r>
                            </m:e>
                          </m:d>
                        </m:e>
                        <m:sup>
                          <m:r>
                            <a:rPr lang="en-GB" sz="1400" b="0" i="1" smtClean="0">
                              <a:solidFill>
                                <a:srgbClr val="0070C0"/>
                              </a:solidFill>
                              <a:latin typeface="Cambria Math" panose="02040503050406030204" pitchFamily="18" charset="0"/>
                              <a:ea typeface="Cambria Math" panose="02040503050406030204" pitchFamily="18" charset="0"/>
                            </a:rPr>
                            <m:t>−1</m:t>
                          </m:r>
                        </m:sup>
                      </m:sSup>
                    </m:oMath>
                  </m:oMathPara>
                </a14:m>
                <a:endParaRPr lang="en-GB" sz="1400" dirty="0">
                  <a:latin typeface="Arial" panose="020B0604020202020204" pitchFamily="34" charset="0"/>
                  <a:cs typeface="Arial" panose="020B0604020202020204" pitchFamily="34" charset="0"/>
                </a:endParaRPr>
              </a:p>
            </p:txBody>
          </p:sp>
        </mc:Choice>
        <mc:Fallback xmlns="">
          <p:sp>
            <p:nvSpPr>
              <p:cNvPr id="7" name="TextBox 6">
                <a:extLst>
                  <a:ext uri="{FF2B5EF4-FFF2-40B4-BE49-F238E27FC236}">
                    <a16:creationId xmlns:a16="http://schemas.microsoft.com/office/drawing/2014/main" id="{7D182D7F-E4B7-CC47-19E0-137D1B7B7D52}"/>
                  </a:ext>
                </a:extLst>
              </p:cNvPr>
              <p:cNvSpPr txBox="1">
                <a:spLocks noRot="1" noChangeAspect="1" noMove="1" noResize="1" noEditPoints="1" noAdjustHandles="1" noChangeArrowheads="1" noChangeShapeType="1" noTextEdit="1"/>
              </p:cNvSpPr>
              <p:nvPr/>
            </p:nvSpPr>
            <p:spPr>
              <a:xfrm>
                <a:off x="395536" y="2740538"/>
                <a:ext cx="8096446" cy="738664"/>
              </a:xfrm>
              <a:prstGeom prst="rect">
                <a:avLst/>
              </a:prstGeom>
              <a:blipFill>
                <a:blip r:embed="rId3"/>
                <a:stretch>
                  <a:fillRect l="-226" t="-165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B8C4E34-21B9-3BFD-3DB1-9372A66F0468}"/>
                  </a:ext>
                </a:extLst>
              </p:cNvPr>
              <p:cNvSpPr txBox="1"/>
              <p:nvPr/>
            </p:nvSpPr>
            <p:spPr>
              <a:xfrm>
                <a:off x="395536" y="3621874"/>
                <a:ext cx="8096446" cy="523220"/>
              </a:xfrm>
              <a:prstGeom prst="rect">
                <a:avLst/>
              </a:prstGeom>
              <a:noFill/>
            </p:spPr>
            <p:txBody>
              <a:bodyPr wrap="square">
                <a:spAutoFit/>
              </a:bodyPr>
              <a:lstStyle/>
              <a:p>
                <a:pPr marL="0" lvl="1" indent="0">
                  <a:buClr>
                    <a:srgbClr val="C00000"/>
                  </a:buClr>
                  <a:buSzPct val="90000"/>
                </a:pPr>
                <a:r>
                  <a:rPr lang="en-GB" sz="1400" dirty="0">
                    <a:latin typeface="Arial" panose="020B0604020202020204" pitchFamily="34" charset="0"/>
                    <a:cs typeface="Arial" panose="020B0604020202020204" pitchFamily="34" charset="0"/>
                  </a:rPr>
                  <a:t>In the latter, we are bringing a future value back to the present, i.e. discounting. Therefore </a:t>
                </a:r>
                <a14:m>
                  <m:oMath xmlns:m="http://schemas.openxmlformats.org/officeDocument/2006/math">
                    <m:r>
                      <a:rPr lang="en-GB" sz="1400">
                        <a:latin typeface="Cambria Math" panose="02040503050406030204" pitchFamily="18" charset="0"/>
                      </a:rPr>
                      <m:t>𝑟</m:t>
                    </m:r>
                  </m:oMath>
                </a14:m>
                <a:r>
                  <a:rPr lang="en-GB" sz="1400" dirty="0">
                    <a:latin typeface="Arial" panose="020B0604020202020204" pitchFamily="34" charset="0"/>
                    <a:cs typeface="Arial" panose="020B0604020202020204" pitchFamily="34" charset="0"/>
                  </a:rPr>
                  <a:t> is the </a:t>
                </a:r>
                <a:r>
                  <a:rPr lang="en-GB" sz="1400" dirty="0">
                    <a:solidFill>
                      <a:srgbClr val="0070C0"/>
                    </a:solidFill>
                    <a:latin typeface="Arial" panose="020B0604020202020204" pitchFamily="34" charset="0"/>
                    <a:cs typeface="Arial" panose="020B0604020202020204" pitchFamily="34" charset="0"/>
                  </a:rPr>
                  <a:t>discount rate</a:t>
                </a:r>
                <a:r>
                  <a:rPr lang="en-GB" sz="1400" dirty="0">
                    <a:latin typeface="Arial" panose="020B0604020202020204" pitchFamily="34" charset="0"/>
                    <a:cs typeface="Arial" panose="020B0604020202020204" pitchFamily="34" charset="0"/>
                  </a:rPr>
                  <a:t>.</a:t>
                </a:r>
              </a:p>
            </p:txBody>
          </p:sp>
        </mc:Choice>
        <mc:Fallback xmlns="">
          <p:sp>
            <p:nvSpPr>
              <p:cNvPr id="11" name="TextBox 10">
                <a:extLst>
                  <a:ext uri="{FF2B5EF4-FFF2-40B4-BE49-F238E27FC236}">
                    <a16:creationId xmlns:a16="http://schemas.microsoft.com/office/drawing/2014/main" id="{1B8C4E34-21B9-3BFD-3DB1-9372A66F0468}"/>
                  </a:ext>
                </a:extLst>
              </p:cNvPr>
              <p:cNvSpPr txBox="1">
                <a:spLocks noRot="1" noChangeAspect="1" noMove="1" noResize="1" noEditPoints="1" noAdjustHandles="1" noChangeArrowheads="1" noChangeShapeType="1" noTextEdit="1"/>
              </p:cNvSpPr>
              <p:nvPr/>
            </p:nvSpPr>
            <p:spPr>
              <a:xfrm>
                <a:off x="395536" y="3621874"/>
                <a:ext cx="8096446" cy="523220"/>
              </a:xfrm>
              <a:prstGeom prst="rect">
                <a:avLst/>
              </a:prstGeom>
              <a:blipFill>
                <a:blip r:embed="rId4"/>
                <a:stretch>
                  <a:fillRect l="-226" t="-2326" b="-11628"/>
                </a:stretch>
              </a:blipFill>
            </p:spPr>
            <p:txBody>
              <a:bodyPr/>
              <a:lstStyle/>
              <a:p>
                <a:r>
                  <a:rPr lang="en-GB">
                    <a:noFill/>
                  </a:rPr>
                  <a:t> </a:t>
                </a:r>
              </a:p>
            </p:txBody>
          </p:sp>
        </mc:Fallback>
      </mc:AlternateContent>
    </p:spTree>
    <p:extLst>
      <p:ext uri="{BB962C8B-B14F-4D97-AF65-F5344CB8AC3E}">
        <p14:creationId xmlns:p14="http://schemas.microsoft.com/office/powerpoint/2010/main" val="3954842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5"/>
                                        </p:tgtEl>
                                        <p:attrNameLst>
                                          <p:attrName>r</p:attrName>
                                        </p:attrNameLst>
                                      </p:cBhvr>
                                    </p:animRot>
                                    <p:animRot by="-240000">
                                      <p:cBhvr>
                                        <p:cTn id="7" dur="200" fill="hold">
                                          <p:stCondLst>
                                            <p:cond delay="200"/>
                                          </p:stCondLst>
                                        </p:cTn>
                                        <p:tgtEl>
                                          <p:spTgt spid="5"/>
                                        </p:tgtEl>
                                        <p:attrNameLst>
                                          <p:attrName>r</p:attrName>
                                        </p:attrNameLst>
                                      </p:cBhvr>
                                    </p:animRot>
                                    <p:animRot by="240000">
                                      <p:cBhvr>
                                        <p:cTn id="8" dur="200" fill="hold">
                                          <p:stCondLst>
                                            <p:cond delay="400"/>
                                          </p:stCondLst>
                                        </p:cTn>
                                        <p:tgtEl>
                                          <p:spTgt spid="5"/>
                                        </p:tgtEl>
                                        <p:attrNameLst>
                                          <p:attrName>r</p:attrName>
                                        </p:attrNameLst>
                                      </p:cBhvr>
                                    </p:animRot>
                                    <p:animRot by="-240000">
                                      <p:cBhvr>
                                        <p:cTn id="9" dur="200" fill="hold">
                                          <p:stCondLst>
                                            <p:cond delay="600"/>
                                          </p:stCondLst>
                                        </p:cTn>
                                        <p:tgtEl>
                                          <p:spTgt spid="5"/>
                                        </p:tgtEl>
                                        <p:attrNameLst>
                                          <p:attrName>r</p:attrName>
                                        </p:attrNameLst>
                                      </p:cBhvr>
                                    </p:animRot>
                                    <p:animRot by="120000">
                                      <p:cBhvr>
                                        <p:cTn id="10" dur="200" fill="hold">
                                          <p:stCondLst>
                                            <p:cond delay="800"/>
                                          </p:stCondLst>
                                        </p:cTn>
                                        <p:tgtEl>
                                          <p:spTgt spid="5"/>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9970-FED6-1E57-421C-8BB75459FD4A}"/>
              </a:ext>
            </a:extLst>
          </p:cNvPr>
          <p:cNvSpPr>
            <a:spLocks noGrp="1"/>
          </p:cNvSpPr>
          <p:nvPr>
            <p:ph type="title"/>
          </p:nvPr>
        </p:nvSpPr>
        <p:spPr/>
        <p:txBody>
          <a:bodyPr/>
          <a:lstStyle/>
          <a:p>
            <a:r>
              <a:rPr lang="en-GB" dirty="0"/>
              <a:t>TVM formulae - Roundup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6828D71-AA1F-B950-4C7A-4BF4EE74BF6F}"/>
                  </a:ext>
                </a:extLst>
              </p:cNvPr>
              <p:cNvSpPr>
                <a:spLocks noGrp="1"/>
              </p:cNvSpPr>
              <p:nvPr>
                <p:ph idx="1"/>
              </p:nvPr>
            </p:nvSpPr>
            <p:spPr>
              <a:xfrm>
                <a:off x="628649" y="1556792"/>
                <a:ext cx="7445675" cy="2173054"/>
              </a:xfrm>
            </p:spPr>
            <p:txBody>
              <a:bodyPr/>
              <a:lstStyle/>
              <a:p>
                <a:pPr marL="600075" lvl="2" indent="-257175">
                  <a:spcAft>
                    <a:spcPts val="900"/>
                  </a:spcAft>
                  <a:buClr>
                    <a:srgbClr val="C00000"/>
                  </a:buClr>
                  <a:buSzPct val="90000"/>
                  <a:buFont typeface="Calibri" panose="020F0502020204030204" pitchFamily="34" charset="0"/>
                  <a:buChar char="─"/>
                </a:pPr>
                <a:r>
                  <a:rPr lang="en-GB" sz="1800" dirty="0"/>
                  <a:t>Simple interest</a:t>
                </a:r>
              </a:p>
              <a:p>
                <a:pPr marL="0" lvl="2"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800" i="1">
                          <a:solidFill>
                            <a:schemeClr val="accent5">
                              <a:lumMod val="75000"/>
                            </a:schemeClr>
                          </a:solidFill>
                          <a:latin typeface="Cambria Math" panose="02040503050406030204" pitchFamily="18" charset="0"/>
                        </a:rPr>
                        <m:t>𝐹𝑉</m:t>
                      </m:r>
                      <m:r>
                        <a:rPr lang="en-GB" sz="1800" i="1">
                          <a:solidFill>
                            <a:schemeClr val="accent5">
                              <a:lumMod val="75000"/>
                            </a:schemeClr>
                          </a:solidFill>
                          <a:latin typeface="Cambria Math" panose="02040503050406030204" pitchFamily="18" charset="0"/>
                        </a:rPr>
                        <m:t>=</m:t>
                      </m:r>
                      <m:r>
                        <a:rPr lang="en-GB" sz="1800" i="1">
                          <a:solidFill>
                            <a:schemeClr val="accent5">
                              <a:lumMod val="75000"/>
                            </a:schemeClr>
                          </a:solidFill>
                          <a:latin typeface="Cambria Math" panose="02040503050406030204" pitchFamily="18" charset="0"/>
                        </a:rPr>
                        <m:t>𝑃𝑉</m:t>
                      </m:r>
                      <m:r>
                        <a:rPr lang="en-GB" sz="1800" i="1">
                          <a:solidFill>
                            <a:schemeClr val="accent5">
                              <a:lumMod val="75000"/>
                            </a:schemeClr>
                          </a:solidFill>
                          <a:latin typeface="Cambria Math" panose="02040503050406030204" pitchFamily="18" charset="0"/>
                          <a:ea typeface="Cambria Math" panose="02040503050406030204" pitchFamily="18" charset="0"/>
                        </a:rPr>
                        <m:t>×</m:t>
                      </m:r>
                      <m:d>
                        <m:dPr>
                          <m:ctrlPr>
                            <a:rPr lang="en-GB" sz="1800" i="1">
                              <a:solidFill>
                                <a:schemeClr val="accent5">
                                  <a:lumMod val="75000"/>
                                </a:schemeClr>
                              </a:solidFill>
                              <a:latin typeface="Cambria Math" panose="02040503050406030204" pitchFamily="18" charset="0"/>
                            </a:rPr>
                          </m:ctrlPr>
                        </m:dPr>
                        <m:e>
                          <m:r>
                            <a:rPr lang="en-GB" sz="1800" i="1">
                              <a:solidFill>
                                <a:schemeClr val="accent5">
                                  <a:lumMod val="75000"/>
                                </a:schemeClr>
                              </a:solidFill>
                              <a:latin typeface="Cambria Math" panose="02040503050406030204" pitchFamily="18" charset="0"/>
                            </a:rPr>
                            <m:t>1+</m:t>
                          </m:r>
                          <m:r>
                            <a:rPr lang="en-GB" sz="1800" i="1">
                              <a:solidFill>
                                <a:schemeClr val="accent5">
                                  <a:lumMod val="75000"/>
                                </a:schemeClr>
                              </a:solidFill>
                              <a:latin typeface="Cambria Math" panose="02040503050406030204" pitchFamily="18" charset="0"/>
                              <a:ea typeface="Cambria Math" panose="02040503050406030204" pitchFamily="18" charset="0"/>
                            </a:rPr>
                            <m:t>𝑟</m:t>
                          </m:r>
                          <m:r>
                            <a:rPr lang="en-GB" sz="1800" i="1">
                              <a:solidFill>
                                <a:srgbClr val="C00000"/>
                              </a:solidFill>
                              <a:latin typeface="Cambria Math" panose="02040503050406030204" pitchFamily="18" charset="0"/>
                              <a:ea typeface="Cambria Math" panose="02040503050406030204" pitchFamily="18" charset="0"/>
                            </a:rPr>
                            <m:t>𝑡</m:t>
                          </m:r>
                        </m:e>
                      </m:d>
                    </m:oMath>
                  </m:oMathPara>
                </a14:m>
                <a:endParaRPr lang="en-GB" sz="1800" dirty="0"/>
              </a:p>
              <a:p>
                <a:pPr marL="0" lvl="1"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800" i="1">
                          <a:solidFill>
                            <a:schemeClr val="accent5">
                              <a:lumMod val="75000"/>
                            </a:schemeClr>
                          </a:solidFill>
                          <a:latin typeface="Cambria Math" panose="02040503050406030204" pitchFamily="18" charset="0"/>
                        </a:rPr>
                        <m:t>𝑃𝑉</m:t>
                      </m:r>
                      <m:r>
                        <a:rPr lang="en-GB" sz="1800" i="1">
                          <a:solidFill>
                            <a:schemeClr val="accent5">
                              <a:lumMod val="75000"/>
                            </a:schemeClr>
                          </a:solidFill>
                          <a:latin typeface="Cambria Math" panose="02040503050406030204" pitchFamily="18" charset="0"/>
                        </a:rPr>
                        <m:t>=</m:t>
                      </m:r>
                      <m:r>
                        <a:rPr lang="en-GB" sz="1800" i="1">
                          <a:solidFill>
                            <a:schemeClr val="accent5">
                              <a:lumMod val="75000"/>
                            </a:schemeClr>
                          </a:solidFill>
                          <a:latin typeface="Cambria Math" panose="02040503050406030204" pitchFamily="18" charset="0"/>
                        </a:rPr>
                        <m:t>𝐹𝑉</m:t>
                      </m:r>
                      <m:r>
                        <a:rPr lang="en-GB" sz="1800" i="1">
                          <a:solidFill>
                            <a:schemeClr val="accent5">
                              <a:lumMod val="75000"/>
                            </a:schemeClr>
                          </a:solidFill>
                          <a:latin typeface="Cambria Math" panose="02040503050406030204" pitchFamily="18" charset="0"/>
                        </a:rPr>
                        <m:t>×</m:t>
                      </m:r>
                      <m:sSup>
                        <m:sSupPr>
                          <m:ctrlPr>
                            <a:rPr lang="en-GB" sz="1800" i="1">
                              <a:solidFill>
                                <a:schemeClr val="accent5">
                                  <a:lumMod val="75000"/>
                                </a:schemeClr>
                              </a:solidFill>
                              <a:latin typeface="Cambria Math" panose="02040503050406030204" pitchFamily="18" charset="0"/>
                            </a:rPr>
                          </m:ctrlPr>
                        </m:sSupPr>
                        <m:e>
                          <m:d>
                            <m:dPr>
                              <m:ctrlPr>
                                <a:rPr lang="en-GB" sz="1800" i="1">
                                  <a:solidFill>
                                    <a:schemeClr val="accent5">
                                      <a:lumMod val="75000"/>
                                    </a:schemeClr>
                                  </a:solidFill>
                                  <a:latin typeface="Cambria Math" panose="02040503050406030204" pitchFamily="18" charset="0"/>
                                </a:rPr>
                              </m:ctrlPr>
                            </m:dPr>
                            <m:e>
                              <m:r>
                                <a:rPr lang="en-GB" sz="1800" i="1">
                                  <a:solidFill>
                                    <a:schemeClr val="accent5">
                                      <a:lumMod val="75000"/>
                                    </a:schemeClr>
                                  </a:solidFill>
                                  <a:latin typeface="Cambria Math" panose="02040503050406030204" pitchFamily="18" charset="0"/>
                                </a:rPr>
                                <m:t>1+</m:t>
                              </m:r>
                              <m:r>
                                <a:rPr lang="en-GB" sz="1800" i="1">
                                  <a:solidFill>
                                    <a:schemeClr val="accent5">
                                      <a:lumMod val="75000"/>
                                    </a:schemeClr>
                                  </a:solidFill>
                                  <a:latin typeface="Cambria Math" panose="02040503050406030204" pitchFamily="18" charset="0"/>
                                </a:rPr>
                                <m:t>𝑟𝑡</m:t>
                              </m:r>
                            </m:e>
                          </m:d>
                        </m:e>
                        <m:sup>
                          <m:r>
                            <a:rPr lang="en-GB" sz="1800" i="1">
                              <a:solidFill>
                                <a:schemeClr val="accent5">
                                  <a:lumMod val="75000"/>
                                </a:schemeClr>
                              </a:solidFill>
                              <a:latin typeface="Cambria Math" panose="02040503050406030204" pitchFamily="18" charset="0"/>
                            </a:rPr>
                            <m:t>−1</m:t>
                          </m:r>
                        </m:sup>
                      </m:sSup>
                    </m:oMath>
                  </m:oMathPara>
                </a14:m>
                <a:endParaRPr lang="en-GB" sz="1800" i="1" dirty="0">
                  <a:solidFill>
                    <a:schemeClr val="accent5">
                      <a:lumMod val="75000"/>
                    </a:schemeClr>
                  </a:solidFill>
                  <a:latin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D6828D71-AA1F-B950-4C7A-4BF4EE74BF6F}"/>
                  </a:ext>
                </a:extLst>
              </p:cNvPr>
              <p:cNvSpPr>
                <a:spLocks noGrp="1" noRot="1" noChangeAspect="1" noMove="1" noResize="1" noEditPoints="1" noAdjustHandles="1" noChangeArrowheads="1" noChangeShapeType="1" noTextEdit="1"/>
              </p:cNvSpPr>
              <p:nvPr>
                <p:ph idx="1"/>
              </p:nvPr>
            </p:nvSpPr>
            <p:spPr>
              <a:xfrm>
                <a:off x="628649" y="1556792"/>
                <a:ext cx="7445675" cy="2173054"/>
              </a:xfrm>
              <a:blipFill>
                <a:blip r:embed="rId2"/>
                <a:stretch>
                  <a:fillRect t="-308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9C1BEA48-5988-1868-8C99-544570DFE959}"/>
                  </a:ext>
                </a:extLst>
              </p:cNvPr>
              <p:cNvSpPr txBox="1">
                <a:spLocks/>
              </p:cNvSpPr>
              <p:nvPr/>
            </p:nvSpPr>
            <p:spPr>
              <a:xfrm>
                <a:off x="628649" y="3103769"/>
                <a:ext cx="7566324" cy="1252154"/>
              </a:xfrm>
              <a:prstGeom prst="rect">
                <a:avLst/>
              </a:prstGeom>
            </p:spPr>
            <p:txBody>
              <a:bodyPr vert="horz" lIns="68580" tIns="34290" rIns="68580" bIns="3429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600075" lvl="2" indent="-257175">
                  <a:spcAft>
                    <a:spcPts val="900"/>
                  </a:spcAft>
                  <a:buClr>
                    <a:srgbClr val="C00000"/>
                  </a:buClr>
                  <a:buSzPct val="90000"/>
                  <a:buFont typeface="Calibri" panose="020F0502020204030204" pitchFamily="34" charset="0"/>
                  <a:buChar char="─"/>
                </a:pPr>
                <a:r>
                  <a:rPr lang="en-GB" sz="1800" dirty="0"/>
                  <a:t>Compound interest</a:t>
                </a:r>
              </a:p>
              <a:p>
                <a:pPr marL="0" lvl="2"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800" i="1">
                          <a:solidFill>
                            <a:schemeClr val="accent5">
                              <a:lumMod val="75000"/>
                            </a:schemeClr>
                          </a:solidFill>
                          <a:latin typeface="Cambria Math" panose="02040503050406030204" pitchFamily="18" charset="0"/>
                        </a:rPr>
                        <m:t>𝐹𝑉</m:t>
                      </m:r>
                      <m:r>
                        <a:rPr lang="en-GB" sz="1800" i="1">
                          <a:solidFill>
                            <a:schemeClr val="accent5">
                              <a:lumMod val="75000"/>
                            </a:schemeClr>
                          </a:solidFill>
                          <a:latin typeface="Cambria Math" panose="02040503050406030204" pitchFamily="18" charset="0"/>
                        </a:rPr>
                        <m:t>=</m:t>
                      </m:r>
                      <m:r>
                        <a:rPr lang="en-GB" sz="1800" i="1">
                          <a:solidFill>
                            <a:schemeClr val="accent5">
                              <a:lumMod val="75000"/>
                            </a:schemeClr>
                          </a:solidFill>
                          <a:latin typeface="Cambria Math" panose="02040503050406030204" pitchFamily="18" charset="0"/>
                        </a:rPr>
                        <m:t>𝑃𝑉</m:t>
                      </m:r>
                      <m:r>
                        <a:rPr lang="en-GB" sz="18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8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800" i="1">
                                  <a:solidFill>
                                    <a:schemeClr val="accent5">
                                      <a:lumMod val="75000"/>
                                    </a:schemeClr>
                                  </a:solidFill>
                                  <a:latin typeface="Cambria Math" panose="02040503050406030204" pitchFamily="18" charset="0"/>
                                </a:rPr>
                              </m:ctrlPr>
                            </m:dPr>
                            <m:e>
                              <m:r>
                                <a:rPr lang="en-GB" sz="1800" i="1">
                                  <a:solidFill>
                                    <a:schemeClr val="accent5">
                                      <a:lumMod val="75000"/>
                                    </a:schemeClr>
                                  </a:solidFill>
                                  <a:latin typeface="Cambria Math" panose="02040503050406030204" pitchFamily="18" charset="0"/>
                                </a:rPr>
                                <m:t>1+</m:t>
                              </m:r>
                              <m:r>
                                <a:rPr lang="en-GB" sz="18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800" i="1">
                              <a:solidFill>
                                <a:srgbClr val="C00000"/>
                              </a:solidFill>
                              <a:latin typeface="Cambria Math" panose="02040503050406030204" pitchFamily="18" charset="0"/>
                              <a:ea typeface="Cambria Math" panose="02040503050406030204" pitchFamily="18" charset="0"/>
                            </a:rPr>
                            <m:t>𝑡</m:t>
                          </m:r>
                        </m:sup>
                      </m:sSup>
                    </m:oMath>
                  </m:oMathPara>
                </a14:m>
                <a:endParaRPr lang="en-GB" sz="1800" dirty="0"/>
              </a:p>
              <a:p>
                <a:pPr marL="0" lvl="1"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800" i="1">
                          <a:solidFill>
                            <a:schemeClr val="accent5">
                              <a:lumMod val="75000"/>
                            </a:schemeClr>
                          </a:solidFill>
                          <a:latin typeface="Cambria Math" panose="02040503050406030204" pitchFamily="18" charset="0"/>
                        </a:rPr>
                        <m:t>𝑃𝑉</m:t>
                      </m:r>
                      <m:r>
                        <a:rPr lang="en-GB" sz="1800" i="1">
                          <a:solidFill>
                            <a:schemeClr val="accent5">
                              <a:lumMod val="75000"/>
                            </a:schemeClr>
                          </a:solidFill>
                          <a:latin typeface="Cambria Math" panose="02040503050406030204" pitchFamily="18" charset="0"/>
                        </a:rPr>
                        <m:t>=</m:t>
                      </m:r>
                      <m:r>
                        <a:rPr lang="en-GB" sz="1800" i="1">
                          <a:solidFill>
                            <a:schemeClr val="accent5">
                              <a:lumMod val="75000"/>
                            </a:schemeClr>
                          </a:solidFill>
                          <a:latin typeface="Cambria Math" panose="02040503050406030204" pitchFamily="18" charset="0"/>
                        </a:rPr>
                        <m:t>𝐹𝑉</m:t>
                      </m:r>
                      <m:r>
                        <a:rPr lang="en-GB" sz="1800" i="1">
                          <a:solidFill>
                            <a:schemeClr val="accent5">
                              <a:lumMod val="75000"/>
                            </a:schemeClr>
                          </a:solidFill>
                          <a:latin typeface="Cambria Math" panose="02040503050406030204" pitchFamily="18" charset="0"/>
                        </a:rPr>
                        <m:t>×</m:t>
                      </m:r>
                      <m:sSup>
                        <m:sSupPr>
                          <m:ctrlPr>
                            <a:rPr lang="en-GB" sz="1800" i="1">
                              <a:solidFill>
                                <a:schemeClr val="accent5">
                                  <a:lumMod val="75000"/>
                                </a:schemeClr>
                              </a:solidFill>
                              <a:latin typeface="Cambria Math" panose="02040503050406030204" pitchFamily="18" charset="0"/>
                            </a:rPr>
                          </m:ctrlPr>
                        </m:sSupPr>
                        <m:e>
                          <m:d>
                            <m:dPr>
                              <m:ctrlPr>
                                <a:rPr lang="en-GB" sz="1800" i="1">
                                  <a:solidFill>
                                    <a:schemeClr val="accent5">
                                      <a:lumMod val="75000"/>
                                    </a:schemeClr>
                                  </a:solidFill>
                                  <a:latin typeface="Cambria Math" panose="02040503050406030204" pitchFamily="18" charset="0"/>
                                </a:rPr>
                              </m:ctrlPr>
                            </m:dPr>
                            <m:e>
                              <m:r>
                                <a:rPr lang="en-GB" sz="1800" i="1">
                                  <a:solidFill>
                                    <a:schemeClr val="accent5">
                                      <a:lumMod val="75000"/>
                                    </a:schemeClr>
                                  </a:solidFill>
                                  <a:latin typeface="Cambria Math" panose="02040503050406030204" pitchFamily="18" charset="0"/>
                                </a:rPr>
                                <m:t>1+</m:t>
                              </m:r>
                              <m:r>
                                <a:rPr lang="en-GB" sz="1800" i="1">
                                  <a:solidFill>
                                    <a:schemeClr val="accent5">
                                      <a:lumMod val="75000"/>
                                    </a:schemeClr>
                                  </a:solidFill>
                                  <a:latin typeface="Cambria Math" panose="02040503050406030204" pitchFamily="18" charset="0"/>
                                </a:rPr>
                                <m:t>𝑟</m:t>
                              </m:r>
                            </m:e>
                          </m:d>
                        </m:e>
                        <m:sup>
                          <m:r>
                            <a:rPr lang="en-GB" sz="1800" i="1">
                              <a:solidFill>
                                <a:schemeClr val="accent5">
                                  <a:lumMod val="75000"/>
                                </a:schemeClr>
                              </a:solidFill>
                              <a:latin typeface="Cambria Math" panose="02040503050406030204" pitchFamily="18" charset="0"/>
                            </a:rPr>
                            <m:t>−</m:t>
                          </m:r>
                          <m:r>
                            <a:rPr lang="en-GB" sz="1800" i="1">
                              <a:solidFill>
                                <a:schemeClr val="accent5">
                                  <a:lumMod val="75000"/>
                                </a:schemeClr>
                              </a:solidFill>
                              <a:latin typeface="Cambria Math" panose="02040503050406030204" pitchFamily="18" charset="0"/>
                            </a:rPr>
                            <m:t>𝑡</m:t>
                          </m:r>
                        </m:sup>
                      </m:sSup>
                    </m:oMath>
                  </m:oMathPara>
                </a14:m>
                <a:endParaRPr lang="en-GB" sz="1800" i="1" dirty="0">
                  <a:solidFill>
                    <a:schemeClr val="accent5">
                      <a:lumMod val="75000"/>
                    </a:schemeClr>
                  </a:solidFill>
                  <a:latin typeface="Cambria Math" panose="02040503050406030204" pitchFamily="18" charset="0"/>
                </a:endParaRPr>
              </a:p>
            </p:txBody>
          </p:sp>
        </mc:Choice>
        <mc:Fallback xmlns="">
          <p:sp>
            <p:nvSpPr>
              <p:cNvPr id="4" name="Content Placeholder 2">
                <a:extLst>
                  <a:ext uri="{FF2B5EF4-FFF2-40B4-BE49-F238E27FC236}">
                    <a16:creationId xmlns:a16="http://schemas.microsoft.com/office/drawing/2014/main" id="{9C1BEA48-5988-1868-8C99-544570DFE959}"/>
                  </a:ext>
                </a:extLst>
              </p:cNvPr>
              <p:cNvSpPr txBox="1">
                <a:spLocks noRot="1" noChangeAspect="1" noMove="1" noResize="1" noEditPoints="1" noAdjustHandles="1" noChangeArrowheads="1" noChangeShapeType="1" noTextEdit="1"/>
              </p:cNvSpPr>
              <p:nvPr/>
            </p:nvSpPr>
            <p:spPr>
              <a:xfrm>
                <a:off x="628649" y="3103769"/>
                <a:ext cx="7566324" cy="1252154"/>
              </a:xfrm>
              <a:prstGeom prst="rect">
                <a:avLst/>
              </a:prstGeom>
              <a:blipFill>
                <a:blip r:embed="rId3"/>
                <a:stretch>
                  <a:fillRect t="-3398"/>
                </a:stretch>
              </a:blipFill>
            </p:spPr>
            <p:txBody>
              <a:bodyPr/>
              <a:lstStyle/>
              <a:p>
                <a:r>
                  <a:rPr lang="en-GB">
                    <a:noFill/>
                  </a:rPr>
                  <a:t> </a:t>
                </a:r>
              </a:p>
            </p:txBody>
          </p:sp>
        </mc:Fallback>
      </mc:AlternateContent>
    </p:spTree>
    <p:extLst>
      <p:ext uri="{BB962C8B-B14F-4D97-AF65-F5344CB8AC3E}">
        <p14:creationId xmlns:p14="http://schemas.microsoft.com/office/powerpoint/2010/main" val="1870529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p:cTn id="13"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4"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5"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6" dur="1000"/>
                                        <p:tgtEl>
                                          <p:spTgt spid="3">
                                            <p:txEl>
                                              <p:pRg st="1" end="1"/>
                                            </p:txEl>
                                          </p:spTgt>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1"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2" dur="1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p:cTn id="27" dur="1000" fill="hold"/>
                                        <p:tgtEl>
                                          <p:spTgt spid="4"/>
                                        </p:tgtEl>
                                        <p:attrNameLst>
                                          <p:attrName>ppt_w</p:attrName>
                                        </p:attrNameLst>
                                      </p:cBhvr>
                                      <p:tavLst>
                                        <p:tav tm="0">
                                          <p:val>
                                            <p:fltVal val="0"/>
                                          </p:val>
                                        </p:tav>
                                        <p:tav tm="100000">
                                          <p:val>
                                            <p:strVal val="#ppt_w"/>
                                          </p:val>
                                        </p:tav>
                                      </p:tavLst>
                                    </p:anim>
                                    <p:anim calcmode="lin" valueType="num">
                                      <p:cBhvr>
                                        <p:cTn id="28" dur="1000" fill="hold"/>
                                        <p:tgtEl>
                                          <p:spTgt spid="4"/>
                                        </p:tgtEl>
                                        <p:attrNameLst>
                                          <p:attrName>ppt_h</p:attrName>
                                        </p:attrNameLst>
                                      </p:cBhvr>
                                      <p:tavLst>
                                        <p:tav tm="0">
                                          <p:val>
                                            <p:fltVal val="0"/>
                                          </p:val>
                                        </p:tav>
                                        <p:tav tm="100000">
                                          <p:val>
                                            <p:strVal val="#ppt_h"/>
                                          </p:val>
                                        </p:tav>
                                      </p:tavLst>
                                    </p:anim>
                                    <p:anim calcmode="lin" valueType="num">
                                      <p:cBhvr>
                                        <p:cTn id="29" dur="1000" fill="hold"/>
                                        <p:tgtEl>
                                          <p:spTgt spid="4"/>
                                        </p:tgtEl>
                                        <p:attrNameLst>
                                          <p:attrName>style.rotation</p:attrName>
                                        </p:attrNameLst>
                                      </p:cBhvr>
                                      <p:tavLst>
                                        <p:tav tm="0">
                                          <p:val>
                                            <p:fltVal val="90"/>
                                          </p:val>
                                        </p:tav>
                                        <p:tav tm="100000">
                                          <p:val>
                                            <p:fltVal val="0"/>
                                          </p:val>
                                        </p:tav>
                                      </p:tavLst>
                                    </p:anim>
                                    <p:animEffect transition="in" filter="fade">
                                      <p:cBhvr>
                                        <p:cTn id="3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A6D4201-4661-9B47-78A9-537CFB8CF976}"/>
                  </a:ext>
                </a:extLst>
              </p:cNvPr>
              <p:cNvSpPr>
                <a:spLocks noGrp="1"/>
              </p:cNvSpPr>
              <p:nvPr>
                <p:ph type="title"/>
              </p:nvPr>
            </p:nvSpPr>
            <p:spPr>
              <a:xfrm>
                <a:off x="492919" y="499533"/>
                <a:ext cx="8079581" cy="841236"/>
              </a:xfrm>
            </p:spPr>
            <p:txBody>
              <a:bodyPr/>
              <a:lstStyle/>
              <a:p>
                <a:r>
                  <a:rPr lang="en-GB" dirty="0"/>
                  <a:t>TVM - </a:t>
                </a:r>
                <a14:m>
                  <m:oMath xmlns:m="http://schemas.openxmlformats.org/officeDocument/2006/math">
                    <m:r>
                      <a:rPr lang="en-GB" i="1" dirty="0">
                        <a:latin typeface="Cambria Math" panose="02040503050406030204" pitchFamily="18" charset="0"/>
                      </a:rPr>
                      <m:t>𝑟</m:t>
                    </m:r>
                  </m:oMath>
                </a14:m>
                <a:endParaRPr lang="en-GB" dirty="0"/>
              </a:p>
            </p:txBody>
          </p:sp>
        </mc:Choice>
        <mc:Fallback xmlns="">
          <p:sp>
            <p:nvSpPr>
              <p:cNvPr id="2" name="Title 1">
                <a:extLst>
                  <a:ext uri="{FF2B5EF4-FFF2-40B4-BE49-F238E27FC236}">
                    <a16:creationId xmlns:a16="http://schemas.microsoft.com/office/drawing/2014/main" id="{4A6D4201-4661-9B47-78A9-537CFB8CF976}"/>
                  </a:ext>
                </a:extLst>
              </p:cNvPr>
              <p:cNvSpPr>
                <a:spLocks noGrp="1" noRot="1" noChangeAspect="1" noMove="1" noResize="1" noEditPoints="1" noAdjustHandles="1" noChangeArrowheads="1" noChangeShapeType="1" noTextEdit="1"/>
              </p:cNvSpPr>
              <p:nvPr>
                <p:ph type="title"/>
              </p:nvPr>
            </p:nvSpPr>
            <p:spPr>
              <a:xfrm>
                <a:off x="492919" y="499533"/>
                <a:ext cx="8079581" cy="841236"/>
              </a:xfrm>
              <a:blipFill>
                <a:blip r:embed="rId2"/>
                <a:stretch>
                  <a:fillRect l="-3472" t="-19565" b="-33333"/>
                </a:stretch>
              </a:blipFill>
            </p:spPr>
            <p:txBody>
              <a:bodyPr/>
              <a:lstStyle/>
              <a:p>
                <a:r>
                  <a:rPr lang="en-GB">
                    <a:noFill/>
                  </a:rPr>
                  <a:t> </a:t>
                </a:r>
              </a:p>
            </p:txBody>
          </p:sp>
        </mc:Fallback>
      </mc:AlternateContent>
      <p:sp>
        <p:nvSpPr>
          <p:cNvPr id="3" name="Content Placeholder 2">
            <a:extLst>
              <a:ext uri="{FF2B5EF4-FFF2-40B4-BE49-F238E27FC236}">
                <a16:creationId xmlns:a16="http://schemas.microsoft.com/office/drawing/2014/main" id="{63A65CB2-E08A-4A90-A24E-7C7DD262E9E6}"/>
              </a:ext>
            </a:extLst>
          </p:cNvPr>
          <p:cNvSpPr>
            <a:spLocks noGrp="1"/>
          </p:cNvSpPr>
          <p:nvPr>
            <p:ph idx="1"/>
          </p:nvPr>
        </p:nvSpPr>
        <p:spPr>
          <a:xfrm>
            <a:off x="285700" y="1340769"/>
            <a:ext cx="8678788" cy="2592287"/>
          </a:xfrm>
        </p:spPr>
        <p:txBody>
          <a:bodyPr/>
          <a:lstStyle/>
          <a:p>
            <a:pPr marL="0" lvl="1" indent="0">
              <a:spcBef>
                <a:spcPts val="0"/>
              </a:spcBef>
              <a:spcAft>
                <a:spcPts val="900"/>
              </a:spcAft>
              <a:buClr>
                <a:srgbClr val="C00000"/>
              </a:buClr>
              <a:buSzPct val="90000"/>
              <a:buNone/>
            </a:pPr>
            <a:r>
              <a:rPr lang="en-GB" sz="1800" dirty="0">
                <a:ea typeface="Cambria Math" panose="02040503050406030204" pitchFamily="18" charset="0"/>
              </a:rPr>
              <a:t>What if you knew the present and future values and you wanted to know the interest rate? Or the number of years? Let’s rearrange the formulae…</a:t>
            </a:r>
          </a:p>
          <a:p>
            <a:pPr marL="0" lvl="1" indent="0">
              <a:spcBef>
                <a:spcPts val="0"/>
              </a:spcBef>
              <a:spcAft>
                <a:spcPts val="900"/>
              </a:spcAft>
              <a:buClr>
                <a:srgbClr val="C00000"/>
              </a:buClr>
              <a:buSzPct val="90000"/>
              <a:buNone/>
            </a:pPr>
            <a:r>
              <a:rPr lang="en-GB" sz="1800" b="1" dirty="0">
                <a:ea typeface="Cambria Math" panose="02040503050406030204" pitchFamily="18" charset="0"/>
              </a:rPr>
              <a:t>Example</a:t>
            </a:r>
          </a:p>
          <a:p>
            <a:pPr marL="0" lvl="1" indent="0">
              <a:spcBef>
                <a:spcPts val="0"/>
              </a:spcBef>
              <a:spcAft>
                <a:spcPts val="900"/>
              </a:spcAft>
              <a:buClr>
                <a:srgbClr val="C00000"/>
              </a:buClr>
              <a:buSzPct val="90000"/>
              <a:buNone/>
            </a:pPr>
            <a:r>
              <a:rPr lang="en-GB" sz="1800" dirty="0">
                <a:ea typeface="Cambria Math" panose="02040503050406030204" pitchFamily="18" charset="0"/>
              </a:rPr>
              <a:t>Your broker suggests the following two “guaranteed” investment plans, each require a £10k principal:</a:t>
            </a:r>
          </a:p>
          <a:p>
            <a:pPr marL="0" lvl="1" indent="0">
              <a:spcBef>
                <a:spcPts val="0"/>
              </a:spcBef>
              <a:spcAft>
                <a:spcPts val="900"/>
              </a:spcAft>
              <a:buClr>
                <a:srgbClr val="C00000"/>
              </a:buClr>
              <a:buSzPct val="90000"/>
              <a:buNone/>
            </a:pPr>
            <a:r>
              <a:rPr lang="en-GB" sz="1800" dirty="0">
                <a:solidFill>
                  <a:srgbClr val="C00000"/>
                </a:solidFill>
                <a:ea typeface="Cambria Math" panose="02040503050406030204" pitchFamily="18" charset="0"/>
              </a:rPr>
              <a:t>Investment 1: </a:t>
            </a:r>
            <a:r>
              <a:rPr lang="en-GB" sz="1800" dirty="0">
                <a:ea typeface="Cambria Math" panose="02040503050406030204" pitchFamily="18" charset="0"/>
              </a:rPr>
              <a:t>offers you £15k in 5 years. </a:t>
            </a:r>
          </a:p>
          <a:p>
            <a:pPr marL="0" lvl="1" indent="0">
              <a:spcBef>
                <a:spcPts val="0"/>
              </a:spcBef>
              <a:spcAft>
                <a:spcPts val="900"/>
              </a:spcAft>
              <a:buClr>
                <a:srgbClr val="C00000"/>
              </a:buClr>
              <a:buSzPct val="90000"/>
              <a:buNone/>
            </a:pPr>
            <a:r>
              <a:rPr lang="en-GB" sz="1800" dirty="0">
                <a:solidFill>
                  <a:srgbClr val="C00000"/>
                </a:solidFill>
                <a:ea typeface="Cambria Math" panose="02040503050406030204" pitchFamily="18" charset="0"/>
              </a:rPr>
              <a:t>Investment 2: </a:t>
            </a:r>
            <a:r>
              <a:rPr lang="en-GB" sz="1800" dirty="0">
                <a:ea typeface="Cambria Math" panose="02040503050406030204" pitchFamily="18" charset="0"/>
              </a:rPr>
              <a:t>offers you £22k in 10 years.</a:t>
            </a:r>
          </a:p>
          <a:p>
            <a:pPr marL="0" indent="0">
              <a:buNone/>
            </a:pPr>
            <a:endParaRPr lang="en-GB" sz="2000" dirty="0">
              <a:ea typeface="Cambria Math" panose="02040503050406030204" pitchFamily="18" charset="0"/>
            </a:endParaRPr>
          </a:p>
          <a:p>
            <a:endParaRPr lang="en-GB" sz="2000" dirty="0"/>
          </a:p>
        </p:txBody>
      </p:sp>
      <p:sp>
        <p:nvSpPr>
          <p:cNvPr id="5" name="TextBox 4">
            <a:extLst>
              <a:ext uri="{FF2B5EF4-FFF2-40B4-BE49-F238E27FC236}">
                <a16:creationId xmlns:a16="http://schemas.microsoft.com/office/drawing/2014/main" id="{A8A207A2-9CF9-4156-543A-67381CD49000}"/>
              </a:ext>
            </a:extLst>
          </p:cNvPr>
          <p:cNvSpPr txBox="1"/>
          <p:nvPr/>
        </p:nvSpPr>
        <p:spPr>
          <a:xfrm>
            <a:off x="395536" y="3933056"/>
            <a:ext cx="8119814" cy="761747"/>
          </a:xfrm>
          <a:prstGeom prst="rect">
            <a:avLst/>
          </a:prstGeom>
          <a:noFill/>
        </p:spPr>
        <p:txBody>
          <a:bodyPr wrap="square">
            <a:spAutoFit/>
          </a:bodyPr>
          <a:lstStyle/>
          <a:p>
            <a:pPr marL="0" lvl="1">
              <a:spcBef>
                <a:spcPts val="0"/>
              </a:spcBef>
              <a:spcAft>
                <a:spcPts val="900"/>
              </a:spcAft>
              <a:buClr>
                <a:srgbClr val="C00000"/>
              </a:buClr>
              <a:buSzPct val="90000"/>
            </a:pPr>
            <a:r>
              <a:rPr lang="en-GB" dirty="0">
                <a:ea typeface="Cambria Math" panose="02040503050406030204" pitchFamily="18" charset="0"/>
              </a:rPr>
              <a:t>Now we will always assume compound interest rates…</a:t>
            </a:r>
          </a:p>
          <a:p>
            <a:pPr marL="0" lvl="1">
              <a:spcBef>
                <a:spcPts val="0"/>
              </a:spcBef>
              <a:spcAft>
                <a:spcPts val="900"/>
              </a:spcAft>
              <a:buClr>
                <a:srgbClr val="C00000"/>
              </a:buClr>
              <a:buSzPct val="90000"/>
            </a:pPr>
            <a:r>
              <a:rPr lang="en-GB" dirty="0">
                <a:ea typeface="Cambria Math" panose="02040503050406030204" pitchFamily="18" charset="0"/>
              </a:rPr>
              <a:t>What is the annual rate of return of each plan? The </a:t>
            </a:r>
            <a:r>
              <a:rPr lang="en-GB" i="1" dirty="0">
                <a:solidFill>
                  <a:srgbClr val="C00000"/>
                </a:solidFill>
                <a:latin typeface="Cambria Math" panose="02040503050406030204" pitchFamily="18" charset="0"/>
              </a:rPr>
              <a:t>r.</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5FAAE75-D867-A1F2-1598-E6C411E3EEDC}"/>
                  </a:ext>
                </a:extLst>
              </p:cNvPr>
              <p:cNvSpPr txBox="1"/>
              <p:nvPr/>
            </p:nvSpPr>
            <p:spPr>
              <a:xfrm>
                <a:off x="2123728" y="5083618"/>
                <a:ext cx="4580627" cy="8672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GB" i="1" smtClean="0">
                              <a:latin typeface="Cambria Math" panose="02040503050406030204" pitchFamily="18" charset="0"/>
                            </a:rPr>
                          </m:ctrlPr>
                        </m:sSupPr>
                        <m:e>
                          <m:r>
                            <a:rPr lang="en-GB" b="0" i="1" smtClean="0">
                              <a:solidFill>
                                <a:srgbClr val="C00000"/>
                              </a:solidFill>
                              <a:latin typeface="Cambria Math" panose="02040503050406030204" pitchFamily="18" charset="0"/>
                            </a:rPr>
                            <m:t>𝑟</m:t>
                          </m:r>
                          <m:r>
                            <a:rPr lang="en-GB" b="0" i="1" smtClean="0">
                              <a:latin typeface="Cambria Math" panose="02040503050406030204" pitchFamily="18" charset="0"/>
                            </a:rPr>
                            <m:t>=</m:t>
                          </m:r>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𝐹𝑉</m:t>
                                  </m:r>
                                </m:num>
                                <m:den>
                                  <m:r>
                                    <a:rPr lang="en-GB" i="1">
                                      <a:latin typeface="Cambria Math" panose="02040503050406030204" pitchFamily="18" charset="0"/>
                                    </a:rPr>
                                    <m:t>𝑃𝑉</m:t>
                                  </m:r>
                                </m:den>
                              </m:f>
                            </m:e>
                          </m:d>
                        </m:e>
                        <m:sup>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𝑡</m:t>
                              </m:r>
                            </m:den>
                          </m:f>
                        </m:sup>
                      </m:sSup>
                    </m:oMath>
                  </m:oMathPara>
                </a14:m>
                <a:endParaRPr lang="en-GB" dirty="0"/>
              </a:p>
            </p:txBody>
          </p:sp>
        </mc:Choice>
        <mc:Fallback xmlns="">
          <p:sp>
            <p:nvSpPr>
              <p:cNvPr id="4" name="TextBox 3">
                <a:extLst>
                  <a:ext uri="{FF2B5EF4-FFF2-40B4-BE49-F238E27FC236}">
                    <a16:creationId xmlns:a16="http://schemas.microsoft.com/office/drawing/2014/main" id="{95FAAE75-D867-A1F2-1598-E6C411E3EEDC}"/>
                  </a:ext>
                </a:extLst>
              </p:cNvPr>
              <p:cNvSpPr txBox="1">
                <a:spLocks noRot="1" noChangeAspect="1" noMove="1" noResize="1" noEditPoints="1" noAdjustHandles="1" noChangeArrowheads="1" noChangeShapeType="1" noTextEdit="1"/>
              </p:cNvSpPr>
              <p:nvPr/>
            </p:nvSpPr>
            <p:spPr>
              <a:xfrm>
                <a:off x="2123728" y="5083618"/>
                <a:ext cx="4580627" cy="867225"/>
              </a:xfrm>
              <a:prstGeom prst="rect">
                <a:avLst/>
              </a:prstGeom>
              <a:blipFill>
                <a:blip r:embed="rId3"/>
                <a:stretch>
                  <a:fillRect/>
                </a:stretch>
              </a:blipFill>
            </p:spPr>
            <p:txBody>
              <a:bodyPr/>
              <a:lstStyle/>
              <a:p>
                <a:r>
                  <a:rPr lang="en-GB">
                    <a:noFill/>
                  </a:rPr>
                  <a:t> </a:t>
                </a:r>
              </a:p>
            </p:txBody>
          </p:sp>
        </mc:Fallback>
      </mc:AlternateContent>
      <p:sp>
        <p:nvSpPr>
          <p:cNvPr id="6" name="Lightning Bolt 5">
            <a:extLst>
              <a:ext uri="{FF2B5EF4-FFF2-40B4-BE49-F238E27FC236}">
                <a16:creationId xmlns:a16="http://schemas.microsoft.com/office/drawing/2014/main" id="{274917C8-F7A4-7F5A-3A31-90B0C3FE0F0B}"/>
              </a:ext>
            </a:extLst>
          </p:cNvPr>
          <p:cNvSpPr/>
          <p:nvPr/>
        </p:nvSpPr>
        <p:spPr>
          <a:xfrm>
            <a:off x="1404904" y="4924548"/>
            <a:ext cx="2123501" cy="678345"/>
          </a:xfrm>
          <a:prstGeom prst="lightningBolt">
            <a:avLst/>
          </a:prstGeom>
          <a:solidFill>
            <a:srgbClr val="FFFF00"/>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Lightning Bolt 6">
            <a:extLst>
              <a:ext uri="{FF2B5EF4-FFF2-40B4-BE49-F238E27FC236}">
                <a16:creationId xmlns:a16="http://schemas.microsoft.com/office/drawing/2014/main" id="{A4D32856-84D0-65A0-11C3-38FEB7C594B5}"/>
              </a:ext>
            </a:extLst>
          </p:cNvPr>
          <p:cNvSpPr/>
          <p:nvPr/>
        </p:nvSpPr>
        <p:spPr>
          <a:xfrm rot="7646524">
            <a:off x="5398996" y="4802270"/>
            <a:ext cx="2123501" cy="678345"/>
          </a:xfrm>
          <a:prstGeom prst="lightningBolt">
            <a:avLst/>
          </a:prstGeom>
          <a:solidFill>
            <a:srgbClr val="FFFF00"/>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8AF4E70-8767-05F4-9396-B29C9C6ABAE1}"/>
                  </a:ext>
                </a:extLst>
              </p:cNvPr>
              <p:cNvSpPr txBox="1"/>
              <p:nvPr/>
            </p:nvSpPr>
            <p:spPr>
              <a:xfrm>
                <a:off x="2166689" y="5850951"/>
                <a:ext cx="4577508" cy="8672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GB" i="1" smtClean="0">
                              <a:latin typeface="Cambria Math" panose="02040503050406030204" pitchFamily="18" charset="0"/>
                            </a:rPr>
                          </m:ctrlPr>
                        </m:sSupPr>
                        <m:e>
                          <m:r>
                            <a:rPr lang="en-GB" b="0" i="1" smtClean="0">
                              <a:solidFill>
                                <a:srgbClr val="C00000"/>
                              </a:solidFill>
                              <a:latin typeface="Cambria Math" panose="02040503050406030204" pitchFamily="18" charset="0"/>
                            </a:rPr>
                            <m:t>𝑟</m:t>
                          </m:r>
                          <m:r>
                            <a:rPr lang="en-GB" b="0" i="1" smtClean="0">
                              <a:latin typeface="Cambria Math" panose="02040503050406030204" pitchFamily="18" charset="0"/>
                            </a:rPr>
                            <m:t>=</m:t>
                          </m:r>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𝐹𝑉</m:t>
                                  </m:r>
                                </m:num>
                                <m:den>
                                  <m:r>
                                    <a:rPr lang="en-GB" i="1">
                                      <a:latin typeface="Cambria Math" panose="02040503050406030204" pitchFamily="18" charset="0"/>
                                    </a:rPr>
                                    <m:t>𝑃𝑉</m:t>
                                  </m:r>
                                </m:den>
                              </m:f>
                            </m:e>
                          </m:d>
                        </m:e>
                        <m:sup>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𝑡</m:t>
                              </m:r>
                            </m:den>
                          </m:f>
                        </m:sup>
                      </m:sSup>
                      <m:r>
                        <a:rPr lang="en-GB" b="0" i="1" smtClean="0">
                          <a:latin typeface="Cambria Math" panose="02040503050406030204" pitchFamily="18" charset="0"/>
                        </a:rPr>
                        <m:t>−1=</m:t>
                      </m:r>
                      <m:sSup>
                        <m:sSupPr>
                          <m:ctrlPr>
                            <a:rPr lang="en-GB" i="1">
                              <a:latin typeface="Cambria Math" panose="02040503050406030204" pitchFamily="18" charset="0"/>
                            </a:rPr>
                          </m:ctrlPr>
                        </m:sSupPr>
                        <m:e>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b="0" i="1" smtClean="0">
                                      <a:latin typeface="Cambria Math" panose="02040503050406030204" pitchFamily="18" charset="0"/>
                                    </a:rPr>
                                    <m:t>15,000</m:t>
                                  </m:r>
                                </m:num>
                                <m:den>
                                  <m:r>
                                    <a:rPr lang="en-GB" b="0" i="1" smtClean="0">
                                      <a:latin typeface="Cambria Math" panose="02040503050406030204" pitchFamily="18" charset="0"/>
                                    </a:rPr>
                                    <m:t>10,000</m:t>
                                  </m:r>
                                </m:den>
                              </m:f>
                            </m:e>
                          </m:d>
                        </m:e>
                        <m:sup>
                          <m:f>
                            <m:fPr>
                              <m:ctrlPr>
                                <a:rPr lang="en-GB" i="1">
                                  <a:latin typeface="Cambria Math" panose="02040503050406030204" pitchFamily="18" charset="0"/>
                                </a:rPr>
                              </m:ctrlPr>
                            </m:fPr>
                            <m:num>
                              <m:r>
                                <a:rPr lang="en-GB" i="1">
                                  <a:latin typeface="Cambria Math" panose="02040503050406030204" pitchFamily="18" charset="0"/>
                                </a:rPr>
                                <m:t>1</m:t>
                              </m:r>
                            </m:num>
                            <m:den>
                              <m:r>
                                <a:rPr lang="en-GB" b="0" i="1" smtClean="0">
                                  <a:latin typeface="Cambria Math" panose="02040503050406030204" pitchFamily="18" charset="0"/>
                                </a:rPr>
                                <m:t>5</m:t>
                              </m:r>
                            </m:den>
                          </m:f>
                        </m:sup>
                      </m:sSup>
                      <m:r>
                        <a:rPr lang="en-GB" i="1">
                          <a:latin typeface="Cambria Math" panose="02040503050406030204" pitchFamily="18" charset="0"/>
                        </a:rPr>
                        <m:t>−1</m:t>
                      </m:r>
                      <m:r>
                        <a:rPr lang="en-GB" b="0" i="1" smtClean="0">
                          <a:latin typeface="Cambria Math" panose="02040503050406030204" pitchFamily="18" charset="0"/>
                        </a:rPr>
                        <m:t>=8.45%</m:t>
                      </m:r>
                    </m:oMath>
                  </m:oMathPara>
                </a14:m>
                <a:endParaRPr lang="en-GB" dirty="0"/>
              </a:p>
            </p:txBody>
          </p:sp>
        </mc:Choice>
        <mc:Fallback xmlns="">
          <p:sp>
            <p:nvSpPr>
              <p:cNvPr id="8" name="TextBox 7">
                <a:extLst>
                  <a:ext uri="{FF2B5EF4-FFF2-40B4-BE49-F238E27FC236}">
                    <a16:creationId xmlns:a16="http://schemas.microsoft.com/office/drawing/2014/main" id="{A8AF4E70-8767-05F4-9396-B29C9C6ABAE1}"/>
                  </a:ext>
                </a:extLst>
              </p:cNvPr>
              <p:cNvSpPr txBox="1">
                <a:spLocks noRot="1" noChangeAspect="1" noMove="1" noResize="1" noEditPoints="1" noAdjustHandles="1" noChangeArrowheads="1" noChangeShapeType="1" noTextEdit="1"/>
              </p:cNvSpPr>
              <p:nvPr/>
            </p:nvSpPr>
            <p:spPr>
              <a:xfrm>
                <a:off x="2166689" y="5850951"/>
                <a:ext cx="4577508" cy="867225"/>
              </a:xfrm>
              <a:prstGeom prst="rect">
                <a:avLst/>
              </a:prstGeom>
              <a:blipFill>
                <a:blip r:embed="rId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069579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45"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2000"/>
                                        <p:tgtEl>
                                          <p:spTgt spid="6"/>
                                        </p:tgtEl>
                                      </p:cBhvr>
                                    </p:animEffect>
                                    <p:anim calcmode="lin" valueType="num">
                                      <p:cBhvr>
                                        <p:cTn id="30" dur="2000" fill="hold"/>
                                        <p:tgtEl>
                                          <p:spTgt spid="6"/>
                                        </p:tgtEl>
                                        <p:attrNameLst>
                                          <p:attrName>ppt_w</p:attrName>
                                        </p:attrNameLst>
                                      </p:cBhvr>
                                      <p:tavLst>
                                        <p:tav tm="0" fmla="#ppt_w*sin(2.5*pi*$)">
                                          <p:val>
                                            <p:fltVal val="0"/>
                                          </p:val>
                                        </p:tav>
                                        <p:tav tm="100000">
                                          <p:val>
                                            <p:fltVal val="1"/>
                                          </p:val>
                                        </p:tav>
                                      </p:tavLst>
                                    </p:anim>
                                    <p:anim calcmode="lin" valueType="num">
                                      <p:cBhvr>
                                        <p:cTn id="31" dur="2000" fill="hold"/>
                                        <p:tgtEl>
                                          <p:spTgt spid="6"/>
                                        </p:tgtEl>
                                        <p:attrNameLst>
                                          <p:attrName>ppt_h</p:attrName>
                                        </p:attrNameLst>
                                      </p:cBhvr>
                                      <p:tavLst>
                                        <p:tav tm="0">
                                          <p:val>
                                            <p:strVal val="#ppt_h"/>
                                          </p:val>
                                        </p:tav>
                                        <p:tav tm="100000">
                                          <p:val>
                                            <p:strVal val="#ppt_h"/>
                                          </p:val>
                                        </p:tav>
                                      </p:tavLst>
                                    </p:anim>
                                  </p:childTnLst>
                                </p:cTn>
                              </p:par>
                              <p:par>
                                <p:cTn id="32" presetID="45" presetClass="entr" presetSubtype="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2000"/>
                                        <p:tgtEl>
                                          <p:spTgt spid="7"/>
                                        </p:tgtEl>
                                      </p:cBhvr>
                                    </p:animEffect>
                                    <p:anim calcmode="lin" valueType="num">
                                      <p:cBhvr>
                                        <p:cTn id="35" dur="2000" fill="hold"/>
                                        <p:tgtEl>
                                          <p:spTgt spid="7"/>
                                        </p:tgtEl>
                                        <p:attrNameLst>
                                          <p:attrName>ppt_w</p:attrName>
                                        </p:attrNameLst>
                                      </p:cBhvr>
                                      <p:tavLst>
                                        <p:tav tm="0" fmla="#ppt_w*sin(2.5*pi*$)">
                                          <p:val>
                                            <p:fltVal val="0"/>
                                          </p:val>
                                        </p:tav>
                                        <p:tav tm="100000">
                                          <p:val>
                                            <p:fltVal val="1"/>
                                          </p:val>
                                        </p:tav>
                                      </p:tavLst>
                                    </p:anim>
                                    <p:anim calcmode="lin" valueType="num">
                                      <p:cBhvr>
                                        <p:cTn id="36" dur="2000" fill="hold"/>
                                        <p:tgtEl>
                                          <p:spTgt spid="7"/>
                                        </p:tgtEl>
                                        <p:attrNameLst>
                                          <p:attrName>ppt_h</p:attrName>
                                        </p:attrNameLst>
                                      </p:cBhvr>
                                      <p:tavLst>
                                        <p:tav tm="0">
                                          <p:val>
                                            <p:strVal val="#ppt_h"/>
                                          </p:val>
                                        </p:tav>
                                        <p:tav tm="100000">
                                          <p:val>
                                            <p:strVal val="#ppt_h"/>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anim calcmode="lin" valueType="num">
                                      <p:cBhvr additive="base">
                                        <p:cTn id="39" dur="500" fill="hold"/>
                                        <p:tgtEl>
                                          <p:spTgt spid="4"/>
                                        </p:tgtEl>
                                        <p:attrNameLst>
                                          <p:attrName>ppt_x</p:attrName>
                                        </p:attrNameLst>
                                      </p:cBhvr>
                                      <p:tavLst>
                                        <p:tav tm="0">
                                          <p:val>
                                            <p:strVal val="#ppt_x"/>
                                          </p:val>
                                        </p:tav>
                                        <p:tav tm="100000">
                                          <p:val>
                                            <p:strVal val="#ppt_x"/>
                                          </p:val>
                                        </p:tav>
                                      </p:tavLst>
                                    </p:anim>
                                    <p:anim calcmode="lin" valueType="num">
                                      <p:cBhvr additive="base">
                                        <p:cTn id="4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 calcmode="lin" valueType="num">
                                      <p:cBhvr additive="base">
                                        <p:cTn id="45" dur="500" fill="hold"/>
                                        <p:tgtEl>
                                          <p:spTgt spid="8"/>
                                        </p:tgtEl>
                                        <p:attrNameLst>
                                          <p:attrName>ppt_x</p:attrName>
                                        </p:attrNameLst>
                                      </p:cBhvr>
                                      <p:tavLst>
                                        <p:tav tm="0">
                                          <p:val>
                                            <p:strVal val="#ppt_x"/>
                                          </p:val>
                                        </p:tav>
                                        <p:tav tm="100000">
                                          <p:val>
                                            <p:strVal val="#ppt_x"/>
                                          </p:val>
                                        </p:tav>
                                      </p:tavLst>
                                    </p:anim>
                                    <p:anim calcmode="lin" valueType="num">
                                      <p:cBhvr additive="base">
                                        <p:cTn id="4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p:bldP spid="4" grpId="0"/>
      <p:bldP spid="6" grpId="0" animBg="1"/>
      <p:bldP spid="7" grpId="0" animBg="1"/>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A6D4201-4661-9B47-78A9-537CFB8CF976}"/>
                  </a:ext>
                </a:extLst>
              </p:cNvPr>
              <p:cNvSpPr>
                <a:spLocks noGrp="1"/>
              </p:cNvSpPr>
              <p:nvPr>
                <p:ph type="title"/>
              </p:nvPr>
            </p:nvSpPr>
            <p:spPr>
              <a:xfrm>
                <a:off x="492919" y="499533"/>
                <a:ext cx="8079581" cy="769227"/>
              </a:xfrm>
            </p:spPr>
            <p:txBody>
              <a:bodyPr/>
              <a:lstStyle/>
              <a:p>
                <a:r>
                  <a:rPr lang="en-GB" dirty="0"/>
                  <a:t>TVM - </a:t>
                </a:r>
                <a14:m>
                  <m:oMath xmlns:m="http://schemas.openxmlformats.org/officeDocument/2006/math">
                    <m:r>
                      <a:rPr lang="en-GB" b="0" i="1" smtClean="0">
                        <a:latin typeface="Cambria Math" panose="02040503050406030204" pitchFamily="18" charset="0"/>
                      </a:rPr>
                      <m:t>𝑡</m:t>
                    </m:r>
                  </m:oMath>
                </a14:m>
                <a:endParaRPr lang="en-GB" dirty="0"/>
              </a:p>
            </p:txBody>
          </p:sp>
        </mc:Choice>
        <mc:Fallback xmlns="">
          <p:sp>
            <p:nvSpPr>
              <p:cNvPr id="2" name="Title 1">
                <a:extLst>
                  <a:ext uri="{FF2B5EF4-FFF2-40B4-BE49-F238E27FC236}">
                    <a16:creationId xmlns:a16="http://schemas.microsoft.com/office/drawing/2014/main" id="{4A6D4201-4661-9B47-78A9-537CFB8CF976}"/>
                  </a:ext>
                </a:extLst>
              </p:cNvPr>
              <p:cNvSpPr>
                <a:spLocks noGrp="1" noRot="1" noChangeAspect="1" noMove="1" noResize="1" noEditPoints="1" noAdjustHandles="1" noChangeArrowheads="1" noChangeShapeType="1" noTextEdit="1"/>
              </p:cNvSpPr>
              <p:nvPr>
                <p:ph type="title"/>
              </p:nvPr>
            </p:nvSpPr>
            <p:spPr>
              <a:xfrm>
                <a:off x="492919" y="499533"/>
                <a:ext cx="8079581" cy="769227"/>
              </a:xfrm>
              <a:blipFill>
                <a:blip r:embed="rId3"/>
                <a:stretch>
                  <a:fillRect l="-3472" t="-25397" b="-42063"/>
                </a:stretch>
              </a:blipFill>
            </p:spPr>
            <p:txBody>
              <a:bodyPr/>
              <a:lstStyle/>
              <a:p>
                <a:r>
                  <a:rPr lang="en-GB">
                    <a:noFill/>
                  </a:rPr>
                  <a:t> </a:t>
                </a:r>
              </a:p>
            </p:txBody>
          </p:sp>
        </mc:Fallback>
      </mc:AlternateContent>
      <p:sp>
        <p:nvSpPr>
          <p:cNvPr id="3" name="Content Placeholder 2">
            <a:extLst>
              <a:ext uri="{FF2B5EF4-FFF2-40B4-BE49-F238E27FC236}">
                <a16:creationId xmlns:a16="http://schemas.microsoft.com/office/drawing/2014/main" id="{63A65CB2-E08A-4A90-A24E-7C7DD262E9E6}"/>
              </a:ext>
            </a:extLst>
          </p:cNvPr>
          <p:cNvSpPr>
            <a:spLocks noGrp="1"/>
          </p:cNvSpPr>
          <p:nvPr>
            <p:ph idx="1"/>
          </p:nvPr>
        </p:nvSpPr>
        <p:spPr>
          <a:xfrm>
            <a:off x="533552" y="1370107"/>
            <a:ext cx="7605143" cy="430149"/>
          </a:xfrm>
        </p:spPr>
        <p:txBody>
          <a:bodyPr>
            <a:normAutofit lnSpcReduction="10000"/>
          </a:bodyPr>
          <a:lstStyle/>
          <a:p>
            <a:pPr marL="0" lvl="1" indent="0">
              <a:spcBef>
                <a:spcPts val="0"/>
              </a:spcBef>
              <a:spcAft>
                <a:spcPts val="900"/>
              </a:spcAft>
              <a:buClr>
                <a:srgbClr val="C00000"/>
              </a:buClr>
              <a:buSzPct val="90000"/>
              <a:buNone/>
            </a:pPr>
            <a:r>
              <a:rPr lang="en-GB" sz="1800" dirty="0">
                <a:latin typeface="Arial" panose="020B0604020202020204" pitchFamily="34" charset="0"/>
                <a:ea typeface="Cambria Math" panose="02040503050406030204" pitchFamily="18" charset="0"/>
                <a:cs typeface="Arial" panose="020B0604020202020204" pitchFamily="34" charset="0"/>
              </a:rPr>
              <a:t>Now you want to know the time element…..</a:t>
            </a:r>
          </a:p>
          <a:p>
            <a:endParaRPr lang="en-GB" sz="1800" dirty="0">
              <a:latin typeface="Arial" panose="020B0604020202020204" pitchFamily="34" charset="0"/>
              <a:ea typeface="Cambria Math" panose="02040503050406030204" pitchFamily="18" charset="0"/>
              <a:cs typeface="Arial" panose="020B0604020202020204" pitchFamily="34" charset="0"/>
            </a:endParaRPr>
          </a:p>
          <a:p>
            <a:endParaRPr lang="en-GB" sz="18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2EA7921-70CD-CDAA-63ED-113500C90579}"/>
              </a:ext>
            </a:extLst>
          </p:cNvPr>
          <p:cNvSpPr txBox="1"/>
          <p:nvPr/>
        </p:nvSpPr>
        <p:spPr>
          <a:xfrm>
            <a:off x="533552" y="1800256"/>
            <a:ext cx="7853803" cy="1708160"/>
          </a:xfrm>
          <a:prstGeom prst="rect">
            <a:avLst/>
          </a:prstGeom>
          <a:noFill/>
        </p:spPr>
        <p:txBody>
          <a:bodyPr wrap="square">
            <a:spAutoFit/>
          </a:bodyPr>
          <a:lstStyle/>
          <a:p>
            <a:pPr marL="0" lvl="1" indent="0">
              <a:spcBef>
                <a:spcPts val="0"/>
              </a:spcBef>
              <a:spcAft>
                <a:spcPts val="900"/>
              </a:spcAft>
              <a:buClr>
                <a:srgbClr val="C00000"/>
              </a:buClr>
              <a:buSzPct val="90000"/>
            </a:pPr>
            <a:r>
              <a:rPr lang="en-GB" b="1" dirty="0">
                <a:ea typeface="Cambria Math" panose="02040503050406030204" pitchFamily="18" charset="0"/>
              </a:rPr>
              <a:t>Example: </a:t>
            </a:r>
            <a:r>
              <a:rPr lang="en-GB" dirty="0">
                <a:ea typeface="Cambria Math" panose="02040503050406030204" pitchFamily="18" charset="0"/>
              </a:rPr>
              <a:t>You have a £10k deposit in your savings account, in which you earn 5% compound interest.  You want to figure out how long it would take you to reach 2 targets. </a:t>
            </a:r>
          </a:p>
          <a:p>
            <a:pPr marL="0" lvl="1" indent="0">
              <a:spcBef>
                <a:spcPts val="0"/>
              </a:spcBef>
              <a:spcAft>
                <a:spcPts val="900"/>
              </a:spcAft>
              <a:buClr>
                <a:srgbClr val="C00000"/>
              </a:buClr>
              <a:buSzPct val="90000"/>
            </a:pPr>
            <a:r>
              <a:rPr lang="en-GB" dirty="0">
                <a:solidFill>
                  <a:srgbClr val="C00000"/>
                </a:solidFill>
                <a:ea typeface="Cambria Math" panose="02040503050406030204" pitchFamily="18" charset="0"/>
              </a:rPr>
              <a:t>Target 1: </a:t>
            </a:r>
            <a:r>
              <a:rPr lang="en-GB" dirty="0">
                <a:ea typeface="Cambria Math" panose="02040503050406030204" pitchFamily="18" charset="0"/>
              </a:rPr>
              <a:t>double your principal. </a:t>
            </a:r>
          </a:p>
          <a:p>
            <a:pPr marL="0" lvl="1" indent="0">
              <a:spcBef>
                <a:spcPts val="0"/>
              </a:spcBef>
              <a:spcAft>
                <a:spcPts val="900"/>
              </a:spcAft>
              <a:buClr>
                <a:srgbClr val="C00000"/>
              </a:buClr>
              <a:buSzPct val="90000"/>
            </a:pPr>
            <a:r>
              <a:rPr lang="en-GB" dirty="0">
                <a:solidFill>
                  <a:srgbClr val="C00000"/>
                </a:solidFill>
                <a:ea typeface="Cambria Math" panose="02040503050406030204" pitchFamily="18" charset="0"/>
              </a:rPr>
              <a:t>Target 2: </a:t>
            </a:r>
            <a:r>
              <a:rPr lang="en-GB" dirty="0">
                <a:ea typeface="Cambria Math" panose="02040503050406030204" pitchFamily="18" charset="0"/>
              </a:rPr>
              <a:t>triple your principal.</a:t>
            </a:r>
          </a:p>
        </p:txBody>
      </p:sp>
      <p:sp>
        <p:nvSpPr>
          <p:cNvPr id="4" name="Lightning Bolt 3">
            <a:extLst>
              <a:ext uri="{FF2B5EF4-FFF2-40B4-BE49-F238E27FC236}">
                <a16:creationId xmlns:a16="http://schemas.microsoft.com/office/drawing/2014/main" id="{EB48FC2E-FB3B-7A93-270D-46270440DB15}"/>
              </a:ext>
            </a:extLst>
          </p:cNvPr>
          <p:cNvSpPr/>
          <p:nvPr/>
        </p:nvSpPr>
        <p:spPr>
          <a:xfrm>
            <a:off x="663871" y="3525755"/>
            <a:ext cx="2123501" cy="678345"/>
          </a:xfrm>
          <a:prstGeom prst="lightningBolt">
            <a:avLst/>
          </a:prstGeom>
          <a:solidFill>
            <a:srgbClr val="FFFF00"/>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Lightning Bolt 4">
            <a:extLst>
              <a:ext uri="{FF2B5EF4-FFF2-40B4-BE49-F238E27FC236}">
                <a16:creationId xmlns:a16="http://schemas.microsoft.com/office/drawing/2014/main" id="{5C928571-3419-2049-F1E2-B1E9FA1CD91C}"/>
              </a:ext>
            </a:extLst>
          </p:cNvPr>
          <p:cNvSpPr/>
          <p:nvPr/>
        </p:nvSpPr>
        <p:spPr>
          <a:xfrm rot="7646524">
            <a:off x="6416605" y="3418947"/>
            <a:ext cx="2123501" cy="678345"/>
          </a:xfrm>
          <a:prstGeom prst="lightningBolt">
            <a:avLst/>
          </a:prstGeom>
          <a:solidFill>
            <a:srgbClr val="FFFF00"/>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9B52FBB-B76A-C1F6-A5E0-6D77857E259F}"/>
                  </a:ext>
                </a:extLst>
              </p:cNvPr>
              <p:cNvSpPr txBox="1"/>
              <p:nvPr/>
            </p:nvSpPr>
            <p:spPr>
              <a:xfrm>
                <a:off x="2915126" y="3940159"/>
                <a:ext cx="3242642" cy="8902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i="1">
                          <a:solidFill>
                            <a:srgbClr val="C00000"/>
                          </a:solidFill>
                          <a:latin typeface="Cambria Math" panose="02040503050406030204" pitchFamily="18" charset="0"/>
                          <a:ea typeface="Cambria Math" panose="02040503050406030204" pitchFamily="18" charset="0"/>
                        </a:rPr>
                        <m:t>𝑡</m:t>
                      </m:r>
                      <m:r>
                        <a:rPr lang="en-GB" i="1">
                          <a:latin typeface="Cambria Math" panose="02040503050406030204" pitchFamily="18" charset="0"/>
                          <a:ea typeface="Cambria Math" panose="02040503050406030204" pitchFamily="18" charset="0"/>
                        </a:rPr>
                        <m:t>=</m:t>
                      </m:r>
                      <m:f>
                        <m:fPr>
                          <m:ctrlPr>
                            <a:rPr lang="en-GB" i="1">
                              <a:latin typeface="Cambria Math" panose="02040503050406030204" pitchFamily="18" charset="0"/>
                            </a:rPr>
                          </m:ctrlPr>
                        </m:fPr>
                        <m:num>
                          <m:func>
                            <m:funcPr>
                              <m:ctrlPr>
                                <a:rPr lang="en-GB" i="1">
                                  <a:latin typeface="Cambria Math" panose="02040503050406030204" pitchFamily="18" charset="0"/>
                                </a:rPr>
                              </m:ctrlPr>
                            </m:funcPr>
                            <m:fName>
                              <m:r>
                                <m:rPr>
                                  <m:sty m:val="p"/>
                                </m:rPr>
                                <a:rPr lang="en-GB">
                                  <a:latin typeface="Cambria Math" panose="02040503050406030204" pitchFamily="18" charset="0"/>
                                </a:rPr>
                                <m:t>ln</m:t>
                              </m:r>
                            </m:fName>
                            <m:e>
                              <m:d>
                                <m:dPr>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𝐹𝑉</m:t>
                                      </m:r>
                                    </m:num>
                                    <m:den>
                                      <m:r>
                                        <a:rPr lang="en-GB" i="1">
                                          <a:latin typeface="Cambria Math" panose="02040503050406030204" pitchFamily="18" charset="0"/>
                                        </a:rPr>
                                        <m:t>𝑃𝑉</m:t>
                                      </m:r>
                                    </m:den>
                                  </m:f>
                                </m:e>
                              </m:d>
                            </m:e>
                          </m:func>
                        </m:num>
                        <m:den>
                          <m:r>
                            <m:rPr>
                              <m:sty m:val="p"/>
                            </m:rPr>
                            <a:rPr lang="en-GB">
                              <a:latin typeface="Cambria Math" panose="02040503050406030204" pitchFamily="18" charset="0"/>
                            </a:rPr>
                            <m:t>ln</m:t>
                          </m:r>
                          <m:r>
                            <a:rPr lang="en-GB" i="1">
                              <a:latin typeface="Cambria Math" panose="02040503050406030204" pitchFamily="18" charset="0"/>
                            </a:rPr>
                            <m:t>⁡(1+</m:t>
                          </m:r>
                          <m:r>
                            <a:rPr lang="en-GB" i="1">
                              <a:latin typeface="Cambria Math" panose="02040503050406030204" pitchFamily="18" charset="0"/>
                            </a:rPr>
                            <m:t>𝑟</m:t>
                          </m:r>
                          <m:r>
                            <a:rPr lang="en-GB" i="1">
                              <a:latin typeface="Cambria Math" panose="02040503050406030204" pitchFamily="18" charset="0"/>
                            </a:rPr>
                            <m:t>)</m:t>
                          </m:r>
                        </m:den>
                      </m:f>
                    </m:oMath>
                  </m:oMathPara>
                </a14:m>
                <a:endParaRPr lang="en-GB" dirty="0">
                  <a:ea typeface="Cambria Math" panose="02040503050406030204" pitchFamily="18" charset="0"/>
                </a:endParaRPr>
              </a:p>
            </p:txBody>
          </p:sp>
        </mc:Choice>
        <mc:Fallback xmlns="">
          <p:sp>
            <p:nvSpPr>
              <p:cNvPr id="7" name="TextBox 6">
                <a:extLst>
                  <a:ext uri="{FF2B5EF4-FFF2-40B4-BE49-F238E27FC236}">
                    <a16:creationId xmlns:a16="http://schemas.microsoft.com/office/drawing/2014/main" id="{49B52FBB-B76A-C1F6-A5E0-6D77857E259F}"/>
                  </a:ext>
                </a:extLst>
              </p:cNvPr>
              <p:cNvSpPr txBox="1">
                <a:spLocks noRot="1" noChangeAspect="1" noMove="1" noResize="1" noEditPoints="1" noAdjustHandles="1" noChangeArrowheads="1" noChangeShapeType="1" noTextEdit="1"/>
              </p:cNvSpPr>
              <p:nvPr/>
            </p:nvSpPr>
            <p:spPr>
              <a:xfrm>
                <a:off x="2915126" y="3940159"/>
                <a:ext cx="3242642" cy="890244"/>
              </a:xfrm>
              <a:prstGeom prst="rect">
                <a:avLst/>
              </a:prstGeom>
              <a:blipFill>
                <a:blip r:embed="rId4"/>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829936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8" presetClass="emph" presetSubtype="0" fill="hold" grpId="0" nodeType="clickEffect">
                                  <p:stCondLst>
                                    <p:cond delay="0"/>
                                  </p:stCondLst>
                                  <p:childTnLst>
                                    <p:animRot by="43200000">
                                      <p:cBhvr>
                                        <p:cTn id="18" dur="2000" fill="hold"/>
                                        <p:tgtEl>
                                          <p:spTgt spid="4"/>
                                        </p:tgtEl>
                                        <p:attrNameLst>
                                          <p:attrName>r</p:attrName>
                                        </p:attrNameLst>
                                      </p:cBhvr>
                                    </p:animRot>
                                  </p:childTnLst>
                                </p:cTn>
                              </p:par>
                              <p:par>
                                <p:cTn id="19" presetID="8" presetClass="emph" presetSubtype="0" fill="hold" grpId="0" nodeType="withEffect">
                                  <p:stCondLst>
                                    <p:cond delay="0"/>
                                  </p:stCondLst>
                                  <p:childTnLst>
                                    <p:animRot by="43200000">
                                      <p:cBhvr>
                                        <p:cTn id="20" dur="2000" fill="hold"/>
                                        <p:tgtEl>
                                          <p:spTgt spid="5"/>
                                        </p:tgtEl>
                                        <p:attrNameLst>
                                          <p:attrName>r</p:attrName>
                                        </p:attrNameLst>
                                      </p:cBhvr>
                                    </p:animRo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6" grpId="0"/>
      <p:bldP spid="4" grpId="0" animBg="1"/>
      <p:bldP spid="5" grpId="0" animBg="1"/>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A074653-9938-4DF1-A2FB-E7701226A988}"/>
              </a:ext>
            </a:extLst>
          </p:cNvPr>
          <p:cNvSpPr txBox="1">
            <a:spLocks/>
          </p:cNvSpPr>
          <p:nvPr/>
        </p:nvSpPr>
        <p:spPr>
          <a:xfrm>
            <a:off x="508000" y="404664"/>
            <a:ext cx="6447501" cy="612037"/>
          </a:xfrm>
          <a:prstGeom prst="rect">
            <a:avLst/>
          </a:prstGeom>
        </p:spPr>
        <p:txBody>
          <a:bodyPr vert="horz" lIns="68580" tIns="34290" rIns="68580" bIns="34290" rtlCol="0" anchor="t">
            <a:normAutofit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TVM – continuous compounding </a:t>
            </a:r>
          </a:p>
        </p:txBody>
      </p:sp>
      <mc:AlternateContent xmlns:mc="http://schemas.openxmlformats.org/markup-compatibility/2006" xmlns:a14="http://schemas.microsoft.com/office/drawing/2010/main">
        <mc:Choice Requires="a14">
          <p:sp>
            <p:nvSpPr>
              <p:cNvPr id="2" name="Content Placeholder 2">
                <a:extLst>
                  <a:ext uri="{FF2B5EF4-FFF2-40B4-BE49-F238E27FC236}">
                    <a16:creationId xmlns:a16="http://schemas.microsoft.com/office/drawing/2014/main" id="{AC093CFB-E1DB-318F-A9F5-D9998BCE3E5B}"/>
                  </a:ext>
                </a:extLst>
              </p:cNvPr>
              <p:cNvSpPr txBox="1">
                <a:spLocks/>
              </p:cNvSpPr>
              <p:nvPr/>
            </p:nvSpPr>
            <p:spPr>
              <a:xfrm>
                <a:off x="552450" y="1806014"/>
                <a:ext cx="8591550" cy="1980174"/>
              </a:xfrm>
              <a:prstGeom prst="rect">
                <a:avLst/>
              </a:prstGeom>
            </p:spPr>
            <p:txBody>
              <a:bodyPr vert="horz" lIns="68580" tIns="34290" rIns="68580" bIns="3429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00000"/>
                  </a:lnSpc>
                  <a:spcAft>
                    <a:spcPts val="900"/>
                  </a:spcAft>
                  <a:buClr>
                    <a:srgbClr val="C00000"/>
                  </a:buClr>
                  <a:buSzPct val="90000"/>
                  <a:buNone/>
                </a:pPr>
                <a:r>
                  <a:rPr lang="en-GB" sz="1800" dirty="0">
                    <a:ea typeface="Cambria Math" panose="02040503050406030204" pitchFamily="18" charset="0"/>
                  </a:rPr>
                  <a:t>So when compounding is </a:t>
                </a:r>
                <a:r>
                  <a:rPr lang="en-GB" sz="1800" dirty="0">
                    <a:highlight>
                      <a:srgbClr val="FFFF00"/>
                    </a:highlight>
                    <a:ea typeface="Cambria Math" panose="02040503050406030204" pitchFamily="18" charset="0"/>
                  </a:rPr>
                  <a:t>continuous</a:t>
                </a:r>
                <a:r>
                  <a:rPr lang="en-GB" sz="1800" dirty="0">
                    <a:ea typeface="Cambria Math" panose="02040503050406030204" pitchFamily="18" charset="0"/>
                  </a:rPr>
                  <a:t>, </a:t>
                </a:r>
                <a14:m>
                  <m:oMath xmlns:m="http://schemas.openxmlformats.org/officeDocument/2006/math">
                    <m:r>
                      <a:rPr lang="en-GB" sz="1800" i="1">
                        <a:highlight>
                          <a:srgbClr val="FFFF00"/>
                        </a:highlight>
                        <a:latin typeface="Cambria Math" panose="02040503050406030204" pitchFamily="18" charset="0"/>
                        <a:ea typeface="Cambria Math" panose="02040503050406030204" pitchFamily="18" charset="0"/>
                      </a:rPr>
                      <m:t>𝑛</m:t>
                    </m:r>
                  </m:oMath>
                </a14:m>
                <a:r>
                  <a:rPr lang="en-GB" sz="1800" dirty="0">
                    <a:highlight>
                      <a:srgbClr val="FFFF00"/>
                    </a:highlight>
                    <a:ea typeface="Cambria Math" panose="02040503050406030204" pitchFamily="18" charset="0"/>
                  </a:rPr>
                  <a:t> becomes infinite</a:t>
                </a:r>
                <a:r>
                  <a:rPr lang="en-GB" sz="1800" dirty="0">
                    <a:ea typeface="Cambria Math" panose="02040503050406030204" pitchFamily="18" charset="0"/>
                  </a:rPr>
                  <a:t>. We have:</a:t>
                </a:r>
              </a:p>
              <a:p>
                <a:pPr marL="0" lvl="1" indent="0">
                  <a:lnSpc>
                    <a:spcPct val="100000"/>
                  </a:lnSpc>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800" i="1">
                          <a:solidFill>
                            <a:schemeClr val="accent5">
                              <a:lumMod val="75000"/>
                            </a:schemeClr>
                          </a:solidFill>
                          <a:latin typeface="Cambria Math" panose="02040503050406030204" pitchFamily="18" charset="0"/>
                        </a:rPr>
                        <m:t>𝐹𝑉</m:t>
                      </m:r>
                      <m:r>
                        <a:rPr lang="en-GB" sz="1800" i="1">
                          <a:solidFill>
                            <a:schemeClr val="accent5">
                              <a:lumMod val="75000"/>
                            </a:schemeClr>
                          </a:solidFill>
                          <a:latin typeface="Cambria Math" panose="02040503050406030204" pitchFamily="18" charset="0"/>
                        </a:rPr>
                        <m:t>=</m:t>
                      </m:r>
                      <m:r>
                        <a:rPr lang="en-GB" sz="1800" i="1">
                          <a:solidFill>
                            <a:schemeClr val="accent5">
                              <a:lumMod val="75000"/>
                            </a:schemeClr>
                          </a:solidFill>
                          <a:latin typeface="Cambria Math" panose="02040503050406030204" pitchFamily="18" charset="0"/>
                          <a:ea typeface="Cambria Math" panose="02040503050406030204" pitchFamily="18" charset="0"/>
                        </a:rPr>
                        <m:t>𝑃𝑉</m:t>
                      </m:r>
                      <m:r>
                        <a:rPr lang="en-GB" sz="18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800" i="1">
                              <a:solidFill>
                                <a:schemeClr val="accent5">
                                  <a:lumMod val="75000"/>
                                </a:schemeClr>
                              </a:solidFill>
                              <a:latin typeface="Cambria Math" panose="02040503050406030204" pitchFamily="18" charset="0"/>
                              <a:ea typeface="Cambria Math" panose="02040503050406030204" pitchFamily="18" charset="0"/>
                            </a:rPr>
                          </m:ctrlPr>
                        </m:sSupPr>
                        <m:e>
                          <m:r>
                            <a:rPr lang="en-GB" sz="1800" i="1">
                              <a:solidFill>
                                <a:srgbClr val="C00000"/>
                              </a:solidFill>
                              <a:latin typeface="Cambria Math" panose="02040503050406030204" pitchFamily="18" charset="0"/>
                              <a:ea typeface="Cambria Math" panose="02040503050406030204" pitchFamily="18" charset="0"/>
                            </a:rPr>
                            <m:t>𝑒</m:t>
                          </m:r>
                        </m:e>
                        <m:sup>
                          <m:r>
                            <a:rPr lang="en-GB" sz="1800" i="1">
                              <a:solidFill>
                                <a:schemeClr val="accent5">
                                  <a:lumMod val="75000"/>
                                </a:schemeClr>
                              </a:solidFill>
                              <a:latin typeface="Cambria Math" panose="02040503050406030204" pitchFamily="18" charset="0"/>
                              <a:ea typeface="Cambria Math" panose="02040503050406030204" pitchFamily="18" charset="0"/>
                            </a:rPr>
                            <m:t>𝑟𝑡</m:t>
                          </m:r>
                        </m:sup>
                      </m:sSup>
                    </m:oMath>
                  </m:oMathPara>
                </a14:m>
                <a:endParaRPr lang="en-GB" sz="1800" dirty="0">
                  <a:ea typeface="Cambria Math" panose="02040503050406030204" pitchFamily="18" charset="0"/>
                </a:endParaRPr>
              </a:p>
              <a:p>
                <a:pPr marL="0" lvl="1" indent="0">
                  <a:lnSpc>
                    <a:spcPct val="100000"/>
                  </a:lnSpc>
                  <a:spcAft>
                    <a:spcPts val="900"/>
                  </a:spcAft>
                  <a:buClr>
                    <a:srgbClr val="C00000"/>
                  </a:buClr>
                  <a:buSzPct val="90000"/>
                  <a:buNone/>
                </a:pPr>
                <a:endParaRPr lang="en-GB" sz="1800" dirty="0">
                  <a:ea typeface="Cambria Math" panose="02040503050406030204" pitchFamily="18" charset="0"/>
                </a:endParaRPr>
              </a:p>
              <a:p>
                <a:pPr marL="0" lvl="1" indent="0">
                  <a:lnSpc>
                    <a:spcPct val="100000"/>
                  </a:lnSpc>
                  <a:spcAft>
                    <a:spcPts val="900"/>
                  </a:spcAft>
                  <a:buClr>
                    <a:srgbClr val="C00000"/>
                  </a:buClr>
                  <a:buSzPct val="90000"/>
                  <a:buNone/>
                </a:pPr>
                <a:r>
                  <a:rPr lang="en-GB" sz="1800" dirty="0">
                    <a:ea typeface="Cambria Math" panose="02040503050406030204" pitchFamily="18" charset="0"/>
                  </a:rPr>
                  <a:t>Where </a:t>
                </a:r>
                <a14:m>
                  <m:oMath xmlns:m="http://schemas.openxmlformats.org/officeDocument/2006/math">
                    <m:r>
                      <a:rPr lang="en-GB" sz="1800" i="1">
                        <a:solidFill>
                          <a:schemeClr val="accent5">
                            <a:lumMod val="75000"/>
                          </a:schemeClr>
                        </a:solidFill>
                        <a:latin typeface="Cambria Math" panose="02040503050406030204" pitchFamily="18" charset="0"/>
                        <a:ea typeface="Cambria Math" panose="02040503050406030204" pitchFamily="18" charset="0"/>
                      </a:rPr>
                      <m:t>𝑒</m:t>
                    </m:r>
                  </m:oMath>
                </a14:m>
                <a:r>
                  <a:rPr lang="en-GB" sz="1800" dirty="0">
                    <a:ea typeface="Cambria Math" panose="02040503050406030204" pitchFamily="18" charset="0"/>
                  </a:rPr>
                  <a:t>: the exponential function. </a:t>
                </a:r>
              </a:p>
            </p:txBody>
          </p:sp>
        </mc:Choice>
        <mc:Fallback xmlns="">
          <p:sp>
            <p:nvSpPr>
              <p:cNvPr id="2" name="Content Placeholder 2">
                <a:extLst>
                  <a:ext uri="{FF2B5EF4-FFF2-40B4-BE49-F238E27FC236}">
                    <a16:creationId xmlns:a16="http://schemas.microsoft.com/office/drawing/2014/main" id="{AC093CFB-E1DB-318F-A9F5-D9998BCE3E5B}"/>
                  </a:ext>
                </a:extLst>
              </p:cNvPr>
              <p:cNvSpPr txBox="1">
                <a:spLocks noRot="1" noChangeAspect="1" noMove="1" noResize="1" noEditPoints="1" noAdjustHandles="1" noChangeArrowheads="1" noChangeShapeType="1" noTextEdit="1"/>
              </p:cNvSpPr>
              <p:nvPr/>
            </p:nvSpPr>
            <p:spPr>
              <a:xfrm>
                <a:off x="552450" y="1806014"/>
                <a:ext cx="8591550" cy="1980174"/>
              </a:xfrm>
              <a:prstGeom prst="rect">
                <a:avLst/>
              </a:prstGeom>
              <a:blipFill>
                <a:blip r:embed="rId2"/>
                <a:stretch>
                  <a:fillRect l="-923" t="-2154"/>
                </a:stretch>
              </a:blipFill>
            </p:spPr>
            <p:txBody>
              <a:bodyPr/>
              <a:lstStyle/>
              <a:p>
                <a:r>
                  <a:rPr lang="en-GB">
                    <a:noFill/>
                  </a:rPr>
                  <a:t> </a:t>
                </a:r>
              </a:p>
            </p:txBody>
          </p:sp>
        </mc:Fallback>
      </mc:AlternateContent>
      <p:sp>
        <p:nvSpPr>
          <p:cNvPr id="15" name="Content Placeholder 2">
            <a:extLst>
              <a:ext uri="{FF2B5EF4-FFF2-40B4-BE49-F238E27FC236}">
                <a16:creationId xmlns:a16="http://schemas.microsoft.com/office/drawing/2014/main" id="{A6E95FCE-AE18-4148-0CDC-BBF86D3F80E1}"/>
              </a:ext>
            </a:extLst>
          </p:cNvPr>
          <p:cNvSpPr>
            <a:spLocks noGrp="1"/>
          </p:cNvSpPr>
          <p:nvPr>
            <p:ph idx="1"/>
          </p:nvPr>
        </p:nvSpPr>
        <p:spPr>
          <a:xfrm>
            <a:off x="552450" y="3932939"/>
            <a:ext cx="8591550" cy="854015"/>
          </a:xfrm>
        </p:spPr>
        <p:txBody>
          <a:bodyPr>
            <a:normAutofit/>
          </a:bodyPr>
          <a:lstStyle/>
          <a:p>
            <a:pPr marL="0" lvl="1" indent="0">
              <a:spcAft>
                <a:spcPts val="900"/>
              </a:spcAft>
              <a:buClr>
                <a:srgbClr val="C00000"/>
              </a:buClr>
              <a:buSzPct val="90000"/>
              <a:buNone/>
            </a:pPr>
            <a:r>
              <a:rPr lang="en-GB" sz="1800" dirty="0">
                <a:ea typeface="Cambria Math" panose="02040503050406030204" pitchFamily="18" charset="0"/>
              </a:rPr>
              <a:t>Example 2: a 10-year investment plan pays an annual interest rate of 2%, continuously compounded. What would be the future value of a £1,000 invested today?</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0579FCD-8312-5E30-0F09-C8A822765F00}"/>
                  </a:ext>
                </a:extLst>
              </p:cNvPr>
              <p:cNvSpPr txBox="1"/>
              <p:nvPr/>
            </p:nvSpPr>
            <p:spPr>
              <a:xfrm>
                <a:off x="1441438" y="4796584"/>
                <a:ext cx="4580627" cy="490968"/>
              </a:xfrm>
              <a:prstGeom prst="rect">
                <a:avLst/>
              </a:prstGeom>
              <a:noFill/>
            </p:spPr>
            <p:txBody>
              <a:bodyPr wrap="square">
                <a:spAutoFit/>
              </a:bodyPr>
              <a:lstStyle/>
              <a:p>
                <a:pPr marL="0" lvl="1" indent="0">
                  <a:spcAft>
                    <a:spcPts val="900"/>
                  </a:spcAft>
                  <a:buClr>
                    <a:srgbClr val="C00000"/>
                  </a:buClr>
                  <a:buSzPct val="90000"/>
                </a:pPr>
                <a14:m>
                  <m:oMathPara xmlns:m="http://schemas.openxmlformats.org/officeDocument/2006/math">
                    <m:oMathParaPr>
                      <m:jc m:val="centerGroup"/>
                    </m:oMathParaPr>
                    <m:oMath xmlns:m="http://schemas.openxmlformats.org/officeDocument/2006/math">
                      <m:r>
                        <a:rPr lang="en-GB" b="0" i="1" smtClean="0">
                          <a:solidFill>
                            <a:srgbClr val="C00000"/>
                          </a:solidFill>
                          <a:latin typeface="Cambria Math" panose="02040503050406030204" pitchFamily="18" charset="0"/>
                          <a:ea typeface="Cambria Math" panose="02040503050406030204" pitchFamily="18" charset="0"/>
                        </a:rPr>
                        <m:t>𝐹𝑉</m:t>
                      </m:r>
                      <m:r>
                        <a:rPr lang="en-GB" b="0" i="1" smtClean="0">
                          <a:solidFill>
                            <a:srgbClr val="C00000"/>
                          </a:solidFill>
                          <a:latin typeface="Cambria Math" panose="02040503050406030204" pitchFamily="18" charset="0"/>
                          <a:ea typeface="Cambria Math" panose="02040503050406030204" pitchFamily="18" charset="0"/>
                        </a:rPr>
                        <m:t>=</m:t>
                      </m:r>
                      <m:r>
                        <a:rPr lang="en-GB" i="1" smtClean="0">
                          <a:solidFill>
                            <a:srgbClr val="C00000"/>
                          </a:solidFill>
                          <a:latin typeface="Cambria Math" panose="02040503050406030204" pitchFamily="18" charset="0"/>
                          <a:ea typeface="Cambria Math" panose="02040503050406030204" pitchFamily="18" charset="0"/>
                        </a:rPr>
                        <m:t>𝑃𝑉</m:t>
                      </m:r>
                      <m:r>
                        <a:rPr lang="en-GB" i="1" smtClean="0">
                          <a:solidFill>
                            <a:srgbClr val="C00000"/>
                          </a:solidFill>
                          <a:latin typeface="Cambria Math" panose="02040503050406030204" pitchFamily="18" charset="0"/>
                          <a:ea typeface="Cambria Math" panose="02040503050406030204" pitchFamily="18" charset="0"/>
                        </a:rPr>
                        <m:t> </m:t>
                      </m:r>
                      <m:sSup>
                        <m:sSupPr>
                          <m:ctrlPr>
                            <a:rPr lang="en-GB" i="1">
                              <a:solidFill>
                                <a:srgbClr val="C00000"/>
                              </a:solidFill>
                              <a:latin typeface="Cambria Math" panose="02040503050406030204" pitchFamily="18" charset="0"/>
                              <a:ea typeface="Cambria Math" panose="02040503050406030204" pitchFamily="18" charset="0"/>
                            </a:rPr>
                          </m:ctrlPr>
                        </m:sSupPr>
                        <m:e>
                          <m:r>
                            <a:rPr lang="en-GB" i="1">
                              <a:solidFill>
                                <a:srgbClr val="C00000"/>
                              </a:solidFill>
                              <a:latin typeface="Cambria Math" panose="02040503050406030204" pitchFamily="18" charset="0"/>
                              <a:ea typeface="Cambria Math" panose="02040503050406030204" pitchFamily="18" charset="0"/>
                            </a:rPr>
                            <m:t>𝑒</m:t>
                          </m:r>
                        </m:e>
                        <m:sup>
                          <m:r>
                            <a:rPr lang="en-GB" i="1">
                              <a:solidFill>
                                <a:srgbClr val="C00000"/>
                              </a:solidFill>
                              <a:latin typeface="Cambria Math" panose="02040503050406030204" pitchFamily="18" charset="0"/>
                              <a:ea typeface="Cambria Math" panose="02040503050406030204" pitchFamily="18" charset="0"/>
                            </a:rPr>
                            <m:t>𝑟𝑡</m:t>
                          </m:r>
                        </m:sup>
                      </m:sSup>
                      <m:r>
                        <a:rPr lang="en-GB" b="0" i="1" smtClean="0">
                          <a:solidFill>
                            <a:schemeClr val="tx1"/>
                          </a:solidFill>
                          <a:latin typeface="Cambria Math" panose="02040503050406030204" pitchFamily="18" charset="0"/>
                          <a:ea typeface="Cambria Math" panose="02040503050406030204" pitchFamily="18" charset="0"/>
                        </a:rPr>
                        <m:t>=1,000×</m:t>
                      </m:r>
                      <m:sSup>
                        <m:sSupPr>
                          <m:ctrlPr>
                            <a:rPr lang="en-GB" b="0" i="1" smtClean="0">
                              <a:solidFill>
                                <a:schemeClr val="tx1"/>
                              </a:solidFill>
                              <a:latin typeface="Cambria Math" panose="02040503050406030204" pitchFamily="18" charset="0"/>
                              <a:ea typeface="Cambria Math" panose="02040503050406030204" pitchFamily="18" charset="0"/>
                            </a:rPr>
                          </m:ctrlPr>
                        </m:sSupPr>
                        <m:e>
                          <m:r>
                            <a:rPr lang="en-GB" b="0" i="1" smtClean="0">
                              <a:solidFill>
                                <a:schemeClr val="tx1"/>
                              </a:solidFill>
                              <a:latin typeface="Cambria Math" panose="02040503050406030204" pitchFamily="18" charset="0"/>
                              <a:ea typeface="Cambria Math" panose="02040503050406030204" pitchFamily="18" charset="0"/>
                            </a:rPr>
                            <m:t>𝑒</m:t>
                          </m:r>
                        </m:e>
                        <m:sup>
                          <m:r>
                            <a:rPr lang="en-GB" b="0" i="1" smtClean="0">
                              <a:solidFill>
                                <a:schemeClr val="tx1"/>
                              </a:solidFill>
                              <a:latin typeface="Cambria Math" panose="02040503050406030204" pitchFamily="18" charset="0"/>
                              <a:ea typeface="Cambria Math" panose="02040503050406030204" pitchFamily="18" charset="0"/>
                            </a:rPr>
                            <m:t>2%×10</m:t>
                          </m:r>
                        </m:sup>
                      </m:sSup>
                      <m:r>
                        <a:rPr lang="en-GB" b="0" i="1" smtClean="0">
                          <a:solidFill>
                            <a:schemeClr val="tx1"/>
                          </a:solidFill>
                          <a:latin typeface="Cambria Math" panose="02040503050406030204" pitchFamily="18" charset="0"/>
                          <a:ea typeface="Cambria Math" panose="02040503050406030204" pitchFamily="18" charset="0"/>
                        </a:rPr>
                        <m:t>=£1,221.40</m:t>
                      </m:r>
                    </m:oMath>
                  </m:oMathPara>
                </a14:m>
                <a:endParaRPr lang="en-GB" dirty="0">
                  <a:ea typeface="Cambria Math" panose="02040503050406030204" pitchFamily="18" charset="0"/>
                </a:endParaRPr>
              </a:p>
            </p:txBody>
          </p:sp>
        </mc:Choice>
        <mc:Fallback xmlns="">
          <p:sp>
            <p:nvSpPr>
              <p:cNvPr id="17" name="TextBox 16">
                <a:extLst>
                  <a:ext uri="{FF2B5EF4-FFF2-40B4-BE49-F238E27FC236}">
                    <a16:creationId xmlns:a16="http://schemas.microsoft.com/office/drawing/2014/main" id="{90579FCD-8312-5E30-0F09-C8A822765F00}"/>
                  </a:ext>
                </a:extLst>
              </p:cNvPr>
              <p:cNvSpPr txBox="1">
                <a:spLocks noRot="1" noChangeAspect="1" noMove="1" noResize="1" noEditPoints="1" noAdjustHandles="1" noChangeArrowheads="1" noChangeShapeType="1" noTextEdit="1"/>
              </p:cNvSpPr>
              <p:nvPr/>
            </p:nvSpPr>
            <p:spPr>
              <a:xfrm>
                <a:off x="1441438" y="4796584"/>
                <a:ext cx="4580627" cy="490968"/>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895756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p:cTn id="15" dur="1000" fill="hold"/>
                                        <p:tgtEl>
                                          <p:spTgt spid="17"/>
                                        </p:tgtEl>
                                        <p:attrNameLst>
                                          <p:attrName>ppt_w</p:attrName>
                                        </p:attrNameLst>
                                      </p:cBhvr>
                                      <p:tavLst>
                                        <p:tav tm="0">
                                          <p:val>
                                            <p:fltVal val="0"/>
                                          </p:val>
                                        </p:tav>
                                        <p:tav tm="100000">
                                          <p:val>
                                            <p:strVal val="#ppt_w"/>
                                          </p:val>
                                        </p:tav>
                                      </p:tavLst>
                                    </p:anim>
                                    <p:anim calcmode="lin" valueType="num">
                                      <p:cBhvr>
                                        <p:cTn id="16" dur="1000" fill="hold"/>
                                        <p:tgtEl>
                                          <p:spTgt spid="17"/>
                                        </p:tgtEl>
                                        <p:attrNameLst>
                                          <p:attrName>ppt_h</p:attrName>
                                        </p:attrNameLst>
                                      </p:cBhvr>
                                      <p:tavLst>
                                        <p:tav tm="0">
                                          <p:val>
                                            <p:fltVal val="0"/>
                                          </p:val>
                                        </p:tav>
                                        <p:tav tm="100000">
                                          <p:val>
                                            <p:strVal val="#ppt_h"/>
                                          </p:val>
                                        </p:tav>
                                      </p:tavLst>
                                    </p:anim>
                                    <p:anim calcmode="lin" valueType="num">
                                      <p:cBhvr>
                                        <p:cTn id="17" dur="1000" fill="hold"/>
                                        <p:tgtEl>
                                          <p:spTgt spid="17"/>
                                        </p:tgtEl>
                                        <p:attrNameLst>
                                          <p:attrName>style.rotation</p:attrName>
                                        </p:attrNameLst>
                                      </p:cBhvr>
                                      <p:tavLst>
                                        <p:tav tm="0">
                                          <p:val>
                                            <p:fltVal val="90"/>
                                          </p:val>
                                        </p:tav>
                                        <p:tav tm="100000">
                                          <p:val>
                                            <p:fltVal val="0"/>
                                          </p:val>
                                        </p:tav>
                                      </p:tavLst>
                                    </p:anim>
                                    <p:animEffect transition="in" filter="fade">
                                      <p:cBhvr>
                                        <p:cTn id="18"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5" grpId="0" build="p"/>
      <p:bldP spid="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9970-FED6-1E57-421C-8BB75459FD4A}"/>
              </a:ext>
            </a:extLst>
          </p:cNvPr>
          <p:cNvSpPr>
            <a:spLocks noGrp="1"/>
          </p:cNvSpPr>
          <p:nvPr>
            <p:ph type="title"/>
          </p:nvPr>
        </p:nvSpPr>
        <p:spPr/>
        <p:txBody>
          <a:bodyPr/>
          <a:lstStyle/>
          <a:p>
            <a:r>
              <a:rPr lang="en-GB" dirty="0"/>
              <a:t>TVM formulae - Roundup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6828D71-AA1F-B950-4C7A-4BF4EE74BF6F}"/>
                  </a:ext>
                </a:extLst>
              </p:cNvPr>
              <p:cNvSpPr>
                <a:spLocks noGrp="1"/>
              </p:cNvSpPr>
              <p:nvPr>
                <p:ph idx="1"/>
              </p:nvPr>
            </p:nvSpPr>
            <p:spPr>
              <a:xfrm>
                <a:off x="628649" y="1556793"/>
                <a:ext cx="7471743" cy="1252154"/>
              </a:xfrm>
            </p:spPr>
            <p:txBody>
              <a:bodyPr>
                <a:normAutofit/>
              </a:bodyPr>
              <a:lstStyle/>
              <a:p>
                <a:pPr marL="600075" lvl="2" indent="-257175">
                  <a:spcAft>
                    <a:spcPts val="900"/>
                  </a:spcAft>
                  <a:buClr>
                    <a:srgbClr val="C00000"/>
                  </a:buClr>
                  <a:buSzPct val="90000"/>
                  <a:buFont typeface="Calibri" panose="020F0502020204030204" pitchFamily="34" charset="0"/>
                  <a:buChar char="─"/>
                </a:pPr>
                <a:r>
                  <a:rPr lang="en-GB" sz="1600" dirty="0">
                    <a:solidFill>
                      <a:schemeClr val="bg1">
                        <a:lumMod val="75000"/>
                      </a:schemeClr>
                    </a:solidFill>
                  </a:rPr>
                  <a:t>Simple interest</a:t>
                </a:r>
              </a:p>
              <a:p>
                <a:pPr marL="0" lvl="2"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600" i="1">
                          <a:solidFill>
                            <a:schemeClr val="bg1">
                              <a:lumMod val="75000"/>
                            </a:schemeClr>
                          </a:solidFill>
                          <a:latin typeface="Cambria Math" panose="02040503050406030204" pitchFamily="18" charset="0"/>
                        </a:rPr>
                        <m:t>𝐹𝑉</m:t>
                      </m:r>
                      <m:r>
                        <a:rPr lang="en-GB" sz="1600" i="1">
                          <a:solidFill>
                            <a:schemeClr val="bg1">
                              <a:lumMod val="75000"/>
                            </a:schemeClr>
                          </a:solidFill>
                          <a:latin typeface="Cambria Math" panose="02040503050406030204" pitchFamily="18" charset="0"/>
                        </a:rPr>
                        <m:t>=</m:t>
                      </m:r>
                      <m:r>
                        <a:rPr lang="en-GB" sz="1600" i="1">
                          <a:solidFill>
                            <a:schemeClr val="bg1">
                              <a:lumMod val="75000"/>
                            </a:schemeClr>
                          </a:solidFill>
                          <a:latin typeface="Cambria Math" panose="02040503050406030204" pitchFamily="18" charset="0"/>
                        </a:rPr>
                        <m:t>𝑃𝑉</m:t>
                      </m:r>
                      <m:r>
                        <a:rPr lang="en-GB" sz="1600" i="1">
                          <a:solidFill>
                            <a:schemeClr val="bg1">
                              <a:lumMod val="75000"/>
                            </a:schemeClr>
                          </a:solidFill>
                          <a:latin typeface="Cambria Math" panose="02040503050406030204" pitchFamily="18" charset="0"/>
                          <a:ea typeface="Cambria Math" panose="02040503050406030204" pitchFamily="18" charset="0"/>
                        </a:rPr>
                        <m:t>×</m:t>
                      </m:r>
                      <m:d>
                        <m:dPr>
                          <m:ctrlPr>
                            <a:rPr lang="en-GB" sz="1600" i="1">
                              <a:solidFill>
                                <a:schemeClr val="bg1">
                                  <a:lumMod val="75000"/>
                                </a:schemeClr>
                              </a:solidFill>
                              <a:latin typeface="Cambria Math" panose="02040503050406030204" pitchFamily="18" charset="0"/>
                            </a:rPr>
                          </m:ctrlPr>
                        </m:dPr>
                        <m:e>
                          <m:r>
                            <a:rPr lang="en-GB" sz="1600" i="1">
                              <a:solidFill>
                                <a:schemeClr val="bg1">
                                  <a:lumMod val="75000"/>
                                </a:schemeClr>
                              </a:solidFill>
                              <a:latin typeface="Cambria Math" panose="02040503050406030204" pitchFamily="18" charset="0"/>
                            </a:rPr>
                            <m:t>1+</m:t>
                          </m:r>
                          <m:r>
                            <a:rPr lang="en-GB" sz="1600" i="1">
                              <a:solidFill>
                                <a:schemeClr val="bg1">
                                  <a:lumMod val="75000"/>
                                </a:schemeClr>
                              </a:solidFill>
                              <a:latin typeface="Cambria Math" panose="02040503050406030204" pitchFamily="18" charset="0"/>
                              <a:ea typeface="Cambria Math" panose="02040503050406030204" pitchFamily="18" charset="0"/>
                            </a:rPr>
                            <m:t>𝑟𝑡</m:t>
                          </m:r>
                        </m:e>
                      </m:d>
                    </m:oMath>
                  </m:oMathPara>
                </a14:m>
                <a:endParaRPr lang="en-GB" sz="1600" dirty="0">
                  <a:solidFill>
                    <a:schemeClr val="bg1">
                      <a:lumMod val="75000"/>
                    </a:schemeClr>
                  </a:solidFill>
                </a:endParaRPr>
              </a:p>
              <a:p>
                <a:pPr marL="0" lvl="1"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600" i="1">
                          <a:solidFill>
                            <a:schemeClr val="bg1">
                              <a:lumMod val="75000"/>
                            </a:schemeClr>
                          </a:solidFill>
                          <a:latin typeface="Cambria Math" panose="02040503050406030204" pitchFamily="18" charset="0"/>
                        </a:rPr>
                        <m:t>𝑃𝑉</m:t>
                      </m:r>
                      <m:r>
                        <a:rPr lang="en-GB" sz="1600" i="1">
                          <a:solidFill>
                            <a:schemeClr val="bg1">
                              <a:lumMod val="75000"/>
                            </a:schemeClr>
                          </a:solidFill>
                          <a:latin typeface="Cambria Math" panose="02040503050406030204" pitchFamily="18" charset="0"/>
                        </a:rPr>
                        <m:t>=</m:t>
                      </m:r>
                      <m:r>
                        <a:rPr lang="en-GB" sz="1600" i="1">
                          <a:solidFill>
                            <a:schemeClr val="bg1">
                              <a:lumMod val="75000"/>
                            </a:schemeClr>
                          </a:solidFill>
                          <a:latin typeface="Cambria Math" panose="02040503050406030204" pitchFamily="18" charset="0"/>
                        </a:rPr>
                        <m:t>𝐹𝑉</m:t>
                      </m:r>
                      <m:r>
                        <a:rPr lang="en-GB" sz="1600" i="1">
                          <a:solidFill>
                            <a:schemeClr val="bg1">
                              <a:lumMod val="75000"/>
                            </a:schemeClr>
                          </a:solidFill>
                          <a:latin typeface="Cambria Math" panose="02040503050406030204" pitchFamily="18" charset="0"/>
                        </a:rPr>
                        <m:t>×</m:t>
                      </m:r>
                      <m:sSup>
                        <m:sSupPr>
                          <m:ctrlPr>
                            <a:rPr lang="en-GB" sz="1600" i="1">
                              <a:solidFill>
                                <a:schemeClr val="bg1">
                                  <a:lumMod val="75000"/>
                                </a:schemeClr>
                              </a:solidFill>
                              <a:latin typeface="Cambria Math" panose="02040503050406030204" pitchFamily="18" charset="0"/>
                            </a:rPr>
                          </m:ctrlPr>
                        </m:sSupPr>
                        <m:e>
                          <m:d>
                            <m:dPr>
                              <m:ctrlPr>
                                <a:rPr lang="en-GB" sz="1600" i="1">
                                  <a:solidFill>
                                    <a:schemeClr val="bg1">
                                      <a:lumMod val="75000"/>
                                    </a:schemeClr>
                                  </a:solidFill>
                                  <a:latin typeface="Cambria Math" panose="02040503050406030204" pitchFamily="18" charset="0"/>
                                </a:rPr>
                              </m:ctrlPr>
                            </m:dPr>
                            <m:e>
                              <m:r>
                                <a:rPr lang="en-GB" sz="1600" i="1">
                                  <a:solidFill>
                                    <a:schemeClr val="bg1">
                                      <a:lumMod val="75000"/>
                                    </a:schemeClr>
                                  </a:solidFill>
                                  <a:latin typeface="Cambria Math" panose="02040503050406030204" pitchFamily="18" charset="0"/>
                                </a:rPr>
                                <m:t>1+</m:t>
                              </m:r>
                              <m:r>
                                <a:rPr lang="en-GB" sz="1600" i="1">
                                  <a:solidFill>
                                    <a:schemeClr val="bg1">
                                      <a:lumMod val="75000"/>
                                    </a:schemeClr>
                                  </a:solidFill>
                                  <a:latin typeface="Cambria Math" panose="02040503050406030204" pitchFamily="18" charset="0"/>
                                </a:rPr>
                                <m:t>𝑟𝑡</m:t>
                              </m:r>
                            </m:e>
                          </m:d>
                        </m:e>
                        <m:sup>
                          <m:r>
                            <a:rPr lang="en-GB" sz="1600" i="1">
                              <a:solidFill>
                                <a:schemeClr val="bg1">
                                  <a:lumMod val="75000"/>
                                </a:schemeClr>
                              </a:solidFill>
                              <a:latin typeface="Cambria Math" panose="02040503050406030204" pitchFamily="18" charset="0"/>
                            </a:rPr>
                            <m:t>−1</m:t>
                          </m:r>
                        </m:sup>
                      </m:sSup>
                    </m:oMath>
                  </m:oMathPara>
                </a14:m>
                <a:endParaRPr lang="en-GB" sz="1600" i="1" dirty="0">
                  <a:solidFill>
                    <a:schemeClr val="accent5">
                      <a:lumMod val="75000"/>
                    </a:schemeClr>
                  </a:solidFill>
                  <a:latin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D6828D71-AA1F-B950-4C7A-4BF4EE74BF6F}"/>
                  </a:ext>
                </a:extLst>
              </p:cNvPr>
              <p:cNvSpPr>
                <a:spLocks noGrp="1" noRot="1" noChangeAspect="1" noMove="1" noResize="1" noEditPoints="1" noAdjustHandles="1" noChangeArrowheads="1" noChangeShapeType="1" noTextEdit="1"/>
              </p:cNvSpPr>
              <p:nvPr>
                <p:ph idx="1"/>
              </p:nvPr>
            </p:nvSpPr>
            <p:spPr>
              <a:xfrm>
                <a:off x="628649" y="1556793"/>
                <a:ext cx="7471743" cy="1252154"/>
              </a:xfrm>
              <a:blipFill>
                <a:blip r:embed="rId2"/>
                <a:stretch>
                  <a:fillRect t="-3883"/>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9C1BEA48-5988-1868-8C99-544570DFE959}"/>
                  </a:ext>
                </a:extLst>
              </p:cNvPr>
              <p:cNvSpPr txBox="1">
                <a:spLocks/>
              </p:cNvSpPr>
              <p:nvPr/>
            </p:nvSpPr>
            <p:spPr>
              <a:xfrm>
                <a:off x="649052" y="2707630"/>
                <a:ext cx="7923448" cy="3457674"/>
              </a:xfrm>
              <a:prstGeom prst="rect">
                <a:avLst/>
              </a:prstGeom>
            </p:spPr>
            <p:txBody>
              <a:bodyPr vert="horz" lIns="68580" tIns="34290" rIns="68580" bIns="34290" rtlCol="0">
                <a:normAutofit fontScale="85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600075" lvl="2" indent="-257175">
                  <a:spcAft>
                    <a:spcPts val="900"/>
                  </a:spcAft>
                  <a:buClr>
                    <a:srgbClr val="C00000"/>
                  </a:buClr>
                  <a:buSzPct val="90000"/>
                  <a:buFont typeface="Calibri" panose="020F0502020204030204" pitchFamily="34" charset="0"/>
                  <a:buChar char="─"/>
                </a:pPr>
                <a:r>
                  <a:rPr lang="en-GB" sz="1800" dirty="0"/>
                  <a:t>Compound interest</a:t>
                </a:r>
              </a:p>
              <a:p>
                <a:pPr marL="0" lvl="2"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800" i="1">
                          <a:solidFill>
                            <a:schemeClr val="accent5">
                              <a:lumMod val="75000"/>
                            </a:schemeClr>
                          </a:solidFill>
                          <a:latin typeface="Cambria Math" panose="02040503050406030204" pitchFamily="18" charset="0"/>
                        </a:rPr>
                        <m:t>𝐹𝑉</m:t>
                      </m:r>
                      <m:r>
                        <a:rPr lang="en-GB" sz="1800" i="1">
                          <a:solidFill>
                            <a:schemeClr val="accent5">
                              <a:lumMod val="75000"/>
                            </a:schemeClr>
                          </a:solidFill>
                          <a:latin typeface="Cambria Math" panose="02040503050406030204" pitchFamily="18" charset="0"/>
                        </a:rPr>
                        <m:t>=</m:t>
                      </m:r>
                      <m:r>
                        <a:rPr lang="en-GB" sz="1800" i="1">
                          <a:solidFill>
                            <a:schemeClr val="accent5">
                              <a:lumMod val="75000"/>
                            </a:schemeClr>
                          </a:solidFill>
                          <a:latin typeface="Cambria Math" panose="02040503050406030204" pitchFamily="18" charset="0"/>
                        </a:rPr>
                        <m:t>𝑃𝑉</m:t>
                      </m:r>
                      <m:r>
                        <a:rPr lang="en-GB" sz="18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800" i="1">
                              <a:solidFill>
                                <a:schemeClr val="accent5">
                                  <a:lumMod val="75000"/>
                                </a:schemeClr>
                              </a:solidFill>
                              <a:latin typeface="Cambria Math" panose="02040503050406030204" pitchFamily="18" charset="0"/>
                              <a:ea typeface="Cambria Math" panose="02040503050406030204" pitchFamily="18" charset="0"/>
                            </a:rPr>
                          </m:ctrlPr>
                        </m:sSupPr>
                        <m:e>
                          <m:d>
                            <m:dPr>
                              <m:ctrlPr>
                                <a:rPr lang="en-GB" sz="1800" i="1">
                                  <a:solidFill>
                                    <a:schemeClr val="accent5">
                                      <a:lumMod val="75000"/>
                                    </a:schemeClr>
                                  </a:solidFill>
                                  <a:latin typeface="Cambria Math" panose="02040503050406030204" pitchFamily="18" charset="0"/>
                                </a:rPr>
                              </m:ctrlPr>
                            </m:dPr>
                            <m:e>
                              <m:r>
                                <a:rPr lang="en-GB" sz="1800" i="1">
                                  <a:solidFill>
                                    <a:schemeClr val="accent5">
                                      <a:lumMod val="75000"/>
                                    </a:schemeClr>
                                  </a:solidFill>
                                  <a:latin typeface="Cambria Math" panose="02040503050406030204" pitchFamily="18" charset="0"/>
                                </a:rPr>
                                <m:t>1+</m:t>
                              </m:r>
                              <m:r>
                                <a:rPr lang="en-GB" sz="1800" i="1">
                                  <a:solidFill>
                                    <a:schemeClr val="accent5">
                                      <a:lumMod val="75000"/>
                                    </a:schemeClr>
                                  </a:solidFill>
                                  <a:latin typeface="Cambria Math" panose="02040503050406030204" pitchFamily="18" charset="0"/>
                                  <a:ea typeface="Cambria Math" panose="02040503050406030204" pitchFamily="18" charset="0"/>
                                </a:rPr>
                                <m:t>𝑟</m:t>
                              </m:r>
                            </m:e>
                          </m:d>
                        </m:e>
                        <m:sup>
                          <m:r>
                            <a:rPr lang="en-GB" sz="1800" i="1">
                              <a:solidFill>
                                <a:srgbClr val="C00000"/>
                              </a:solidFill>
                              <a:latin typeface="Cambria Math" panose="02040503050406030204" pitchFamily="18" charset="0"/>
                              <a:ea typeface="Cambria Math" panose="02040503050406030204" pitchFamily="18" charset="0"/>
                            </a:rPr>
                            <m:t>𝑡</m:t>
                          </m:r>
                        </m:sup>
                      </m:sSup>
                    </m:oMath>
                  </m:oMathPara>
                </a14:m>
                <a:endParaRPr lang="en-GB" sz="1800" dirty="0"/>
              </a:p>
              <a:p>
                <a:pPr marL="0" lvl="1"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800" i="1">
                          <a:solidFill>
                            <a:schemeClr val="accent5">
                              <a:lumMod val="75000"/>
                            </a:schemeClr>
                          </a:solidFill>
                          <a:latin typeface="Cambria Math" panose="02040503050406030204" pitchFamily="18" charset="0"/>
                        </a:rPr>
                        <m:t>𝑃𝑉</m:t>
                      </m:r>
                      <m:r>
                        <a:rPr lang="en-GB" sz="1800" i="1">
                          <a:solidFill>
                            <a:schemeClr val="accent5">
                              <a:lumMod val="75000"/>
                            </a:schemeClr>
                          </a:solidFill>
                          <a:latin typeface="Cambria Math" panose="02040503050406030204" pitchFamily="18" charset="0"/>
                        </a:rPr>
                        <m:t>=</m:t>
                      </m:r>
                      <m:r>
                        <a:rPr lang="en-GB" sz="1800" i="1">
                          <a:solidFill>
                            <a:schemeClr val="accent5">
                              <a:lumMod val="75000"/>
                            </a:schemeClr>
                          </a:solidFill>
                          <a:latin typeface="Cambria Math" panose="02040503050406030204" pitchFamily="18" charset="0"/>
                        </a:rPr>
                        <m:t>𝐹𝑉</m:t>
                      </m:r>
                      <m:r>
                        <a:rPr lang="en-GB" sz="1800" i="1">
                          <a:solidFill>
                            <a:schemeClr val="accent5">
                              <a:lumMod val="75000"/>
                            </a:schemeClr>
                          </a:solidFill>
                          <a:latin typeface="Cambria Math" panose="02040503050406030204" pitchFamily="18" charset="0"/>
                        </a:rPr>
                        <m:t>×</m:t>
                      </m:r>
                      <m:sSup>
                        <m:sSupPr>
                          <m:ctrlPr>
                            <a:rPr lang="en-GB" sz="1800" i="1">
                              <a:solidFill>
                                <a:schemeClr val="accent5">
                                  <a:lumMod val="75000"/>
                                </a:schemeClr>
                              </a:solidFill>
                              <a:latin typeface="Cambria Math" panose="02040503050406030204" pitchFamily="18" charset="0"/>
                            </a:rPr>
                          </m:ctrlPr>
                        </m:sSupPr>
                        <m:e>
                          <m:d>
                            <m:dPr>
                              <m:ctrlPr>
                                <a:rPr lang="en-GB" sz="1800" i="1">
                                  <a:solidFill>
                                    <a:schemeClr val="accent5">
                                      <a:lumMod val="75000"/>
                                    </a:schemeClr>
                                  </a:solidFill>
                                  <a:latin typeface="Cambria Math" panose="02040503050406030204" pitchFamily="18" charset="0"/>
                                </a:rPr>
                              </m:ctrlPr>
                            </m:dPr>
                            <m:e>
                              <m:r>
                                <a:rPr lang="en-GB" sz="1800" i="1">
                                  <a:solidFill>
                                    <a:schemeClr val="accent5">
                                      <a:lumMod val="75000"/>
                                    </a:schemeClr>
                                  </a:solidFill>
                                  <a:latin typeface="Cambria Math" panose="02040503050406030204" pitchFamily="18" charset="0"/>
                                </a:rPr>
                                <m:t>1+</m:t>
                              </m:r>
                              <m:r>
                                <a:rPr lang="en-GB" sz="1800" i="1">
                                  <a:solidFill>
                                    <a:schemeClr val="accent5">
                                      <a:lumMod val="75000"/>
                                    </a:schemeClr>
                                  </a:solidFill>
                                  <a:latin typeface="Cambria Math" panose="02040503050406030204" pitchFamily="18" charset="0"/>
                                </a:rPr>
                                <m:t>𝑟</m:t>
                              </m:r>
                            </m:e>
                          </m:d>
                        </m:e>
                        <m:sup>
                          <m:r>
                            <a:rPr lang="en-GB" sz="1800" i="1">
                              <a:solidFill>
                                <a:schemeClr val="accent5">
                                  <a:lumMod val="75000"/>
                                </a:schemeClr>
                              </a:solidFill>
                              <a:latin typeface="Cambria Math" panose="02040503050406030204" pitchFamily="18" charset="0"/>
                            </a:rPr>
                            <m:t>−</m:t>
                          </m:r>
                          <m:r>
                            <a:rPr lang="en-GB" sz="1800" i="1">
                              <a:solidFill>
                                <a:schemeClr val="accent5">
                                  <a:lumMod val="75000"/>
                                </a:schemeClr>
                              </a:solidFill>
                              <a:latin typeface="Cambria Math" panose="02040503050406030204" pitchFamily="18" charset="0"/>
                            </a:rPr>
                            <m:t>𝑡</m:t>
                          </m:r>
                        </m:sup>
                      </m:sSup>
                    </m:oMath>
                  </m:oMathPara>
                </a14:m>
                <a:endParaRPr lang="en-GB" sz="1800" i="1" dirty="0">
                  <a:solidFill>
                    <a:schemeClr val="accent5">
                      <a:lumMod val="75000"/>
                    </a:schemeClr>
                  </a:solidFill>
                  <a:latin typeface="Cambria Math" panose="02040503050406030204" pitchFamily="18" charset="0"/>
                </a:endParaRPr>
              </a:p>
              <a:p>
                <a:pPr marL="0" lvl="1"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sSup>
                        <m:sSupPr>
                          <m:ctrlPr>
                            <a:rPr lang="en-GB" sz="1800" i="1">
                              <a:solidFill>
                                <a:schemeClr val="tx1"/>
                              </a:solidFill>
                              <a:latin typeface="Cambria Math" panose="02040503050406030204" pitchFamily="18" charset="0"/>
                            </a:rPr>
                          </m:ctrlPr>
                        </m:sSupPr>
                        <m:e>
                          <m:r>
                            <a:rPr lang="en-GB" sz="1800" i="1">
                              <a:solidFill>
                                <a:schemeClr val="tx1"/>
                              </a:solidFill>
                              <a:latin typeface="Cambria Math" panose="02040503050406030204" pitchFamily="18" charset="0"/>
                            </a:rPr>
                            <m:t>𝑟</m:t>
                          </m:r>
                          <m:r>
                            <a:rPr lang="en-GB" sz="1800" i="1">
                              <a:solidFill>
                                <a:schemeClr val="tx1"/>
                              </a:solidFill>
                              <a:latin typeface="Cambria Math" panose="02040503050406030204" pitchFamily="18" charset="0"/>
                            </a:rPr>
                            <m:t>=</m:t>
                          </m:r>
                          <m:d>
                            <m:dPr>
                              <m:ctrlPr>
                                <a:rPr lang="en-GB" sz="1800" i="1">
                                  <a:solidFill>
                                    <a:schemeClr val="tx1"/>
                                  </a:solidFill>
                                  <a:latin typeface="Cambria Math" panose="02040503050406030204" pitchFamily="18" charset="0"/>
                                </a:rPr>
                              </m:ctrlPr>
                            </m:dPr>
                            <m:e>
                              <m:f>
                                <m:fPr>
                                  <m:ctrlPr>
                                    <a:rPr lang="en-GB" sz="1800" i="1">
                                      <a:solidFill>
                                        <a:schemeClr val="tx1"/>
                                      </a:solidFill>
                                      <a:latin typeface="Cambria Math" panose="02040503050406030204" pitchFamily="18" charset="0"/>
                                    </a:rPr>
                                  </m:ctrlPr>
                                </m:fPr>
                                <m:num>
                                  <m:r>
                                    <a:rPr lang="en-GB" sz="1800" i="1">
                                      <a:solidFill>
                                        <a:schemeClr val="tx1"/>
                                      </a:solidFill>
                                      <a:latin typeface="Cambria Math" panose="02040503050406030204" pitchFamily="18" charset="0"/>
                                    </a:rPr>
                                    <m:t>𝐹𝑉</m:t>
                                  </m:r>
                                </m:num>
                                <m:den>
                                  <m:r>
                                    <a:rPr lang="en-GB" sz="1800" i="1">
                                      <a:solidFill>
                                        <a:schemeClr val="tx1"/>
                                      </a:solidFill>
                                      <a:latin typeface="Cambria Math" panose="02040503050406030204" pitchFamily="18" charset="0"/>
                                    </a:rPr>
                                    <m:t>𝑃𝑉</m:t>
                                  </m:r>
                                </m:den>
                              </m:f>
                            </m:e>
                          </m:d>
                        </m:e>
                        <m:sup>
                          <m:f>
                            <m:fPr>
                              <m:ctrlPr>
                                <a:rPr lang="en-GB" sz="1800" i="1">
                                  <a:solidFill>
                                    <a:schemeClr val="tx1"/>
                                  </a:solidFill>
                                  <a:latin typeface="Cambria Math" panose="02040503050406030204" pitchFamily="18" charset="0"/>
                                </a:rPr>
                              </m:ctrlPr>
                            </m:fPr>
                            <m:num>
                              <m:r>
                                <a:rPr lang="en-GB" sz="1800" i="1">
                                  <a:solidFill>
                                    <a:schemeClr val="tx1"/>
                                  </a:solidFill>
                                  <a:latin typeface="Cambria Math" panose="02040503050406030204" pitchFamily="18" charset="0"/>
                                </a:rPr>
                                <m:t>1</m:t>
                              </m:r>
                            </m:num>
                            <m:den>
                              <m:r>
                                <a:rPr lang="en-GB" sz="1800" i="1">
                                  <a:solidFill>
                                    <a:schemeClr val="tx1"/>
                                  </a:solidFill>
                                  <a:latin typeface="Cambria Math" panose="02040503050406030204" pitchFamily="18" charset="0"/>
                                </a:rPr>
                                <m:t>𝑡</m:t>
                              </m:r>
                            </m:den>
                          </m:f>
                        </m:sup>
                      </m:sSup>
                    </m:oMath>
                  </m:oMathPara>
                </a14:m>
                <a:endParaRPr lang="en-GB" sz="1800" i="1" dirty="0">
                  <a:solidFill>
                    <a:schemeClr val="accent5">
                      <a:lumMod val="75000"/>
                    </a:schemeClr>
                  </a:solidFill>
                  <a:latin typeface="Cambria Math" panose="02040503050406030204" pitchFamily="18" charset="0"/>
                </a:endParaRPr>
              </a:p>
              <a:p>
                <a:pPr marL="0" lvl="1"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800" i="1">
                          <a:solidFill>
                            <a:schemeClr val="tx1"/>
                          </a:solidFill>
                          <a:latin typeface="Cambria Math" panose="02040503050406030204" pitchFamily="18" charset="0"/>
                          <a:ea typeface="Cambria Math" panose="02040503050406030204" pitchFamily="18" charset="0"/>
                        </a:rPr>
                        <m:t>𝑡</m:t>
                      </m:r>
                      <m:r>
                        <a:rPr lang="en-GB" sz="1800" i="1">
                          <a:solidFill>
                            <a:schemeClr val="tx1"/>
                          </a:solidFill>
                          <a:latin typeface="Cambria Math" panose="02040503050406030204" pitchFamily="18" charset="0"/>
                          <a:ea typeface="Cambria Math" panose="02040503050406030204" pitchFamily="18" charset="0"/>
                        </a:rPr>
                        <m:t>=</m:t>
                      </m:r>
                      <m:f>
                        <m:fPr>
                          <m:ctrlPr>
                            <a:rPr lang="en-GB" sz="1800" i="1">
                              <a:solidFill>
                                <a:schemeClr val="tx1"/>
                              </a:solidFill>
                              <a:latin typeface="Cambria Math" panose="02040503050406030204" pitchFamily="18" charset="0"/>
                            </a:rPr>
                          </m:ctrlPr>
                        </m:fPr>
                        <m:num>
                          <m:func>
                            <m:funcPr>
                              <m:ctrlPr>
                                <a:rPr lang="en-GB" sz="1800" i="1">
                                  <a:solidFill>
                                    <a:schemeClr val="tx1"/>
                                  </a:solidFill>
                                  <a:latin typeface="Cambria Math" panose="02040503050406030204" pitchFamily="18" charset="0"/>
                                </a:rPr>
                              </m:ctrlPr>
                            </m:funcPr>
                            <m:fName>
                              <m:r>
                                <m:rPr>
                                  <m:sty m:val="p"/>
                                </m:rPr>
                                <a:rPr lang="en-GB" sz="1800">
                                  <a:solidFill>
                                    <a:schemeClr val="tx1"/>
                                  </a:solidFill>
                                  <a:latin typeface="Cambria Math" panose="02040503050406030204" pitchFamily="18" charset="0"/>
                                </a:rPr>
                                <m:t>ln</m:t>
                              </m:r>
                            </m:fName>
                            <m:e>
                              <m:d>
                                <m:dPr>
                                  <m:ctrlPr>
                                    <a:rPr lang="en-GB" sz="1800" i="1">
                                      <a:solidFill>
                                        <a:schemeClr val="tx1"/>
                                      </a:solidFill>
                                      <a:latin typeface="Cambria Math" panose="02040503050406030204" pitchFamily="18" charset="0"/>
                                    </a:rPr>
                                  </m:ctrlPr>
                                </m:dPr>
                                <m:e>
                                  <m:f>
                                    <m:fPr>
                                      <m:ctrlPr>
                                        <a:rPr lang="en-GB" sz="1800" i="1">
                                          <a:solidFill>
                                            <a:schemeClr val="tx1"/>
                                          </a:solidFill>
                                          <a:latin typeface="Cambria Math" panose="02040503050406030204" pitchFamily="18" charset="0"/>
                                        </a:rPr>
                                      </m:ctrlPr>
                                    </m:fPr>
                                    <m:num>
                                      <m:r>
                                        <a:rPr lang="en-GB" sz="1800" i="1">
                                          <a:solidFill>
                                            <a:schemeClr val="tx1"/>
                                          </a:solidFill>
                                          <a:latin typeface="Cambria Math" panose="02040503050406030204" pitchFamily="18" charset="0"/>
                                        </a:rPr>
                                        <m:t>𝐹𝑉</m:t>
                                      </m:r>
                                    </m:num>
                                    <m:den>
                                      <m:r>
                                        <a:rPr lang="en-GB" sz="1800" i="1">
                                          <a:solidFill>
                                            <a:schemeClr val="tx1"/>
                                          </a:solidFill>
                                          <a:latin typeface="Cambria Math" panose="02040503050406030204" pitchFamily="18" charset="0"/>
                                        </a:rPr>
                                        <m:t>𝑃𝑉</m:t>
                                      </m:r>
                                    </m:den>
                                  </m:f>
                                </m:e>
                              </m:d>
                            </m:e>
                          </m:func>
                        </m:num>
                        <m:den>
                          <m:r>
                            <m:rPr>
                              <m:sty m:val="p"/>
                            </m:rPr>
                            <a:rPr lang="en-GB" sz="1800">
                              <a:solidFill>
                                <a:schemeClr val="tx1"/>
                              </a:solidFill>
                              <a:latin typeface="Cambria Math" panose="02040503050406030204" pitchFamily="18" charset="0"/>
                            </a:rPr>
                            <m:t>ln</m:t>
                          </m:r>
                          <m:r>
                            <a:rPr lang="en-GB" sz="1800" i="1">
                              <a:solidFill>
                                <a:schemeClr val="tx1"/>
                              </a:solidFill>
                              <a:latin typeface="Cambria Math" panose="02040503050406030204" pitchFamily="18" charset="0"/>
                            </a:rPr>
                            <m:t>⁡(1+</m:t>
                          </m:r>
                          <m:r>
                            <a:rPr lang="en-GB" sz="1800" i="1">
                              <a:solidFill>
                                <a:schemeClr val="tx1"/>
                              </a:solidFill>
                              <a:latin typeface="Cambria Math" panose="02040503050406030204" pitchFamily="18" charset="0"/>
                            </a:rPr>
                            <m:t>𝑟</m:t>
                          </m:r>
                          <m:r>
                            <a:rPr lang="en-GB" sz="1800" i="1">
                              <a:solidFill>
                                <a:schemeClr val="tx1"/>
                              </a:solidFill>
                              <a:latin typeface="Cambria Math" panose="02040503050406030204" pitchFamily="18" charset="0"/>
                            </a:rPr>
                            <m:t>)</m:t>
                          </m:r>
                        </m:den>
                      </m:f>
                    </m:oMath>
                  </m:oMathPara>
                </a14:m>
                <a:endParaRPr lang="en-GB" sz="1800" i="1" dirty="0">
                  <a:solidFill>
                    <a:schemeClr val="accent5">
                      <a:lumMod val="75000"/>
                    </a:schemeClr>
                  </a:solidFill>
                  <a:latin typeface="Cambria Math" panose="02040503050406030204" pitchFamily="18" charset="0"/>
                </a:endParaRPr>
              </a:p>
              <a:p>
                <a:pPr marL="0" indent="0">
                  <a:buNone/>
                </a:pPr>
                <a:r>
                  <a:rPr lang="en-GB" dirty="0"/>
                  <a:t>-	Continuous compounding</a:t>
                </a:r>
              </a:p>
              <a:p>
                <a:pPr marL="0" lvl="2"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sz="1600" i="1">
                          <a:solidFill>
                            <a:schemeClr val="accent5">
                              <a:lumMod val="75000"/>
                            </a:schemeClr>
                          </a:solidFill>
                          <a:latin typeface="Cambria Math" panose="02040503050406030204" pitchFamily="18" charset="0"/>
                        </a:rPr>
                        <m:t>𝐹𝑉</m:t>
                      </m:r>
                      <m:r>
                        <a:rPr lang="en-GB" sz="1600" i="1">
                          <a:solidFill>
                            <a:schemeClr val="accent5">
                              <a:lumMod val="75000"/>
                            </a:schemeClr>
                          </a:solidFill>
                          <a:latin typeface="Cambria Math" panose="02040503050406030204" pitchFamily="18" charset="0"/>
                        </a:rPr>
                        <m:t>=</m:t>
                      </m:r>
                      <m:r>
                        <a:rPr lang="en-GB" sz="1600" i="1">
                          <a:solidFill>
                            <a:schemeClr val="accent5">
                              <a:lumMod val="75000"/>
                            </a:schemeClr>
                          </a:solidFill>
                          <a:latin typeface="Cambria Math" panose="02040503050406030204" pitchFamily="18" charset="0"/>
                        </a:rPr>
                        <m:t>𝑃𝑉</m:t>
                      </m:r>
                      <m:r>
                        <a:rPr lang="en-GB" sz="1600" i="1">
                          <a:solidFill>
                            <a:schemeClr val="accent5">
                              <a:lumMod val="75000"/>
                            </a:schemeClr>
                          </a:solidFill>
                          <a:latin typeface="Cambria Math" panose="02040503050406030204" pitchFamily="18" charset="0"/>
                          <a:ea typeface="Cambria Math" panose="02040503050406030204" pitchFamily="18" charset="0"/>
                        </a:rPr>
                        <m:t>×</m:t>
                      </m:r>
                      <m:sSup>
                        <m:sSupPr>
                          <m:ctrlPr>
                            <a:rPr lang="en-GB" sz="1600" i="1">
                              <a:solidFill>
                                <a:schemeClr val="accent5">
                                  <a:lumMod val="75000"/>
                                </a:schemeClr>
                              </a:solidFill>
                              <a:latin typeface="Cambria Math" panose="02040503050406030204" pitchFamily="18" charset="0"/>
                              <a:ea typeface="Cambria Math" panose="02040503050406030204" pitchFamily="18" charset="0"/>
                            </a:rPr>
                          </m:ctrlPr>
                        </m:sSupPr>
                        <m:e>
                          <m:r>
                            <a:rPr lang="en-GB" sz="1600" i="1">
                              <a:solidFill>
                                <a:schemeClr val="accent5">
                                  <a:lumMod val="75000"/>
                                </a:schemeClr>
                              </a:solidFill>
                              <a:latin typeface="Cambria Math" panose="02040503050406030204" pitchFamily="18" charset="0"/>
                              <a:ea typeface="Cambria Math" panose="02040503050406030204" pitchFamily="18" charset="0"/>
                            </a:rPr>
                            <m:t>𝑒</m:t>
                          </m:r>
                        </m:e>
                        <m:sup>
                          <m:r>
                            <a:rPr lang="en-GB" sz="1600" i="1">
                              <a:solidFill>
                                <a:schemeClr val="accent5">
                                  <a:lumMod val="75000"/>
                                </a:schemeClr>
                              </a:solidFill>
                              <a:latin typeface="Cambria Math" panose="02040503050406030204" pitchFamily="18" charset="0"/>
                              <a:ea typeface="Cambria Math" panose="02040503050406030204" pitchFamily="18" charset="0"/>
                            </a:rPr>
                            <m:t>𝑟𝑡</m:t>
                          </m:r>
                        </m:sup>
                      </m:sSup>
                    </m:oMath>
                  </m:oMathPara>
                </a14:m>
                <a:endParaRPr lang="en-GB" sz="1600" dirty="0"/>
              </a:p>
              <a:p>
                <a:pPr marL="0" lvl="1" indent="0">
                  <a:spcAft>
                    <a:spcPts val="900"/>
                  </a:spcAft>
                  <a:buClr>
                    <a:srgbClr val="C00000"/>
                  </a:buClr>
                  <a:buSzPct val="90000"/>
                  <a:buNone/>
                </a:pPr>
                <a14:m>
                  <m:oMathPara xmlns:m="http://schemas.openxmlformats.org/officeDocument/2006/math">
                    <m:oMathParaPr>
                      <m:jc m:val="centerGroup"/>
                    </m:oMathParaPr>
                    <m:oMath xmlns:m="http://schemas.openxmlformats.org/officeDocument/2006/math">
                      <m:r>
                        <a:rPr lang="en-GB" i="1">
                          <a:solidFill>
                            <a:schemeClr val="accent5">
                              <a:lumMod val="75000"/>
                            </a:schemeClr>
                          </a:solidFill>
                          <a:latin typeface="Cambria Math" panose="02040503050406030204" pitchFamily="18" charset="0"/>
                        </a:rPr>
                        <m:t>𝑃𝑉</m:t>
                      </m:r>
                      <m:r>
                        <a:rPr lang="en-GB" i="1">
                          <a:solidFill>
                            <a:schemeClr val="accent5">
                              <a:lumMod val="75000"/>
                            </a:schemeClr>
                          </a:solidFill>
                          <a:latin typeface="Cambria Math" panose="02040503050406030204" pitchFamily="18" charset="0"/>
                        </a:rPr>
                        <m:t>=</m:t>
                      </m:r>
                      <m:r>
                        <a:rPr lang="en-GB" i="1">
                          <a:solidFill>
                            <a:schemeClr val="accent5">
                              <a:lumMod val="75000"/>
                            </a:schemeClr>
                          </a:solidFill>
                          <a:latin typeface="Cambria Math" panose="02040503050406030204" pitchFamily="18" charset="0"/>
                          <a:ea typeface="Cambria Math" panose="02040503050406030204" pitchFamily="18" charset="0"/>
                        </a:rPr>
                        <m:t>𝐹𝑉</m:t>
                      </m:r>
                      <m:r>
                        <a:rPr lang="en-GB" i="1">
                          <a:solidFill>
                            <a:schemeClr val="accent5">
                              <a:lumMod val="75000"/>
                            </a:schemeClr>
                          </a:solidFill>
                          <a:latin typeface="Cambria Math" panose="02040503050406030204" pitchFamily="18" charset="0"/>
                          <a:ea typeface="Cambria Math" panose="02040503050406030204" pitchFamily="18" charset="0"/>
                        </a:rPr>
                        <m:t>×</m:t>
                      </m:r>
                      <m:sSup>
                        <m:sSupPr>
                          <m:ctrlPr>
                            <a:rPr lang="en-GB" i="1">
                              <a:solidFill>
                                <a:schemeClr val="accent5">
                                  <a:lumMod val="75000"/>
                                </a:schemeClr>
                              </a:solidFill>
                              <a:latin typeface="Cambria Math" panose="02040503050406030204" pitchFamily="18" charset="0"/>
                              <a:ea typeface="Cambria Math" panose="02040503050406030204" pitchFamily="18" charset="0"/>
                            </a:rPr>
                          </m:ctrlPr>
                        </m:sSupPr>
                        <m:e>
                          <m:r>
                            <a:rPr lang="en-GB" i="1">
                              <a:solidFill>
                                <a:schemeClr val="accent5">
                                  <a:lumMod val="75000"/>
                                </a:schemeClr>
                              </a:solidFill>
                              <a:latin typeface="Cambria Math" panose="02040503050406030204" pitchFamily="18" charset="0"/>
                              <a:ea typeface="Cambria Math" panose="02040503050406030204" pitchFamily="18" charset="0"/>
                            </a:rPr>
                            <m:t>𝑒</m:t>
                          </m:r>
                        </m:e>
                        <m:sup>
                          <m:r>
                            <a:rPr lang="en-GB" i="1">
                              <a:solidFill>
                                <a:schemeClr val="accent5">
                                  <a:lumMod val="75000"/>
                                </a:schemeClr>
                              </a:solidFill>
                              <a:latin typeface="Cambria Math" panose="02040503050406030204" pitchFamily="18" charset="0"/>
                              <a:ea typeface="Cambria Math" panose="02040503050406030204" pitchFamily="18" charset="0"/>
                            </a:rPr>
                            <m:t>−</m:t>
                          </m:r>
                          <m:r>
                            <a:rPr lang="en-GB" i="1">
                              <a:solidFill>
                                <a:schemeClr val="accent5">
                                  <a:lumMod val="75000"/>
                                </a:schemeClr>
                              </a:solidFill>
                              <a:latin typeface="Cambria Math" panose="02040503050406030204" pitchFamily="18" charset="0"/>
                              <a:ea typeface="Cambria Math" panose="02040503050406030204" pitchFamily="18" charset="0"/>
                            </a:rPr>
                            <m:t>𝑟𝑡</m:t>
                          </m:r>
                        </m:sup>
                      </m:sSup>
                    </m:oMath>
                  </m:oMathPara>
                </a14:m>
                <a:endParaRPr lang="en-GB" sz="1800" i="1" dirty="0">
                  <a:solidFill>
                    <a:schemeClr val="accent5">
                      <a:lumMod val="75000"/>
                    </a:schemeClr>
                  </a:solidFill>
                  <a:latin typeface="Cambria Math" panose="02040503050406030204" pitchFamily="18" charset="0"/>
                </a:endParaRPr>
              </a:p>
            </p:txBody>
          </p:sp>
        </mc:Choice>
        <mc:Fallback>
          <p:sp>
            <p:nvSpPr>
              <p:cNvPr id="4" name="Content Placeholder 2">
                <a:extLst>
                  <a:ext uri="{FF2B5EF4-FFF2-40B4-BE49-F238E27FC236}">
                    <a16:creationId xmlns:a16="http://schemas.microsoft.com/office/drawing/2014/main" id="{9C1BEA48-5988-1868-8C99-544570DFE959}"/>
                  </a:ext>
                </a:extLst>
              </p:cNvPr>
              <p:cNvSpPr txBox="1">
                <a:spLocks noRot="1" noChangeAspect="1" noMove="1" noResize="1" noEditPoints="1" noAdjustHandles="1" noChangeArrowheads="1" noChangeShapeType="1" noTextEdit="1"/>
              </p:cNvSpPr>
              <p:nvPr/>
            </p:nvSpPr>
            <p:spPr>
              <a:xfrm>
                <a:off x="649052" y="2707630"/>
                <a:ext cx="7923448" cy="3457674"/>
              </a:xfrm>
              <a:prstGeom prst="rect">
                <a:avLst/>
              </a:prstGeom>
              <a:blipFill>
                <a:blip r:embed="rId3"/>
                <a:stretch>
                  <a:fillRect l="-538" t="-1764"/>
                </a:stretch>
              </a:blipFill>
            </p:spPr>
            <p:txBody>
              <a:bodyPr/>
              <a:lstStyle/>
              <a:p>
                <a:r>
                  <a:rPr lang="en-GB">
                    <a:noFill/>
                  </a:rPr>
                  <a:t> </a:t>
                </a:r>
              </a:p>
            </p:txBody>
          </p:sp>
        </mc:Fallback>
      </mc:AlternateContent>
      <p:sp>
        <p:nvSpPr>
          <p:cNvPr id="11" name="Content Placeholder 2">
            <a:extLst>
              <a:ext uri="{FF2B5EF4-FFF2-40B4-BE49-F238E27FC236}">
                <a16:creationId xmlns:a16="http://schemas.microsoft.com/office/drawing/2014/main" id="{AAA1A048-E952-CEED-4726-400227868A6D}"/>
              </a:ext>
            </a:extLst>
          </p:cNvPr>
          <p:cNvSpPr txBox="1">
            <a:spLocks/>
          </p:cNvSpPr>
          <p:nvPr/>
        </p:nvSpPr>
        <p:spPr>
          <a:xfrm>
            <a:off x="1331640" y="5494371"/>
            <a:ext cx="4104456" cy="864096"/>
          </a:xfrm>
          <a:prstGeom prst="rect">
            <a:avLst/>
          </a:prstGeom>
        </p:spPr>
        <p:txBody>
          <a:bodyPr vert="horz" lIns="68580" tIns="34290" rIns="68580" bIns="3429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endParaRPr lang="en-GB" i="1" dirty="0">
              <a:solidFill>
                <a:schemeClr val="accent5">
                  <a:lumMod val="75000"/>
                </a:schemeClr>
              </a:solidFill>
              <a:latin typeface="Cambria Math" panose="02040503050406030204" pitchFamily="18" charset="0"/>
            </a:endParaRPr>
          </a:p>
        </p:txBody>
      </p:sp>
    </p:spTree>
    <p:extLst>
      <p:ext uri="{BB962C8B-B14F-4D97-AF65-F5344CB8AC3E}">
        <p14:creationId xmlns:p14="http://schemas.microsoft.com/office/powerpoint/2010/main" val="1268492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1" end="1"/>
                                            </p:txEl>
                                          </p:spTgt>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p:cTn id="21"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2"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3"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4" dur="1000"/>
                                        <p:tgtEl>
                                          <p:spTgt spid="3">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1"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p:cTn id="29" dur="1000" fill="hold"/>
                                        <p:tgtEl>
                                          <p:spTgt spid="4"/>
                                        </p:tgtEl>
                                        <p:attrNameLst>
                                          <p:attrName>ppt_w</p:attrName>
                                        </p:attrNameLst>
                                      </p:cBhvr>
                                      <p:tavLst>
                                        <p:tav tm="0">
                                          <p:val>
                                            <p:fltVal val="0"/>
                                          </p:val>
                                        </p:tav>
                                        <p:tav tm="100000">
                                          <p:val>
                                            <p:strVal val="#ppt_w"/>
                                          </p:val>
                                        </p:tav>
                                      </p:tavLst>
                                    </p:anim>
                                    <p:anim calcmode="lin" valueType="num">
                                      <p:cBhvr>
                                        <p:cTn id="30" dur="1000" fill="hold"/>
                                        <p:tgtEl>
                                          <p:spTgt spid="4"/>
                                        </p:tgtEl>
                                        <p:attrNameLst>
                                          <p:attrName>ppt_h</p:attrName>
                                        </p:attrNameLst>
                                      </p:cBhvr>
                                      <p:tavLst>
                                        <p:tav tm="0">
                                          <p:val>
                                            <p:fltVal val="0"/>
                                          </p:val>
                                        </p:tav>
                                        <p:tav tm="100000">
                                          <p:val>
                                            <p:strVal val="#ppt_h"/>
                                          </p:val>
                                        </p:tav>
                                      </p:tavLst>
                                    </p:anim>
                                    <p:anim calcmode="lin" valueType="num">
                                      <p:cBhvr>
                                        <p:cTn id="31" dur="1000" fill="hold"/>
                                        <p:tgtEl>
                                          <p:spTgt spid="4"/>
                                        </p:tgtEl>
                                        <p:attrNameLst>
                                          <p:attrName>style.rotation</p:attrName>
                                        </p:attrNameLst>
                                      </p:cBhvr>
                                      <p:tavLst>
                                        <p:tav tm="0">
                                          <p:val>
                                            <p:fltVal val="90"/>
                                          </p:val>
                                        </p:tav>
                                        <p:tav tm="100000">
                                          <p:val>
                                            <p:fltVal val="0"/>
                                          </p:val>
                                        </p:tav>
                                      </p:tavLst>
                                    </p:anim>
                                    <p:animEffect transition="in" filter="fade">
                                      <p:cBhvr>
                                        <p:cTn id="32" dur="10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grpId="0" nodeType="clickEffect" nodePh="1">
                                  <p:stCondLst>
                                    <p:cond delay="0"/>
                                  </p:stCondLst>
                                  <p:endCondLst>
                                    <p:cond evt="begin" delay="0">
                                      <p:tn val="35"/>
                                    </p:cond>
                                  </p:endCondLst>
                                  <p:childTnLst>
                                    <p:set>
                                      <p:cBhvr>
                                        <p:cTn id="36" dur="1" fill="hold">
                                          <p:stCondLst>
                                            <p:cond delay="0"/>
                                          </p:stCondLst>
                                        </p:cTn>
                                        <p:tgtEl>
                                          <p:spTgt spid="11"/>
                                        </p:tgtEl>
                                        <p:attrNameLst>
                                          <p:attrName>style.visibility</p:attrName>
                                        </p:attrNameLst>
                                      </p:cBhvr>
                                      <p:to>
                                        <p:strVal val="visible"/>
                                      </p:to>
                                    </p:set>
                                    <p:anim calcmode="lin" valueType="num">
                                      <p:cBhvr>
                                        <p:cTn id="37" dur="1000" fill="hold"/>
                                        <p:tgtEl>
                                          <p:spTgt spid="11"/>
                                        </p:tgtEl>
                                        <p:attrNameLst>
                                          <p:attrName>ppt_w</p:attrName>
                                        </p:attrNameLst>
                                      </p:cBhvr>
                                      <p:tavLst>
                                        <p:tav tm="0">
                                          <p:val>
                                            <p:fltVal val="0"/>
                                          </p:val>
                                        </p:tav>
                                        <p:tav tm="100000">
                                          <p:val>
                                            <p:strVal val="#ppt_w"/>
                                          </p:val>
                                        </p:tav>
                                      </p:tavLst>
                                    </p:anim>
                                    <p:anim calcmode="lin" valueType="num">
                                      <p:cBhvr>
                                        <p:cTn id="38" dur="1000" fill="hold"/>
                                        <p:tgtEl>
                                          <p:spTgt spid="11"/>
                                        </p:tgtEl>
                                        <p:attrNameLst>
                                          <p:attrName>ppt_h</p:attrName>
                                        </p:attrNameLst>
                                      </p:cBhvr>
                                      <p:tavLst>
                                        <p:tav tm="0">
                                          <p:val>
                                            <p:fltVal val="0"/>
                                          </p:val>
                                        </p:tav>
                                        <p:tav tm="100000">
                                          <p:val>
                                            <p:strVal val="#ppt_h"/>
                                          </p:val>
                                        </p:tav>
                                      </p:tavLst>
                                    </p:anim>
                                    <p:anim calcmode="lin" valueType="num">
                                      <p:cBhvr>
                                        <p:cTn id="39" dur="1000" fill="hold"/>
                                        <p:tgtEl>
                                          <p:spTgt spid="11"/>
                                        </p:tgtEl>
                                        <p:attrNameLst>
                                          <p:attrName>style.rotation</p:attrName>
                                        </p:attrNameLst>
                                      </p:cBhvr>
                                      <p:tavLst>
                                        <p:tav tm="0">
                                          <p:val>
                                            <p:fltVal val="90"/>
                                          </p:val>
                                        </p:tav>
                                        <p:tav tm="100000">
                                          <p:val>
                                            <p:fltVal val="0"/>
                                          </p:val>
                                        </p:tav>
                                      </p:tavLst>
                                    </p:anim>
                                    <p:animEffect transition="in" filter="fade">
                                      <p:cBhvr>
                                        <p:cTn id="40"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46142-73BF-6CAD-BF1A-2A870AF33CAF}"/>
            </a:ext>
          </a:extLst>
        </p:cNvPr>
        <p:cNvGrpSpPr/>
        <p:nvPr/>
      </p:nvGrpSpPr>
      <p:grpSpPr>
        <a:xfrm>
          <a:off x="0" y="0"/>
          <a:ext cx="0" cy="0"/>
          <a:chOff x="0" y="0"/>
          <a:chExt cx="0" cy="0"/>
        </a:xfrm>
      </p:grpSpPr>
      <p:sp>
        <p:nvSpPr>
          <p:cNvPr id="13319" name="Title 1">
            <a:extLst>
              <a:ext uri="{FF2B5EF4-FFF2-40B4-BE49-F238E27FC236}">
                <a16:creationId xmlns:a16="http://schemas.microsoft.com/office/drawing/2014/main" id="{A7AA4F31-B649-7AEA-5C67-D9B4BAE6A838}"/>
              </a:ext>
            </a:extLst>
          </p:cNvPr>
          <p:cNvSpPr>
            <a:spLocks noGrp="1"/>
          </p:cNvSpPr>
          <p:nvPr>
            <p:ph type="title"/>
          </p:nvPr>
        </p:nvSpPr>
        <p:spPr>
          <a:xfrm>
            <a:off x="892515" y="1376773"/>
            <a:ext cx="7886700" cy="646548"/>
          </a:xfrm>
        </p:spPr>
        <p:txBody>
          <a:bodyPr>
            <a:normAutofit fontScale="90000"/>
          </a:bodyPr>
          <a:lstStyle/>
          <a:p>
            <a:pPr algn="l"/>
            <a:r>
              <a:rPr lang="en-US" dirty="0"/>
              <a:t>Learning Outcomes Covered</a:t>
            </a:r>
          </a:p>
        </p:txBody>
      </p:sp>
      <p:graphicFrame>
        <p:nvGraphicFramePr>
          <p:cNvPr id="13315" name="Text Placeholder 1">
            <a:extLst>
              <a:ext uri="{FF2B5EF4-FFF2-40B4-BE49-F238E27FC236}">
                <a16:creationId xmlns:a16="http://schemas.microsoft.com/office/drawing/2014/main" id="{16E2DFFC-C15B-E7C1-B9EE-6369D58766F8}"/>
              </a:ext>
            </a:extLst>
          </p:cNvPr>
          <p:cNvGraphicFramePr/>
          <p:nvPr/>
        </p:nvGraphicFramePr>
        <p:xfrm>
          <a:off x="892515" y="2492896"/>
          <a:ext cx="7632848" cy="34035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82464942"/>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0632B-2FCE-B6ED-C419-427E610D5F4C}"/>
              </a:ext>
            </a:extLst>
          </p:cNvPr>
          <p:cNvSpPr>
            <a:spLocks noGrp="1"/>
          </p:cNvSpPr>
          <p:nvPr>
            <p:ph type="title"/>
          </p:nvPr>
        </p:nvSpPr>
        <p:spPr/>
        <p:txBody>
          <a:bodyPr/>
          <a:lstStyle/>
          <a:p>
            <a:pPr algn="l"/>
            <a:r>
              <a:rPr lang="en-GB" dirty="0"/>
              <a:t>Next Week</a:t>
            </a:r>
          </a:p>
        </p:txBody>
      </p:sp>
      <p:sp>
        <p:nvSpPr>
          <p:cNvPr id="3" name="Text Placeholder 2">
            <a:extLst>
              <a:ext uri="{FF2B5EF4-FFF2-40B4-BE49-F238E27FC236}">
                <a16:creationId xmlns:a16="http://schemas.microsoft.com/office/drawing/2014/main" id="{7393D38A-6D63-08BB-0FBC-2882D1231479}"/>
              </a:ext>
            </a:extLst>
          </p:cNvPr>
          <p:cNvSpPr>
            <a:spLocks noGrp="1"/>
          </p:cNvSpPr>
          <p:nvPr>
            <p:ph type="body" sz="quarter" idx="11"/>
          </p:nvPr>
        </p:nvSpPr>
        <p:spPr>
          <a:xfrm>
            <a:off x="899592" y="3317479"/>
            <a:ext cx="6515620" cy="994172"/>
          </a:xfrm>
        </p:spPr>
        <p:txBody>
          <a:bodyPr>
            <a:normAutofit fontScale="92500" lnSpcReduction="20000"/>
          </a:bodyPr>
          <a:lstStyle/>
          <a:p>
            <a:r>
              <a:rPr lang="en-GB" sz="2800" dirty="0"/>
              <a:t>Time Value of Money part 2; Valuation of multiple cashflows, annuities and perpetuities as well as effective rates.</a:t>
            </a:r>
          </a:p>
        </p:txBody>
      </p:sp>
    </p:spTree>
    <p:extLst>
      <p:ext uri="{BB962C8B-B14F-4D97-AF65-F5344CB8AC3E}">
        <p14:creationId xmlns:p14="http://schemas.microsoft.com/office/powerpoint/2010/main" val="1668558411"/>
      </p:ext>
    </p:extLst>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8.0&quot;&gt;&lt;object type=&quot;1&quot; unique_id=&quot;10001&quot;&gt;&lt;object type=&quot;2&quot; unique_id=&quot;10073&quot;&gt;&lt;object type=&quot;3&quot; unique_id=&quot;10074&quot;&gt;&lt;property id=&quot;20148&quot; value=&quot;5&quot;/&gt;&lt;property id=&quot;20300&quot; value=&quot;Slide 1&quot;/&gt;&lt;property id=&quot;20307&quot; value=&quot;256&quot;/&gt;&lt;/object&gt;&lt;object type=&quot;3&quot; unique_id=&quot;10075&quot;&gt;&lt;property id=&quot;20148&quot; value=&quot;5&quot;/&gt;&lt;property id=&quot;20300&quot; value=&quot;Slide 2&quot;/&gt;&lt;property id=&quot;20307&quot; value=&quot;260&quot;/&gt;&lt;/object&gt;&lt;object type=&quot;3&quot; unique_id=&quot;10076&quot;&gt;&lt;property id=&quot;20148&quot; value=&quot;5&quot;/&gt;&lt;property id=&quot;20300&quot; value=&quot;Slide 3&quot;/&gt;&lt;property id=&quot;20307&quot; value=&quot;267&quot;/&gt;&lt;/object&gt;&lt;object type=&quot;3&quot; unique_id=&quot;10077&quot;&gt;&lt;property id=&quot;20148&quot; value=&quot;5&quot;/&gt;&lt;property id=&quot;20300&quot; value=&quot;Slide 4&quot;/&gt;&lt;property id=&quot;20307&quot; value=&quot;264&quot;/&gt;&lt;/object&gt;&lt;object type=&quot;3&quot; unique_id=&quot;10078&quot;&gt;&lt;property id=&quot;20148&quot; value=&quot;5&quot;/&gt;&lt;property id=&quot;20300&quot; value=&quot;Slide 5&quot;/&gt;&lt;property id=&quot;20307&quot; value=&quot;268&quot;/&gt;&lt;/object&gt;&lt;object type=&quot;3&quot; unique_id=&quot;10079&quot;&gt;&lt;property id=&quot;20148&quot; value=&quot;5&quot;/&gt;&lt;property id=&quot;20300&quot; value=&quot;Slide 6&quot;/&gt;&lt;property id=&quot;20307&quot; value=&quot;265&quot;/&gt;&lt;/object&gt;&lt;object type=&quot;3&quot; unique_id=&quot;10080&quot;&gt;&lt;property id=&quot;20148&quot; value=&quot;5&quot;/&gt;&lt;property id=&quot;20300&quot; value=&quot;Slide 7&quot;/&gt;&lt;property id=&quot;20307&quot; value=&quot;266&quot;/&gt;&lt;/object&gt;&lt;object type=&quot;3&quot; unique_id=&quot;10081&quot;&gt;&lt;property id=&quot;20148&quot; value=&quot;5&quot;/&gt;&lt;property id=&quot;20300&quot; value=&quot;Slide 8&quot;/&gt;&lt;property id=&quot;20307&quot; value=&quot;262&quot;/&gt;&lt;/object&gt;&lt;object type=&quot;3&quot; unique_id=&quot;10082&quot;&gt;&lt;property id=&quot;20148&quot; value=&quot;5&quot;/&gt;&lt;property id=&quot;20300&quot; value=&quot;Slide 9&quot;/&gt;&lt;property id=&quot;20307&quot; value=&quot;269&quot;/&gt;&lt;/object&gt;&lt;object type=&quot;3&quot; unique_id=&quot;10083&quot;&gt;&lt;property id=&quot;20148&quot; value=&quot;5&quot;/&gt;&lt;property id=&quot;20300&quot; value=&quot;Slide 10&quot;/&gt;&lt;property id=&quot;20307&quot; value=&quot;259&quot;/&gt;&lt;/object&gt;&lt;/object&gt;&lt;object type=&quot;8&quot; unique_id=&quot;10095&quot;&gt;&lt;/object&gt;&lt;/object&gt;&lt;/database&gt;"/>
  <p:tag name="MMPROD_NEXTUNIQUEID" val="10009"/>
  <p:tag name="SECTOMILLISECCONVERTED" val="1"/>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PT template SKY with UWE logo top STANDARD" id="{01FAB0D0-5DBD-47E7-9373-94BA6C7E7835}" vid="{9680083E-B1B9-432B-A860-BC4A0118E283}"/>
    </a:ext>
  </a:extLst>
</a:theme>
</file>

<file path=ppt/theme/theme2.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2FC3F4283AECA48BCBDDFCF4103160C" ma:contentTypeVersion="2" ma:contentTypeDescription="Create a new document." ma:contentTypeScope="" ma:versionID="71a29f68b18f52e7e0b329625759c092">
  <xsd:schema xmlns:xsd="http://www.w3.org/2001/XMLSchema" xmlns:xs="http://www.w3.org/2001/XMLSchema" xmlns:p="http://schemas.microsoft.com/office/2006/metadata/properties" xmlns:ns2="037ba92a-5764-4297-b5f7-6ea117412624" xmlns:ns3="3a4ab234-afbc-41ab-b2db-358d80304e46" targetNamespace="http://schemas.microsoft.com/office/2006/metadata/properties" ma:root="true" ma:fieldsID="a458c3587d291faf4ca1653387720a89" ns2:_="" ns3:_="">
    <xsd:import namespace="037ba92a-5764-4297-b5f7-6ea117412624"/>
    <xsd:import namespace="3a4ab234-afbc-41ab-b2db-358d80304e46"/>
    <xsd:element name="properties">
      <xsd:complexType>
        <xsd:sequence>
          <xsd:element name="documentManagement">
            <xsd:complexType>
              <xsd:all>
                <xsd:element ref="ns2:_dlc_DocId" minOccurs="0"/>
                <xsd:element ref="ns2:_dlc_DocIdUrl" minOccurs="0"/>
                <xsd:element ref="ns2:_dlc_DocIdPersistId" minOccurs="0"/>
                <xsd:element ref="ns3:Document_x0020_Typ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37ba92a-5764-4297-b5f7-6ea117412624"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3a4ab234-afbc-41ab-b2db-358d80304e46" elementFormDefault="qualified">
    <xsd:import namespace="http://schemas.microsoft.com/office/2006/documentManagement/types"/>
    <xsd:import namespace="http://schemas.microsoft.com/office/infopath/2007/PartnerControls"/>
    <xsd:element name="Document_x0020_Type" ma:index="11" nillable="true" ma:displayName="Document Type" ma:default="Main Issue" ma:description="Specify type of document to help with filtered views" ma:format="Dropdown" ma:internalName="Document_x0020_Type">
      <xsd:simpleType>
        <xsd:restriction base="dms:Choice">
          <xsd:enumeration value="Main Issue"/>
          <xsd:enumeration value="Supporting"/>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4.xml><?xml version="1.0" encoding="utf-8"?>
<p:properties xmlns:p="http://schemas.microsoft.com/office/2006/metadata/properties" xmlns:xsi="http://www.w3.org/2001/XMLSchema-instance" xmlns:pc="http://schemas.microsoft.com/office/infopath/2007/PartnerControls">
  <documentManagement>
    <Document_x0020_Type xmlns="3a4ab234-afbc-41ab-b2db-358d80304e46">Main Issue</Document_x0020_Type>
    <_dlc_DocId xmlns="037ba92a-5764-4297-b5f7-6ea117412624">NAYYJSKVSPAS-2-1608</_dlc_DocId>
    <_dlc_DocIdUrl xmlns="037ba92a-5764-4297-b5f7-6ea117412624">
      <Url>https://docs.uwe.ac.uk/ou/Communications/_layouts/15/DocIdRedir.aspx?ID=NAYYJSKVSPAS-2-1608</Url>
      <Description>NAYYJSKVSPAS-2-1608</Description>
    </_dlc_DocIdUrl>
  </documentManagement>
</p:properties>
</file>

<file path=customXml/itemProps1.xml><?xml version="1.0" encoding="utf-8"?>
<ds:datastoreItem xmlns:ds="http://schemas.openxmlformats.org/officeDocument/2006/customXml" ds:itemID="{AC5552B4-89B5-4F8D-B1E4-E0A34EA58D51}">
  <ds:schemaRefs>
    <ds:schemaRef ds:uri="http://schemas.microsoft.com/sharepoint/v3/contenttype/forms"/>
  </ds:schemaRefs>
</ds:datastoreItem>
</file>

<file path=customXml/itemProps2.xml><?xml version="1.0" encoding="utf-8"?>
<ds:datastoreItem xmlns:ds="http://schemas.openxmlformats.org/officeDocument/2006/customXml" ds:itemID="{218277BB-DC5E-47BA-8CA9-13DFAB3B24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37ba92a-5764-4297-b5f7-6ea117412624"/>
    <ds:schemaRef ds:uri="3a4ab234-afbc-41ab-b2db-358d80304e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F364826-19C1-4551-92C2-A6C074B09DC4}">
  <ds:schemaRefs>
    <ds:schemaRef ds:uri="http://schemas.microsoft.com/sharepoint/events"/>
  </ds:schemaRefs>
</ds:datastoreItem>
</file>

<file path=customXml/itemProps4.xml><?xml version="1.0" encoding="utf-8"?>
<ds:datastoreItem xmlns:ds="http://schemas.openxmlformats.org/officeDocument/2006/customXml" ds:itemID="{98D2D201-97C8-4E70-BF77-76D11DC8600F}">
  <ds:schemaRefs>
    <ds:schemaRef ds:uri="http://www.w3.org/XML/1998/namespace"/>
    <ds:schemaRef ds:uri="http://purl.org/dc/terms/"/>
    <ds:schemaRef ds:uri="037ba92a-5764-4297-b5f7-6ea117412624"/>
    <ds:schemaRef ds:uri="http://schemas.microsoft.com/office/infopath/2007/PartnerControls"/>
    <ds:schemaRef ds:uri="http://purl.org/dc/dcmitype/"/>
    <ds:schemaRef ds:uri="http://schemas.openxmlformats.org/package/2006/metadata/core-properties"/>
    <ds:schemaRef ds:uri="http://schemas.microsoft.com/office/2006/documentManagement/types"/>
    <ds:schemaRef ds:uri="3a4ab234-afbc-41ab-b2db-358d80304e46"/>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35740</TotalTime>
  <Words>1625</Words>
  <Application>Microsoft Office PowerPoint</Application>
  <PresentationFormat>On-screen Show (4:3)</PresentationFormat>
  <Paragraphs>298</Paragraphs>
  <Slides>19</Slides>
  <Notes>10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19</vt:i4>
      </vt:variant>
    </vt:vector>
  </HeadingPairs>
  <TitlesOfParts>
    <vt:vector size="29" baseType="lpstr">
      <vt:lpstr>Arial</vt:lpstr>
      <vt:lpstr>Calibri</vt:lpstr>
      <vt:lpstr>Calibri Light</vt:lpstr>
      <vt:lpstr>Cambria Math</vt:lpstr>
      <vt:lpstr>Courier New</vt:lpstr>
      <vt:lpstr>Segoe Sans</vt:lpstr>
      <vt:lpstr>Tahoma</vt:lpstr>
      <vt:lpstr>Wingdings</vt:lpstr>
      <vt:lpstr>Custom Design</vt:lpstr>
      <vt:lpstr>Metropolitan</vt:lpstr>
      <vt:lpstr>UMET9G-30-1  Accounting &amp; Finance for Decision Making   Time Value of Money – Part 1</vt:lpstr>
      <vt:lpstr>Recap</vt:lpstr>
      <vt:lpstr>Learning Outcomes</vt:lpstr>
      <vt:lpstr>Recap from the Introduction Lecture</vt:lpstr>
      <vt:lpstr>Capital budgeting</vt:lpstr>
      <vt:lpstr>Time Value of Money</vt:lpstr>
      <vt:lpstr>Time Value of Money</vt:lpstr>
      <vt:lpstr>Simple Interest</vt:lpstr>
      <vt:lpstr>Compound Interest</vt:lpstr>
      <vt:lpstr>Compound Interest</vt:lpstr>
      <vt:lpstr>Compound Interest</vt:lpstr>
      <vt:lpstr>Time Value of Money</vt:lpstr>
      <vt:lpstr>TVM formulae - Roundup</vt:lpstr>
      <vt:lpstr>TVM - r</vt:lpstr>
      <vt:lpstr>TVM - t</vt:lpstr>
      <vt:lpstr>PowerPoint Presentation</vt:lpstr>
      <vt:lpstr>TVM formulae - Roundup</vt:lpstr>
      <vt:lpstr>Learning Outcomes Covered</vt:lpstr>
      <vt:lpstr>Next Week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1</dc:title>
  <dc:creator>Kirstin Barnett</dc:creator>
  <cp:lastModifiedBy>Demelza Pilgrim</cp:lastModifiedBy>
  <cp:revision>11</cp:revision>
  <cp:lastPrinted>2024-10-03T08:02:37Z</cp:lastPrinted>
  <dcterms:created xsi:type="dcterms:W3CDTF">2019-12-19T16:15:15Z</dcterms:created>
  <dcterms:modified xsi:type="dcterms:W3CDTF">2025-08-14T15:39:28Z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0x01010072FC3F4283AECA48BCBDDFCF4103160C</vt:lpwstr>
  </property>
  <property fmtid="{D5CDD505-2E9C-101B-9397-08002B2CF9AE}" pid="3" name="xd_Signature">
    <vt:bool>false</vt:bool>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dlc_DocIdItemGuid">
    <vt:lpwstr>0beaf668-18bc-407e-89e0-ef66d74dcf56</vt:lpwstr>
  </property>
</Properties>
</file>