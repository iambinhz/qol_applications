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  <p:sldMasterId id="2147483979" r:id="rId6"/>
  </p:sldMasterIdLst>
  <p:notesMasterIdLst>
    <p:notesMasterId r:id="rId38"/>
  </p:notesMasterIdLst>
  <p:handoutMasterIdLst>
    <p:handoutMasterId r:id="rId39"/>
  </p:handoutMasterIdLst>
  <p:sldIdLst>
    <p:sldId id="256" r:id="rId7"/>
    <p:sldId id="287" r:id="rId8"/>
    <p:sldId id="643" r:id="rId9"/>
    <p:sldId id="407" r:id="rId10"/>
    <p:sldId id="583" r:id="rId11"/>
    <p:sldId id="383" r:id="rId12"/>
    <p:sldId id="562" r:id="rId13"/>
    <p:sldId id="642" r:id="rId14"/>
    <p:sldId id="622" r:id="rId15"/>
    <p:sldId id="564" r:id="rId16"/>
    <p:sldId id="522" r:id="rId17"/>
    <p:sldId id="547" r:id="rId18"/>
    <p:sldId id="563" r:id="rId19"/>
    <p:sldId id="535" r:id="rId20"/>
    <p:sldId id="536" r:id="rId21"/>
    <p:sldId id="548" r:id="rId22"/>
    <p:sldId id="565" r:id="rId23"/>
    <p:sldId id="568" r:id="rId24"/>
    <p:sldId id="551" r:id="rId25"/>
    <p:sldId id="549" r:id="rId26"/>
    <p:sldId id="550" r:id="rId27"/>
    <p:sldId id="552" r:id="rId28"/>
    <p:sldId id="553" r:id="rId29"/>
    <p:sldId id="554" r:id="rId30"/>
    <p:sldId id="555" r:id="rId31"/>
    <p:sldId id="556" r:id="rId32"/>
    <p:sldId id="558" r:id="rId33"/>
    <p:sldId id="458" r:id="rId34"/>
    <p:sldId id="569" r:id="rId35"/>
    <p:sldId id="644" r:id="rId36"/>
    <p:sldId id="462" r:id="rId37"/>
  </p:sldIdLst>
  <p:sldSz cx="9144000" cy="6858000" type="screen4x3"/>
  <p:notesSz cx="9144000" cy="6858000"/>
  <p:custDataLst>
    <p:tags r:id="rId4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284EADD-FE41-494D-A42C-2B60CCFC2DE6}">
          <p14:sldIdLst>
            <p14:sldId id="256"/>
            <p14:sldId id="287"/>
            <p14:sldId id="643"/>
            <p14:sldId id="407"/>
            <p14:sldId id="583"/>
            <p14:sldId id="383"/>
            <p14:sldId id="562"/>
            <p14:sldId id="642"/>
            <p14:sldId id="622"/>
            <p14:sldId id="564"/>
            <p14:sldId id="522"/>
            <p14:sldId id="547"/>
            <p14:sldId id="563"/>
            <p14:sldId id="535"/>
            <p14:sldId id="536"/>
            <p14:sldId id="548"/>
            <p14:sldId id="565"/>
            <p14:sldId id="568"/>
            <p14:sldId id="551"/>
            <p14:sldId id="549"/>
            <p14:sldId id="550"/>
            <p14:sldId id="552"/>
            <p14:sldId id="553"/>
            <p14:sldId id="554"/>
            <p14:sldId id="555"/>
            <p14:sldId id="556"/>
            <p14:sldId id="558"/>
            <p14:sldId id="458"/>
            <p14:sldId id="569"/>
            <p14:sldId id="644"/>
            <p14:sldId id="462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FE9A4-5633-4F3F-ADC8-B671918D3D10}" v="196" dt="2025-08-20T16:11:37.1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5" autoAdjust="0"/>
    <p:restoredTop sz="67236" autoAdjust="0"/>
  </p:normalViewPr>
  <p:slideViewPr>
    <p:cSldViewPr showGuides="1">
      <p:cViewPr varScale="1">
        <p:scale>
          <a:sx n="34" d="100"/>
          <a:sy n="34" d="100"/>
        </p:scale>
        <p:origin x="1566" y="60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4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elza Pilgrim" userId="9b1f39d4-236b-4377-9a8d-dccbd2a774dd" providerId="ADAL" clId="{D36FE9A4-5633-4F3F-ADC8-B671918D3D10}"/>
    <pc:docChg chg="custSel addSld delSld modSld modSection">
      <pc:chgData name="Demelza Pilgrim" userId="9b1f39d4-236b-4377-9a8d-dccbd2a774dd" providerId="ADAL" clId="{D36FE9A4-5633-4F3F-ADC8-B671918D3D10}" dt="2025-08-20T16:12:18.230" v="537" actId="20577"/>
      <pc:docMkLst>
        <pc:docMk/>
      </pc:docMkLst>
      <pc:sldChg chg="addSp delSp modSp mod">
        <pc:chgData name="Demelza Pilgrim" userId="9b1f39d4-236b-4377-9a8d-dccbd2a774dd" providerId="ADAL" clId="{D36FE9A4-5633-4F3F-ADC8-B671918D3D10}" dt="2025-08-20T15:52:37.814" v="258" actId="6549"/>
        <pc:sldMkLst>
          <pc:docMk/>
          <pc:sldMk cId="3764760811" sldId="256"/>
        </pc:sldMkLst>
        <pc:spChg chg="mod">
          <ac:chgData name="Demelza Pilgrim" userId="9b1f39d4-236b-4377-9a8d-dccbd2a774dd" providerId="ADAL" clId="{D36FE9A4-5633-4F3F-ADC8-B671918D3D10}" dt="2025-08-20T15:52:37.814" v="258" actId="6549"/>
          <ac:spMkLst>
            <pc:docMk/>
            <pc:sldMk cId="3764760811" sldId="256"/>
            <ac:spMk id="2" creationId="{60EF4C6A-CA2E-4C35-8BA5-916C10203F2E}"/>
          </ac:spMkLst>
        </pc:spChg>
        <pc:spChg chg="mod">
          <ac:chgData name="Demelza Pilgrim" userId="9b1f39d4-236b-4377-9a8d-dccbd2a774dd" providerId="ADAL" clId="{D36FE9A4-5633-4F3F-ADC8-B671918D3D10}" dt="2025-08-20T15:22:44.471" v="7" actId="6549"/>
          <ac:spMkLst>
            <pc:docMk/>
            <pc:sldMk cId="3764760811" sldId="256"/>
            <ac:spMk id="4" creationId="{FA5FC82F-1F0B-4D11-BC78-0C43FDE0F394}"/>
          </ac:spMkLst>
        </pc:spChg>
        <pc:spChg chg="del">
          <ac:chgData name="Demelza Pilgrim" userId="9b1f39d4-236b-4377-9a8d-dccbd2a774dd" providerId="ADAL" clId="{D36FE9A4-5633-4F3F-ADC8-B671918D3D10}" dt="2025-08-20T15:23:52.467" v="14" actId="478"/>
          <ac:spMkLst>
            <pc:docMk/>
            <pc:sldMk cId="3764760811" sldId="256"/>
            <ac:spMk id="5" creationId="{25261011-8BC0-42E0-ABA5-34977886AFBC}"/>
          </ac:spMkLst>
        </pc:spChg>
        <pc:spChg chg="mod">
          <ac:chgData name="Demelza Pilgrim" userId="9b1f39d4-236b-4377-9a8d-dccbd2a774dd" providerId="ADAL" clId="{D36FE9A4-5633-4F3F-ADC8-B671918D3D10}" dt="2025-08-20T15:23:57.035" v="22" actId="20577"/>
          <ac:spMkLst>
            <pc:docMk/>
            <pc:sldMk cId="3764760811" sldId="256"/>
            <ac:spMk id="6" creationId="{8AF42F57-4342-4892-B2AD-019DCDCB61B2}"/>
          </ac:spMkLst>
        </pc:spChg>
        <pc:spChg chg="add mod">
          <ac:chgData name="Demelza Pilgrim" userId="9b1f39d4-236b-4377-9a8d-dccbd2a774dd" providerId="ADAL" clId="{D36FE9A4-5633-4F3F-ADC8-B671918D3D10}" dt="2025-08-20T15:23:52.467" v="14" actId="478"/>
          <ac:spMkLst>
            <pc:docMk/>
            <pc:sldMk cId="3764760811" sldId="256"/>
            <ac:spMk id="8" creationId="{281E4B29-CE6C-0C79-090A-017CA0F2ADBA}"/>
          </ac:spMkLst>
        </pc:spChg>
      </pc:sldChg>
      <pc:sldChg chg="del">
        <pc:chgData name="Demelza Pilgrim" userId="9b1f39d4-236b-4377-9a8d-dccbd2a774dd" providerId="ADAL" clId="{D36FE9A4-5633-4F3F-ADC8-B671918D3D10}" dt="2025-08-20T15:26:00.565" v="130" actId="47"/>
        <pc:sldMkLst>
          <pc:docMk/>
          <pc:sldMk cId="1719998758" sldId="258"/>
        </pc:sldMkLst>
      </pc:sldChg>
      <pc:sldChg chg="modSp add mod">
        <pc:chgData name="Demelza Pilgrim" userId="9b1f39d4-236b-4377-9a8d-dccbd2a774dd" providerId="ADAL" clId="{D36FE9A4-5633-4F3F-ADC8-B671918D3D10}" dt="2025-08-20T15:54:52.584" v="496" actId="20577"/>
        <pc:sldMkLst>
          <pc:docMk/>
          <pc:sldMk cId="591890035" sldId="287"/>
        </pc:sldMkLst>
        <pc:spChg chg="mod">
          <ac:chgData name="Demelza Pilgrim" userId="9b1f39d4-236b-4377-9a8d-dccbd2a774dd" providerId="ADAL" clId="{D36FE9A4-5633-4F3F-ADC8-B671918D3D10}" dt="2025-08-20T15:54:52.584" v="496" actId="20577"/>
          <ac:spMkLst>
            <pc:docMk/>
            <pc:sldMk cId="591890035" sldId="287"/>
            <ac:spMk id="3" creationId="{FF9B3823-0605-807A-5635-4865E10F2BE4}"/>
          </ac:spMkLst>
        </pc:spChg>
      </pc:sldChg>
      <pc:sldChg chg="del">
        <pc:chgData name="Demelza Pilgrim" userId="9b1f39d4-236b-4377-9a8d-dccbd2a774dd" providerId="ADAL" clId="{D36FE9A4-5633-4F3F-ADC8-B671918D3D10}" dt="2025-08-20T15:34:29.844" v="218" actId="47"/>
        <pc:sldMkLst>
          <pc:docMk/>
          <pc:sldMk cId="2922149429" sldId="352"/>
        </pc:sldMkLst>
      </pc:sldChg>
      <pc:sldChg chg="modSp add del mod">
        <pc:chgData name="Demelza Pilgrim" userId="9b1f39d4-236b-4377-9a8d-dccbd2a774dd" providerId="ADAL" clId="{D36FE9A4-5633-4F3F-ADC8-B671918D3D10}" dt="2025-08-20T16:12:08.863" v="530" actId="6549"/>
        <pc:sldMkLst>
          <pc:docMk/>
          <pc:sldMk cId="2167367326" sldId="383"/>
        </pc:sldMkLst>
        <pc:spChg chg="mod">
          <ac:chgData name="Demelza Pilgrim" userId="9b1f39d4-236b-4377-9a8d-dccbd2a774dd" providerId="ADAL" clId="{D36FE9A4-5633-4F3F-ADC8-B671918D3D10}" dt="2025-08-20T16:12:08.863" v="530" actId="6549"/>
          <ac:spMkLst>
            <pc:docMk/>
            <pc:sldMk cId="2167367326" sldId="383"/>
            <ac:spMk id="2" creationId="{00000000-0000-0000-0000-000000000000}"/>
          </ac:spMkLst>
        </pc:spChg>
      </pc:sldChg>
      <pc:sldChg chg="del">
        <pc:chgData name="Demelza Pilgrim" userId="9b1f39d4-236b-4377-9a8d-dccbd2a774dd" providerId="ADAL" clId="{D36FE9A4-5633-4F3F-ADC8-B671918D3D10}" dt="2025-08-20T15:31:11.290" v="131" actId="47"/>
        <pc:sldMkLst>
          <pc:docMk/>
          <pc:sldMk cId="4141240873" sldId="386"/>
        </pc:sldMkLst>
      </pc:sldChg>
      <pc:sldChg chg="del">
        <pc:chgData name="Demelza Pilgrim" userId="9b1f39d4-236b-4377-9a8d-dccbd2a774dd" providerId="ADAL" clId="{D36FE9A4-5633-4F3F-ADC8-B671918D3D10}" dt="2025-08-20T15:31:11.290" v="131" actId="47"/>
        <pc:sldMkLst>
          <pc:docMk/>
          <pc:sldMk cId="1747271243" sldId="388"/>
        </pc:sldMkLst>
      </pc:sldChg>
      <pc:sldChg chg="modSp add del mod">
        <pc:chgData name="Demelza Pilgrim" userId="9b1f39d4-236b-4377-9a8d-dccbd2a774dd" providerId="ADAL" clId="{D36FE9A4-5633-4F3F-ADC8-B671918D3D10}" dt="2025-08-20T16:11:43.332" v="505" actId="20577"/>
        <pc:sldMkLst>
          <pc:docMk/>
          <pc:sldMk cId="2646784511" sldId="407"/>
        </pc:sldMkLst>
        <pc:spChg chg="mod">
          <ac:chgData name="Demelza Pilgrim" userId="9b1f39d4-236b-4377-9a8d-dccbd2a774dd" providerId="ADAL" clId="{D36FE9A4-5633-4F3F-ADC8-B671918D3D10}" dt="2025-08-20T16:11:43.332" v="505" actId="20577"/>
          <ac:spMkLst>
            <pc:docMk/>
            <pc:sldMk cId="2646784511" sldId="407"/>
            <ac:spMk id="2" creationId="{00000000-0000-0000-0000-000000000000}"/>
          </ac:spMkLst>
        </pc:spChg>
      </pc:sldChg>
      <pc:sldChg chg="modSp add mod">
        <pc:chgData name="Demelza Pilgrim" userId="9b1f39d4-236b-4377-9a8d-dccbd2a774dd" providerId="ADAL" clId="{D36FE9A4-5633-4F3F-ADC8-B671918D3D10}" dt="2025-08-20T15:35:04.922" v="249" actId="20577"/>
        <pc:sldMkLst>
          <pc:docMk/>
          <pc:sldMk cId="1668558411" sldId="462"/>
        </pc:sldMkLst>
        <pc:spChg chg="mod">
          <ac:chgData name="Demelza Pilgrim" userId="9b1f39d4-236b-4377-9a8d-dccbd2a774dd" providerId="ADAL" clId="{D36FE9A4-5633-4F3F-ADC8-B671918D3D10}" dt="2025-08-20T15:35:04.922" v="249" actId="20577"/>
          <ac:spMkLst>
            <pc:docMk/>
            <pc:sldMk cId="1668558411" sldId="462"/>
            <ac:spMk id="3" creationId="{7393D38A-6D63-08BB-0FBC-2882D1231479}"/>
          </ac:spMkLst>
        </pc:spChg>
      </pc:sldChg>
      <pc:sldChg chg="del">
        <pc:chgData name="Demelza Pilgrim" userId="9b1f39d4-236b-4377-9a8d-dccbd2a774dd" providerId="ADAL" clId="{D36FE9A4-5633-4F3F-ADC8-B671918D3D10}" dt="2025-08-20T15:31:11.290" v="131" actId="47"/>
        <pc:sldMkLst>
          <pc:docMk/>
          <pc:sldMk cId="660956462" sldId="501"/>
        </pc:sldMkLst>
      </pc:sldChg>
      <pc:sldChg chg="del">
        <pc:chgData name="Demelza Pilgrim" userId="9b1f39d4-236b-4377-9a8d-dccbd2a774dd" providerId="ADAL" clId="{D36FE9A4-5633-4F3F-ADC8-B671918D3D10}" dt="2025-08-20T15:31:11.290" v="131" actId="47"/>
        <pc:sldMkLst>
          <pc:docMk/>
          <pc:sldMk cId="1645818634" sldId="521"/>
        </pc:sldMkLst>
      </pc:sldChg>
      <pc:sldChg chg="del">
        <pc:chgData name="Demelza Pilgrim" userId="9b1f39d4-236b-4377-9a8d-dccbd2a774dd" providerId="ADAL" clId="{D36FE9A4-5633-4F3F-ADC8-B671918D3D10}" dt="2025-08-20T15:31:11.290" v="131" actId="47"/>
        <pc:sldMkLst>
          <pc:docMk/>
          <pc:sldMk cId="1808388964" sldId="561"/>
        </pc:sldMkLst>
      </pc:sldChg>
      <pc:sldChg chg="modSp add del mod">
        <pc:chgData name="Demelza Pilgrim" userId="9b1f39d4-236b-4377-9a8d-dccbd2a774dd" providerId="ADAL" clId="{D36FE9A4-5633-4F3F-ADC8-B671918D3D10}" dt="2025-08-20T16:12:18.230" v="537" actId="20577"/>
        <pc:sldMkLst>
          <pc:docMk/>
          <pc:sldMk cId="2322542848" sldId="562"/>
        </pc:sldMkLst>
        <pc:spChg chg="mod">
          <ac:chgData name="Demelza Pilgrim" userId="9b1f39d4-236b-4377-9a8d-dccbd2a774dd" providerId="ADAL" clId="{D36FE9A4-5633-4F3F-ADC8-B671918D3D10}" dt="2025-08-20T16:12:18.230" v="537" actId="20577"/>
          <ac:spMkLst>
            <pc:docMk/>
            <pc:sldMk cId="2322542848" sldId="562"/>
            <ac:spMk id="2" creationId="{00000000-0000-0000-0000-000000000000}"/>
          </ac:spMkLst>
        </pc:spChg>
      </pc:sldChg>
      <pc:sldChg chg="modSp add mod">
        <pc:chgData name="Demelza Pilgrim" userId="9b1f39d4-236b-4377-9a8d-dccbd2a774dd" providerId="ADAL" clId="{D36FE9A4-5633-4F3F-ADC8-B671918D3D10}" dt="2025-08-20T16:11:53.146" v="513" actId="20577"/>
        <pc:sldMkLst>
          <pc:docMk/>
          <pc:sldMk cId="1020445196" sldId="583"/>
        </pc:sldMkLst>
        <pc:spChg chg="mod">
          <ac:chgData name="Demelza Pilgrim" userId="9b1f39d4-236b-4377-9a8d-dccbd2a774dd" providerId="ADAL" clId="{D36FE9A4-5633-4F3F-ADC8-B671918D3D10}" dt="2025-08-20T16:11:53.146" v="513" actId="20577"/>
          <ac:spMkLst>
            <pc:docMk/>
            <pc:sldMk cId="1020445196" sldId="583"/>
            <ac:spMk id="2" creationId="{B06D7037-7459-2594-1DD2-34E38A7D8E31}"/>
          </ac:spMkLst>
        </pc:spChg>
      </pc:sldChg>
      <pc:sldChg chg="modSp add modNotesTx">
        <pc:chgData name="Demelza Pilgrim" userId="9b1f39d4-236b-4377-9a8d-dccbd2a774dd" providerId="ADAL" clId="{D36FE9A4-5633-4F3F-ADC8-B671918D3D10}" dt="2025-08-20T15:34:08.176" v="215" actId="108"/>
        <pc:sldMkLst>
          <pc:docMk/>
          <pc:sldMk cId="0" sldId="643"/>
        </pc:sldMkLst>
        <pc:graphicFrameChg chg="mod">
          <ac:chgData name="Demelza Pilgrim" userId="9b1f39d4-236b-4377-9a8d-dccbd2a774dd" providerId="ADAL" clId="{D36FE9A4-5633-4F3F-ADC8-B671918D3D10}" dt="2025-08-20T15:34:08.176" v="215" actId="108"/>
          <ac:graphicFrameMkLst>
            <pc:docMk/>
            <pc:sldMk cId="0" sldId="643"/>
            <ac:graphicFrameMk id="13315" creationId="{C2855CC1-6974-FD0F-632A-C97A1652BB10}"/>
          </ac:graphicFrameMkLst>
        </pc:graphicFrameChg>
      </pc:sldChg>
      <pc:sldChg chg="modSp add mod">
        <pc:chgData name="Demelza Pilgrim" userId="9b1f39d4-236b-4377-9a8d-dccbd2a774dd" providerId="ADAL" clId="{D36FE9A4-5633-4F3F-ADC8-B671918D3D10}" dt="2025-08-20T15:34:34.802" v="226" actId="20577"/>
        <pc:sldMkLst>
          <pc:docMk/>
          <pc:sldMk cId="2898513961" sldId="644"/>
        </pc:sldMkLst>
        <pc:spChg chg="mod">
          <ac:chgData name="Demelza Pilgrim" userId="9b1f39d4-236b-4377-9a8d-dccbd2a774dd" providerId="ADAL" clId="{D36FE9A4-5633-4F3F-ADC8-B671918D3D10}" dt="2025-08-20T15:34:34.802" v="226" actId="20577"/>
          <ac:spMkLst>
            <pc:docMk/>
            <pc:sldMk cId="2898513961" sldId="644"/>
            <ac:spMk id="13319" creationId="{CF077CA6-FF93-02F0-E812-3B05C03A30E5}"/>
          </ac:spMkLst>
        </pc:spChg>
      </pc:sldChg>
    </pc:docChg>
  </pc:docChgLst>
  <pc:docChgLst>
    <pc:chgData name="Demelza Pilgrim" userId="9b1f39d4-236b-4377-9a8d-dccbd2a774dd" providerId="ADAL" clId="{549DFEEF-36BB-4BB6-8C57-9F894409F8DB}"/>
    <pc:docChg chg="modSld">
      <pc:chgData name="Demelza Pilgrim" userId="9b1f39d4-236b-4377-9a8d-dccbd2a774dd" providerId="ADAL" clId="{549DFEEF-36BB-4BB6-8C57-9F894409F8DB}" dt="2023-12-11T10:17:01.223" v="8" actId="20577"/>
      <pc:docMkLst>
        <pc:docMk/>
      </pc:docMkLst>
      <pc:sldChg chg="modSp mod">
        <pc:chgData name="Demelza Pilgrim" userId="9b1f39d4-236b-4377-9a8d-dccbd2a774dd" providerId="ADAL" clId="{549DFEEF-36BB-4BB6-8C57-9F894409F8DB}" dt="2023-12-11T10:17:01.223" v="8" actId="20577"/>
        <pc:sldMkLst>
          <pc:docMk/>
          <pc:sldMk cId="444491055" sldId="535"/>
        </pc:sldMkLst>
      </pc:sldChg>
    </pc:docChg>
  </pc:docChgLst>
  <pc:docChgLst>
    <pc:chgData name="Demelza Pilgrim" userId="9b1f39d4-236b-4377-9a8d-dccbd2a774dd" providerId="ADAL" clId="{7C4645E6-C44D-418A-9F3C-5419599838D5}"/>
    <pc:docChg chg="custSel addSld delSld modSld sldOrd modSection">
      <pc:chgData name="Demelza Pilgrim" userId="9b1f39d4-236b-4377-9a8d-dccbd2a774dd" providerId="ADAL" clId="{7C4645E6-C44D-418A-9F3C-5419599838D5}" dt="2024-10-23T13:27:57.105" v="185" actId="47"/>
      <pc:docMkLst>
        <pc:docMk/>
      </pc:docMkLst>
      <pc:sldChg chg="modSp mod">
        <pc:chgData name="Demelza Pilgrim" userId="9b1f39d4-236b-4377-9a8d-dccbd2a774dd" providerId="ADAL" clId="{7C4645E6-C44D-418A-9F3C-5419599838D5}" dt="2024-10-14T13:02:44.481" v="1" actId="20577"/>
        <pc:sldMkLst>
          <pc:docMk/>
          <pc:sldMk cId="3764760811" sldId="256"/>
        </pc:sldMkLst>
      </pc:sldChg>
      <pc:sldChg chg="modSp mod">
        <pc:chgData name="Demelza Pilgrim" userId="9b1f39d4-236b-4377-9a8d-dccbd2a774dd" providerId="ADAL" clId="{7C4645E6-C44D-418A-9F3C-5419599838D5}" dt="2024-10-14T13:15:38.650" v="70" actId="20577"/>
        <pc:sldMkLst>
          <pc:docMk/>
          <pc:sldMk cId="1719998758" sldId="258"/>
        </pc:sldMkLst>
      </pc:sldChg>
      <pc:sldChg chg="del">
        <pc:chgData name="Demelza Pilgrim" userId="9b1f39d4-236b-4377-9a8d-dccbd2a774dd" providerId="ADAL" clId="{7C4645E6-C44D-418A-9F3C-5419599838D5}" dt="2024-10-14T13:02:49.456" v="2" actId="47"/>
        <pc:sldMkLst>
          <pc:docMk/>
          <pc:sldMk cId="565489555" sldId="259"/>
        </pc:sldMkLst>
      </pc:sldChg>
      <pc:sldChg chg="del">
        <pc:chgData name="Demelza Pilgrim" userId="9b1f39d4-236b-4377-9a8d-dccbd2a774dd" providerId="ADAL" clId="{7C4645E6-C44D-418A-9F3C-5419599838D5}" dt="2024-10-14T13:02:50.102" v="3" actId="47"/>
        <pc:sldMkLst>
          <pc:docMk/>
          <pc:sldMk cId="1244097967" sldId="260"/>
        </pc:sldMkLst>
      </pc:sldChg>
      <pc:sldChg chg="del">
        <pc:chgData name="Demelza Pilgrim" userId="9b1f39d4-236b-4377-9a8d-dccbd2a774dd" providerId="ADAL" clId="{7C4645E6-C44D-418A-9F3C-5419599838D5}" dt="2024-10-14T13:02:51.301" v="4" actId="47"/>
        <pc:sldMkLst>
          <pc:docMk/>
          <pc:sldMk cId="4287480267" sldId="261"/>
        </pc:sldMkLst>
      </pc:sldChg>
      <pc:sldChg chg="modSp mod">
        <pc:chgData name="Demelza Pilgrim" userId="9b1f39d4-236b-4377-9a8d-dccbd2a774dd" providerId="ADAL" clId="{7C4645E6-C44D-418A-9F3C-5419599838D5}" dt="2024-10-14T13:14:55.373" v="49" actId="20577"/>
        <pc:sldMkLst>
          <pc:docMk/>
          <pc:sldMk cId="2922149429" sldId="352"/>
        </pc:sldMkLst>
      </pc:sldChg>
      <pc:sldChg chg="ord">
        <pc:chgData name="Demelza Pilgrim" userId="9b1f39d4-236b-4377-9a8d-dccbd2a774dd" providerId="ADAL" clId="{7C4645E6-C44D-418A-9F3C-5419599838D5}" dt="2024-10-23T13:27:18.503" v="184"/>
        <pc:sldMkLst>
          <pc:docMk/>
          <pc:sldMk cId="2322542848" sldId="562"/>
        </pc:sldMkLst>
      </pc:sldChg>
      <pc:sldChg chg="del">
        <pc:chgData name="Demelza Pilgrim" userId="9b1f39d4-236b-4377-9a8d-dccbd2a774dd" providerId="ADAL" clId="{7C4645E6-C44D-418A-9F3C-5419599838D5}" dt="2024-10-23T13:27:57.105" v="185" actId="47"/>
        <pc:sldMkLst>
          <pc:docMk/>
          <pc:sldMk cId="2265363440" sldId="566"/>
        </pc:sldMkLst>
      </pc:sldChg>
      <pc:sldChg chg="modSp add mod modNotesTx">
        <pc:chgData name="Demelza Pilgrim" userId="9b1f39d4-236b-4377-9a8d-dccbd2a774dd" providerId="ADAL" clId="{7C4645E6-C44D-418A-9F3C-5419599838D5}" dt="2024-10-23T13:26:40.985" v="182" actId="20577"/>
        <pc:sldMkLst>
          <pc:docMk/>
          <pc:sldMk cId="66171161" sldId="622"/>
        </pc:sldMkLst>
      </pc:sldChg>
      <pc:sldChg chg="modSp add mod modNotesTx">
        <pc:chgData name="Demelza Pilgrim" userId="9b1f39d4-236b-4377-9a8d-dccbd2a774dd" providerId="ADAL" clId="{7C4645E6-C44D-418A-9F3C-5419599838D5}" dt="2024-10-23T13:24:12.559" v="129" actId="6549"/>
        <pc:sldMkLst>
          <pc:docMk/>
          <pc:sldMk cId="876304399" sldId="642"/>
        </pc:sldMkLst>
      </pc:sldChg>
    </pc:docChg>
  </pc:docChgLst>
  <pc:docChgLst>
    <pc:chgData name="Demelza Pilgrim" userId="9b1f39d4-236b-4377-9a8d-dccbd2a774dd" providerId="ADAL" clId="{2F7680F9-D9C5-439D-B929-4AE71D4CF605}"/>
    <pc:docChg chg="undo custSel modSld">
      <pc:chgData name="Demelza Pilgrim" userId="9b1f39d4-236b-4377-9a8d-dccbd2a774dd" providerId="ADAL" clId="{2F7680F9-D9C5-439D-B929-4AE71D4CF605}" dt="2023-10-19T16:16:26.459" v="77" actId="27636"/>
      <pc:docMkLst>
        <pc:docMk/>
      </pc:docMkLst>
      <pc:sldChg chg="modSp mod">
        <pc:chgData name="Demelza Pilgrim" userId="9b1f39d4-236b-4377-9a8d-dccbd2a774dd" providerId="ADAL" clId="{2F7680F9-D9C5-439D-B929-4AE71D4CF605}" dt="2023-10-19T14:48:06.543" v="9" actId="20577"/>
        <pc:sldMkLst>
          <pc:docMk/>
          <pc:sldMk cId="1719998758" sldId="258"/>
        </pc:sldMkLst>
      </pc:sldChg>
      <pc:sldChg chg="addSp delSp modSp mod">
        <pc:chgData name="Demelza Pilgrim" userId="9b1f39d4-236b-4377-9a8d-dccbd2a774dd" providerId="ADAL" clId="{2F7680F9-D9C5-439D-B929-4AE71D4CF605}" dt="2023-10-19T14:48:00.892" v="7" actId="22"/>
        <pc:sldMkLst>
          <pc:docMk/>
          <pc:sldMk cId="565489555" sldId="259"/>
        </pc:sldMkLst>
      </pc:sldChg>
      <pc:sldChg chg="modSp mod">
        <pc:chgData name="Demelza Pilgrim" userId="9b1f39d4-236b-4377-9a8d-dccbd2a774dd" providerId="ADAL" clId="{2F7680F9-D9C5-439D-B929-4AE71D4CF605}" dt="2023-10-19T16:16:26.459" v="77" actId="27636"/>
        <pc:sldMkLst>
          <pc:docMk/>
          <pc:sldMk cId="2922149429" sldId="352"/>
        </pc:sldMkLst>
      </pc:sldChg>
      <pc:sldChg chg="modSp mod">
        <pc:chgData name="Demelza Pilgrim" userId="9b1f39d4-236b-4377-9a8d-dccbd2a774dd" providerId="ADAL" clId="{2F7680F9-D9C5-439D-B929-4AE71D4CF605}" dt="2023-10-19T16:13:43.863" v="55" actId="1076"/>
        <pc:sldMkLst>
          <pc:docMk/>
          <pc:sldMk cId="1366464319" sldId="458"/>
        </pc:sldMkLst>
      </pc:sldChg>
      <pc:sldChg chg="modSp mod">
        <pc:chgData name="Demelza Pilgrim" userId="9b1f39d4-236b-4377-9a8d-dccbd2a774dd" providerId="ADAL" clId="{2F7680F9-D9C5-439D-B929-4AE71D4CF605}" dt="2023-10-19T16:11:29.016" v="31" actId="14100"/>
        <pc:sldMkLst>
          <pc:docMk/>
          <pc:sldMk cId="3859482498" sldId="536"/>
        </pc:sldMkLst>
      </pc:sldChg>
      <pc:sldChg chg="modSp mod">
        <pc:chgData name="Demelza Pilgrim" userId="9b1f39d4-236b-4377-9a8d-dccbd2a774dd" providerId="ADAL" clId="{2F7680F9-D9C5-439D-B929-4AE71D4CF605}" dt="2023-10-19T16:12:28.667" v="36" actId="404"/>
        <pc:sldMkLst>
          <pc:docMk/>
          <pc:sldMk cId="2728244473" sldId="553"/>
        </pc:sldMkLst>
      </pc:sldChg>
      <pc:sldChg chg="modSp mod">
        <pc:chgData name="Demelza Pilgrim" userId="9b1f39d4-236b-4377-9a8d-dccbd2a774dd" providerId="ADAL" clId="{2F7680F9-D9C5-439D-B929-4AE71D4CF605}" dt="2023-10-19T16:12:49.292" v="47" actId="1036"/>
        <pc:sldMkLst>
          <pc:docMk/>
          <pc:sldMk cId="2729365723" sldId="554"/>
        </pc:sldMkLst>
      </pc:sldChg>
      <pc:sldChg chg="modSp mod">
        <pc:chgData name="Demelza Pilgrim" userId="9b1f39d4-236b-4377-9a8d-dccbd2a774dd" providerId="ADAL" clId="{2F7680F9-D9C5-439D-B929-4AE71D4CF605}" dt="2023-10-19T16:13:13.422" v="49" actId="1076"/>
        <pc:sldMkLst>
          <pc:docMk/>
          <pc:sldMk cId="3343240327" sldId="556"/>
        </pc:sldMkLst>
      </pc:sldChg>
      <pc:sldChg chg="modSp mod">
        <pc:chgData name="Demelza Pilgrim" userId="9b1f39d4-236b-4377-9a8d-dccbd2a774dd" providerId="ADAL" clId="{2F7680F9-D9C5-439D-B929-4AE71D4CF605}" dt="2023-10-19T16:13:20.747" v="51" actId="1076"/>
        <pc:sldMkLst>
          <pc:docMk/>
          <pc:sldMk cId="1612286930" sldId="558"/>
        </pc:sldMkLst>
      </pc:sldChg>
      <pc:sldChg chg="delSp modSp mod delAnim modAnim">
        <pc:chgData name="Demelza Pilgrim" userId="9b1f39d4-236b-4377-9a8d-dccbd2a774dd" providerId="ADAL" clId="{2F7680F9-D9C5-439D-B929-4AE71D4CF605}" dt="2023-10-19T16:07:51.205" v="23"/>
        <pc:sldMkLst>
          <pc:docMk/>
          <pc:sldMk cId="1808388964" sldId="561"/>
        </pc:sldMkLst>
      </pc:sldChg>
      <pc:sldChg chg="modAnim">
        <pc:chgData name="Demelza Pilgrim" userId="9b1f39d4-236b-4377-9a8d-dccbd2a774dd" providerId="ADAL" clId="{2F7680F9-D9C5-439D-B929-4AE71D4CF605}" dt="2023-10-19T16:09:23.482" v="24"/>
        <pc:sldMkLst>
          <pc:docMk/>
          <pc:sldMk cId="188461949" sldId="564"/>
        </pc:sldMkLst>
      </pc:sldChg>
      <pc:sldChg chg="modSp mod">
        <pc:chgData name="Demelza Pilgrim" userId="9b1f39d4-236b-4377-9a8d-dccbd2a774dd" providerId="ADAL" clId="{2F7680F9-D9C5-439D-B929-4AE71D4CF605}" dt="2023-10-19T16:12:04.050" v="33" actId="14100"/>
        <pc:sldMkLst>
          <pc:docMk/>
          <pc:sldMk cId="362660973" sldId="568"/>
        </pc:sldMkLst>
      </pc:sldChg>
      <pc:sldChg chg="modSp mod">
        <pc:chgData name="Demelza Pilgrim" userId="9b1f39d4-236b-4377-9a8d-dccbd2a774dd" providerId="ADAL" clId="{2F7680F9-D9C5-439D-B929-4AE71D4CF605}" dt="2023-10-19T16:16:05.546" v="66" actId="255"/>
        <pc:sldMkLst>
          <pc:docMk/>
          <pc:sldMk cId="2330702290" sldId="56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weacuk-my.sharepoint.com/personal/bouchra_benzennou_uwe_ac_uk/Documents/2021/B1/ITF/Draf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weacuk-my.sharepoint.com/personal/bouchra_benzennou_uwe_ac_uk/Documents/2021/B1/ITF/Draf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weacuk-my.sharepoint.com/personal/bouchra_benzennou_uwe_ac_uk/Documents/2021/B1/ITF/Draf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76926393692104"/>
          <c:y val="0.15682925051035287"/>
          <c:w val="0.56737638461865669"/>
          <c:h val="0.70150150572567171"/>
        </c:manualLayout>
      </c:layout>
      <c:lineChart>
        <c:grouping val="standard"/>
        <c:varyColors val="0"/>
        <c:ser>
          <c:idx val="0"/>
          <c:order val="0"/>
          <c:tx>
            <c:strRef>
              <c:f>Lecture5!$C$26</c:f>
              <c:strCache>
                <c:ptCount val="1"/>
                <c:pt idx="0">
                  <c:v>1 year</c:v>
                </c:pt>
              </c:strCache>
            </c:strRef>
          </c:tx>
          <c:spPr>
            <a:ln w="47625" cap="flat" cmpd="sng" algn="ctr">
              <a:solidFill>
                <a:schemeClr val="accent1"/>
              </a:solidFill>
              <a:miter lim="800000"/>
            </a:ln>
            <a:effectLst/>
          </c:spPr>
          <c:marker>
            <c:symbol val="none"/>
          </c:marker>
          <c:dPt>
            <c:idx val="0"/>
            <c:marker>
              <c:symbol val="triangle"/>
              <c:size val="11"/>
              <c:spPr>
                <a:solidFill>
                  <a:schemeClr val="accent1"/>
                </a:solidFill>
                <a:ln w="9525" cap="flat" cmpd="sng" algn="ctr">
                  <a:solidFill>
                    <a:schemeClr val="l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CC61-41CE-B8A0-6FAE4DEFADCB}"/>
              </c:ext>
            </c:extLst>
          </c:dPt>
          <c:dPt>
            <c:idx val="3"/>
            <c:marker>
              <c:symbol val="triangle"/>
              <c:size val="10"/>
              <c:spPr>
                <a:solidFill>
                  <a:schemeClr val="accent1"/>
                </a:solidFill>
                <a:ln w="9525" cap="flat" cmpd="sng" algn="ctr">
                  <a:solidFill>
                    <a:schemeClr val="l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CC61-41CE-B8A0-6FAE4DEFADCB}"/>
              </c:ext>
            </c:extLst>
          </c:dPt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61-41CE-B8A0-6FAE4DEFADCB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C61-41CE-B8A0-6FAE4DEFAD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Lecture5!$B$27:$B$30</c:f>
              <c:numCache>
                <c:formatCode>0%</c:formatCode>
                <c:ptCount val="4"/>
                <c:pt idx="0">
                  <c:v>0.05</c:v>
                </c:pt>
                <c:pt idx="1">
                  <c:v>0.1</c:v>
                </c:pt>
                <c:pt idx="2">
                  <c:v>0.15</c:v>
                </c:pt>
                <c:pt idx="3">
                  <c:v>0.2</c:v>
                </c:pt>
              </c:numCache>
            </c:numRef>
          </c:cat>
          <c:val>
            <c:numRef>
              <c:f>Lecture5!$C$27:$C$30</c:f>
              <c:numCache>
                <c:formatCode>_-[$€-2]\ * #,##0.00_-;\-[$€-2]\ * #,##0.00_-;_-[$€-2]\ * "-"??_-;_-@_-</c:formatCode>
                <c:ptCount val="4"/>
                <c:pt idx="0">
                  <c:v>1047.6190476190477</c:v>
                </c:pt>
                <c:pt idx="1">
                  <c:v>1000</c:v>
                </c:pt>
                <c:pt idx="2">
                  <c:v>956.52173913043487</c:v>
                </c:pt>
                <c:pt idx="3">
                  <c:v>916.66666666666674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55-4629-9C7E-DF8EB2FCA0CC}"/>
            </c:ext>
          </c:extLst>
        </c:ser>
        <c:ser>
          <c:idx val="1"/>
          <c:order val="1"/>
          <c:tx>
            <c:strRef>
              <c:f>Lecture5!$D$26</c:f>
              <c:strCache>
                <c:ptCount val="1"/>
                <c:pt idx="0">
                  <c:v>30 years</c:v>
                </c:pt>
              </c:strCache>
            </c:strRef>
          </c:tx>
          <c:spPr>
            <a:ln w="44450" cap="flat" cmpd="sng" algn="ctr">
              <a:solidFill>
                <a:schemeClr val="accent2"/>
              </a:solidFill>
              <a:miter lim="800000"/>
            </a:ln>
            <a:effectLst/>
          </c:spPr>
          <c:marker>
            <c:symbol val="none"/>
          </c:marker>
          <c:dPt>
            <c:idx val="0"/>
            <c:marker>
              <c:symbol val="diamond"/>
              <c:size val="11"/>
              <c:spPr>
                <a:solidFill>
                  <a:schemeClr val="accent2"/>
                </a:solidFill>
                <a:ln w="9525" cap="flat" cmpd="sng" algn="ctr">
                  <a:solidFill>
                    <a:schemeClr val="l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CC61-41CE-B8A0-6FAE4DEFADCB}"/>
              </c:ext>
            </c:extLst>
          </c:dPt>
          <c:dPt>
            <c:idx val="1"/>
            <c:marker>
              <c:symbol val="square"/>
              <c:size val="8"/>
              <c:spPr>
                <a:solidFill>
                  <a:srgbClr val="C00000"/>
                </a:solidFill>
                <a:ln w="9525" cap="flat" cmpd="sng" algn="ctr">
                  <a:solidFill>
                    <a:schemeClr val="l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155-4629-9C7E-DF8EB2FCA0CC}"/>
              </c:ext>
            </c:extLst>
          </c:dPt>
          <c:dPt>
            <c:idx val="3"/>
            <c:marker>
              <c:symbol val="diamond"/>
              <c:size val="11"/>
              <c:spPr>
                <a:solidFill>
                  <a:schemeClr val="accent2"/>
                </a:solidFill>
                <a:ln w="9525" cap="flat" cmpd="sng" algn="ctr">
                  <a:solidFill>
                    <a:schemeClr val="l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CC61-41CE-B8A0-6FAE4DEFADCB}"/>
              </c:ext>
            </c:extLst>
          </c:dPt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61-41CE-B8A0-6FAE4DEFADCB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C61-41CE-B8A0-6FAE4DEFAD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Lecture5!$B$27:$B$30</c:f>
              <c:numCache>
                <c:formatCode>0%</c:formatCode>
                <c:ptCount val="4"/>
                <c:pt idx="0">
                  <c:v>0.05</c:v>
                </c:pt>
                <c:pt idx="1">
                  <c:v>0.1</c:v>
                </c:pt>
                <c:pt idx="2">
                  <c:v>0.15</c:v>
                </c:pt>
                <c:pt idx="3">
                  <c:v>0.2</c:v>
                </c:pt>
              </c:numCache>
            </c:numRef>
          </c:cat>
          <c:val>
            <c:numRef>
              <c:f>Lecture5!$D$27:$D$30</c:f>
              <c:numCache>
                <c:formatCode>_-[$€-2]\ * #,##0.00_-;\-[$€-2]\ * #,##0.00_-;_-[$€-2]\ * "-"??_-;_-@_-</c:formatCode>
                <c:ptCount val="4"/>
                <c:pt idx="0">
                  <c:v>1768.6225513441418</c:v>
                </c:pt>
                <c:pt idx="1">
                  <c:v>1000</c:v>
                </c:pt>
                <c:pt idx="2">
                  <c:v>671.70101816462818</c:v>
                </c:pt>
                <c:pt idx="3">
                  <c:v>502.10636011654373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155-4629-9C7E-DF8EB2FCA0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8159176"/>
        <c:axId val="698160816"/>
      </c:lineChart>
      <c:catAx>
        <c:axId val="698159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/>
                  <a:t>Interest Rate</a:t>
                </a:r>
              </a:p>
            </c:rich>
          </c:tx>
          <c:layout>
            <c:manualLayout>
              <c:xMode val="edge"/>
              <c:yMode val="edge"/>
              <c:x val="0.75461961065028005"/>
              <c:y val="0.898685034361319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50000"/>
                <a:lumOff val="50000"/>
              </a:schemeClr>
            </a:solidFill>
            <a:round/>
            <a:tailEnd type="arrow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8160816"/>
        <c:crosses val="autoZero"/>
        <c:auto val="1"/>
        <c:lblAlgn val="ctr"/>
        <c:lblOffset val="100"/>
        <c:noMultiLvlLbl val="0"/>
      </c:catAx>
      <c:valAx>
        <c:axId val="69816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/>
                  <a:t>Bond Value</a:t>
                </a:r>
              </a:p>
            </c:rich>
          </c:tx>
          <c:layout>
            <c:manualLayout>
              <c:xMode val="edge"/>
              <c:yMode val="edge"/>
              <c:x val="5.7680755410038807E-3"/>
              <c:y val="0.264758683434707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[$€-2]\ * #,##0.00_-;\-[$€-2]\ * #,##0.00_-;_-[$€-2]\ * &quot;-&quot;??_-;_-@_-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50000"/>
                <a:lumOff val="50000"/>
              </a:schemeClr>
            </a:solidFill>
            <a:round/>
            <a:tailEnd type="arrow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815917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42629641306622"/>
          <c:y val="5.0617427806879244E-2"/>
          <c:w val="0.72875809435545602"/>
          <c:h val="0.73218027962126309"/>
        </c:manualLayout>
      </c:layout>
      <c:lineChart>
        <c:grouping val="standard"/>
        <c:varyColors val="0"/>
        <c:ser>
          <c:idx val="0"/>
          <c:order val="0"/>
          <c:spPr>
            <a:ln w="41275" cap="flat" cmpd="sng" algn="ctr">
              <a:solidFill>
                <a:schemeClr val="accent1"/>
              </a:solidFill>
              <a:miter lim="800000"/>
            </a:ln>
            <a:effectLst/>
          </c:spPr>
          <c:marker>
            <c:symbol val="square"/>
            <c:size val="9"/>
            <c:spPr>
              <a:solidFill>
                <a:schemeClr val="accent1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Lecture5!$B$57:$B$69</c:f>
              <c:strCache>
                <c:ptCount val="13"/>
                <c:pt idx="0">
                  <c:v>Oct-20</c:v>
                </c:pt>
                <c:pt idx="1">
                  <c:v>1 Mo</c:v>
                </c:pt>
                <c:pt idx="2">
                  <c:v>2 Mo</c:v>
                </c:pt>
                <c:pt idx="3">
                  <c:v>3 Mo</c:v>
                </c:pt>
                <c:pt idx="4">
                  <c:v>6 Mo</c:v>
                </c:pt>
                <c:pt idx="5">
                  <c:v>1 Yr</c:v>
                </c:pt>
                <c:pt idx="6">
                  <c:v>2 Yr</c:v>
                </c:pt>
                <c:pt idx="7">
                  <c:v>3 Yr</c:v>
                </c:pt>
                <c:pt idx="8">
                  <c:v>5 Yr</c:v>
                </c:pt>
                <c:pt idx="9">
                  <c:v>7 Yr</c:v>
                </c:pt>
                <c:pt idx="10">
                  <c:v>10 Yr</c:v>
                </c:pt>
                <c:pt idx="11">
                  <c:v>20 Yr</c:v>
                </c:pt>
                <c:pt idx="12">
                  <c:v>30 Yr</c:v>
                </c:pt>
              </c:strCache>
            </c:strRef>
          </c:cat>
          <c:val>
            <c:numRef>
              <c:f>Lecture5!$C$57:$C$69</c:f>
              <c:numCache>
                <c:formatCode>General</c:formatCode>
                <c:ptCount val="13"/>
                <c:pt idx="0">
                  <c:v>0.09</c:v>
                </c:pt>
                <c:pt idx="1">
                  <c:v>0.09</c:v>
                </c:pt>
                <c:pt idx="2">
                  <c:v>0.09</c:v>
                </c:pt>
                <c:pt idx="3">
                  <c:v>0.09</c:v>
                </c:pt>
                <c:pt idx="4">
                  <c:v>0.11</c:v>
                </c:pt>
                <c:pt idx="5">
                  <c:v>0.13</c:v>
                </c:pt>
                <c:pt idx="6">
                  <c:v>0.16</c:v>
                </c:pt>
                <c:pt idx="7">
                  <c:v>0.2</c:v>
                </c:pt>
                <c:pt idx="8">
                  <c:v>0.38</c:v>
                </c:pt>
                <c:pt idx="9">
                  <c:v>0.63</c:v>
                </c:pt>
                <c:pt idx="10">
                  <c:v>0.87</c:v>
                </c:pt>
                <c:pt idx="11">
                  <c:v>1.41</c:v>
                </c:pt>
                <c:pt idx="12">
                  <c:v>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DD-4CE5-B571-46D621FCE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6321152"/>
        <c:axId val="756321480"/>
      </c:lineChart>
      <c:catAx>
        <c:axId val="756321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/>
                  <a:t>Maturity</a:t>
                </a:r>
              </a:p>
            </c:rich>
          </c:tx>
          <c:layout>
            <c:manualLayout>
              <c:xMode val="edge"/>
              <c:yMode val="edge"/>
              <c:x val="0.86324784527798737"/>
              <c:y val="0.696967209207480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round/>
            <a:tailEnd type="arrow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6321480"/>
        <c:crosses val="autoZero"/>
        <c:auto val="1"/>
        <c:lblAlgn val="ctr"/>
        <c:lblOffset val="100"/>
        <c:tickMarkSkip val="1"/>
        <c:noMultiLvlLbl val="0"/>
      </c:catAx>
      <c:valAx>
        <c:axId val="756321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/>
                  <a:t>Yield to maturity (%)</a:t>
                </a:r>
              </a:p>
            </c:rich>
          </c:tx>
          <c:layout>
            <c:manualLayout>
              <c:xMode val="edge"/>
              <c:yMode val="edge"/>
              <c:x val="6.2592900331825841E-3"/>
              <c:y val="9.447848528369572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round/>
            <a:tailEnd type="arrow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6321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192102805485481"/>
          <c:y val="5.0925925925925923E-2"/>
          <c:w val="0.61357370914426079"/>
          <c:h val="0.67257456698038087"/>
        </c:manualLayout>
      </c:layout>
      <c:lineChart>
        <c:grouping val="standard"/>
        <c:varyColors val="0"/>
        <c:ser>
          <c:idx val="0"/>
          <c:order val="0"/>
          <c:spPr>
            <a:ln w="41275" cap="flat" cmpd="sng" algn="ctr">
              <a:solidFill>
                <a:schemeClr val="accent1"/>
              </a:solidFill>
              <a:miter lim="800000"/>
            </a:ln>
            <a:effectLst/>
          </c:spPr>
          <c:marker>
            <c:symbol val="none"/>
          </c:marker>
          <c:cat>
            <c:numRef>
              <c:f>Lecture5!$A$34:$A$49</c:f>
              <c:numCache>
                <c:formatCode>General</c:formatCode>
                <c:ptCount val="16"/>
                <c:pt idx="0" formatCode="0%">
                  <c:v>0.01</c:v>
                </c:pt>
                <c:pt idx="3" formatCode="0%">
                  <c:v>7.0000000000000007E-2</c:v>
                </c:pt>
                <c:pt idx="6" formatCode="0%">
                  <c:v>0.13</c:v>
                </c:pt>
                <c:pt idx="9" formatCode="0%">
                  <c:v>0.18999999999999997</c:v>
                </c:pt>
                <c:pt idx="12" formatCode="0%">
                  <c:v>0.24999999999999994</c:v>
                </c:pt>
                <c:pt idx="15" formatCode="0%">
                  <c:v>0.31</c:v>
                </c:pt>
              </c:numCache>
            </c:numRef>
          </c:cat>
          <c:val>
            <c:numRef>
              <c:f>Lecture5!$C$34:$C$49</c:f>
              <c:numCache>
                <c:formatCode>_-[$€-2]\ * #,##0.00_-;\-[$€-2]\ * #,##0.00_-;_-[$€-2]\ * "-"??_-;_-@_-</c:formatCode>
                <c:ptCount val="16"/>
                <c:pt idx="0">
                  <c:v>3322.6937399158842</c:v>
                </c:pt>
                <c:pt idx="1">
                  <c:v>2372.0308944628841</c:v>
                </c:pt>
                <c:pt idx="2">
                  <c:v>1768.6225513441418</c:v>
                </c:pt>
                <c:pt idx="3">
                  <c:v>1372.2712355051756</c:v>
                </c:pt>
                <c:pt idx="4">
                  <c:v>1102.7365404302172</c:v>
                </c:pt>
                <c:pt idx="5">
                  <c:v>913.06207426533865</c:v>
                </c:pt>
                <c:pt idx="6">
                  <c:v>775.13039682006547</c:v>
                </c:pt>
                <c:pt idx="7">
                  <c:v>671.70101816462818</c:v>
                </c:pt>
                <c:pt idx="8">
                  <c:v>591.94272673319131</c:v>
                </c:pt>
                <c:pt idx="9">
                  <c:v>528.88074634312568</c:v>
                </c:pt>
                <c:pt idx="10">
                  <c:v>477.9108082426763</c:v>
                </c:pt>
                <c:pt idx="11">
                  <c:v>435.91778200982174</c:v>
                </c:pt>
                <c:pt idx="12">
                  <c:v>400.74276402357134</c:v>
                </c:pt>
                <c:pt idx="13">
                  <c:v>370.85451322719825</c:v>
                </c:pt>
                <c:pt idx="14">
                  <c:v>345.14284288430645</c:v>
                </c:pt>
                <c:pt idx="15">
                  <c:v>322.78610111521101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11-4497-B8C0-0366C5D9D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7279744"/>
        <c:axId val="817280400"/>
      </c:lineChart>
      <c:catAx>
        <c:axId val="817279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/>
                  <a:t>YTM</a:t>
                </a:r>
              </a:p>
            </c:rich>
          </c:tx>
          <c:layout>
            <c:manualLayout>
              <c:xMode val="edge"/>
              <c:yMode val="edge"/>
              <c:x val="0.91285986046517797"/>
              <c:y val="0.758862869421014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50000"/>
                <a:lumOff val="50000"/>
              </a:schemeClr>
            </a:solidFill>
            <a:round/>
            <a:tailEnd type="arrow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7280400"/>
        <c:crosses val="autoZero"/>
        <c:auto val="1"/>
        <c:lblAlgn val="ctr"/>
        <c:lblOffset val="100"/>
        <c:tickMarkSkip val="4"/>
        <c:noMultiLvlLbl val="0"/>
      </c:catAx>
      <c:valAx>
        <c:axId val="81728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/>
                  <a:t>Bond value</a:t>
                </a:r>
              </a:p>
            </c:rich>
          </c:tx>
          <c:layout>
            <c:manualLayout>
              <c:xMode val="edge"/>
              <c:yMode val="edge"/>
              <c:x val="5.9291175248765348E-3"/>
              <c:y val="0.221485079510329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-[$€-2]\ * #,##0.00_-;\-[$€-2]\ * #,##0.00_-;_-[$€-2]\ * &quot;-&quot;??_-;_-@_-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round/>
            <a:tailEnd type="arrow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727974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D820D-3F6A-4169-933B-89B3B07AC47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EBDDA8-C6BE-41AD-9C88-6DCC29B9FC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Debt as a source of Long Term Finance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154201-B759-466A-B062-DA0D74D8BD6C}" type="parTrans" cxnId="{B75E0ABB-BBC1-48E4-8C86-96B2B612EFF0}">
      <dgm:prSet/>
      <dgm:spPr/>
      <dgm:t>
        <a:bodyPr/>
        <a:lstStyle/>
        <a:p>
          <a:endParaRPr lang="en-US"/>
        </a:p>
      </dgm:t>
    </dgm:pt>
    <dgm:pt modelId="{70076E80-E76B-4BBC-A0F0-817393568234}" type="sibTrans" cxnId="{B75E0ABB-BBC1-48E4-8C86-96B2B612EFF0}">
      <dgm:prSet/>
      <dgm:spPr/>
      <dgm:t>
        <a:bodyPr/>
        <a:lstStyle/>
        <a:p>
          <a:endParaRPr lang="en-US"/>
        </a:p>
      </dgm:t>
    </dgm:pt>
    <dgm:pt modelId="{6FCEFAE3-8161-433C-96FD-675211A5634D}">
      <dgm:prSet custT="1"/>
      <dgm:spPr>
        <a:noFill/>
        <a:ln>
          <a:noFill/>
        </a:ln>
        <a:effectLst/>
      </dgm:spPr>
      <dgm:t>
        <a:bodyPr spcFirstLastPara="0" vert="horz" wrap="square" lIns="75770" tIns="75770" rIns="75770" bIns="75770" numCol="1" spcCol="1270" anchor="ctr" anchorCtr="0"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Understanding the key components of Bonds and relevant calculations</a:t>
          </a:r>
        </a:p>
      </dgm:t>
    </dgm:pt>
    <dgm:pt modelId="{E86817DB-1B76-45C8-82CF-C2BE7F451B71}" type="parTrans" cxnId="{2C813CBA-5909-427A-809B-31A305DAEF20}">
      <dgm:prSet/>
      <dgm:spPr/>
      <dgm:t>
        <a:bodyPr/>
        <a:lstStyle/>
        <a:p>
          <a:endParaRPr lang="en-US"/>
        </a:p>
      </dgm:t>
    </dgm:pt>
    <dgm:pt modelId="{081FE379-0C72-4144-B3F0-AC4E41F2EAA0}" type="sibTrans" cxnId="{2C813CBA-5909-427A-809B-31A305DAEF20}">
      <dgm:prSet/>
      <dgm:spPr/>
      <dgm:t>
        <a:bodyPr/>
        <a:lstStyle/>
        <a:p>
          <a:endParaRPr lang="en-US"/>
        </a:p>
      </dgm:t>
    </dgm:pt>
    <dgm:pt modelId="{0B7FDDFD-655F-4966-93A7-ACED2D6758D8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Understanding the YTM of a bond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258CD603-77CE-4064-9B6B-534C5EBBC6DC}" type="parTrans" cxnId="{9C223AC8-BE62-4707-A47E-7DBCDE2CFA92}">
      <dgm:prSet/>
      <dgm:spPr/>
      <dgm:t>
        <a:bodyPr/>
        <a:lstStyle/>
        <a:p>
          <a:endParaRPr lang="en-US"/>
        </a:p>
      </dgm:t>
    </dgm:pt>
    <dgm:pt modelId="{83F64753-43F2-43F3-80A6-21115A980F6B}" type="sibTrans" cxnId="{9C223AC8-BE62-4707-A47E-7DBCDE2CFA92}">
      <dgm:prSet/>
      <dgm:spPr/>
      <dgm:t>
        <a:bodyPr/>
        <a:lstStyle/>
        <a:p>
          <a:endParaRPr lang="en-US"/>
        </a:p>
      </dgm:t>
    </dgm:pt>
    <dgm:pt modelId="{8F3D7864-A67E-4980-8EEC-F096E4A5A33B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Sources of debt finance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148FEDAC-1DFF-4A8C-B751-90B79D2B38D7}" type="sibTrans" cxnId="{D3F1B6B4-CFFA-4F0C-8151-F35EFDF0B8BB}">
      <dgm:prSet/>
      <dgm:spPr/>
      <dgm:t>
        <a:bodyPr/>
        <a:lstStyle/>
        <a:p>
          <a:endParaRPr lang="en-US"/>
        </a:p>
      </dgm:t>
    </dgm:pt>
    <dgm:pt modelId="{9F1A70AA-84AE-4B3D-8E2C-3BD6C668A859}" type="parTrans" cxnId="{D3F1B6B4-CFFA-4F0C-8151-F35EFDF0B8BB}">
      <dgm:prSet/>
      <dgm:spPr/>
      <dgm:t>
        <a:bodyPr/>
        <a:lstStyle/>
        <a:p>
          <a:endParaRPr lang="en-US"/>
        </a:p>
      </dgm:t>
    </dgm:pt>
    <dgm:pt modelId="{262CDA82-1192-443A-AA18-C2D1343BD67D}" type="pres">
      <dgm:prSet presAssocID="{635D820D-3F6A-4169-933B-89B3B07AC473}" presName="root" presStyleCnt="0">
        <dgm:presLayoutVars>
          <dgm:dir/>
          <dgm:resizeHandles val="exact"/>
        </dgm:presLayoutVars>
      </dgm:prSet>
      <dgm:spPr/>
    </dgm:pt>
    <dgm:pt modelId="{103A7B21-BA1E-4E44-B158-72F7A07E09F7}" type="pres">
      <dgm:prSet presAssocID="{EDEBDDA8-C6BE-41AD-9C88-6DCC29B9FC6B}" presName="compNode" presStyleCnt="0"/>
      <dgm:spPr/>
    </dgm:pt>
    <dgm:pt modelId="{B69CCFB0-6C1F-4790-8677-D5F70B93E05D}" type="pres">
      <dgm:prSet presAssocID="{EDEBDDA8-C6BE-41AD-9C88-6DCC29B9FC6B}" presName="bgRect" presStyleLbl="bgShp" presStyleIdx="0" presStyleCnt="4"/>
      <dgm:spPr/>
    </dgm:pt>
    <dgm:pt modelId="{6AE7B6DA-DCF0-4941-B35E-FED592CAD9C7}" type="pres">
      <dgm:prSet presAssocID="{EDEBDDA8-C6BE-41AD-9C88-6DCC29B9FC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29FE1B13-E724-485C-A200-D60CBEE67033}" type="pres">
      <dgm:prSet presAssocID="{EDEBDDA8-C6BE-41AD-9C88-6DCC29B9FC6B}" presName="spaceRect" presStyleCnt="0"/>
      <dgm:spPr/>
    </dgm:pt>
    <dgm:pt modelId="{B7AF9EC2-7666-4444-BBD8-9355F2C63196}" type="pres">
      <dgm:prSet presAssocID="{EDEBDDA8-C6BE-41AD-9C88-6DCC29B9FC6B}" presName="parTx" presStyleLbl="revTx" presStyleIdx="0" presStyleCnt="4" custLinFactNeighborX="-408" custLinFactNeighborY="-197">
        <dgm:presLayoutVars>
          <dgm:chMax val="0"/>
          <dgm:chPref val="0"/>
        </dgm:presLayoutVars>
      </dgm:prSet>
      <dgm:spPr/>
    </dgm:pt>
    <dgm:pt modelId="{D5A2CA2C-F765-4434-A84E-2FD85DAF1E86}" type="pres">
      <dgm:prSet presAssocID="{70076E80-E76B-4BBC-A0F0-817393568234}" presName="sibTrans" presStyleCnt="0"/>
      <dgm:spPr/>
    </dgm:pt>
    <dgm:pt modelId="{E514EAFE-FC11-4B3F-8013-4D4292B72485}" type="pres">
      <dgm:prSet presAssocID="{8F3D7864-A67E-4980-8EEC-F096E4A5A33B}" presName="compNode" presStyleCnt="0"/>
      <dgm:spPr/>
    </dgm:pt>
    <dgm:pt modelId="{61B30C71-B6B1-4EDB-8941-25699A6AA799}" type="pres">
      <dgm:prSet presAssocID="{8F3D7864-A67E-4980-8EEC-F096E4A5A33B}" presName="bgRect" presStyleLbl="bgShp" presStyleIdx="1" presStyleCnt="4"/>
      <dgm:spPr/>
    </dgm:pt>
    <dgm:pt modelId="{06FD45ED-93A9-4CB5-BBC6-41722BB2CC37}" type="pres">
      <dgm:prSet presAssocID="{8F3D7864-A67E-4980-8EEC-F096E4A5A3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 with solid fill"/>
        </a:ext>
      </dgm:extLst>
    </dgm:pt>
    <dgm:pt modelId="{9B4B4641-26DA-4FEC-B665-84241DB0B22C}" type="pres">
      <dgm:prSet presAssocID="{8F3D7864-A67E-4980-8EEC-F096E4A5A33B}" presName="spaceRect" presStyleCnt="0"/>
      <dgm:spPr/>
    </dgm:pt>
    <dgm:pt modelId="{48B4CC27-4AE8-44EB-98DC-4F45EE52C0EB}" type="pres">
      <dgm:prSet presAssocID="{8F3D7864-A67E-4980-8EEC-F096E4A5A33B}" presName="parTx" presStyleLbl="revTx" presStyleIdx="1" presStyleCnt="4" custLinFactNeighborX="-461" custLinFactNeighborY="-14686">
        <dgm:presLayoutVars>
          <dgm:chMax val="0"/>
          <dgm:chPref val="0"/>
        </dgm:presLayoutVars>
      </dgm:prSet>
      <dgm:spPr/>
    </dgm:pt>
    <dgm:pt modelId="{F684393D-6534-4779-B93F-403378B5349D}" type="pres">
      <dgm:prSet presAssocID="{148FEDAC-1DFF-4A8C-B751-90B79D2B38D7}" presName="sibTrans" presStyleCnt="0"/>
      <dgm:spPr/>
    </dgm:pt>
    <dgm:pt modelId="{0ED59449-DEDB-47C9-87BE-C02FF337188B}" type="pres">
      <dgm:prSet presAssocID="{6FCEFAE3-8161-433C-96FD-675211A5634D}" presName="compNode" presStyleCnt="0"/>
      <dgm:spPr/>
    </dgm:pt>
    <dgm:pt modelId="{D9483691-DD36-405D-BB66-9F59F2F1E989}" type="pres">
      <dgm:prSet presAssocID="{6FCEFAE3-8161-433C-96FD-675211A5634D}" presName="bgRect" presStyleLbl="bgShp" presStyleIdx="2" presStyleCnt="4" custLinFactNeighborY="2954"/>
      <dgm:spPr/>
    </dgm:pt>
    <dgm:pt modelId="{5E20F1DA-74F8-4710-885C-433C2757E97E}" type="pres">
      <dgm:prSet presAssocID="{6FCEFAE3-8161-433C-96FD-675211A563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1B73FCB2-5DE4-4B2F-A030-B78C1995B2EB}" type="pres">
      <dgm:prSet presAssocID="{6FCEFAE3-8161-433C-96FD-675211A5634D}" presName="spaceRect" presStyleCnt="0"/>
      <dgm:spPr/>
    </dgm:pt>
    <dgm:pt modelId="{D6AAB94E-82BD-4674-9EC8-70CF34F5480A}" type="pres">
      <dgm:prSet presAssocID="{6FCEFAE3-8161-433C-96FD-675211A5634D}" presName="parTx" presStyleLbl="revTx" presStyleIdx="2" presStyleCnt="4" custLinFactNeighborY="-18874">
        <dgm:presLayoutVars>
          <dgm:chMax val="0"/>
          <dgm:chPref val="0"/>
        </dgm:presLayoutVars>
      </dgm:prSet>
      <dgm:spPr>
        <a:xfrm>
          <a:off x="826912" y="1656139"/>
          <a:ext cx="6805935" cy="715941"/>
        </a:xfrm>
        <a:prstGeom prst="rect">
          <a:avLst/>
        </a:prstGeom>
      </dgm:spPr>
    </dgm:pt>
    <dgm:pt modelId="{92BD4CB9-700E-4D5A-8EBF-0A5B80174042}" type="pres">
      <dgm:prSet presAssocID="{081FE379-0C72-4144-B3F0-AC4E41F2EAA0}" presName="sibTrans" presStyleCnt="0"/>
      <dgm:spPr/>
    </dgm:pt>
    <dgm:pt modelId="{131DC94B-195B-497B-9296-A32FBF036EC7}" type="pres">
      <dgm:prSet presAssocID="{0B7FDDFD-655F-4966-93A7-ACED2D6758D8}" presName="compNode" presStyleCnt="0"/>
      <dgm:spPr/>
    </dgm:pt>
    <dgm:pt modelId="{CF075505-E8EA-4669-BABA-401DC8E15F63}" type="pres">
      <dgm:prSet presAssocID="{0B7FDDFD-655F-4966-93A7-ACED2D6758D8}" presName="bgRect" presStyleLbl="bgShp" presStyleIdx="3" presStyleCnt="4" custLinFactNeighborX="-109" custLinFactNeighborY="7790"/>
      <dgm:spPr/>
    </dgm:pt>
    <dgm:pt modelId="{20AA3712-49CF-4236-AB50-E8F4285D1C0B}" type="pres">
      <dgm:prSet presAssocID="{0B7FDDFD-655F-4966-93A7-ACED2D6758D8}" presName="iconRect" presStyleLbl="node1" presStyleIdx="3" presStyleCnt="4" custLinFactNeighborX="-139" custLinFactNeighborY="-36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k with solid fill"/>
        </a:ext>
      </dgm:extLst>
    </dgm:pt>
    <dgm:pt modelId="{2B860609-9F78-462C-A57A-62C3C1BEF49A}" type="pres">
      <dgm:prSet presAssocID="{0B7FDDFD-655F-4966-93A7-ACED2D6758D8}" presName="spaceRect" presStyleCnt="0"/>
      <dgm:spPr/>
    </dgm:pt>
    <dgm:pt modelId="{0AE4A487-9A78-4477-AD2C-F1EA03B28256}" type="pres">
      <dgm:prSet presAssocID="{0B7FDDFD-655F-4966-93A7-ACED2D6758D8}" presName="parTx" presStyleLbl="revTx" presStyleIdx="3" presStyleCnt="4" custScaleX="95490" custLinFactNeighborX="-1873" custLinFactNeighborY="-2251">
        <dgm:presLayoutVars>
          <dgm:chMax val="0"/>
          <dgm:chPref val="0"/>
        </dgm:presLayoutVars>
      </dgm:prSet>
      <dgm:spPr/>
    </dgm:pt>
  </dgm:ptLst>
  <dgm:cxnLst>
    <dgm:cxn modelId="{075EE424-D9B4-4E46-9665-4C6F4605B129}" type="presOf" srcId="{0B7FDDFD-655F-4966-93A7-ACED2D6758D8}" destId="{0AE4A487-9A78-4477-AD2C-F1EA03B28256}" srcOrd="0" destOrd="0" presId="urn:microsoft.com/office/officeart/2018/2/layout/IconVerticalSolidList"/>
    <dgm:cxn modelId="{0D9EBC52-F8D5-4A84-99DA-3C84F70E032E}" type="presOf" srcId="{8F3D7864-A67E-4980-8EEC-F096E4A5A33B}" destId="{48B4CC27-4AE8-44EB-98DC-4F45EE52C0EB}" srcOrd="0" destOrd="0" presId="urn:microsoft.com/office/officeart/2018/2/layout/IconVerticalSolidList"/>
    <dgm:cxn modelId="{4F1F945A-D164-481A-9009-F98C2D505015}" type="presOf" srcId="{6FCEFAE3-8161-433C-96FD-675211A5634D}" destId="{D6AAB94E-82BD-4674-9EC8-70CF34F5480A}" srcOrd="0" destOrd="0" presId="urn:microsoft.com/office/officeart/2018/2/layout/IconVerticalSolidList"/>
    <dgm:cxn modelId="{33868E94-7799-41F0-B23B-1D6D3C531263}" type="presOf" srcId="{EDEBDDA8-C6BE-41AD-9C88-6DCC29B9FC6B}" destId="{B7AF9EC2-7666-4444-BBD8-9355F2C63196}" srcOrd="0" destOrd="0" presId="urn:microsoft.com/office/officeart/2018/2/layout/IconVerticalSolidList"/>
    <dgm:cxn modelId="{1FCE48A7-2CA1-4F98-9830-092517DC53B3}" type="presOf" srcId="{635D820D-3F6A-4169-933B-89B3B07AC473}" destId="{262CDA82-1192-443A-AA18-C2D1343BD67D}" srcOrd="0" destOrd="0" presId="urn:microsoft.com/office/officeart/2018/2/layout/IconVerticalSolidList"/>
    <dgm:cxn modelId="{D3F1B6B4-CFFA-4F0C-8151-F35EFDF0B8BB}" srcId="{635D820D-3F6A-4169-933B-89B3B07AC473}" destId="{8F3D7864-A67E-4980-8EEC-F096E4A5A33B}" srcOrd="1" destOrd="0" parTransId="{9F1A70AA-84AE-4B3D-8E2C-3BD6C668A859}" sibTransId="{148FEDAC-1DFF-4A8C-B751-90B79D2B38D7}"/>
    <dgm:cxn modelId="{2C813CBA-5909-427A-809B-31A305DAEF20}" srcId="{635D820D-3F6A-4169-933B-89B3B07AC473}" destId="{6FCEFAE3-8161-433C-96FD-675211A5634D}" srcOrd="2" destOrd="0" parTransId="{E86817DB-1B76-45C8-82CF-C2BE7F451B71}" sibTransId="{081FE379-0C72-4144-B3F0-AC4E41F2EAA0}"/>
    <dgm:cxn modelId="{B75E0ABB-BBC1-48E4-8C86-96B2B612EFF0}" srcId="{635D820D-3F6A-4169-933B-89B3B07AC473}" destId="{EDEBDDA8-C6BE-41AD-9C88-6DCC29B9FC6B}" srcOrd="0" destOrd="0" parTransId="{B9154201-B759-466A-B062-DA0D74D8BD6C}" sibTransId="{70076E80-E76B-4BBC-A0F0-817393568234}"/>
    <dgm:cxn modelId="{9C223AC8-BE62-4707-A47E-7DBCDE2CFA92}" srcId="{635D820D-3F6A-4169-933B-89B3B07AC473}" destId="{0B7FDDFD-655F-4966-93A7-ACED2D6758D8}" srcOrd="3" destOrd="0" parTransId="{258CD603-77CE-4064-9B6B-534C5EBBC6DC}" sibTransId="{83F64753-43F2-43F3-80A6-21115A980F6B}"/>
    <dgm:cxn modelId="{21DCF06F-C3EF-4F6D-A62D-35A90CD59FED}" type="presParOf" srcId="{262CDA82-1192-443A-AA18-C2D1343BD67D}" destId="{103A7B21-BA1E-4E44-B158-72F7A07E09F7}" srcOrd="0" destOrd="0" presId="urn:microsoft.com/office/officeart/2018/2/layout/IconVerticalSolidList"/>
    <dgm:cxn modelId="{4B379F65-8981-4924-9B46-A3B537F9D450}" type="presParOf" srcId="{103A7B21-BA1E-4E44-B158-72F7A07E09F7}" destId="{B69CCFB0-6C1F-4790-8677-D5F70B93E05D}" srcOrd="0" destOrd="0" presId="urn:microsoft.com/office/officeart/2018/2/layout/IconVerticalSolidList"/>
    <dgm:cxn modelId="{DB353766-8969-4534-83AF-B43BC4E49965}" type="presParOf" srcId="{103A7B21-BA1E-4E44-B158-72F7A07E09F7}" destId="{6AE7B6DA-DCF0-4941-B35E-FED592CAD9C7}" srcOrd="1" destOrd="0" presId="urn:microsoft.com/office/officeart/2018/2/layout/IconVerticalSolidList"/>
    <dgm:cxn modelId="{6269B74B-1301-4833-9703-D932628A3A3B}" type="presParOf" srcId="{103A7B21-BA1E-4E44-B158-72F7A07E09F7}" destId="{29FE1B13-E724-485C-A200-D60CBEE67033}" srcOrd="2" destOrd="0" presId="urn:microsoft.com/office/officeart/2018/2/layout/IconVerticalSolidList"/>
    <dgm:cxn modelId="{14628E5F-7952-4A71-ACBA-EFC6276CEDD4}" type="presParOf" srcId="{103A7B21-BA1E-4E44-B158-72F7A07E09F7}" destId="{B7AF9EC2-7666-4444-BBD8-9355F2C63196}" srcOrd="3" destOrd="0" presId="urn:microsoft.com/office/officeart/2018/2/layout/IconVerticalSolidList"/>
    <dgm:cxn modelId="{283CA498-7987-47C5-8D49-8756A82686FB}" type="presParOf" srcId="{262CDA82-1192-443A-AA18-C2D1343BD67D}" destId="{D5A2CA2C-F765-4434-A84E-2FD85DAF1E86}" srcOrd="1" destOrd="0" presId="urn:microsoft.com/office/officeart/2018/2/layout/IconVerticalSolidList"/>
    <dgm:cxn modelId="{91EA6BA5-B900-4C79-80B3-96A690F7AD57}" type="presParOf" srcId="{262CDA82-1192-443A-AA18-C2D1343BD67D}" destId="{E514EAFE-FC11-4B3F-8013-4D4292B72485}" srcOrd="2" destOrd="0" presId="urn:microsoft.com/office/officeart/2018/2/layout/IconVerticalSolidList"/>
    <dgm:cxn modelId="{AACC2D05-E9E6-4932-93DB-780CE60FDD29}" type="presParOf" srcId="{E514EAFE-FC11-4B3F-8013-4D4292B72485}" destId="{61B30C71-B6B1-4EDB-8941-25699A6AA799}" srcOrd="0" destOrd="0" presId="urn:microsoft.com/office/officeart/2018/2/layout/IconVerticalSolidList"/>
    <dgm:cxn modelId="{B80BAD75-D809-4911-8F0E-C03DB4EF3503}" type="presParOf" srcId="{E514EAFE-FC11-4B3F-8013-4D4292B72485}" destId="{06FD45ED-93A9-4CB5-BBC6-41722BB2CC37}" srcOrd="1" destOrd="0" presId="urn:microsoft.com/office/officeart/2018/2/layout/IconVerticalSolidList"/>
    <dgm:cxn modelId="{8F9A2F4C-FA5F-411C-8359-A5C03DD1409D}" type="presParOf" srcId="{E514EAFE-FC11-4B3F-8013-4D4292B72485}" destId="{9B4B4641-26DA-4FEC-B665-84241DB0B22C}" srcOrd="2" destOrd="0" presId="urn:microsoft.com/office/officeart/2018/2/layout/IconVerticalSolidList"/>
    <dgm:cxn modelId="{E037BD84-E667-4373-A6F1-B3F3E65C7279}" type="presParOf" srcId="{E514EAFE-FC11-4B3F-8013-4D4292B72485}" destId="{48B4CC27-4AE8-44EB-98DC-4F45EE52C0EB}" srcOrd="3" destOrd="0" presId="urn:microsoft.com/office/officeart/2018/2/layout/IconVerticalSolidList"/>
    <dgm:cxn modelId="{97094181-0CF2-4033-945B-69E9823F3D78}" type="presParOf" srcId="{262CDA82-1192-443A-AA18-C2D1343BD67D}" destId="{F684393D-6534-4779-B93F-403378B5349D}" srcOrd="3" destOrd="0" presId="urn:microsoft.com/office/officeart/2018/2/layout/IconVerticalSolidList"/>
    <dgm:cxn modelId="{E23A5A8E-CB2E-4FDA-8AD2-BDC3EF098ECE}" type="presParOf" srcId="{262CDA82-1192-443A-AA18-C2D1343BD67D}" destId="{0ED59449-DEDB-47C9-87BE-C02FF337188B}" srcOrd="4" destOrd="0" presId="urn:microsoft.com/office/officeart/2018/2/layout/IconVerticalSolidList"/>
    <dgm:cxn modelId="{ACC97681-673D-4D57-A074-5BF69A33231D}" type="presParOf" srcId="{0ED59449-DEDB-47C9-87BE-C02FF337188B}" destId="{D9483691-DD36-405D-BB66-9F59F2F1E989}" srcOrd="0" destOrd="0" presId="urn:microsoft.com/office/officeart/2018/2/layout/IconVerticalSolidList"/>
    <dgm:cxn modelId="{E4C6731B-1E11-42E0-8F2B-D929B7BF6748}" type="presParOf" srcId="{0ED59449-DEDB-47C9-87BE-C02FF337188B}" destId="{5E20F1DA-74F8-4710-885C-433C2757E97E}" srcOrd="1" destOrd="0" presId="urn:microsoft.com/office/officeart/2018/2/layout/IconVerticalSolidList"/>
    <dgm:cxn modelId="{0E24B4D6-EC5D-49D4-8184-81BE0187E8BB}" type="presParOf" srcId="{0ED59449-DEDB-47C9-87BE-C02FF337188B}" destId="{1B73FCB2-5DE4-4B2F-A030-B78C1995B2EB}" srcOrd="2" destOrd="0" presId="urn:microsoft.com/office/officeart/2018/2/layout/IconVerticalSolidList"/>
    <dgm:cxn modelId="{1182BB39-B651-47DD-9581-BD60B78C9020}" type="presParOf" srcId="{0ED59449-DEDB-47C9-87BE-C02FF337188B}" destId="{D6AAB94E-82BD-4674-9EC8-70CF34F5480A}" srcOrd="3" destOrd="0" presId="urn:microsoft.com/office/officeart/2018/2/layout/IconVerticalSolidList"/>
    <dgm:cxn modelId="{4FB3DBDA-14A2-458D-8077-D42FEEEE1D47}" type="presParOf" srcId="{262CDA82-1192-443A-AA18-C2D1343BD67D}" destId="{92BD4CB9-700E-4D5A-8EBF-0A5B80174042}" srcOrd="5" destOrd="0" presId="urn:microsoft.com/office/officeart/2018/2/layout/IconVerticalSolidList"/>
    <dgm:cxn modelId="{DE2C3D9F-EE7C-40AC-94A3-8AE16BFF50BD}" type="presParOf" srcId="{262CDA82-1192-443A-AA18-C2D1343BD67D}" destId="{131DC94B-195B-497B-9296-A32FBF036EC7}" srcOrd="6" destOrd="0" presId="urn:microsoft.com/office/officeart/2018/2/layout/IconVerticalSolidList"/>
    <dgm:cxn modelId="{62E6F1BC-2E4C-45F2-8944-79E026AEA07D}" type="presParOf" srcId="{131DC94B-195B-497B-9296-A32FBF036EC7}" destId="{CF075505-E8EA-4669-BABA-401DC8E15F63}" srcOrd="0" destOrd="0" presId="urn:microsoft.com/office/officeart/2018/2/layout/IconVerticalSolidList"/>
    <dgm:cxn modelId="{C360F8A3-D138-4C6E-87E3-8A4F11BB6A66}" type="presParOf" srcId="{131DC94B-195B-497B-9296-A32FBF036EC7}" destId="{20AA3712-49CF-4236-AB50-E8F4285D1C0B}" srcOrd="1" destOrd="0" presId="urn:microsoft.com/office/officeart/2018/2/layout/IconVerticalSolidList"/>
    <dgm:cxn modelId="{07F8E530-9F36-4A29-A187-0C5E7768D7A5}" type="presParOf" srcId="{131DC94B-195B-497B-9296-A32FBF036EC7}" destId="{2B860609-9F78-462C-A57A-62C3C1BEF49A}" srcOrd="2" destOrd="0" presId="urn:microsoft.com/office/officeart/2018/2/layout/IconVerticalSolidList"/>
    <dgm:cxn modelId="{23D652CF-3805-47CF-83AA-4A4C394309E8}" type="presParOf" srcId="{131DC94B-195B-497B-9296-A32FBF036EC7}" destId="{0AE4A487-9A78-4477-AD2C-F1EA03B282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5D820D-3F6A-4169-933B-89B3B07AC47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EBDDA8-C6BE-41AD-9C88-6DCC29B9FC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Debt as a source of Long Term Finance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154201-B759-466A-B062-DA0D74D8BD6C}" type="parTrans" cxnId="{B75E0ABB-BBC1-48E4-8C86-96B2B612EFF0}">
      <dgm:prSet/>
      <dgm:spPr/>
      <dgm:t>
        <a:bodyPr/>
        <a:lstStyle/>
        <a:p>
          <a:endParaRPr lang="en-US"/>
        </a:p>
      </dgm:t>
    </dgm:pt>
    <dgm:pt modelId="{70076E80-E76B-4BBC-A0F0-817393568234}" type="sibTrans" cxnId="{B75E0ABB-BBC1-48E4-8C86-96B2B612EFF0}">
      <dgm:prSet/>
      <dgm:spPr/>
      <dgm:t>
        <a:bodyPr/>
        <a:lstStyle/>
        <a:p>
          <a:endParaRPr lang="en-US"/>
        </a:p>
      </dgm:t>
    </dgm:pt>
    <dgm:pt modelId="{6FCEFAE3-8161-433C-96FD-675211A5634D}">
      <dgm:prSet custT="1"/>
      <dgm:spPr>
        <a:noFill/>
        <a:ln>
          <a:noFill/>
        </a:ln>
        <a:effectLst/>
      </dgm:spPr>
      <dgm:t>
        <a:bodyPr spcFirstLastPara="0" vert="horz" wrap="square" lIns="75770" tIns="75770" rIns="75770" bIns="75770" numCol="1" spcCol="1270" anchor="ctr" anchorCtr="0"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Understanding the key components of Bonds and relevant calculations</a:t>
          </a:r>
        </a:p>
      </dgm:t>
    </dgm:pt>
    <dgm:pt modelId="{E86817DB-1B76-45C8-82CF-C2BE7F451B71}" type="parTrans" cxnId="{2C813CBA-5909-427A-809B-31A305DAEF20}">
      <dgm:prSet/>
      <dgm:spPr/>
      <dgm:t>
        <a:bodyPr/>
        <a:lstStyle/>
        <a:p>
          <a:endParaRPr lang="en-US"/>
        </a:p>
      </dgm:t>
    </dgm:pt>
    <dgm:pt modelId="{081FE379-0C72-4144-B3F0-AC4E41F2EAA0}" type="sibTrans" cxnId="{2C813CBA-5909-427A-809B-31A305DAEF20}">
      <dgm:prSet/>
      <dgm:spPr/>
      <dgm:t>
        <a:bodyPr/>
        <a:lstStyle/>
        <a:p>
          <a:endParaRPr lang="en-US"/>
        </a:p>
      </dgm:t>
    </dgm:pt>
    <dgm:pt modelId="{0B7FDDFD-655F-4966-93A7-ACED2D6758D8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Understanding the YTM of a bond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258CD603-77CE-4064-9B6B-534C5EBBC6DC}" type="parTrans" cxnId="{9C223AC8-BE62-4707-A47E-7DBCDE2CFA92}">
      <dgm:prSet/>
      <dgm:spPr/>
      <dgm:t>
        <a:bodyPr/>
        <a:lstStyle/>
        <a:p>
          <a:endParaRPr lang="en-US"/>
        </a:p>
      </dgm:t>
    </dgm:pt>
    <dgm:pt modelId="{83F64753-43F2-43F3-80A6-21115A980F6B}" type="sibTrans" cxnId="{9C223AC8-BE62-4707-A47E-7DBCDE2CFA92}">
      <dgm:prSet/>
      <dgm:spPr/>
      <dgm:t>
        <a:bodyPr/>
        <a:lstStyle/>
        <a:p>
          <a:endParaRPr lang="en-US"/>
        </a:p>
      </dgm:t>
    </dgm:pt>
    <dgm:pt modelId="{8F3D7864-A67E-4980-8EEC-F096E4A5A33B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Sources of debt finance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148FEDAC-1DFF-4A8C-B751-90B79D2B38D7}" type="sibTrans" cxnId="{D3F1B6B4-CFFA-4F0C-8151-F35EFDF0B8BB}">
      <dgm:prSet/>
      <dgm:spPr/>
      <dgm:t>
        <a:bodyPr/>
        <a:lstStyle/>
        <a:p>
          <a:endParaRPr lang="en-US"/>
        </a:p>
      </dgm:t>
    </dgm:pt>
    <dgm:pt modelId="{9F1A70AA-84AE-4B3D-8E2C-3BD6C668A859}" type="parTrans" cxnId="{D3F1B6B4-CFFA-4F0C-8151-F35EFDF0B8BB}">
      <dgm:prSet/>
      <dgm:spPr/>
      <dgm:t>
        <a:bodyPr/>
        <a:lstStyle/>
        <a:p>
          <a:endParaRPr lang="en-US"/>
        </a:p>
      </dgm:t>
    </dgm:pt>
    <dgm:pt modelId="{262CDA82-1192-443A-AA18-C2D1343BD67D}" type="pres">
      <dgm:prSet presAssocID="{635D820D-3F6A-4169-933B-89B3B07AC473}" presName="root" presStyleCnt="0">
        <dgm:presLayoutVars>
          <dgm:dir/>
          <dgm:resizeHandles val="exact"/>
        </dgm:presLayoutVars>
      </dgm:prSet>
      <dgm:spPr/>
    </dgm:pt>
    <dgm:pt modelId="{103A7B21-BA1E-4E44-B158-72F7A07E09F7}" type="pres">
      <dgm:prSet presAssocID="{EDEBDDA8-C6BE-41AD-9C88-6DCC29B9FC6B}" presName="compNode" presStyleCnt="0"/>
      <dgm:spPr/>
    </dgm:pt>
    <dgm:pt modelId="{B69CCFB0-6C1F-4790-8677-D5F70B93E05D}" type="pres">
      <dgm:prSet presAssocID="{EDEBDDA8-C6BE-41AD-9C88-6DCC29B9FC6B}" presName="bgRect" presStyleLbl="bgShp" presStyleIdx="0" presStyleCnt="4"/>
      <dgm:spPr/>
    </dgm:pt>
    <dgm:pt modelId="{6AE7B6DA-DCF0-4941-B35E-FED592CAD9C7}" type="pres">
      <dgm:prSet presAssocID="{EDEBDDA8-C6BE-41AD-9C88-6DCC29B9FC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29FE1B13-E724-485C-A200-D60CBEE67033}" type="pres">
      <dgm:prSet presAssocID="{EDEBDDA8-C6BE-41AD-9C88-6DCC29B9FC6B}" presName="spaceRect" presStyleCnt="0"/>
      <dgm:spPr/>
    </dgm:pt>
    <dgm:pt modelId="{B7AF9EC2-7666-4444-BBD8-9355F2C63196}" type="pres">
      <dgm:prSet presAssocID="{EDEBDDA8-C6BE-41AD-9C88-6DCC29B9FC6B}" presName="parTx" presStyleLbl="revTx" presStyleIdx="0" presStyleCnt="4" custLinFactNeighborX="-408" custLinFactNeighborY="-197">
        <dgm:presLayoutVars>
          <dgm:chMax val="0"/>
          <dgm:chPref val="0"/>
        </dgm:presLayoutVars>
      </dgm:prSet>
      <dgm:spPr/>
    </dgm:pt>
    <dgm:pt modelId="{D5A2CA2C-F765-4434-A84E-2FD85DAF1E86}" type="pres">
      <dgm:prSet presAssocID="{70076E80-E76B-4BBC-A0F0-817393568234}" presName="sibTrans" presStyleCnt="0"/>
      <dgm:spPr/>
    </dgm:pt>
    <dgm:pt modelId="{E514EAFE-FC11-4B3F-8013-4D4292B72485}" type="pres">
      <dgm:prSet presAssocID="{8F3D7864-A67E-4980-8EEC-F096E4A5A33B}" presName="compNode" presStyleCnt="0"/>
      <dgm:spPr/>
    </dgm:pt>
    <dgm:pt modelId="{61B30C71-B6B1-4EDB-8941-25699A6AA799}" type="pres">
      <dgm:prSet presAssocID="{8F3D7864-A67E-4980-8EEC-F096E4A5A33B}" presName="bgRect" presStyleLbl="bgShp" presStyleIdx="1" presStyleCnt="4"/>
      <dgm:spPr/>
    </dgm:pt>
    <dgm:pt modelId="{06FD45ED-93A9-4CB5-BBC6-41722BB2CC37}" type="pres">
      <dgm:prSet presAssocID="{8F3D7864-A67E-4980-8EEC-F096E4A5A3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 with solid fill"/>
        </a:ext>
      </dgm:extLst>
    </dgm:pt>
    <dgm:pt modelId="{9B4B4641-26DA-4FEC-B665-84241DB0B22C}" type="pres">
      <dgm:prSet presAssocID="{8F3D7864-A67E-4980-8EEC-F096E4A5A33B}" presName="spaceRect" presStyleCnt="0"/>
      <dgm:spPr/>
    </dgm:pt>
    <dgm:pt modelId="{48B4CC27-4AE8-44EB-98DC-4F45EE52C0EB}" type="pres">
      <dgm:prSet presAssocID="{8F3D7864-A67E-4980-8EEC-F096E4A5A33B}" presName="parTx" presStyleLbl="revTx" presStyleIdx="1" presStyleCnt="4" custLinFactNeighborX="-461" custLinFactNeighborY="-14686">
        <dgm:presLayoutVars>
          <dgm:chMax val="0"/>
          <dgm:chPref val="0"/>
        </dgm:presLayoutVars>
      </dgm:prSet>
      <dgm:spPr/>
    </dgm:pt>
    <dgm:pt modelId="{F684393D-6534-4779-B93F-403378B5349D}" type="pres">
      <dgm:prSet presAssocID="{148FEDAC-1DFF-4A8C-B751-90B79D2B38D7}" presName="sibTrans" presStyleCnt="0"/>
      <dgm:spPr/>
    </dgm:pt>
    <dgm:pt modelId="{0ED59449-DEDB-47C9-87BE-C02FF337188B}" type="pres">
      <dgm:prSet presAssocID="{6FCEFAE3-8161-433C-96FD-675211A5634D}" presName="compNode" presStyleCnt="0"/>
      <dgm:spPr/>
    </dgm:pt>
    <dgm:pt modelId="{D9483691-DD36-405D-BB66-9F59F2F1E989}" type="pres">
      <dgm:prSet presAssocID="{6FCEFAE3-8161-433C-96FD-675211A5634D}" presName="bgRect" presStyleLbl="bgShp" presStyleIdx="2" presStyleCnt="4" custLinFactNeighborY="2954"/>
      <dgm:spPr/>
    </dgm:pt>
    <dgm:pt modelId="{5E20F1DA-74F8-4710-885C-433C2757E97E}" type="pres">
      <dgm:prSet presAssocID="{6FCEFAE3-8161-433C-96FD-675211A563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1B73FCB2-5DE4-4B2F-A030-B78C1995B2EB}" type="pres">
      <dgm:prSet presAssocID="{6FCEFAE3-8161-433C-96FD-675211A5634D}" presName="spaceRect" presStyleCnt="0"/>
      <dgm:spPr/>
    </dgm:pt>
    <dgm:pt modelId="{D6AAB94E-82BD-4674-9EC8-70CF34F5480A}" type="pres">
      <dgm:prSet presAssocID="{6FCEFAE3-8161-433C-96FD-675211A5634D}" presName="parTx" presStyleLbl="revTx" presStyleIdx="2" presStyleCnt="4" custLinFactNeighborY="-18874">
        <dgm:presLayoutVars>
          <dgm:chMax val="0"/>
          <dgm:chPref val="0"/>
        </dgm:presLayoutVars>
      </dgm:prSet>
      <dgm:spPr>
        <a:xfrm>
          <a:off x="826912" y="1656139"/>
          <a:ext cx="6805935" cy="715941"/>
        </a:xfrm>
        <a:prstGeom prst="rect">
          <a:avLst/>
        </a:prstGeom>
      </dgm:spPr>
    </dgm:pt>
    <dgm:pt modelId="{92BD4CB9-700E-4D5A-8EBF-0A5B80174042}" type="pres">
      <dgm:prSet presAssocID="{081FE379-0C72-4144-B3F0-AC4E41F2EAA0}" presName="sibTrans" presStyleCnt="0"/>
      <dgm:spPr/>
    </dgm:pt>
    <dgm:pt modelId="{131DC94B-195B-497B-9296-A32FBF036EC7}" type="pres">
      <dgm:prSet presAssocID="{0B7FDDFD-655F-4966-93A7-ACED2D6758D8}" presName="compNode" presStyleCnt="0"/>
      <dgm:spPr/>
    </dgm:pt>
    <dgm:pt modelId="{CF075505-E8EA-4669-BABA-401DC8E15F63}" type="pres">
      <dgm:prSet presAssocID="{0B7FDDFD-655F-4966-93A7-ACED2D6758D8}" presName="bgRect" presStyleLbl="bgShp" presStyleIdx="3" presStyleCnt="4" custLinFactNeighborX="-109" custLinFactNeighborY="7790"/>
      <dgm:spPr/>
    </dgm:pt>
    <dgm:pt modelId="{20AA3712-49CF-4236-AB50-E8F4285D1C0B}" type="pres">
      <dgm:prSet presAssocID="{0B7FDDFD-655F-4966-93A7-ACED2D6758D8}" presName="iconRect" presStyleLbl="node1" presStyleIdx="3" presStyleCnt="4" custLinFactNeighborX="-139" custLinFactNeighborY="-36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k with solid fill"/>
        </a:ext>
      </dgm:extLst>
    </dgm:pt>
    <dgm:pt modelId="{2B860609-9F78-462C-A57A-62C3C1BEF49A}" type="pres">
      <dgm:prSet presAssocID="{0B7FDDFD-655F-4966-93A7-ACED2D6758D8}" presName="spaceRect" presStyleCnt="0"/>
      <dgm:spPr/>
    </dgm:pt>
    <dgm:pt modelId="{0AE4A487-9A78-4477-AD2C-F1EA03B28256}" type="pres">
      <dgm:prSet presAssocID="{0B7FDDFD-655F-4966-93A7-ACED2D6758D8}" presName="parTx" presStyleLbl="revTx" presStyleIdx="3" presStyleCnt="4" custScaleX="95490" custLinFactNeighborX="-1873" custLinFactNeighborY="-2251">
        <dgm:presLayoutVars>
          <dgm:chMax val="0"/>
          <dgm:chPref val="0"/>
        </dgm:presLayoutVars>
      </dgm:prSet>
      <dgm:spPr/>
    </dgm:pt>
  </dgm:ptLst>
  <dgm:cxnLst>
    <dgm:cxn modelId="{075EE424-D9B4-4E46-9665-4C6F4605B129}" type="presOf" srcId="{0B7FDDFD-655F-4966-93A7-ACED2D6758D8}" destId="{0AE4A487-9A78-4477-AD2C-F1EA03B28256}" srcOrd="0" destOrd="0" presId="urn:microsoft.com/office/officeart/2018/2/layout/IconVerticalSolidList"/>
    <dgm:cxn modelId="{0D9EBC52-F8D5-4A84-99DA-3C84F70E032E}" type="presOf" srcId="{8F3D7864-A67E-4980-8EEC-F096E4A5A33B}" destId="{48B4CC27-4AE8-44EB-98DC-4F45EE52C0EB}" srcOrd="0" destOrd="0" presId="urn:microsoft.com/office/officeart/2018/2/layout/IconVerticalSolidList"/>
    <dgm:cxn modelId="{4F1F945A-D164-481A-9009-F98C2D505015}" type="presOf" srcId="{6FCEFAE3-8161-433C-96FD-675211A5634D}" destId="{D6AAB94E-82BD-4674-9EC8-70CF34F5480A}" srcOrd="0" destOrd="0" presId="urn:microsoft.com/office/officeart/2018/2/layout/IconVerticalSolidList"/>
    <dgm:cxn modelId="{33868E94-7799-41F0-B23B-1D6D3C531263}" type="presOf" srcId="{EDEBDDA8-C6BE-41AD-9C88-6DCC29B9FC6B}" destId="{B7AF9EC2-7666-4444-BBD8-9355F2C63196}" srcOrd="0" destOrd="0" presId="urn:microsoft.com/office/officeart/2018/2/layout/IconVerticalSolidList"/>
    <dgm:cxn modelId="{1FCE48A7-2CA1-4F98-9830-092517DC53B3}" type="presOf" srcId="{635D820D-3F6A-4169-933B-89B3B07AC473}" destId="{262CDA82-1192-443A-AA18-C2D1343BD67D}" srcOrd="0" destOrd="0" presId="urn:microsoft.com/office/officeart/2018/2/layout/IconVerticalSolidList"/>
    <dgm:cxn modelId="{D3F1B6B4-CFFA-4F0C-8151-F35EFDF0B8BB}" srcId="{635D820D-3F6A-4169-933B-89B3B07AC473}" destId="{8F3D7864-A67E-4980-8EEC-F096E4A5A33B}" srcOrd="1" destOrd="0" parTransId="{9F1A70AA-84AE-4B3D-8E2C-3BD6C668A859}" sibTransId="{148FEDAC-1DFF-4A8C-B751-90B79D2B38D7}"/>
    <dgm:cxn modelId="{2C813CBA-5909-427A-809B-31A305DAEF20}" srcId="{635D820D-3F6A-4169-933B-89B3B07AC473}" destId="{6FCEFAE3-8161-433C-96FD-675211A5634D}" srcOrd="2" destOrd="0" parTransId="{E86817DB-1B76-45C8-82CF-C2BE7F451B71}" sibTransId="{081FE379-0C72-4144-B3F0-AC4E41F2EAA0}"/>
    <dgm:cxn modelId="{B75E0ABB-BBC1-48E4-8C86-96B2B612EFF0}" srcId="{635D820D-3F6A-4169-933B-89B3B07AC473}" destId="{EDEBDDA8-C6BE-41AD-9C88-6DCC29B9FC6B}" srcOrd="0" destOrd="0" parTransId="{B9154201-B759-466A-B062-DA0D74D8BD6C}" sibTransId="{70076E80-E76B-4BBC-A0F0-817393568234}"/>
    <dgm:cxn modelId="{9C223AC8-BE62-4707-A47E-7DBCDE2CFA92}" srcId="{635D820D-3F6A-4169-933B-89B3B07AC473}" destId="{0B7FDDFD-655F-4966-93A7-ACED2D6758D8}" srcOrd="3" destOrd="0" parTransId="{258CD603-77CE-4064-9B6B-534C5EBBC6DC}" sibTransId="{83F64753-43F2-43F3-80A6-21115A980F6B}"/>
    <dgm:cxn modelId="{21DCF06F-C3EF-4F6D-A62D-35A90CD59FED}" type="presParOf" srcId="{262CDA82-1192-443A-AA18-C2D1343BD67D}" destId="{103A7B21-BA1E-4E44-B158-72F7A07E09F7}" srcOrd="0" destOrd="0" presId="urn:microsoft.com/office/officeart/2018/2/layout/IconVerticalSolidList"/>
    <dgm:cxn modelId="{4B379F65-8981-4924-9B46-A3B537F9D450}" type="presParOf" srcId="{103A7B21-BA1E-4E44-B158-72F7A07E09F7}" destId="{B69CCFB0-6C1F-4790-8677-D5F70B93E05D}" srcOrd="0" destOrd="0" presId="urn:microsoft.com/office/officeart/2018/2/layout/IconVerticalSolidList"/>
    <dgm:cxn modelId="{DB353766-8969-4534-83AF-B43BC4E49965}" type="presParOf" srcId="{103A7B21-BA1E-4E44-B158-72F7A07E09F7}" destId="{6AE7B6DA-DCF0-4941-B35E-FED592CAD9C7}" srcOrd="1" destOrd="0" presId="urn:microsoft.com/office/officeart/2018/2/layout/IconVerticalSolidList"/>
    <dgm:cxn modelId="{6269B74B-1301-4833-9703-D932628A3A3B}" type="presParOf" srcId="{103A7B21-BA1E-4E44-B158-72F7A07E09F7}" destId="{29FE1B13-E724-485C-A200-D60CBEE67033}" srcOrd="2" destOrd="0" presId="urn:microsoft.com/office/officeart/2018/2/layout/IconVerticalSolidList"/>
    <dgm:cxn modelId="{14628E5F-7952-4A71-ACBA-EFC6276CEDD4}" type="presParOf" srcId="{103A7B21-BA1E-4E44-B158-72F7A07E09F7}" destId="{B7AF9EC2-7666-4444-BBD8-9355F2C63196}" srcOrd="3" destOrd="0" presId="urn:microsoft.com/office/officeart/2018/2/layout/IconVerticalSolidList"/>
    <dgm:cxn modelId="{283CA498-7987-47C5-8D49-8756A82686FB}" type="presParOf" srcId="{262CDA82-1192-443A-AA18-C2D1343BD67D}" destId="{D5A2CA2C-F765-4434-A84E-2FD85DAF1E86}" srcOrd="1" destOrd="0" presId="urn:microsoft.com/office/officeart/2018/2/layout/IconVerticalSolidList"/>
    <dgm:cxn modelId="{91EA6BA5-B900-4C79-80B3-96A690F7AD57}" type="presParOf" srcId="{262CDA82-1192-443A-AA18-C2D1343BD67D}" destId="{E514EAFE-FC11-4B3F-8013-4D4292B72485}" srcOrd="2" destOrd="0" presId="urn:microsoft.com/office/officeart/2018/2/layout/IconVerticalSolidList"/>
    <dgm:cxn modelId="{AACC2D05-E9E6-4932-93DB-780CE60FDD29}" type="presParOf" srcId="{E514EAFE-FC11-4B3F-8013-4D4292B72485}" destId="{61B30C71-B6B1-4EDB-8941-25699A6AA799}" srcOrd="0" destOrd="0" presId="urn:microsoft.com/office/officeart/2018/2/layout/IconVerticalSolidList"/>
    <dgm:cxn modelId="{B80BAD75-D809-4911-8F0E-C03DB4EF3503}" type="presParOf" srcId="{E514EAFE-FC11-4B3F-8013-4D4292B72485}" destId="{06FD45ED-93A9-4CB5-BBC6-41722BB2CC37}" srcOrd="1" destOrd="0" presId="urn:microsoft.com/office/officeart/2018/2/layout/IconVerticalSolidList"/>
    <dgm:cxn modelId="{8F9A2F4C-FA5F-411C-8359-A5C03DD1409D}" type="presParOf" srcId="{E514EAFE-FC11-4B3F-8013-4D4292B72485}" destId="{9B4B4641-26DA-4FEC-B665-84241DB0B22C}" srcOrd="2" destOrd="0" presId="urn:microsoft.com/office/officeart/2018/2/layout/IconVerticalSolidList"/>
    <dgm:cxn modelId="{E037BD84-E667-4373-A6F1-B3F3E65C7279}" type="presParOf" srcId="{E514EAFE-FC11-4B3F-8013-4D4292B72485}" destId="{48B4CC27-4AE8-44EB-98DC-4F45EE52C0EB}" srcOrd="3" destOrd="0" presId="urn:microsoft.com/office/officeart/2018/2/layout/IconVerticalSolidList"/>
    <dgm:cxn modelId="{97094181-0CF2-4033-945B-69E9823F3D78}" type="presParOf" srcId="{262CDA82-1192-443A-AA18-C2D1343BD67D}" destId="{F684393D-6534-4779-B93F-403378B5349D}" srcOrd="3" destOrd="0" presId="urn:microsoft.com/office/officeart/2018/2/layout/IconVerticalSolidList"/>
    <dgm:cxn modelId="{E23A5A8E-CB2E-4FDA-8AD2-BDC3EF098ECE}" type="presParOf" srcId="{262CDA82-1192-443A-AA18-C2D1343BD67D}" destId="{0ED59449-DEDB-47C9-87BE-C02FF337188B}" srcOrd="4" destOrd="0" presId="urn:microsoft.com/office/officeart/2018/2/layout/IconVerticalSolidList"/>
    <dgm:cxn modelId="{ACC97681-673D-4D57-A074-5BF69A33231D}" type="presParOf" srcId="{0ED59449-DEDB-47C9-87BE-C02FF337188B}" destId="{D9483691-DD36-405D-BB66-9F59F2F1E989}" srcOrd="0" destOrd="0" presId="urn:microsoft.com/office/officeart/2018/2/layout/IconVerticalSolidList"/>
    <dgm:cxn modelId="{E4C6731B-1E11-42E0-8F2B-D929B7BF6748}" type="presParOf" srcId="{0ED59449-DEDB-47C9-87BE-C02FF337188B}" destId="{5E20F1DA-74F8-4710-885C-433C2757E97E}" srcOrd="1" destOrd="0" presId="urn:microsoft.com/office/officeart/2018/2/layout/IconVerticalSolidList"/>
    <dgm:cxn modelId="{0E24B4D6-EC5D-49D4-8184-81BE0187E8BB}" type="presParOf" srcId="{0ED59449-DEDB-47C9-87BE-C02FF337188B}" destId="{1B73FCB2-5DE4-4B2F-A030-B78C1995B2EB}" srcOrd="2" destOrd="0" presId="urn:microsoft.com/office/officeart/2018/2/layout/IconVerticalSolidList"/>
    <dgm:cxn modelId="{1182BB39-B651-47DD-9581-BD60B78C9020}" type="presParOf" srcId="{0ED59449-DEDB-47C9-87BE-C02FF337188B}" destId="{D6AAB94E-82BD-4674-9EC8-70CF34F5480A}" srcOrd="3" destOrd="0" presId="urn:microsoft.com/office/officeart/2018/2/layout/IconVerticalSolidList"/>
    <dgm:cxn modelId="{4FB3DBDA-14A2-458D-8077-D42FEEEE1D47}" type="presParOf" srcId="{262CDA82-1192-443A-AA18-C2D1343BD67D}" destId="{92BD4CB9-700E-4D5A-8EBF-0A5B80174042}" srcOrd="5" destOrd="0" presId="urn:microsoft.com/office/officeart/2018/2/layout/IconVerticalSolidList"/>
    <dgm:cxn modelId="{DE2C3D9F-EE7C-40AC-94A3-8AE16BFF50BD}" type="presParOf" srcId="{262CDA82-1192-443A-AA18-C2D1343BD67D}" destId="{131DC94B-195B-497B-9296-A32FBF036EC7}" srcOrd="6" destOrd="0" presId="urn:microsoft.com/office/officeart/2018/2/layout/IconVerticalSolidList"/>
    <dgm:cxn modelId="{62E6F1BC-2E4C-45F2-8944-79E026AEA07D}" type="presParOf" srcId="{131DC94B-195B-497B-9296-A32FBF036EC7}" destId="{CF075505-E8EA-4669-BABA-401DC8E15F63}" srcOrd="0" destOrd="0" presId="urn:microsoft.com/office/officeart/2018/2/layout/IconVerticalSolidList"/>
    <dgm:cxn modelId="{C360F8A3-D138-4C6E-87E3-8A4F11BB6A66}" type="presParOf" srcId="{131DC94B-195B-497B-9296-A32FBF036EC7}" destId="{20AA3712-49CF-4236-AB50-E8F4285D1C0B}" srcOrd="1" destOrd="0" presId="urn:microsoft.com/office/officeart/2018/2/layout/IconVerticalSolidList"/>
    <dgm:cxn modelId="{07F8E530-9F36-4A29-A187-0C5E7768D7A5}" type="presParOf" srcId="{131DC94B-195B-497B-9296-A32FBF036EC7}" destId="{2B860609-9F78-462C-A57A-62C3C1BEF49A}" srcOrd="2" destOrd="0" presId="urn:microsoft.com/office/officeart/2018/2/layout/IconVerticalSolidList"/>
    <dgm:cxn modelId="{23D652CF-3805-47CF-83AA-4A4C394309E8}" type="presParOf" srcId="{131DC94B-195B-497B-9296-A32FBF036EC7}" destId="{0AE4A487-9A78-4477-AD2C-F1EA03B282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CCFB0-6C1F-4790-8677-D5F70B93E05D}">
      <dsp:nvSpPr>
        <dsp:cNvPr id="0" name=""/>
        <dsp:cNvSpPr/>
      </dsp:nvSpPr>
      <dsp:spPr>
        <a:xfrm>
          <a:off x="0" y="1412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7B6DA-DCF0-4941-B35E-FED592CAD9C7}">
      <dsp:nvSpPr>
        <dsp:cNvPr id="0" name=""/>
        <dsp:cNvSpPr/>
      </dsp:nvSpPr>
      <dsp:spPr>
        <a:xfrm>
          <a:off x="216572" y="162499"/>
          <a:ext cx="393767" cy="393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9EC2-7666-4444-BBD8-9355F2C63196}">
      <dsp:nvSpPr>
        <dsp:cNvPr id="0" name=""/>
        <dsp:cNvSpPr/>
      </dsp:nvSpPr>
      <dsp:spPr>
        <a:xfrm>
          <a:off x="799144" y="2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Debt as a source of Long Term Finance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99144" y="2"/>
        <a:ext cx="6805935" cy="715941"/>
      </dsp:txXfrm>
    </dsp:sp>
    <dsp:sp modelId="{61B30C71-B6B1-4EDB-8941-25699A6AA799}">
      <dsp:nvSpPr>
        <dsp:cNvPr id="0" name=""/>
        <dsp:cNvSpPr/>
      </dsp:nvSpPr>
      <dsp:spPr>
        <a:xfrm>
          <a:off x="0" y="896339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D45ED-93A9-4CB5-BBC6-41722BB2CC37}">
      <dsp:nvSpPr>
        <dsp:cNvPr id="0" name=""/>
        <dsp:cNvSpPr/>
      </dsp:nvSpPr>
      <dsp:spPr>
        <a:xfrm>
          <a:off x="216572" y="1057426"/>
          <a:ext cx="393767" cy="393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4CC27-4AE8-44EB-98DC-4F45EE52C0EB}">
      <dsp:nvSpPr>
        <dsp:cNvPr id="0" name=""/>
        <dsp:cNvSpPr/>
      </dsp:nvSpPr>
      <dsp:spPr>
        <a:xfrm>
          <a:off x="795537" y="791196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Sources of debt finance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795537" y="791196"/>
        <a:ext cx="6805935" cy="715941"/>
      </dsp:txXfrm>
    </dsp:sp>
    <dsp:sp modelId="{D9483691-DD36-405D-BB66-9F59F2F1E989}">
      <dsp:nvSpPr>
        <dsp:cNvPr id="0" name=""/>
        <dsp:cNvSpPr/>
      </dsp:nvSpPr>
      <dsp:spPr>
        <a:xfrm>
          <a:off x="0" y="1812415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0F1DA-74F8-4710-885C-433C2757E97E}">
      <dsp:nvSpPr>
        <dsp:cNvPr id="0" name=""/>
        <dsp:cNvSpPr/>
      </dsp:nvSpPr>
      <dsp:spPr>
        <a:xfrm>
          <a:off x="216572" y="1952353"/>
          <a:ext cx="393767" cy="393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AB94E-82BD-4674-9EC8-70CF34F5480A}">
      <dsp:nvSpPr>
        <dsp:cNvPr id="0" name=""/>
        <dsp:cNvSpPr/>
      </dsp:nvSpPr>
      <dsp:spPr>
        <a:xfrm>
          <a:off x="826912" y="1656139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Understanding the key components of Bonds and relevant calculations</a:t>
          </a:r>
        </a:p>
      </dsp:txBody>
      <dsp:txXfrm>
        <a:off x="826912" y="1656139"/>
        <a:ext cx="6805935" cy="715941"/>
      </dsp:txXfrm>
    </dsp:sp>
    <dsp:sp modelId="{CF075505-E8EA-4669-BABA-401DC8E15F63}">
      <dsp:nvSpPr>
        <dsp:cNvPr id="0" name=""/>
        <dsp:cNvSpPr/>
      </dsp:nvSpPr>
      <dsp:spPr>
        <a:xfrm>
          <a:off x="0" y="2687606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A3712-49CF-4236-AB50-E8F4285D1C0B}">
      <dsp:nvSpPr>
        <dsp:cNvPr id="0" name=""/>
        <dsp:cNvSpPr/>
      </dsp:nvSpPr>
      <dsp:spPr>
        <a:xfrm>
          <a:off x="216025" y="2845839"/>
          <a:ext cx="393767" cy="393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4A487-9A78-4477-AD2C-F1EA03B28256}">
      <dsp:nvSpPr>
        <dsp:cNvPr id="0" name=""/>
        <dsp:cNvSpPr/>
      </dsp:nvSpPr>
      <dsp:spPr>
        <a:xfrm>
          <a:off x="852911" y="2670077"/>
          <a:ext cx="6498987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Understanding the YTM of a bond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sp:txBody>
      <dsp:txXfrm>
        <a:off x="852911" y="2670077"/>
        <a:ext cx="6498987" cy="7159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CCFB0-6C1F-4790-8677-D5F70B93E05D}">
      <dsp:nvSpPr>
        <dsp:cNvPr id="0" name=""/>
        <dsp:cNvSpPr/>
      </dsp:nvSpPr>
      <dsp:spPr>
        <a:xfrm>
          <a:off x="0" y="1412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7B6DA-DCF0-4941-B35E-FED592CAD9C7}">
      <dsp:nvSpPr>
        <dsp:cNvPr id="0" name=""/>
        <dsp:cNvSpPr/>
      </dsp:nvSpPr>
      <dsp:spPr>
        <a:xfrm>
          <a:off x="216572" y="162499"/>
          <a:ext cx="393767" cy="393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9EC2-7666-4444-BBD8-9355F2C63196}">
      <dsp:nvSpPr>
        <dsp:cNvPr id="0" name=""/>
        <dsp:cNvSpPr/>
      </dsp:nvSpPr>
      <dsp:spPr>
        <a:xfrm>
          <a:off x="799144" y="2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Debt as a source of Long Term Finance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99144" y="2"/>
        <a:ext cx="6805935" cy="715941"/>
      </dsp:txXfrm>
    </dsp:sp>
    <dsp:sp modelId="{61B30C71-B6B1-4EDB-8941-25699A6AA799}">
      <dsp:nvSpPr>
        <dsp:cNvPr id="0" name=""/>
        <dsp:cNvSpPr/>
      </dsp:nvSpPr>
      <dsp:spPr>
        <a:xfrm>
          <a:off x="0" y="896339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D45ED-93A9-4CB5-BBC6-41722BB2CC37}">
      <dsp:nvSpPr>
        <dsp:cNvPr id="0" name=""/>
        <dsp:cNvSpPr/>
      </dsp:nvSpPr>
      <dsp:spPr>
        <a:xfrm>
          <a:off x="216572" y="1057426"/>
          <a:ext cx="393767" cy="393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4CC27-4AE8-44EB-98DC-4F45EE52C0EB}">
      <dsp:nvSpPr>
        <dsp:cNvPr id="0" name=""/>
        <dsp:cNvSpPr/>
      </dsp:nvSpPr>
      <dsp:spPr>
        <a:xfrm>
          <a:off x="795537" y="791196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Sources of debt finance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795537" y="791196"/>
        <a:ext cx="6805935" cy="715941"/>
      </dsp:txXfrm>
    </dsp:sp>
    <dsp:sp modelId="{D9483691-DD36-405D-BB66-9F59F2F1E989}">
      <dsp:nvSpPr>
        <dsp:cNvPr id="0" name=""/>
        <dsp:cNvSpPr/>
      </dsp:nvSpPr>
      <dsp:spPr>
        <a:xfrm>
          <a:off x="0" y="1812415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0F1DA-74F8-4710-885C-433C2757E97E}">
      <dsp:nvSpPr>
        <dsp:cNvPr id="0" name=""/>
        <dsp:cNvSpPr/>
      </dsp:nvSpPr>
      <dsp:spPr>
        <a:xfrm>
          <a:off x="216572" y="1952353"/>
          <a:ext cx="393767" cy="393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AB94E-82BD-4674-9EC8-70CF34F5480A}">
      <dsp:nvSpPr>
        <dsp:cNvPr id="0" name=""/>
        <dsp:cNvSpPr/>
      </dsp:nvSpPr>
      <dsp:spPr>
        <a:xfrm>
          <a:off x="826912" y="1656139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Understanding the key components of Bonds and relevant calculations</a:t>
          </a:r>
        </a:p>
      </dsp:txBody>
      <dsp:txXfrm>
        <a:off x="826912" y="1656139"/>
        <a:ext cx="6805935" cy="715941"/>
      </dsp:txXfrm>
    </dsp:sp>
    <dsp:sp modelId="{CF075505-E8EA-4669-BABA-401DC8E15F63}">
      <dsp:nvSpPr>
        <dsp:cNvPr id="0" name=""/>
        <dsp:cNvSpPr/>
      </dsp:nvSpPr>
      <dsp:spPr>
        <a:xfrm>
          <a:off x="0" y="2687606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A3712-49CF-4236-AB50-E8F4285D1C0B}">
      <dsp:nvSpPr>
        <dsp:cNvPr id="0" name=""/>
        <dsp:cNvSpPr/>
      </dsp:nvSpPr>
      <dsp:spPr>
        <a:xfrm>
          <a:off x="216025" y="2845839"/>
          <a:ext cx="393767" cy="393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4A487-9A78-4477-AD2C-F1EA03B28256}">
      <dsp:nvSpPr>
        <dsp:cNvPr id="0" name=""/>
        <dsp:cNvSpPr/>
      </dsp:nvSpPr>
      <dsp:spPr>
        <a:xfrm>
          <a:off x="852911" y="2670077"/>
          <a:ext cx="6498987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Understanding the YTM of a bond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sp:txBody>
      <dsp:txXfrm>
        <a:off x="852911" y="2670077"/>
        <a:ext cx="6498987" cy="715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NOTE TO STUDENTS: Please see last weeks lecture slides and make sure you review them so that you understand 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574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3703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5500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Debt – impose restrictions – may require debt holders permission to dispose of secured assets, may prohibit further raising of debt finance, may have power to veto new investments they consider too risky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540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078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Depending on the debt’s maturity.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Current Liabilities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includes </a:t>
            </a:r>
            <a:r>
              <a:rPr lang="en-GB" b="1" dirty="0"/>
              <a:t>short-term debt</a:t>
            </a:r>
            <a:r>
              <a:rPr lang="en-GB" dirty="0"/>
              <a:t>, such as bank overdrafts, loans due within a year, and the current portion of long-term debt. These are debts that need to be paid off within the next 12 months </a:t>
            </a:r>
            <a:r>
              <a:rPr lang="en-GB" dirty="0" err="1"/>
              <a:t>eg.</a:t>
            </a:r>
            <a:r>
              <a:rPr lang="en-GB" dirty="0"/>
              <a:t> Short-term loans, accrued interest payable, and lines of credit.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Non-Current Liabilities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section includes </a:t>
            </a:r>
            <a:r>
              <a:rPr lang="en-GB" b="1" dirty="0"/>
              <a:t>long-term debt</a:t>
            </a:r>
            <a:r>
              <a:rPr lang="en-GB" dirty="0"/>
              <a:t>, such as bonds, mortgages, or long-term bank loans, which are due after more than a year </a:t>
            </a:r>
            <a:r>
              <a:rPr lang="en-GB" dirty="0" err="1"/>
              <a:t>eg.</a:t>
            </a:r>
            <a:r>
              <a:rPr lang="en-GB" dirty="0"/>
              <a:t> Long-term loans, bonds payable, and lease obligations.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53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Income Statement:</a:t>
            </a:r>
          </a:p>
          <a:p>
            <a:r>
              <a:rPr lang="en-GB" dirty="0"/>
              <a:t>Debt appears on the income statement through the </a:t>
            </a:r>
            <a:r>
              <a:rPr lang="en-GB" b="1" dirty="0"/>
              <a:t>interest expense</a:t>
            </a:r>
            <a:r>
              <a:rPr lang="en-GB" dirty="0"/>
              <a:t>, which is the cost of borrowing. This is the cost incurred from borrowing money and is usually listed in the </a:t>
            </a:r>
            <a:r>
              <a:rPr lang="en-GB" b="1" dirty="0"/>
              <a:t>operating expenses</a:t>
            </a:r>
            <a:r>
              <a:rPr lang="en-GB" dirty="0"/>
              <a:t> or </a:t>
            </a:r>
            <a:r>
              <a:rPr lang="en-GB" b="1" dirty="0"/>
              <a:t>finance expenses</a:t>
            </a:r>
            <a:r>
              <a:rPr lang="en-GB" dirty="0"/>
              <a:t> section of the income statement. It represents the amount of money a company owes lenders for loans, bonds, or other forms of debt </a:t>
            </a:r>
            <a:r>
              <a:rPr lang="en-GB" dirty="0" err="1"/>
              <a:t>eg.</a:t>
            </a:r>
            <a:r>
              <a:rPr lang="en-GB" dirty="0"/>
              <a:t> If a company has issued bonds, the interest payments on those bonds would be recorded here.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935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216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619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968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371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323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583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698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858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E5A2-9447-BE77-19A0-D2056E6F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7E08E-2852-EEA2-8989-E78AC867B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1F86B-C9BC-6471-2DFC-30ABD1A05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4AB06-07D2-6B5F-8801-0E03245AD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17714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A708D-0180-424B-8170-B8C7498B308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78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44-66CB-4065-B177-AAAB97F07EA1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635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24FF-3E1E-431F-977E-945DB2535B1A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545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8/20/2025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40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24FF-3E1E-431F-977E-945DB2535B1A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418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99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7178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25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396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12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289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69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201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0593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1052189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7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35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3153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  <p:sldLayoutId id="2147483977" r:id="rId15"/>
    <p:sldLayoutId id="2147483978" r:id="rId16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8721A2-4AB9-EDAE-44A0-077D23B02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587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0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0.png"/><Relationship Id="rId4" Type="http://schemas.openxmlformats.org/officeDocument/2006/relationships/image" Target="../media/image50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markets.businessinsider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treasury.gov/" TargetMode="External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3457737"/>
          </a:xfrm>
        </p:spPr>
        <p:txBody>
          <a:bodyPr>
            <a:normAutofit/>
          </a:bodyPr>
          <a:lstStyle/>
          <a:p>
            <a:r>
              <a:rPr lang="en-GB" dirty="0"/>
              <a:t>UMET9G-30-1 </a:t>
            </a:r>
            <a:br>
              <a:rPr lang="en-GB" dirty="0"/>
            </a:br>
            <a:r>
              <a:rPr lang="en-GB" dirty="0"/>
              <a:t>Accounting &amp; Finance for Decision Making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Capital Structure - Debt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F42F57-4342-4892-B2AD-019DCDCB61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1E4B29-CE6C-0C79-090A-017CA0F2AD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14CE-3250-F7F0-AE05-421FA0F9E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Recap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F9B3823-0605-807A-5635-4865E10F2BE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899591" y="2132855"/>
            <a:ext cx="7560841" cy="4032447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latin typeface="Segoe Sans"/>
              </a:rPr>
              <a:t>Last week we covered:</a:t>
            </a:r>
          </a:p>
          <a:p>
            <a:r>
              <a:rPr lang="en-GB" sz="2400" dirty="0">
                <a:latin typeface="Segoe Sans"/>
              </a:rPr>
              <a:t>Fundamentals of Capital structure</a:t>
            </a:r>
          </a:p>
          <a:p>
            <a:r>
              <a:rPr lang="en-GB" sz="2400" dirty="0">
                <a:latin typeface="Segoe Sans"/>
              </a:rPr>
              <a:t>Why the capital structure matters</a:t>
            </a:r>
          </a:p>
          <a:p>
            <a:r>
              <a:rPr lang="en-GB" sz="2400" dirty="0">
                <a:latin typeface="Segoe Sans"/>
              </a:rPr>
              <a:t>Main Sources of finance</a:t>
            </a:r>
          </a:p>
          <a:p>
            <a:r>
              <a:rPr lang="en-GB" sz="2400" dirty="0">
                <a:latin typeface="Segoe Sans"/>
              </a:rPr>
              <a:t>Pro’s and con’s of different options</a:t>
            </a:r>
          </a:p>
          <a:p>
            <a:r>
              <a:rPr lang="en-GB" sz="2400" dirty="0">
                <a:latin typeface="Segoe Sans"/>
              </a:rPr>
              <a:t>How firms choose between them</a:t>
            </a:r>
          </a:p>
        </p:txBody>
      </p:sp>
      <p:pic>
        <p:nvPicPr>
          <p:cNvPr id="5" name="Graphic 4" descr="Clipboard Checked with solid fill">
            <a:extLst>
              <a:ext uri="{FF2B5EF4-FFF2-40B4-BE49-F238E27FC236}">
                <a16:creationId xmlns:a16="http://schemas.microsoft.com/office/drawing/2014/main" id="{295E040E-13B2-6A1F-C2CA-FE2D44F88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885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9003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itle 1">
            <a:extLst>
              <a:ext uri="{FF2B5EF4-FFF2-40B4-BE49-F238E27FC236}">
                <a16:creationId xmlns:a16="http://schemas.microsoft.com/office/drawing/2014/main" id="{B54CC29E-BA68-10E6-2F39-FA1EBE0C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1376773"/>
            <a:ext cx="7886700" cy="646548"/>
          </a:xfrm>
        </p:spPr>
        <p:txBody>
          <a:bodyPr/>
          <a:lstStyle/>
          <a:p>
            <a:pPr algn="l"/>
            <a:r>
              <a:rPr lang="en-US" dirty="0"/>
              <a:t>Learning Outcomes</a:t>
            </a:r>
          </a:p>
        </p:txBody>
      </p:sp>
      <p:graphicFrame>
        <p:nvGraphicFramePr>
          <p:cNvPr id="13315" name="Text Placeholder 1">
            <a:extLst>
              <a:ext uri="{FF2B5EF4-FFF2-40B4-BE49-F238E27FC236}">
                <a16:creationId xmlns:a16="http://schemas.microsoft.com/office/drawing/2014/main" id="{C2855CC1-6974-FD0F-632A-C97A1652B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350304"/>
              </p:ext>
            </p:extLst>
          </p:nvPr>
        </p:nvGraphicFramePr>
        <p:xfrm>
          <a:off x="892515" y="2492896"/>
          <a:ext cx="7632848" cy="3403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1582417"/>
            <a:ext cx="5915025" cy="475588"/>
          </a:xfrm>
        </p:spPr>
        <p:txBody>
          <a:bodyPr>
            <a:normAutofit/>
          </a:bodyPr>
          <a:lstStyle/>
          <a:p>
            <a:r>
              <a:rPr lang="en-GB" dirty="0"/>
              <a:t>Recap: Role of Finance in Corporations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585" y="2271292"/>
            <a:ext cx="6443663" cy="3004292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1350"/>
              <a:t>The </a:t>
            </a:r>
            <a:r>
              <a:rPr lang="en-GB" sz="1350" b="1"/>
              <a:t>three decisions </a:t>
            </a:r>
            <a:r>
              <a:rPr lang="en-GB" sz="1350"/>
              <a:t>of financial management are:</a:t>
            </a:r>
          </a:p>
          <a:p>
            <a:pPr marL="11609" indent="0">
              <a:buClr>
                <a:srgbClr val="C00000"/>
              </a:buClr>
              <a:buSzPct val="90000"/>
              <a:buNone/>
            </a:pPr>
            <a:endParaRPr lang="en-GB" sz="1350"/>
          </a:p>
          <a:p>
            <a:pPr marL="132160" indent="0">
              <a:buClr>
                <a:srgbClr val="C00000"/>
              </a:buClr>
              <a:buSzPct val="90000"/>
              <a:buNone/>
            </a:pPr>
            <a:endParaRPr lang="en-GB" sz="1350">
              <a:solidFill>
                <a:schemeClr val="accent5">
                  <a:lumMod val="75000"/>
                </a:schemeClr>
              </a:solidFill>
            </a:endParaRPr>
          </a:p>
          <a:p>
            <a:pPr marL="132160" indent="0">
              <a:buClr>
                <a:srgbClr val="C00000"/>
              </a:buClr>
              <a:buSzPct val="90000"/>
              <a:buNone/>
            </a:pPr>
            <a:endParaRPr lang="en-GB" sz="1350" b="1">
              <a:solidFill>
                <a:schemeClr val="accent5">
                  <a:lumMod val="75000"/>
                </a:schemeClr>
              </a:solidFill>
            </a:endParaRPr>
          </a:p>
          <a:p>
            <a:pPr marL="132160" indent="0">
              <a:buClr>
                <a:srgbClr val="C00000"/>
              </a:buClr>
              <a:buSzPct val="90000"/>
              <a:buNone/>
            </a:pPr>
            <a:endParaRPr lang="en-GB" sz="1350"/>
          </a:p>
          <a:p>
            <a:pPr marL="132160" indent="0">
              <a:buClr>
                <a:srgbClr val="C00000"/>
              </a:buClr>
              <a:buSzPct val="90000"/>
              <a:buNone/>
            </a:pPr>
            <a:endParaRPr lang="en-GB" sz="1350"/>
          </a:p>
          <a:p>
            <a:pPr marL="0" indent="0">
              <a:buClr>
                <a:srgbClr val="C00000"/>
              </a:buClr>
              <a:buSzPct val="90000"/>
              <a:buNone/>
            </a:pPr>
            <a:endParaRPr lang="en-GB" sz="1350">
              <a:solidFill>
                <a:schemeClr val="accent5">
                  <a:lumMod val="75000"/>
                </a:schemeClr>
              </a:solidFill>
            </a:endParaRPr>
          </a:p>
          <a:p>
            <a:pPr marL="704553" indent="-704553">
              <a:buClr>
                <a:srgbClr val="C00000"/>
              </a:buClr>
              <a:buSzPct val="90000"/>
              <a:buNone/>
            </a:pPr>
            <a:r>
              <a:rPr lang="en-GB" sz="1350">
                <a:solidFill>
                  <a:schemeClr val="accent5">
                    <a:lumMod val="75000"/>
                  </a:schemeClr>
                </a:solidFill>
              </a:rPr>
              <a:t>Question: </a:t>
            </a:r>
            <a:r>
              <a:rPr lang="en-GB" sz="1350"/>
              <a:t>How does a financial manager choose the appropriate financing method to raise capital for profitable projects </a:t>
            </a:r>
            <a:r>
              <a:rPr lang="en-GB" sz="1350">
                <a:solidFill>
                  <a:srgbClr val="C00000"/>
                </a:solidFill>
              </a:rPr>
              <a:t>which create value</a:t>
            </a:r>
            <a:r>
              <a:rPr lang="en-GB" sz="1350"/>
              <a:t>?</a:t>
            </a:r>
            <a:endParaRPr lang="en-GB" sz="135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54567" y="5140275"/>
            <a:ext cx="509600" cy="303992"/>
          </a:xfrm>
          <a:ln w="12700"/>
        </p:spPr>
        <p:txBody>
          <a:bodyPr/>
          <a:lstStyle/>
          <a:p>
            <a:pPr algn="ctr" defTabSz="514350">
              <a:defRPr/>
            </a:pPr>
            <a:fld id="{0F99C4FB-888A-4D12-A1C4-C744D94026CD}" type="slidenum">
              <a:rPr lang="en-GB" sz="1013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pPr algn="ctr" defTabSz="514350">
                <a:defRPr/>
              </a:pPr>
              <a:t>4</a:t>
            </a:fld>
            <a:endParaRPr lang="en-GB" sz="1013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1AA1F00-6CF5-7640-9737-6EDFA4C7FC32}"/>
              </a:ext>
            </a:extLst>
          </p:cNvPr>
          <p:cNvGrpSpPr/>
          <p:nvPr/>
        </p:nvGrpSpPr>
        <p:grpSpPr>
          <a:xfrm>
            <a:off x="2103067" y="2699509"/>
            <a:ext cx="5154985" cy="859010"/>
            <a:chOff x="1356027" y="1752648"/>
            <a:chExt cx="9164417" cy="1527129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2A2C082-F459-534C-83A4-812458F6355C}"/>
                </a:ext>
              </a:extLst>
            </p:cNvPr>
            <p:cNvSpPr/>
            <p:nvPr/>
          </p:nvSpPr>
          <p:spPr>
            <a:xfrm>
              <a:off x="4473113" y="1752648"/>
              <a:ext cx="2930243" cy="3830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3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7283" tIns="67283" rIns="67283" bIns="67283" numCol="1" spcCol="1270" anchor="ctr" anchorCtr="0">
              <a:noAutofit/>
            </a:bodyPr>
            <a:lstStyle/>
            <a:p>
              <a:pPr algn="ctr" defTabSz="550069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GB" sz="1238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 panose="020F0502020204030204"/>
                </a:rPr>
                <a:t>Corporate Finance</a:t>
              </a: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DEE39CF-9118-8E4F-B074-43E5DE4695F4}"/>
                </a:ext>
              </a:extLst>
            </p:cNvPr>
            <p:cNvSpPr/>
            <p:nvPr/>
          </p:nvSpPr>
          <p:spPr>
            <a:xfrm>
              <a:off x="2166025" y="2135724"/>
              <a:ext cx="3772210" cy="28005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772210" y="0"/>
                  </a:moveTo>
                  <a:lnTo>
                    <a:pt x="3772210" y="140026"/>
                  </a:lnTo>
                  <a:lnTo>
                    <a:pt x="0" y="140026"/>
                  </a:lnTo>
                  <a:lnTo>
                    <a:pt x="0" y="280053"/>
                  </a:lnTo>
                </a:path>
              </a:pathLst>
            </a:cu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403BF3F-762A-FD4C-A2F8-34254A0A63BB}"/>
                </a:ext>
              </a:extLst>
            </p:cNvPr>
            <p:cNvSpPr/>
            <p:nvPr/>
          </p:nvSpPr>
          <p:spPr>
            <a:xfrm>
              <a:off x="1356027" y="2415777"/>
              <a:ext cx="1619995" cy="864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3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098" tIns="57098" rIns="57098" bIns="57098" numCol="1" spcCol="1270" anchor="ctr" anchorCtr="0">
              <a:noAutofit/>
            </a:bodyPr>
            <a:lstStyle/>
            <a:p>
              <a:pPr algn="ctr" defTabSz="500063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GB" sz="1125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 panose="020F0502020204030204"/>
                </a:rPr>
                <a:t>Investment Decision</a:t>
              </a: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3953910-D3C0-2344-9FAA-1A1BB0C529A7}"/>
                </a:ext>
              </a:extLst>
            </p:cNvPr>
            <p:cNvSpPr/>
            <p:nvPr/>
          </p:nvSpPr>
          <p:spPr>
            <a:xfrm>
              <a:off x="5993170" y="2974794"/>
              <a:ext cx="91440" cy="28005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74274" y="0"/>
                  </a:moveTo>
                  <a:lnTo>
                    <a:pt x="74274" y="140026"/>
                  </a:lnTo>
                  <a:lnTo>
                    <a:pt x="45720" y="140026"/>
                  </a:lnTo>
                  <a:lnTo>
                    <a:pt x="45720" y="280053"/>
                  </a:lnTo>
                </a:path>
              </a:pathLst>
            </a:custGeom>
            <a:noFill/>
          </p:spPr>
          <p:style>
            <a:lnRef idx="2">
              <a:schemeClr val="dk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497A08C-1302-9B41-9132-204A4B47892A}"/>
                </a:ext>
              </a:extLst>
            </p:cNvPr>
            <p:cNvSpPr/>
            <p:nvPr/>
          </p:nvSpPr>
          <p:spPr>
            <a:xfrm>
              <a:off x="5099683" y="2415777"/>
              <a:ext cx="1619995" cy="86399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3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098" tIns="57098" rIns="57098" bIns="57098" numCol="1" spcCol="1270" anchor="ctr" anchorCtr="0">
              <a:noAutofit/>
            </a:bodyPr>
            <a:lstStyle/>
            <a:p>
              <a:pPr algn="ctr" defTabSz="500063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GB" sz="1125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 panose="020F0502020204030204"/>
                </a:rPr>
                <a:t>Financing Decision</a:t>
              </a: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2CF57A4-DF04-954E-A0DF-FEA98F33A45C}"/>
                </a:ext>
              </a:extLst>
            </p:cNvPr>
            <p:cNvSpPr/>
            <p:nvPr/>
          </p:nvSpPr>
          <p:spPr>
            <a:xfrm>
              <a:off x="5938236" y="2135724"/>
              <a:ext cx="3772210" cy="28005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40026"/>
                  </a:lnTo>
                  <a:lnTo>
                    <a:pt x="3772210" y="140026"/>
                  </a:lnTo>
                  <a:lnTo>
                    <a:pt x="3772210" y="280053"/>
                  </a:lnTo>
                </a:path>
              </a:pathLst>
            </a:cu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CAE341-79E5-6642-BC08-4EF1D4DDFDB3}"/>
                </a:ext>
              </a:extLst>
            </p:cNvPr>
            <p:cNvSpPr/>
            <p:nvPr/>
          </p:nvSpPr>
          <p:spPr>
            <a:xfrm>
              <a:off x="8900449" y="2415777"/>
              <a:ext cx="1619995" cy="86399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3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098" tIns="57098" rIns="57098" bIns="57098" numCol="1" spcCol="1270" anchor="ctr" anchorCtr="0">
              <a:noAutofit/>
            </a:bodyPr>
            <a:lstStyle/>
            <a:p>
              <a:pPr algn="ctr" defTabSz="500063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GB" sz="1125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 panose="020F0502020204030204"/>
                </a:rPr>
                <a:t>Liquidity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678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7037-7459-2594-1DD2-34E38A7D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1089665"/>
            <a:ext cx="4835626" cy="431824"/>
          </a:xfrm>
        </p:spPr>
        <p:txBody>
          <a:bodyPr>
            <a:normAutofit/>
          </a:bodyPr>
          <a:lstStyle/>
          <a:p>
            <a:r>
              <a:rPr lang="en-GB" dirty="0"/>
              <a:t>Recap: Sources of Finance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AED37A9D-4AEE-EF8F-0677-54FD0C290911}"/>
              </a:ext>
            </a:extLst>
          </p:cNvPr>
          <p:cNvSpPr/>
          <p:nvPr/>
        </p:nvSpPr>
        <p:spPr>
          <a:xfrm>
            <a:off x="3689996" y="3168626"/>
            <a:ext cx="1466006" cy="900113"/>
          </a:xfrm>
          <a:prstGeom prst="cloud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Sources of Long Term Finance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03BFCC-6E00-439E-B3BF-9743CF208C7B}"/>
              </a:ext>
            </a:extLst>
          </p:cNvPr>
          <p:cNvCxnSpPr/>
          <p:nvPr/>
        </p:nvCxnSpPr>
        <p:spPr>
          <a:xfrm flipV="1">
            <a:off x="4947049" y="2769989"/>
            <a:ext cx="535781" cy="39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BE249B4-1BCB-DEBA-F229-1F3921C87CBA}"/>
              </a:ext>
            </a:extLst>
          </p:cNvPr>
          <p:cNvSpPr/>
          <p:nvPr/>
        </p:nvSpPr>
        <p:spPr>
          <a:xfrm>
            <a:off x="5207547" y="2294219"/>
            <a:ext cx="1184077" cy="5143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Equity Finance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1769D0-A037-2A2A-9463-8229257EB549}"/>
              </a:ext>
            </a:extLst>
          </p:cNvPr>
          <p:cNvCxnSpPr>
            <a:cxnSpLocks/>
          </p:cNvCxnSpPr>
          <p:nvPr/>
        </p:nvCxnSpPr>
        <p:spPr>
          <a:xfrm>
            <a:off x="5011985" y="3790173"/>
            <a:ext cx="340221" cy="152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0059A4D-2603-0979-F47A-3FE6125A22F8}"/>
              </a:ext>
            </a:extLst>
          </p:cNvPr>
          <p:cNvSpPr/>
          <p:nvPr/>
        </p:nvSpPr>
        <p:spPr>
          <a:xfrm>
            <a:off x="5352207" y="3689376"/>
            <a:ext cx="1704070" cy="5915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Preference share finance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76418A-84C2-8C95-291F-6340668F70AF}"/>
              </a:ext>
            </a:extLst>
          </p:cNvPr>
          <p:cNvCxnSpPr>
            <a:cxnSpLocks/>
          </p:cNvCxnSpPr>
          <p:nvPr/>
        </p:nvCxnSpPr>
        <p:spPr>
          <a:xfrm flipH="1" flipV="1">
            <a:off x="3269649" y="2827952"/>
            <a:ext cx="576609" cy="487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9FE17BB-03BB-2435-0C1B-A6A2681C9488}"/>
              </a:ext>
            </a:extLst>
          </p:cNvPr>
          <p:cNvSpPr/>
          <p:nvPr/>
        </p:nvSpPr>
        <p:spPr>
          <a:xfrm>
            <a:off x="2160342" y="2458793"/>
            <a:ext cx="1184077" cy="5143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Debt Finance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52F2B4-F625-0754-A23C-99891466D824}"/>
              </a:ext>
            </a:extLst>
          </p:cNvPr>
          <p:cNvGrpSpPr/>
          <p:nvPr/>
        </p:nvGrpSpPr>
        <p:grpSpPr>
          <a:xfrm>
            <a:off x="2190466" y="3922687"/>
            <a:ext cx="1704071" cy="623248"/>
            <a:chOff x="2586181" y="4322571"/>
            <a:chExt cx="2319194" cy="9144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620D5C4-22A0-1FFD-77A4-68FF245F8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7993" y="4322571"/>
              <a:ext cx="377382" cy="3219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7ED8012-42F7-2A64-3432-F80FA554B42A}"/>
                </a:ext>
              </a:extLst>
            </p:cNvPr>
            <p:cNvSpPr/>
            <p:nvPr/>
          </p:nvSpPr>
          <p:spPr>
            <a:xfrm>
              <a:off x="2586181" y="4322571"/>
              <a:ext cx="2105025" cy="914400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/>
                <a:t>Other sources finance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5FF4A55-0993-4D61-EE26-098343895678}"/>
              </a:ext>
            </a:extLst>
          </p:cNvPr>
          <p:cNvSpPr txBox="1"/>
          <p:nvPr/>
        </p:nvSpPr>
        <p:spPr>
          <a:xfrm>
            <a:off x="5663740" y="2849176"/>
            <a:ext cx="238591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 b="1" dirty="0"/>
              <a:t>Retained Earnings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 b="1" dirty="0"/>
              <a:t>Rights issue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 b="1" dirty="0"/>
              <a:t>Issue of new shares to new investors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F8772C-FCA0-2AF8-9D6F-5CBAFC35CF81}"/>
              </a:ext>
            </a:extLst>
          </p:cNvPr>
          <p:cNvSpPr txBox="1"/>
          <p:nvPr/>
        </p:nvSpPr>
        <p:spPr>
          <a:xfrm>
            <a:off x="5678389" y="4321538"/>
            <a:ext cx="15651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/>
              <a:t>Fixed dividend payment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0E9A78-4D9E-BF4F-F6DC-B17D1446824D}"/>
              </a:ext>
            </a:extLst>
          </p:cNvPr>
          <p:cNvSpPr txBox="1"/>
          <p:nvPr/>
        </p:nvSpPr>
        <p:spPr>
          <a:xfrm>
            <a:off x="1564097" y="2985383"/>
            <a:ext cx="8598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/>
              <a:t>Bank loan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/>
              <a:t>Bond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/>
              <a:t>Lease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C1E70F-7102-32A5-73B9-6D6F56CE410C}"/>
              </a:ext>
            </a:extLst>
          </p:cNvPr>
          <p:cNvSpPr txBox="1"/>
          <p:nvPr/>
        </p:nvSpPr>
        <p:spPr>
          <a:xfrm>
            <a:off x="2697193" y="4511975"/>
            <a:ext cx="2379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Small company financing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 dirty="0"/>
              <a:t>Bank loan/overdraft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 b="1" dirty="0"/>
              <a:t>Retained earnings</a:t>
            </a:r>
          </a:p>
          <a:p>
            <a:pPr marL="160735" indent="-160735">
              <a:buFont typeface="Arial" panose="020B0604020202020204" pitchFamily="34" charset="0"/>
              <a:buChar char="•"/>
            </a:pPr>
            <a:r>
              <a:rPr lang="en-GB" sz="900" dirty="0"/>
              <a:t>Business angels/venture capital funding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1A88AC-94D8-ECED-8421-A62989673787}"/>
              </a:ext>
            </a:extLst>
          </p:cNvPr>
          <p:cNvCxnSpPr>
            <a:cxnSpLocks/>
          </p:cNvCxnSpPr>
          <p:nvPr/>
        </p:nvCxnSpPr>
        <p:spPr>
          <a:xfrm>
            <a:off x="5016004" y="3788603"/>
            <a:ext cx="340221" cy="152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44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2" grpId="0" animBg="1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1582417"/>
            <a:ext cx="5915025" cy="351213"/>
          </a:xfrm>
        </p:spPr>
        <p:txBody>
          <a:bodyPr>
            <a:normAutofit fontScale="90000"/>
          </a:bodyPr>
          <a:lstStyle/>
          <a:p>
            <a:r>
              <a:rPr lang="en-GB" dirty="0"/>
              <a:t>Recap: Equity vs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5" y="2135982"/>
            <a:ext cx="6443663" cy="3004292"/>
          </a:xfrm>
        </p:spPr>
        <p:txBody>
          <a:bodyPr>
            <a:normAutofit/>
          </a:bodyPr>
          <a:lstStyle/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  <a:p>
            <a:pPr marL="7144" lvl="1" indent="0">
              <a:buClr>
                <a:srgbClr val="C00000"/>
              </a:buClr>
              <a:buSzPct val="90000"/>
              <a:buNone/>
            </a:pPr>
            <a:endParaRPr lang="en-GB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54567" y="5140275"/>
            <a:ext cx="509600" cy="303992"/>
          </a:xfrm>
          <a:ln w="12700"/>
        </p:spPr>
        <p:txBody>
          <a:bodyPr/>
          <a:lstStyle/>
          <a:p>
            <a:fld id="{0F99C4FB-888A-4D12-A1C4-C744D94026CD}" type="slidenum">
              <a:rPr lang="en-GB" sz="1013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fld>
            <a:endParaRPr lang="en-GB" sz="101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75C8CA-6E3D-C646-8BEB-C7ABAA4A5953}"/>
              </a:ext>
            </a:extLst>
          </p:cNvPr>
          <p:cNvGraphicFramePr>
            <a:graphicFrameLocks noGrp="1"/>
          </p:cNvGraphicFramePr>
          <p:nvPr/>
        </p:nvGraphicFramePr>
        <p:xfrm>
          <a:off x="1468242" y="2053107"/>
          <a:ext cx="6193231" cy="27891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4966">
                  <a:extLst>
                    <a:ext uri="{9D8B030D-6E8A-4147-A177-3AD203B41FA5}">
                      <a16:colId xmlns:a16="http://schemas.microsoft.com/office/drawing/2014/main" val="4178278427"/>
                    </a:ext>
                  </a:extLst>
                </a:gridCol>
                <a:gridCol w="2384227">
                  <a:extLst>
                    <a:ext uri="{9D8B030D-6E8A-4147-A177-3AD203B41FA5}">
                      <a16:colId xmlns:a16="http://schemas.microsoft.com/office/drawing/2014/main" val="2764440994"/>
                    </a:ext>
                  </a:extLst>
                </a:gridCol>
                <a:gridCol w="2484038">
                  <a:extLst>
                    <a:ext uri="{9D8B030D-6E8A-4147-A177-3AD203B41FA5}">
                      <a16:colId xmlns:a16="http://schemas.microsoft.com/office/drawing/2014/main" val="2393951941"/>
                    </a:ext>
                  </a:extLst>
                </a:gridCol>
              </a:tblGrid>
              <a:tr h="223613">
                <a:tc>
                  <a:txBody>
                    <a:bodyPr/>
                    <a:lstStyle/>
                    <a:p>
                      <a:pPr algn="ctr"/>
                      <a:endParaRPr lang="en-US" sz="1100" b="1"/>
                    </a:p>
                  </a:txBody>
                  <a:tcPr marL="51435" marR="51435" marT="25718" marB="25718"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Debt</a:t>
                      </a:r>
                    </a:p>
                  </a:txBody>
                  <a:tcPr marL="51435" marR="51435" marT="25718" marB="25718"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Equity</a:t>
                      </a:r>
                    </a:p>
                  </a:txBody>
                  <a:tcPr marL="51435" marR="51435" marT="25718" marB="25718">
                    <a:lnB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60804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b="1"/>
                        <a:t>Yearly Obligations</a:t>
                      </a:r>
                    </a:p>
                  </a:txBody>
                  <a:tcPr marL="51435" marR="51435" marT="25718" marB="25718"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Fixed Claim in form of:</a:t>
                      </a:r>
                    </a:p>
                    <a:p>
                      <a:pPr marL="342900" indent="-342900" algn="l">
                        <a:lnSpc>
                          <a:spcPct val="100000"/>
                        </a:lnSpc>
                        <a:buClr>
                          <a:srgbClr val="C00000"/>
                        </a:buClr>
                        <a:buFont typeface="Calibri" panose="020F0502020204030204" pitchFamily="34" charset="0"/>
                        <a:buChar char="─"/>
                      </a:pPr>
                      <a:r>
                        <a:rPr lang="en-US" sz="1100"/>
                        <a:t>Interest payments</a:t>
                      </a:r>
                    </a:p>
                    <a:p>
                      <a:pPr marL="342900" indent="-342900" algn="l">
                        <a:lnSpc>
                          <a:spcPct val="100000"/>
                        </a:lnSpc>
                        <a:buClr>
                          <a:srgbClr val="C00000"/>
                        </a:buClr>
                        <a:buFont typeface="Calibri" panose="020F0502020204030204" pitchFamily="34" charset="0"/>
                        <a:buChar char="─"/>
                      </a:pPr>
                      <a:r>
                        <a:rPr lang="en-US" sz="1100"/>
                        <a:t>Coupon payments</a:t>
                      </a:r>
                    </a:p>
                  </a:txBody>
                  <a:tcPr marL="51435" marR="51435" marT="25718" marB="25718"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Residual Claim in form of:</a:t>
                      </a:r>
                    </a:p>
                    <a:p>
                      <a:pPr marL="342900" indent="-342900" algn="l">
                        <a:lnSpc>
                          <a:spcPct val="100000"/>
                        </a:lnSpc>
                        <a:buClr>
                          <a:srgbClr val="C00000"/>
                        </a:buClr>
                        <a:buFont typeface="Calibri" panose="020F0502020204030204" pitchFamily="34" charset="0"/>
                        <a:buChar char="─"/>
                      </a:pPr>
                      <a:r>
                        <a:rPr lang="en-US" sz="1100"/>
                        <a:t>Dividend payments (not fixed)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marL="51435" marR="51435" marT="25718" marB="25718"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706937"/>
                  </a:ext>
                </a:extLst>
              </a:tr>
              <a:tr h="26276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b="1"/>
                        <a:t>Tax Benefits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Tax Deductible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Not Tax Deductible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057368"/>
                  </a:ext>
                </a:extLst>
              </a:tr>
              <a:tr h="28558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b="1"/>
                        <a:t>Priority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Highest Priority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Lowest Priority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491370"/>
                  </a:ext>
                </a:extLst>
              </a:tr>
              <a:tr h="26835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b="1"/>
                        <a:t>Repayment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Fixed Maturity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Infinite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630069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b="1"/>
                        <a:t>Management Influence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No Management Control, but may impose restrictions eg disposal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Management Control – votes. Possibility of takeover bids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645716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b="1"/>
                        <a:t>Arrangement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Relatively easy, low issue costs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/>
                        <a:t>Time consuming, higher issue costs for underwriting and distributing shares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085816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b="1"/>
                        <a:t>Other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dirty="0"/>
                        <a:t>Debtholder may impose restrictions. High debt level insolvency risk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100" dirty="0"/>
                        <a:t>Public scrutiny and accountability, enhanced status. Cost of reporting.</a:t>
                      </a:r>
                    </a:p>
                  </a:txBody>
                  <a:tcPr marL="51435" marR="51435" marT="25718" marB="25718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34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36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1582417"/>
            <a:ext cx="5915025" cy="475588"/>
          </a:xfrm>
        </p:spPr>
        <p:txBody>
          <a:bodyPr>
            <a:normAutofit/>
          </a:bodyPr>
          <a:lstStyle/>
          <a:p>
            <a:r>
              <a:rPr lang="en-GB" dirty="0" err="1"/>
              <a:t>Rceap</a:t>
            </a:r>
            <a:r>
              <a:rPr lang="en-GB" dirty="0"/>
              <a:t>: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9714" y="2205331"/>
            <a:ext cx="6443663" cy="300429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spcBef>
                <a:spcPts val="1013"/>
              </a:spcBef>
              <a:buClr>
                <a:srgbClr val="C00000"/>
              </a:buClr>
              <a:buSzPct val="90000"/>
              <a:buNone/>
            </a:pPr>
            <a:r>
              <a:rPr lang="en-GB" sz="1350">
                <a:ea typeface="Cambria Math" panose="02040503050406030204" pitchFamily="18" charset="0"/>
              </a:rPr>
              <a:t>Debt finance is where an investor receives a guaranteed return each year on the capital invested, normally in the form of interest payments.</a:t>
            </a:r>
          </a:p>
          <a:p>
            <a:pPr marL="0" indent="0" algn="just">
              <a:spcBef>
                <a:spcPts val="1013"/>
              </a:spcBef>
              <a:buClr>
                <a:srgbClr val="C00000"/>
              </a:buClr>
              <a:buSzPct val="90000"/>
              <a:buNone/>
            </a:pPr>
            <a:r>
              <a:rPr lang="en-GB" sz="1350">
                <a:ea typeface="Cambria Math" panose="02040503050406030204" pitchFamily="18" charset="0"/>
              </a:rPr>
              <a:t>A company must pay interest to the providers of debt finance BEFORE paying dividends to preference shareholders.</a:t>
            </a:r>
          </a:p>
          <a:p>
            <a:pPr marL="0" indent="0" algn="just">
              <a:spcBef>
                <a:spcPts val="1013"/>
              </a:spcBef>
              <a:buClr>
                <a:srgbClr val="C00000"/>
              </a:buClr>
              <a:buSzPct val="90000"/>
              <a:buNone/>
            </a:pPr>
            <a:r>
              <a:rPr lang="en-GB" sz="1350">
                <a:ea typeface="Cambria Math" panose="02040503050406030204" pitchFamily="18" charset="0"/>
              </a:rPr>
              <a:t>The interest payable is tax deductible. </a:t>
            </a:r>
          </a:p>
          <a:p>
            <a:pPr marL="0" indent="0" algn="just">
              <a:spcBef>
                <a:spcPts val="1013"/>
              </a:spcBef>
              <a:buClr>
                <a:srgbClr val="C00000"/>
              </a:buClr>
              <a:buSzPct val="90000"/>
              <a:buNone/>
            </a:pPr>
            <a:r>
              <a:rPr lang="en-GB" sz="1350">
                <a:ea typeface="Cambria Math" panose="02040503050406030204" pitchFamily="18" charset="0"/>
              </a:rPr>
              <a:t>Main types of finance to be aware of are:</a:t>
            </a:r>
          </a:p>
          <a:p>
            <a:pPr lvl="2" algn="just">
              <a:spcBef>
                <a:spcPts val="1013"/>
              </a:spcBef>
              <a:buClr>
                <a:srgbClr val="C00000"/>
              </a:buClr>
              <a:buSzPct val="90000"/>
            </a:pPr>
            <a:r>
              <a:rPr lang="en-GB" sz="1125">
                <a:ea typeface="Cambria Math" panose="02040503050406030204" pitchFamily="18" charset="0"/>
              </a:rPr>
              <a:t>Bank Loan</a:t>
            </a:r>
          </a:p>
          <a:p>
            <a:pPr lvl="2" algn="just">
              <a:spcBef>
                <a:spcPts val="1013"/>
              </a:spcBef>
              <a:buClr>
                <a:srgbClr val="C00000"/>
              </a:buClr>
              <a:buSzPct val="90000"/>
            </a:pPr>
            <a:r>
              <a:rPr lang="en-GB" sz="1125">
                <a:ea typeface="Cambria Math" panose="02040503050406030204" pitchFamily="18" charset="0"/>
              </a:rPr>
              <a:t>Leasing</a:t>
            </a:r>
          </a:p>
          <a:p>
            <a:pPr lvl="2" algn="just">
              <a:spcBef>
                <a:spcPts val="1013"/>
              </a:spcBef>
              <a:buClr>
                <a:srgbClr val="C00000"/>
              </a:buClr>
              <a:buSzPct val="90000"/>
            </a:pPr>
            <a:r>
              <a:rPr lang="en-GB" sz="1125">
                <a:ea typeface="Cambria Math" panose="02040503050406030204" pitchFamily="18" charset="0"/>
              </a:rPr>
              <a:t>Straight bond</a:t>
            </a:r>
          </a:p>
          <a:p>
            <a:pPr lvl="2" algn="just">
              <a:spcBef>
                <a:spcPts val="1013"/>
              </a:spcBef>
              <a:buClr>
                <a:srgbClr val="C00000"/>
              </a:buClr>
              <a:buSzPct val="90000"/>
            </a:pPr>
            <a:r>
              <a:rPr lang="en-GB" sz="1125">
                <a:ea typeface="Cambria Math" panose="02040503050406030204" pitchFamily="18" charset="0"/>
              </a:rPr>
              <a:t>Convertible bond</a:t>
            </a:r>
          </a:p>
          <a:p>
            <a:pPr lvl="2" algn="just">
              <a:spcBef>
                <a:spcPts val="1013"/>
              </a:spcBef>
              <a:buClr>
                <a:srgbClr val="C00000"/>
              </a:buClr>
              <a:buSzPct val="90000"/>
            </a:pPr>
            <a:r>
              <a:rPr lang="en-GB" sz="1125">
                <a:ea typeface="Cambria Math" panose="02040503050406030204" pitchFamily="18" charset="0"/>
              </a:rPr>
              <a:t>Zero coupon bond</a:t>
            </a:r>
          </a:p>
          <a:p>
            <a:pPr lvl="2" algn="just">
              <a:spcBef>
                <a:spcPts val="1013"/>
              </a:spcBef>
              <a:buClr>
                <a:srgbClr val="C00000"/>
              </a:buClr>
              <a:buSzPct val="90000"/>
            </a:pPr>
            <a:r>
              <a:rPr lang="en-GB" sz="1125">
                <a:ea typeface="Cambria Math" panose="02040503050406030204" pitchFamily="18" charset="0"/>
              </a:rPr>
              <a:t>Unsecured bond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54567" y="5140275"/>
            <a:ext cx="509600" cy="303992"/>
          </a:xfrm>
          <a:ln w="12700"/>
        </p:spPr>
        <p:txBody>
          <a:bodyPr/>
          <a:lstStyle/>
          <a:p>
            <a:pPr algn="ctr" defTabSz="514350">
              <a:defRPr/>
            </a:pPr>
            <a:fld id="{0F99C4FB-888A-4D12-A1C4-C744D94026CD}" type="slidenum">
              <a:rPr lang="en-GB" sz="1013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pPr algn="ctr" defTabSz="514350">
                <a:defRPr/>
              </a:pPr>
              <a:t>7</a:t>
            </a:fld>
            <a:endParaRPr lang="en-GB" sz="1013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2254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7473-ABD7-66A6-61E7-FB287520E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07" y="404664"/>
            <a:ext cx="6426976" cy="538296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SoFP</a:t>
            </a:r>
            <a:r>
              <a:rPr lang="en-GB" dirty="0"/>
              <a:t> – what about debt?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5C9A5D1-7002-FA05-2F6F-BB11C6AB9184}"/>
              </a:ext>
            </a:extLst>
          </p:cNvPr>
          <p:cNvSpPr/>
          <p:nvPr/>
        </p:nvSpPr>
        <p:spPr>
          <a:xfrm>
            <a:off x="252735" y="5445224"/>
            <a:ext cx="8565529" cy="120872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C00000"/>
              </a:buClr>
              <a:tabLst>
                <a:tab pos="670322" algn="l"/>
              </a:tabLst>
            </a:pPr>
            <a:r>
              <a:rPr lang="en-GB" dirty="0">
                <a:solidFill>
                  <a:sysClr val="windowText" lastClr="000000"/>
                </a:solidFill>
              </a:rPr>
              <a:t>A</a:t>
            </a:r>
            <a:r>
              <a:rPr lang="en-GB" sz="1350" dirty="0">
                <a:solidFill>
                  <a:sysClr val="windowText" lastClr="000000"/>
                </a:solidFill>
              </a:rPr>
              <a:t> snapshot of a firm’s financial position at a certain time (the Assets and the Liabilities and Equity), usually at the end of the fiscal year. The two side ‘balance’. 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92E5202-740E-B00E-FB11-8D7FF21DEE98}"/>
              </a:ext>
            </a:extLst>
          </p:cNvPr>
          <p:cNvGraphicFramePr>
            <a:graphicFrameLocks noGrp="1"/>
          </p:cNvGraphicFramePr>
          <p:nvPr/>
        </p:nvGraphicFramePr>
        <p:xfrm>
          <a:off x="226814" y="1512226"/>
          <a:ext cx="4417194" cy="3570170"/>
        </p:xfrm>
        <a:graphic>
          <a:graphicData uri="http://schemas.openxmlformats.org/drawingml/2006/table">
            <a:tbl>
              <a:tblPr/>
              <a:tblGrid>
                <a:gridCol w="2600705">
                  <a:extLst>
                    <a:ext uri="{9D8B030D-6E8A-4147-A177-3AD203B41FA5}">
                      <a16:colId xmlns:a16="http://schemas.microsoft.com/office/drawing/2014/main" val="1204996064"/>
                    </a:ext>
                  </a:extLst>
                </a:gridCol>
                <a:gridCol w="892117">
                  <a:extLst>
                    <a:ext uri="{9D8B030D-6E8A-4147-A177-3AD203B41FA5}">
                      <a16:colId xmlns:a16="http://schemas.microsoft.com/office/drawing/2014/main" val="400867927"/>
                    </a:ext>
                  </a:extLst>
                </a:gridCol>
                <a:gridCol w="924372">
                  <a:extLst>
                    <a:ext uri="{9D8B030D-6E8A-4147-A177-3AD203B41FA5}">
                      <a16:colId xmlns:a16="http://schemas.microsoft.com/office/drawing/2014/main" val="1595395287"/>
                    </a:ext>
                  </a:extLst>
                </a:gridCol>
              </a:tblGrid>
              <a:tr h="24690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Group balance sheet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53379"/>
                  </a:ext>
                </a:extLst>
              </a:tr>
              <a:tr h="193523">
                <a:tc rowSpan="3">
                  <a:txBody>
                    <a:bodyPr/>
                    <a:lstStyle/>
                    <a:p>
                      <a:pPr algn="r" fontAlgn="ctr"/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February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February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893067"/>
                  </a:ext>
                </a:extLst>
              </a:tr>
              <a:tr h="19352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  <a:r>
                        <a:rPr lang="en-GB" sz="7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(a)</a:t>
                      </a:r>
                      <a:endParaRPr lang="en-GB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1227107"/>
                  </a:ext>
                </a:extLst>
              </a:tr>
              <a:tr h="20019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£m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£m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090391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Non-current assets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72006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Goodwill and other intangible assets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5,360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5,393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412160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Property, plant and equipment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17,060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16,945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113967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investments</a:t>
                      </a:r>
                      <a:r>
                        <a:rPr lang="en-GB" sz="7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546129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 and other receivables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128651"/>
                  </a:ext>
                </a:extLst>
              </a:tr>
              <a:tr h="200197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Deferred tax assets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552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892488"/>
                  </a:ext>
                </a:extLst>
              </a:tr>
              <a:tr h="200197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981401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assets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47853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investments</a:t>
                      </a:r>
                      <a:r>
                        <a:rPr lang="en-GB" sz="7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(b)</a:t>
                      </a:r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403477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Inventories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2,339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2,069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975190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 and other receivables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1,263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1,263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939611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Derivative financial instruments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294599"/>
                  </a:ext>
                </a:extLst>
              </a:tr>
              <a:tr h="200197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 and cash equivalents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2,345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2,510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856313"/>
                  </a:ext>
                </a:extLst>
              </a:tr>
              <a:tr h="200197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54403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685F098-557A-835C-F080-8E4CBF217873}"/>
              </a:ext>
            </a:extLst>
          </p:cNvPr>
          <p:cNvGraphicFramePr>
            <a:graphicFrameLocks noGrp="1"/>
          </p:cNvGraphicFramePr>
          <p:nvPr/>
        </p:nvGraphicFramePr>
        <p:xfrm>
          <a:off x="4788024" y="2276872"/>
          <a:ext cx="3703520" cy="2805526"/>
        </p:xfrm>
        <a:graphic>
          <a:graphicData uri="http://schemas.openxmlformats.org/drawingml/2006/table">
            <a:tbl>
              <a:tblPr/>
              <a:tblGrid>
                <a:gridCol w="2159296">
                  <a:extLst>
                    <a:ext uri="{9D8B030D-6E8A-4147-A177-3AD203B41FA5}">
                      <a16:colId xmlns:a16="http://schemas.microsoft.com/office/drawing/2014/main" val="2299759796"/>
                    </a:ext>
                  </a:extLst>
                </a:gridCol>
                <a:gridCol w="772112">
                  <a:extLst>
                    <a:ext uri="{9D8B030D-6E8A-4147-A177-3AD203B41FA5}">
                      <a16:colId xmlns:a16="http://schemas.microsoft.com/office/drawing/2014/main" val="2568009636"/>
                    </a:ext>
                  </a:extLst>
                </a:gridCol>
                <a:gridCol w="772112">
                  <a:extLst>
                    <a:ext uri="{9D8B030D-6E8A-4147-A177-3AD203B41FA5}">
                      <a16:colId xmlns:a16="http://schemas.microsoft.com/office/drawing/2014/main" val="2815436910"/>
                    </a:ext>
                  </a:extLst>
                </a:gridCol>
              </a:tblGrid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liabilities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969983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 and other payables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(9,181)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(8,399)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380730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Borrowings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(725)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(1,080)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767759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Lease liabilities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(547)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(575)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758680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tax liabilities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(11)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(79)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250422"/>
                  </a:ext>
                </a:extLst>
              </a:tr>
              <a:tr h="16173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573035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Non-current liabilities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694169"/>
                  </a:ext>
                </a:extLst>
              </a:tr>
              <a:tr h="12615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Trade and other payables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(53)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(109)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086142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Borrowings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(6,674)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(6,188)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884368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Lease liabilities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(7,411)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(7,827)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06907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Deferred tax liabilities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(910)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(48)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65500"/>
                  </a:ext>
                </a:extLst>
              </a:tr>
              <a:tr h="16173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20496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Equity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199314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 capital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484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489441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Share premium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5,165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5,165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974319"/>
                  </a:ext>
                </a:extLst>
              </a:tr>
              <a:tr h="15634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reserves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3,079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3,183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41312"/>
                  </a:ext>
                </a:extLst>
              </a:tr>
              <a:tr h="16173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Retained earnings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6,932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3,239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931541"/>
                  </a:ext>
                </a:extLst>
              </a:tr>
              <a:tr h="161732"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equity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F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15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30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906543"/>
            <a:ext cx="8270867" cy="694462"/>
          </a:xfrm>
        </p:spPr>
        <p:txBody>
          <a:bodyPr>
            <a:normAutofit fontScale="90000"/>
          </a:bodyPr>
          <a:lstStyle/>
          <a:p>
            <a:r>
              <a:rPr lang="en-GB" dirty="0"/>
              <a:t>Income statement – what about debt?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654767"/>
            <a:ext cx="8591550" cy="443896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spcBef>
                <a:spcPts val="1800"/>
              </a:spcBef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dirty="0">
                <a:solidFill>
                  <a:srgbClr val="C00000"/>
                </a:solidFill>
              </a:rPr>
              <a:t>Consider the following consolidated I/S of Morrisons and Sainsbury’s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7567" y="5710698"/>
            <a:ext cx="679467" cy="443896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9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ED12CC-9557-4B24-8845-2777142F17C9}"/>
              </a:ext>
            </a:extLst>
          </p:cNvPr>
          <p:cNvGraphicFramePr>
            <a:graphicFrameLocks noGrp="1"/>
          </p:cNvGraphicFramePr>
          <p:nvPr/>
        </p:nvGraphicFramePr>
        <p:xfrm>
          <a:off x="640006" y="2152424"/>
          <a:ext cx="6245500" cy="25869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1812">
                  <a:extLst>
                    <a:ext uri="{9D8B030D-6E8A-4147-A177-3AD203B41FA5}">
                      <a16:colId xmlns:a16="http://schemas.microsoft.com/office/drawing/2014/main" val="4003395771"/>
                    </a:ext>
                  </a:extLst>
                </a:gridCol>
                <a:gridCol w="1306844">
                  <a:extLst>
                    <a:ext uri="{9D8B030D-6E8A-4147-A177-3AD203B41FA5}">
                      <a16:colId xmlns:a16="http://schemas.microsoft.com/office/drawing/2014/main" val="2047649248"/>
                    </a:ext>
                  </a:extLst>
                </a:gridCol>
                <a:gridCol w="1306844">
                  <a:extLst>
                    <a:ext uri="{9D8B030D-6E8A-4147-A177-3AD203B41FA5}">
                      <a16:colId xmlns:a16="http://schemas.microsoft.com/office/drawing/2014/main" val="1222362997"/>
                    </a:ext>
                  </a:extLst>
                </a:gridCol>
              </a:tblGrid>
              <a:tr h="235177">
                <a:tc>
                  <a:txBody>
                    <a:bodyPr/>
                    <a:lstStyle/>
                    <a:p>
                      <a:pPr algn="l" fontAlgn="b"/>
                      <a:r>
                        <a:rPr lang="en-GB" sz="1500" u="none" strike="noStrike" dirty="0">
                          <a:effectLst/>
                        </a:rPr>
                        <a:t> 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1500" b="1" u="none" strike="noStrike" dirty="0">
                          <a:effectLst/>
                        </a:rPr>
                        <a:t>2020 (£m)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082430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fontAlgn="b"/>
                      <a:r>
                        <a:rPr lang="en-GB" sz="1500" u="none" strike="noStrike">
                          <a:effectLst/>
                        </a:rPr>
                        <a:t> </a:t>
                      </a:r>
                      <a:endParaRPr lang="en-GB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Morrisons</a:t>
                      </a:r>
                      <a:endParaRPr lang="en-GB" sz="15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b="1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Sainsbury's</a:t>
                      </a:r>
                      <a:endParaRPr lang="en-GB" sz="1500" b="1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694293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u="none" strike="noStrike" dirty="0">
                          <a:effectLst/>
                        </a:rPr>
                        <a:t>Sales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17,536</a:t>
                      </a:r>
                      <a:endParaRPr lang="en-GB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28,993</a:t>
                      </a:r>
                      <a:endParaRPr lang="en-GB" sz="15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781195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u="none" strike="noStrike">
                          <a:effectLst/>
                        </a:rPr>
                        <a:t>– Cost of goods sold</a:t>
                      </a:r>
                      <a:endParaRPr lang="en-GB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431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16,907</a:t>
                      </a:r>
                      <a:endParaRPr lang="en-GB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26,977</a:t>
                      </a:r>
                      <a:endParaRPr lang="en-GB" sz="15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763275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u="none" strike="noStrike">
                          <a:effectLst/>
                        </a:rPr>
                        <a:t>Gross Profit</a:t>
                      </a:r>
                      <a:endParaRPr lang="en-GB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629</a:t>
                      </a:r>
                      <a:endParaRPr lang="en-GB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2,016</a:t>
                      </a:r>
                      <a:endParaRPr lang="en-GB" sz="15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76750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u="none" strike="noStrike">
                          <a:effectLst/>
                        </a:rPr>
                        <a:t>– Selling, administrative and other expenses</a:t>
                      </a:r>
                      <a:endParaRPr lang="en-GB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431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174</a:t>
                      </a:r>
                      <a:endParaRPr lang="en-GB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1,366</a:t>
                      </a:r>
                      <a:endParaRPr lang="en-GB" sz="15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586547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u="none" strike="noStrike" dirty="0">
                          <a:effectLst/>
                        </a:rPr>
                        <a:t>Earnings Before Interest and Taxes (EBIT)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455</a:t>
                      </a:r>
                      <a:endParaRPr lang="en-GB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650</a:t>
                      </a:r>
                      <a:endParaRPr lang="en-GB" sz="15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507437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u="none" strike="noStrike" dirty="0">
                          <a:effectLst/>
                        </a:rPr>
                        <a:t>– Interest expenses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431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20</a:t>
                      </a:r>
                      <a:endParaRPr lang="en-GB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395</a:t>
                      </a:r>
                      <a:endParaRPr lang="en-GB" sz="15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076969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u="none" strike="noStrike">
                          <a:effectLst/>
                        </a:rPr>
                        <a:t>Earnings Before Taxes (EBT)</a:t>
                      </a:r>
                      <a:endParaRPr lang="en-GB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435</a:t>
                      </a:r>
                      <a:endParaRPr lang="en-GB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255</a:t>
                      </a:r>
                      <a:endParaRPr lang="en-GB" sz="15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999641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u="none" strike="noStrike">
                          <a:effectLst/>
                        </a:rPr>
                        <a:t>– Taxes</a:t>
                      </a:r>
                      <a:endParaRPr lang="en-GB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431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87</a:t>
                      </a:r>
                      <a:endParaRPr lang="en-GB" sz="15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103</a:t>
                      </a:r>
                      <a:endParaRPr lang="en-GB" sz="15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15509"/>
                  </a:ext>
                </a:extLst>
              </a:tr>
              <a:tr h="235177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500" b="1" u="none" strike="noStrike" dirty="0">
                          <a:effectLst/>
                        </a:rPr>
                        <a:t>Net Income</a:t>
                      </a:r>
                      <a:endParaRPr lang="en-GB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348</a:t>
                      </a:r>
                      <a:endParaRPr lang="en-GB" sz="15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500" b="1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152</a:t>
                      </a:r>
                      <a:endParaRPr lang="en-GB" sz="1500" b="1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564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7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Loan &amp;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213435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>
                <a:solidFill>
                  <a:srgbClr val="C0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Loan</a:t>
            </a: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Simplest form of debt finance – a loan from a bank, fixed amount, fixed period</a:t>
            </a:r>
          </a:p>
          <a:p>
            <a:pPr lvl="2"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Interest charged by bank can be </a:t>
            </a:r>
            <a:r>
              <a:rPr lang="en-GB" sz="1500">
                <a:solidFill>
                  <a:schemeClr val="accent5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fixed or floating</a:t>
            </a:r>
          </a:p>
          <a:p>
            <a:pPr lvl="2"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Loans may be </a:t>
            </a:r>
            <a:r>
              <a:rPr lang="en-GB" sz="1500">
                <a:solidFill>
                  <a:srgbClr val="C0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secured</a:t>
            </a:r>
            <a:r>
              <a:rPr lang="en-GB" sz="15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against assets</a:t>
            </a:r>
          </a:p>
          <a:p>
            <a:pPr lvl="2"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Interest rates depend on the perceived risk by the borrower</a:t>
            </a:r>
          </a:p>
          <a:p>
            <a:pPr lvl="2"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Capital amount borrowed repaid to bank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endParaRPr lang="en-GB" sz="1800">
              <a:solidFill>
                <a:schemeClr val="accent5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E9D41-2AA8-38FF-5166-BD27BB495DBC}"/>
              </a:ext>
            </a:extLst>
          </p:cNvPr>
          <p:cNvSpPr txBox="1"/>
          <p:nvPr/>
        </p:nvSpPr>
        <p:spPr>
          <a:xfrm>
            <a:off x="266700" y="3943294"/>
            <a:ext cx="7019176" cy="15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342900">
              <a:lnSpc>
                <a:spcPct val="80000"/>
              </a:lnSpc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650" dirty="0">
                <a:solidFill>
                  <a:srgbClr val="C0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Lease</a:t>
            </a:r>
          </a:p>
          <a:p>
            <a:pPr algn="just" defTabSz="342900">
              <a:lnSpc>
                <a:spcPct val="80000"/>
              </a:lnSpc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6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Long term leasing of assets is a popular form of financing, avoids the need to part with significant capital outlay when the asset is acquired</a:t>
            </a:r>
          </a:p>
          <a:p>
            <a:pPr marL="857250" lvl="2" indent="-171450" algn="just" defTabSz="342900">
              <a:lnSpc>
                <a:spcPct val="80000"/>
              </a:lnSpc>
              <a:spcBef>
                <a:spcPts val="1350"/>
              </a:spcBef>
              <a:buClr>
                <a:srgbClr val="C00000"/>
              </a:buClr>
              <a:buSzPct val="90000"/>
              <a:buFont typeface="Wingdings 3" charset="2"/>
              <a:buChar char=""/>
            </a:pPr>
            <a:r>
              <a:rPr lang="en-GB" sz="1425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Property</a:t>
            </a:r>
          </a:p>
          <a:p>
            <a:pPr marL="857250" lvl="2" indent="-171450" algn="just" defTabSz="342900">
              <a:lnSpc>
                <a:spcPct val="80000"/>
              </a:lnSpc>
              <a:spcBef>
                <a:spcPts val="1350"/>
              </a:spcBef>
              <a:buClr>
                <a:srgbClr val="C00000"/>
              </a:buClr>
              <a:buSzPct val="90000"/>
              <a:buFont typeface="Wingdings 3" charset="2"/>
              <a:buChar char=""/>
            </a:pPr>
            <a:r>
              <a:rPr lang="en-GB" sz="1425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Machinery</a:t>
            </a:r>
          </a:p>
        </p:txBody>
      </p:sp>
    </p:spTree>
    <p:extLst>
      <p:ext uri="{BB962C8B-B14F-4D97-AF65-F5344CB8AC3E}">
        <p14:creationId xmlns:p14="http://schemas.microsoft.com/office/powerpoint/2010/main" val="18846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Bond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 </a:t>
            </a:r>
            <a:r>
              <a:rPr lang="en-GB" sz="18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bond</a:t>
            </a: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is a marketable fixed-income instrument </a:t>
            </a:r>
            <a:r>
              <a:rPr lang="en-GB" sz="1800">
                <a:latin typeface="Calibri" panose="020F0502020204030204" pitchFamily="34" charset="0"/>
                <a:cs typeface="Calibri" panose="020F0502020204030204" pitchFamily="34" charset="0"/>
              </a:rPr>
              <a:t>that represents a loan between a borrower (issuer) and a lender (investors). A bond may also be referred to as a “loan note”, “marketable debt”, “debenture”.</a:t>
            </a:r>
          </a:p>
          <a:p>
            <a:pPr lvl="1" algn="just">
              <a:spcBef>
                <a:spcPts val="1350"/>
              </a:spcBef>
              <a:buClr>
                <a:srgbClr val="C00000"/>
              </a:buClr>
              <a:buSzPct val="90000"/>
              <a:buFont typeface="Calibri" panose="020F0502020204030204" pitchFamily="34" charset="0"/>
              <a:buChar char="─"/>
            </a:pPr>
            <a:r>
              <a:rPr lang="en-GB" sz="135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GB" sz="135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government bond </a:t>
            </a:r>
            <a:r>
              <a:rPr lang="en-GB" sz="1350">
                <a:latin typeface="Calibri" panose="020F0502020204030204" pitchFamily="34" charset="0"/>
                <a:cs typeface="Calibri" panose="020F0502020204030204" pitchFamily="34" charset="0"/>
              </a:rPr>
              <a:t>is issued by governments to support their spending, a </a:t>
            </a:r>
            <a:r>
              <a:rPr lang="en-GB" sz="135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corporate bond </a:t>
            </a:r>
            <a:r>
              <a:rPr lang="en-GB" sz="1350">
                <a:latin typeface="Calibri" panose="020F0502020204030204" pitchFamily="34" charset="0"/>
                <a:cs typeface="Calibri" panose="020F0502020204030204" pitchFamily="34" charset="0"/>
              </a:rPr>
              <a:t>is a bond issued by a corporation to finance their operations.</a:t>
            </a: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Bonds are first issued in the </a:t>
            </a:r>
            <a:r>
              <a:rPr lang="en-GB" sz="1800">
                <a:solidFill>
                  <a:schemeClr val="accent5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primary market </a:t>
            </a: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through a </a:t>
            </a:r>
            <a:r>
              <a:rPr lang="en-GB" sz="1800">
                <a:solidFill>
                  <a:schemeClr val="accent5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public offering</a:t>
            </a: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 Bondholders can then sell bonds to other investors in the secondary market.</a:t>
            </a:r>
            <a:endParaRPr lang="en-GB"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Each bond issue specifies the terms of the bond.</a:t>
            </a: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17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04" y="883690"/>
            <a:ext cx="7886700" cy="304534"/>
          </a:xfrm>
        </p:spPr>
        <p:txBody>
          <a:bodyPr>
            <a:normAutofit fontScale="90000"/>
          </a:bodyPr>
          <a:lstStyle/>
          <a:p>
            <a:r>
              <a:rPr lang="en-GB"/>
              <a:t>Bonds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328A74F9-1AFB-4211-B83A-508CA4001F0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205" y="1271422"/>
          <a:ext cx="5600413" cy="4283857"/>
        </p:xfrm>
        <a:graphic>
          <a:graphicData uri="http://schemas.openxmlformats.org/drawingml/2006/table">
            <a:tbl>
              <a:tblPr/>
              <a:tblGrid>
                <a:gridCol w="1232899">
                  <a:extLst>
                    <a:ext uri="{9D8B030D-6E8A-4147-A177-3AD203B41FA5}">
                      <a16:colId xmlns:a16="http://schemas.microsoft.com/office/drawing/2014/main" val="3641020418"/>
                    </a:ext>
                  </a:extLst>
                </a:gridCol>
                <a:gridCol w="142553">
                  <a:extLst>
                    <a:ext uri="{9D8B030D-6E8A-4147-A177-3AD203B41FA5}">
                      <a16:colId xmlns:a16="http://schemas.microsoft.com/office/drawing/2014/main" val="116455947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4282893232"/>
                    </a:ext>
                  </a:extLst>
                </a:gridCol>
                <a:gridCol w="4199561">
                  <a:extLst>
                    <a:ext uri="{9D8B030D-6E8A-4147-A177-3AD203B41FA5}">
                      <a16:colId xmlns:a16="http://schemas.microsoft.com/office/drawing/2014/main" val="800593425"/>
                    </a:ext>
                  </a:extLst>
                </a:gridCol>
              </a:tblGrid>
              <a:tr h="220932"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Issuer: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/>
                        <a:t>   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500"/>
                        <a:t>Accor Hotels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Accor Hotels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3467"/>
                  </a:ext>
                </a:extLst>
              </a:tr>
              <a:tr h="290353"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Title of Securities: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/>
                        <a:t>   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500"/>
                        <a:t>NC 5.25 Bonds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NC 5.25 Bonds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29270"/>
                  </a:ext>
                </a:extLst>
              </a:tr>
              <a:tr h="462338"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Aggregate Principal Amount Offered: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/>
                        <a:t>   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500"/>
                        <a:t>€500,000,000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€500,000,000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4123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Issue Date: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   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600" b="1"/>
                        <a:t>31 January 2019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31 January 2019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88758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/>
                      <a:endParaRPr lang="en-GB" sz="9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9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493639"/>
                  </a:ext>
                </a:extLst>
              </a:tr>
              <a:tr h="348423"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Maturity Date: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   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600" b="1"/>
                        <a:t>30 April 2024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30 April 2024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214209"/>
                  </a:ext>
                </a:extLst>
              </a:tr>
              <a:tr h="169941">
                <a:tc>
                  <a:txBody>
                    <a:bodyPr/>
                    <a:lstStyle/>
                    <a:p>
                      <a:pPr algn="ctr"/>
                      <a:endParaRPr lang="en-GB" sz="9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9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91728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Face 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   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€1,000.00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175890"/>
                  </a:ext>
                </a:extLst>
              </a:tr>
              <a:tr h="316241">
                <a:tc>
                  <a:txBody>
                    <a:bodyPr/>
                    <a:lstStyle/>
                    <a:p>
                      <a:pPr algn="ctr"/>
                      <a:endParaRPr lang="en-GB" sz="11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GB" sz="11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596263"/>
                  </a:ext>
                </a:extLst>
              </a:tr>
              <a:tr h="522635"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Coupon (Interest Rate):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   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4.375 per cent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39757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endParaRPr lang="en-GB" sz="11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412843"/>
                  </a:ext>
                </a:extLst>
              </a:tr>
              <a:tr h="208464"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Issue Price: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/>
                        <a:t>99.451 per cent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269221"/>
                  </a:ext>
                </a:extLst>
              </a:tr>
              <a:tr h="192109">
                <a:tc>
                  <a:txBody>
                    <a:bodyPr/>
                    <a:lstStyle/>
                    <a:p>
                      <a:pPr algn="ctr"/>
                      <a:endParaRPr lang="en-GB" sz="9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5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693382"/>
                  </a:ext>
                </a:extLst>
              </a:tr>
              <a:tr h="522635"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Coupon Payment Dates: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   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Annually in arrears in equal instalments on 30 April in each year with the first interest payment date on 30 April 2020 […]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93026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0D9B7828-1072-44B1-A872-7EB5C40C4800}"/>
              </a:ext>
            </a:extLst>
          </p:cNvPr>
          <p:cNvSpPr/>
          <p:nvPr/>
        </p:nvSpPr>
        <p:spPr>
          <a:xfrm>
            <a:off x="5713489" y="1836869"/>
            <a:ext cx="3382806" cy="471743"/>
          </a:xfrm>
          <a:prstGeom prst="borderCallout1">
            <a:avLst>
              <a:gd name="adj1" fmla="val 99553"/>
              <a:gd name="adj2" fmla="val 90"/>
              <a:gd name="adj3" fmla="val 124109"/>
              <a:gd name="adj4" fmla="val -4714"/>
            </a:avLst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spcBef>
                <a:spcPts val="225"/>
              </a:spcBef>
              <a:spcAft>
                <a:spcPts val="225"/>
              </a:spcAft>
            </a:pPr>
            <a:r>
              <a:rPr lang="en-GB" sz="1200">
                <a:solidFill>
                  <a:schemeClr val="tx1"/>
                </a:solidFill>
              </a:rPr>
              <a:t>The day on which the buyer (lender) must pay </a:t>
            </a:r>
            <a:r>
              <a:rPr lang="en-GB" sz="1200" b="1">
                <a:solidFill>
                  <a:srgbClr val="C00000"/>
                </a:solidFill>
              </a:rPr>
              <a:t>the issue price</a:t>
            </a:r>
            <a:r>
              <a:rPr lang="en-GB" sz="1200">
                <a:solidFill>
                  <a:schemeClr val="tx1"/>
                </a:solidFill>
              </a:rPr>
              <a:t> to the issuer (borrower).</a:t>
            </a:r>
          </a:p>
        </p:txBody>
      </p:sp>
      <p:sp>
        <p:nvSpPr>
          <p:cNvPr id="16" name="Callout: Line 15">
            <a:extLst>
              <a:ext uri="{FF2B5EF4-FFF2-40B4-BE49-F238E27FC236}">
                <a16:creationId xmlns:a16="http://schemas.microsoft.com/office/drawing/2014/main" id="{318CA6F4-91D1-4806-B672-0BE98C7D24F0}"/>
              </a:ext>
            </a:extLst>
          </p:cNvPr>
          <p:cNvSpPr/>
          <p:nvPr/>
        </p:nvSpPr>
        <p:spPr>
          <a:xfrm>
            <a:off x="5762210" y="2674178"/>
            <a:ext cx="3334085" cy="471743"/>
          </a:xfrm>
          <a:prstGeom prst="borderCallout1">
            <a:avLst>
              <a:gd name="adj1" fmla="val 40106"/>
              <a:gd name="adj2" fmla="val -2"/>
              <a:gd name="adj3" fmla="val 71551"/>
              <a:gd name="adj4" fmla="val -4794"/>
            </a:avLst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spcBef>
                <a:spcPts val="225"/>
              </a:spcBef>
              <a:spcAft>
                <a:spcPts val="225"/>
              </a:spcAft>
            </a:pPr>
            <a:r>
              <a:rPr lang="en-GB" sz="1200">
                <a:solidFill>
                  <a:schemeClr val="tx1"/>
                </a:solidFill>
              </a:rPr>
              <a:t>The day on which the bond expires. The issuer pays the face value back to the buyer.</a:t>
            </a:r>
          </a:p>
        </p:txBody>
      </p:sp>
      <p:sp>
        <p:nvSpPr>
          <p:cNvPr id="17" name="Callout: Line 16">
            <a:extLst>
              <a:ext uri="{FF2B5EF4-FFF2-40B4-BE49-F238E27FC236}">
                <a16:creationId xmlns:a16="http://schemas.microsoft.com/office/drawing/2014/main" id="{6B92CFCA-AE9D-4D5C-B17C-E402ADA71A92}"/>
              </a:ext>
            </a:extLst>
          </p:cNvPr>
          <p:cNvSpPr/>
          <p:nvPr/>
        </p:nvSpPr>
        <p:spPr>
          <a:xfrm>
            <a:off x="5719739" y="4084189"/>
            <a:ext cx="3419028" cy="634118"/>
          </a:xfrm>
          <a:prstGeom prst="borderCallout1">
            <a:avLst>
              <a:gd name="adj1" fmla="val -451"/>
              <a:gd name="adj2" fmla="val 182"/>
              <a:gd name="adj3" fmla="val 35111"/>
              <a:gd name="adj4" fmla="val -5284"/>
            </a:avLst>
          </a:prstGeom>
          <a:noFill/>
          <a:ln w="28575">
            <a:solidFill>
              <a:srgbClr val="B4C7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spcBef>
                <a:spcPts val="225"/>
              </a:spcBef>
              <a:spcAft>
                <a:spcPts val="225"/>
              </a:spcAft>
            </a:pPr>
            <a:r>
              <a:rPr lang="en-GB" sz="1200">
                <a:solidFill>
                  <a:schemeClr val="tx1"/>
                </a:solidFill>
              </a:rPr>
              <a:t>The periodic interest paid to the buyer (lender/bondholder) calculated based on principal. In this case, it is</a:t>
            </a:r>
            <a:r>
              <a:rPr lang="en-GB" sz="1200" b="1">
                <a:solidFill>
                  <a:schemeClr val="tx1"/>
                </a:solidFill>
              </a:rPr>
              <a:t> €43.75</a:t>
            </a:r>
            <a:r>
              <a:rPr lang="en-GB" sz="12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8" name="Callout: Line 17">
            <a:extLst>
              <a:ext uri="{FF2B5EF4-FFF2-40B4-BE49-F238E27FC236}">
                <a16:creationId xmlns:a16="http://schemas.microsoft.com/office/drawing/2014/main" id="{2CB51F4F-D88F-47C8-A809-02AEDEBF613B}"/>
              </a:ext>
            </a:extLst>
          </p:cNvPr>
          <p:cNvSpPr/>
          <p:nvPr/>
        </p:nvSpPr>
        <p:spPr>
          <a:xfrm>
            <a:off x="5762211" y="5518958"/>
            <a:ext cx="3298585" cy="405323"/>
          </a:xfrm>
          <a:prstGeom prst="borderCallout1">
            <a:avLst>
              <a:gd name="adj1" fmla="val 341"/>
              <a:gd name="adj2" fmla="val 90"/>
              <a:gd name="adj3" fmla="val 30624"/>
              <a:gd name="adj4" fmla="val -3434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spcBef>
                <a:spcPts val="225"/>
              </a:spcBef>
              <a:spcAft>
                <a:spcPts val="225"/>
              </a:spcAft>
            </a:pPr>
            <a:r>
              <a:rPr lang="en-GB" sz="1200">
                <a:solidFill>
                  <a:schemeClr val="tx1"/>
                </a:solidFill>
              </a:rPr>
              <a:t>The coupon payment schedule until the bond’s maturity.</a:t>
            </a:r>
          </a:p>
        </p:txBody>
      </p:sp>
      <p:sp>
        <p:nvSpPr>
          <p:cNvPr id="19" name="Callout: Line 18">
            <a:extLst>
              <a:ext uri="{FF2B5EF4-FFF2-40B4-BE49-F238E27FC236}">
                <a16:creationId xmlns:a16="http://schemas.microsoft.com/office/drawing/2014/main" id="{47E4027F-D735-4E4C-9759-14F2E7DAD228}"/>
              </a:ext>
            </a:extLst>
          </p:cNvPr>
          <p:cNvSpPr/>
          <p:nvPr/>
        </p:nvSpPr>
        <p:spPr>
          <a:xfrm>
            <a:off x="5724972" y="3429000"/>
            <a:ext cx="3419028" cy="518320"/>
          </a:xfrm>
          <a:prstGeom prst="borderCallout1">
            <a:avLst>
              <a:gd name="adj1" fmla="val 399"/>
              <a:gd name="adj2" fmla="val 273"/>
              <a:gd name="adj3" fmla="val 28981"/>
              <a:gd name="adj4" fmla="val -4460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spcBef>
                <a:spcPts val="225"/>
              </a:spcBef>
              <a:spcAft>
                <a:spcPts val="225"/>
              </a:spcAft>
            </a:pPr>
            <a:r>
              <a:rPr lang="en-GB" sz="1200">
                <a:solidFill>
                  <a:schemeClr val="tx1"/>
                </a:solidFill>
              </a:rPr>
              <a:t>The principal amount or par value of the bond paid back at maturity.</a:t>
            </a:r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8E722F4B-AA2F-4837-AA58-0623E90FF505}"/>
              </a:ext>
            </a:extLst>
          </p:cNvPr>
          <p:cNvSpPr/>
          <p:nvPr/>
        </p:nvSpPr>
        <p:spPr>
          <a:xfrm>
            <a:off x="5762211" y="4833947"/>
            <a:ext cx="3334085" cy="577324"/>
          </a:xfrm>
          <a:prstGeom prst="borderCallout1">
            <a:avLst>
              <a:gd name="adj1" fmla="val 1406"/>
              <a:gd name="adj2" fmla="val -2"/>
              <a:gd name="adj3" fmla="val 33580"/>
              <a:gd name="adj4" fmla="val -4827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80000"/>
              </a:lnSpc>
              <a:spcBef>
                <a:spcPts val="225"/>
              </a:spcBef>
              <a:spcAft>
                <a:spcPts val="225"/>
              </a:spcAft>
            </a:pPr>
            <a:r>
              <a:rPr lang="en-GB" sz="1200">
                <a:solidFill>
                  <a:schemeClr val="tx1"/>
                </a:solidFill>
              </a:rPr>
              <a:t>The price the buyer pays for the bond, as a percentage of the par. In this case, it is </a:t>
            </a:r>
            <a:r>
              <a:rPr lang="en-GB" sz="1200" b="1">
                <a:solidFill>
                  <a:schemeClr val="tx1"/>
                </a:solidFill>
              </a:rPr>
              <a:t>€994.51.</a:t>
            </a:r>
          </a:p>
        </p:txBody>
      </p:sp>
    </p:spTree>
    <p:extLst>
      <p:ext uri="{BB962C8B-B14F-4D97-AF65-F5344CB8AC3E}">
        <p14:creationId xmlns:p14="http://schemas.microsoft.com/office/powerpoint/2010/main" val="163059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Straight Bond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market price of the bond is quoted per the face value of the bond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face value of the bond is normally $100 or $1,000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Interest is calculated as a percentage of the face value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endParaRPr lang="en-GB" sz="180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 i="1" u="sng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Straight bond example:</a:t>
            </a: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 4.375% bond is trading at $98. This means that an investor would be willing to pay $98 for a block of debt with a face value of $100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80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investor would receive 4.375% x $100 interest per year. The interest on a bond is called its coupon. Therefore the coupon would be $4.375 each year</a:t>
            </a: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816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Straight Bond </a:t>
            </a:r>
            <a:r>
              <a:rPr lang="en-GB" dirty="0"/>
              <a:t>Cash Flows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700" y="1704974"/>
                <a:ext cx="8591550" cy="400572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350"/>
                  </a:spcBef>
                  <a:buClr>
                    <a:srgbClr val="C00000"/>
                  </a:buClr>
                  <a:buSzPct val="90000"/>
                </a:pPr>
                <a:r>
                  <a:rPr lang="en-GB" sz="1800">
                    <a:ea typeface="Cambria Math" panose="02040503050406030204" pitchFamily="18" charset="0"/>
                  </a:rPr>
                  <a:t>Each bond has:</a:t>
                </a:r>
              </a:p>
              <a:p>
                <a:pPr lvl="1">
                  <a:spcBef>
                    <a:spcPts val="450"/>
                  </a:spcBef>
                  <a:buClr>
                    <a:srgbClr val="C00000"/>
                  </a:buClr>
                  <a:buSzPct val="90000"/>
                  <a:buFont typeface="Calibri" panose="020F0502020204030204" pitchFamily="34" charset="0"/>
                  <a:buChar char="─"/>
                </a:pPr>
                <a:r>
                  <a:rPr lang="en-GB">
                    <a:ea typeface="Cambria Math" panose="02040503050406030204" pitchFamily="18" charset="0"/>
                  </a:rPr>
                  <a:t>A coupon,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>
                    <a:ea typeface="Cambria Math" panose="02040503050406030204" pitchFamily="18" charset="0"/>
                  </a:rPr>
                  <a:t>, paid periodically</a:t>
                </a:r>
              </a:p>
              <a:p>
                <a:pPr lvl="1">
                  <a:spcBef>
                    <a:spcPts val="450"/>
                  </a:spcBef>
                  <a:buClr>
                    <a:srgbClr val="C00000"/>
                  </a:buClr>
                  <a:buSzPct val="90000"/>
                  <a:buFont typeface="Calibri" panose="020F0502020204030204" pitchFamily="34" charset="0"/>
                  <a:buChar char="─"/>
                </a:pPr>
                <a:r>
                  <a:rPr lang="en-GB">
                    <a:ea typeface="Cambria Math" panose="02040503050406030204" pitchFamily="18" charset="0"/>
                  </a:rPr>
                  <a:t>A face value,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>
                    <a:ea typeface="Cambria Math" panose="02040503050406030204" pitchFamily="18" charset="0"/>
                  </a:rPr>
                  <a:t>, paid at maturity</a:t>
                </a:r>
              </a:p>
              <a:p>
                <a:pPr lvl="1">
                  <a:spcBef>
                    <a:spcPts val="450"/>
                  </a:spcBef>
                  <a:buClr>
                    <a:srgbClr val="C00000"/>
                  </a:buClr>
                  <a:buSzPct val="90000"/>
                  <a:buFont typeface="Calibri" panose="020F0502020204030204" pitchFamily="34" charset="0"/>
                  <a:buChar char="─"/>
                </a:pPr>
                <a:r>
                  <a:rPr lang="en-GB">
                    <a:ea typeface="Cambria Math" panose="02040503050406030204" pitchFamily="18" charset="0"/>
                  </a:rPr>
                  <a:t>A maturity,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GB">
                  <a:ea typeface="Cambria Math" panose="02040503050406030204" pitchFamily="18" charset="0"/>
                </a:endParaRPr>
              </a:p>
              <a:p>
                <a:pPr marL="0" indent="0" algn="just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800" b="1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Example 1: </a:t>
                </a:r>
                <a:r>
                  <a:rPr lang="en-GB" sz="1800"/>
                  <a:t>Accor issued in 2019 a 5-year bond with face value of €1,000 and annual coupon payment of 4.375%. </a:t>
                </a:r>
              </a:p>
              <a:p>
                <a:pPr marL="0" indent="0" algn="just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800" i="1">
                    <a:ea typeface="Cambria Math" panose="02040503050406030204" pitchFamily="18" charset="0"/>
                  </a:rPr>
                  <a:t>Time line of outflows</a:t>
                </a:r>
                <a:endParaRPr lang="en-GB" sz="1800" i="1">
                  <a:solidFill>
                    <a:schemeClr val="tx1">
                      <a:alpha val="98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704974"/>
                <a:ext cx="8591550" cy="4005724"/>
              </a:xfrm>
              <a:blipFill>
                <a:blip r:embed="rId3"/>
                <a:stretch>
                  <a:fillRect l="-923" t="-1826" r="-5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AEDA38-EEB6-4768-B50D-753BD0EEADB5}"/>
              </a:ext>
            </a:extLst>
          </p:cNvPr>
          <p:cNvCxnSpPr>
            <a:cxnSpLocks/>
          </p:cNvCxnSpPr>
          <p:nvPr/>
        </p:nvCxnSpPr>
        <p:spPr>
          <a:xfrm flipV="1">
            <a:off x="1069951" y="4945887"/>
            <a:ext cx="7140672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9AFE66-62AF-4179-896C-CEC2BFB5C97A}"/>
              </a:ext>
            </a:extLst>
          </p:cNvPr>
          <p:cNvCxnSpPr>
            <a:cxnSpLocks/>
          </p:cNvCxnSpPr>
          <p:nvPr/>
        </p:nvCxnSpPr>
        <p:spPr>
          <a:xfrm>
            <a:off x="2502447" y="4816790"/>
            <a:ext cx="0" cy="298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AF0506-73E5-4F37-AC68-CE7EBC5536A0}"/>
              </a:ext>
            </a:extLst>
          </p:cNvPr>
          <p:cNvCxnSpPr>
            <a:cxnSpLocks/>
          </p:cNvCxnSpPr>
          <p:nvPr/>
        </p:nvCxnSpPr>
        <p:spPr>
          <a:xfrm>
            <a:off x="3919613" y="4796801"/>
            <a:ext cx="0" cy="298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2A1919-CB5D-46B5-A344-74293BAEB14C}"/>
                  </a:ext>
                </a:extLst>
              </p:cNvPr>
              <p:cNvSpPr txBox="1"/>
              <p:nvPr/>
            </p:nvSpPr>
            <p:spPr>
              <a:xfrm>
                <a:off x="739761" y="5175628"/>
                <a:ext cx="660382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=0</m:t>
                      </m:r>
                    </m:oMath>
                  </m:oMathPara>
                </a14:m>
                <a:endParaRPr lang="en-GB" sz="135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2A1919-CB5D-46B5-A344-74293BAEB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61" y="5175628"/>
                <a:ext cx="660382" cy="3000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7B08C1-DF22-4866-8293-6B806C2D3DC3}"/>
                  </a:ext>
                </a:extLst>
              </p:cNvPr>
              <p:cNvSpPr txBox="1"/>
              <p:nvPr/>
            </p:nvSpPr>
            <p:spPr>
              <a:xfrm>
                <a:off x="6430925" y="5178814"/>
                <a:ext cx="660382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=4</m:t>
                      </m:r>
                    </m:oMath>
                  </m:oMathPara>
                </a14:m>
                <a:endParaRPr lang="en-GB" sz="135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7B08C1-DF22-4866-8293-6B806C2D3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925" y="5178814"/>
                <a:ext cx="660382" cy="3000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94FF58-FCC7-4799-BAD3-A2D90B36E344}"/>
                  </a:ext>
                </a:extLst>
              </p:cNvPr>
              <p:cNvSpPr txBox="1"/>
              <p:nvPr/>
            </p:nvSpPr>
            <p:spPr>
              <a:xfrm>
                <a:off x="5015517" y="5178814"/>
                <a:ext cx="630848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=3</m:t>
                      </m:r>
                    </m:oMath>
                  </m:oMathPara>
                </a14:m>
                <a:endParaRPr lang="en-GB" sz="135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94FF58-FCC7-4799-BAD3-A2D90B36E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517" y="5178814"/>
                <a:ext cx="630848" cy="3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4DBBCA-471C-4BE3-B718-A8D1982DA758}"/>
              </a:ext>
            </a:extLst>
          </p:cNvPr>
          <p:cNvCxnSpPr>
            <a:cxnSpLocks/>
          </p:cNvCxnSpPr>
          <p:nvPr/>
        </p:nvCxnSpPr>
        <p:spPr>
          <a:xfrm>
            <a:off x="1071210" y="4785749"/>
            <a:ext cx="0" cy="298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017527-10C6-4417-BBEF-8C512552C766}"/>
                  </a:ext>
                </a:extLst>
              </p:cNvPr>
              <p:cNvSpPr txBox="1"/>
              <p:nvPr/>
            </p:nvSpPr>
            <p:spPr>
              <a:xfrm>
                <a:off x="2184702" y="5175628"/>
                <a:ext cx="630848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=1</m:t>
                      </m:r>
                    </m:oMath>
                  </m:oMathPara>
                </a14:m>
                <a:endParaRPr lang="en-GB" sz="135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017527-10C6-4417-BBEF-8C512552C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702" y="5175628"/>
                <a:ext cx="630848" cy="3000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B82E86-2861-449C-89E6-8D8552289E32}"/>
                  </a:ext>
                </a:extLst>
              </p:cNvPr>
              <p:cNvSpPr txBox="1"/>
              <p:nvPr/>
            </p:nvSpPr>
            <p:spPr>
              <a:xfrm>
                <a:off x="3600109" y="5172535"/>
                <a:ext cx="630848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=2</m:t>
                      </m:r>
                    </m:oMath>
                  </m:oMathPara>
                </a14:m>
                <a:endParaRPr lang="en-GB" sz="135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B82E86-2861-449C-89E6-8D8552289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09" y="5172535"/>
                <a:ext cx="630848" cy="3000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A4FB60-E42D-4FAA-9488-CFE51D372F73}"/>
              </a:ext>
            </a:extLst>
          </p:cNvPr>
          <p:cNvCxnSpPr>
            <a:cxnSpLocks/>
          </p:cNvCxnSpPr>
          <p:nvPr/>
        </p:nvCxnSpPr>
        <p:spPr>
          <a:xfrm>
            <a:off x="5330941" y="4804020"/>
            <a:ext cx="0" cy="298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3B7F91-6D80-4C82-9FE1-843CD57719AA}"/>
              </a:ext>
            </a:extLst>
          </p:cNvPr>
          <p:cNvCxnSpPr>
            <a:cxnSpLocks/>
          </p:cNvCxnSpPr>
          <p:nvPr/>
        </p:nvCxnSpPr>
        <p:spPr>
          <a:xfrm>
            <a:off x="6761115" y="4796801"/>
            <a:ext cx="0" cy="298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12A81B5-9F4E-498A-973A-21FA34B2A68F}"/>
                  </a:ext>
                </a:extLst>
              </p:cNvPr>
              <p:cNvSpPr txBox="1"/>
              <p:nvPr/>
            </p:nvSpPr>
            <p:spPr>
              <a:xfrm>
                <a:off x="7880433" y="5172535"/>
                <a:ext cx="660382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GB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=5</m:t>
                      </m:r>
                    </m:oMath>
                  </m:oMathPara>
                </a14:m>
                <a:endParaRPr lang="en-GB" sz="1350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12A81B5-9F4E-498A-973A-21FA34B2A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433" y="5172535"/>
                <a:ext cx="660382" cy="3000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EF45A4-14BE-4D48-97B4-6A682583F6D2}"/>
              </a:ext>
            </a:extLst>
          </p:cNvPr>
          <p:cNvCxnSpPr>
            <a:cxnSpLocks/>
          </p:cNvCxnSpPr>
          <p:nvPr/>
        </p:nvCxnSpPr>
        <p:spPr>
          <a:xfrm>
            <a:off x="8210623" y="4785749"/>
            <a:ext cx="0" cy="298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llout: Line with Accent Bar 30">
                <a:extLst>
                  <a:ext uri="{FF2B5EF4-FFF2-40B4-BE49-F238E27FC236}">
                    <a16:creationId xmlns:a16="http://schemas.microsoft.com/office/drawing/2014/main" id="{C03C1A1D-D344-4F49-8F95-1BA87481A9BC}"/>
                  </a:ext>
                </a:extLst>
              </p:cNvPr>
              <p:cNvSpPr/>
              <p:nvPr/>
            </p:nvSpPr>
            <p:spPr>
              <a:xfrm rot="16200000">
                <a:off x="1577111" y="3427378"/>
                <a:ext cx="174815" cy="1614513"/>
              </a:xfrm>
              <a:prstGeom prst="accentCallout1">
                <a:avLst>
                  <a:gd name="adj1" fmla="val 68835"/>
                  <a:gd name="adj2" fmla="val 4289"/>
                  <a:gd name="adj3" fmla="val 80745"/>
                  <a:gd name="adj4" fmla="val -92085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275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1275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275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€1,000</m:t>
                      </m:r>
                      <m:r>
                        <a:rPr lang="en-GB" sz="1275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×4.375%</m:t>
                      </m:r>
                    </m:oMath>
                  </m:oMathPara>
                </a14:m>
                <a:endParaRPr lang="en-GB" sz="1275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Callout: Line with Accent Bar 30">
                <a:extLst>
                  <a:ext uri="{FF2B5EF4-FFF2-40B4-BE49-F238E27FC236}">
                    <a16:creationId xmlns:a16="http://schemas.microsoft.com/office/drawing/2014/main" id="{C03C1A1D-D344-4F49-8F95-1BA87481A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577111" y="3427378"/>
                <a:ext cx="174815" cy="1614513"/>
              </a:xfrm>
              <a:prstGeom prst="accentCallout1">
                <a:avLst>
                  <a:gd name="adj1" fmla="val 68835"/>
                  <a:gd name="adj2" fmla="val 4289"/>
                  <a:gd name="adj3" fmla="val 80745"/>
                  <a:gd name="adj4" fmla="val -92085"/>
                </a:avLst>
              </a:prstGeom>
              <a:blipFill>
                <a:blip r:embed="rId10"/>
                <a:stretch>
                  <a:fillRect t="-70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849ED76-50FB-4392-A405-E40745FE8AD7}"/>
                  </a:ext>
                </a:extLst>
              </p:cNvPr>
              <p:cNvSpPr txBox="1"/>
              <p:nvPr/>
            </p:nvSpPr>
            <p:spPr>
              <a:xfrm>
                <a:off x="3387308" y="4384641"/>
                <a:ext cx="100405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500" dirty="0"/>
                        <m:t>€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43.75</m:t>
                      </m:r>
                    </m:oMath>
                  </m:oMathPara>
                </a14:m>
                <a:endParaRPr lang="en-GB" sz="150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849ED76-50FB-4392-A405-E40745FE8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308" y="4384641"/>
                <a:ext cx="1004052" cy="3231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AC27355-19EA-4BCE-8780-1D5BEC78DBD2}"/>
                  </a:ext>
                </a:extLst>
              </p:cNvPr>
              <p:cNvSpPr txBox="1"/>
              <p:nvPr/>
            </p:nvSpPr>
            <p:spPr>
              <a:xfrm>
                <a:off x="4804868" y="4384641"/>
                <a:ext cx="100405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500" dirty="0"/>
                        <m:t>€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43.75</m:t>
                      </m:r>
                    </m:oMath>
                  </m:oMathPara>
                </a14:m>
                <a:endParaRPr lang="en-GB" sz="150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AC27355-19EA-4BCE-8780-1D5BEC78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868" y="4384641"/>
                <a:ext cx="1004052" cy="3231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7170BE-0D74-48E7-9E69-EDC063A76ABE}"/>
                  </a:ext>
                </a:extLst>
              </p:cNvPr>
              <p:cNvSpPr txBox="1"/>
              <p:nvPr/>
            </p:nvSpPr>
            <p:spPr>
              <a:xfrm>
                <a:off x="6222428" y="4384641"/>
                <a:ext cx="100405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500" dirty="0"/>
                        <m:t>€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43.75</m:t>
                      </m:r>
                    </m:oMath>
                  </m:oMathPara>
                </a14:m>
                <a:endParaRPr lang="en-GB" sz="150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7170BE-0D74-48E7-9E69-EDC063A76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428" y="4384641"/>
                <a:ext cx="1004052" cy="3231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ABE04B4-6406-4905-890E-0B3CBC4D23C7}"/>
                  </a:ext>
                </a:extLst>
              </p:cNvPr>
              <p:cNvSpPr txBox="1"/>
              <p:nvPr/>
            </p:nvSpPr>
            <p:spPr>
              <a:xfrm>
                <a:off x="7678785" y="4384641"/>
                <a:ext cx="100405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500" dirty="0"/>
                        <m:t>€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43.75</m:t>
                      </m:r>
                    </m:oMath>
                  </m:oMathPara>
                </a14:m>
                <a:endParaRPr lang="en-GB" sz="15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ABE04B4-6406-4905-890E-0B3CBC4D2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785" y="4384641"/>
                <a:ext cx="1004052" cy="3231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FEFFECF-9A8F-4ECA-8505-62947F7D8BE2}"/>
                  </a:ext>
                </a:extLst>
              </p:cNvPr>
              <p:cNvSpPr txBox="1"/>
              <p:nvPr/>
            </p:nvSpPr>
            <p:spPr>
              <a:xfrm>
                <a:off x="7678785" y="3889444"/>
                <a:ext cx="100405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500" dirty="0"/>
                        <m:t>€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1,000</m:t>
                      </m:r>
                    </m:oMath>
                  </m:oMathPara>
                </a14:m>
                <a:endParaRPr lang="en-GB" sz="15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 dirty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50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FEFFECF-9A8F-4ECA-8505-62947F7D8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785" y="3889444"/>
                <a:ext cx="1004052" cy="5539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4C44E0-F61E-48AC-B864-C8061DF4079B}"/>
                  </a:ext>
                </a:extLst>
              </p:cNvPr>
              <p:cNvSpPr txBox="1"/>
              <p:nvPr/>
            </p:nvSpPr>
            <p:spPr>
              <a:xfrm>
                <a:off x="1969748" y="4390941"/>
                <a:ext cx="100405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500" dirty="0"/>
                        <m:t>€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43.75</m:t>
                      </m:r>
                    </m:oMath>
                  </m:oMathPara>
                </a14:m>
                <a:endParaRPr lang="en-GB" sz="150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4C44E0-F61E-48AC-B864-C8061DF40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748" y="4390941"/>
                <a:ext cx="1004052" cy="3231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uble Bracket 4">
            <a:extLst>
              <a:ext uri="{FF2B5EF4-FFF2-40B4-BE49-F238E27FC236}">
                <a16:creationId xmlns:a16="http://schemas.microsoft.com/office/drawing/2014/main" id="{1A10D4E3-B2F7-4151-B2C8-FF519D6A2342}"/>
              </a:ext>
            </a:extLst>
          </p:cNvPr>
          <p:cNvSpPr/>
          <p:nvPr/>
        </p:nvSpPr>
        <p:spPr>
          <a:xfrm>
            <a:off x="2117048" y="4390940"/>
            <a:ext cx="6366000" cy="322020"/>
          </a:xfrm>
          <a:prstGeom prst="bracketPair">
            <a:avLst/>
          </a:prstGeom>
          <a:solidFill>
            <a:srgbClr val="C00000">
              <a:alpha val="15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51D69C-72AA-417A-82F3-AEED4696BBF8}"/>
              </a:ext>
            </a:extLst>
          </p:cNvPr>
          <p:cNvSpPr txBox="1"/>
          <p:nvPr/>
        </p:nvSpPr>
        <p:spPr>
          <a:xfrm>
            <a:off x="4752641" y="4102865"/>
            <a:ext cx="10040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>
                <a:latin typeface="+mj-lt"/>
              </a:rPr>
              <a:t>Annuity</a:t>
            </a:r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44449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5" grpId="0"/>
      <p:bldP spid="16" grpId="0"/>
      <p:bldP spid="22" grpId="0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Straight Bond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704975"/>
            <a:ext cx="7600736" cy="1166228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500">
                <a:ea typeface="Cambria Math" panose="02040503050406030204" pitchFamily="18" charset="0"/>
              </a:rPr>
              <a:t>The </a:t>
            </a:r>
            <a:r>
              <a:rPr lang="en-GB" sz="1500" i="1">
                <a:solidFill>
                  <a:srgbClr val="C00000"/>
                </a:solidFill>
                <a:ea typeface="Cambria Math" panose="02040503050406030204" pitchFamily="18" charset="0"/>
              </a:rPr>
              <a:t>fair</a:t>
            </a:r>
            <a:r>
              <a:rPr lang="en-GB" sz="1500" i="1">
                <a:ea typeface="Cambria Math" panose="02040503050406030204" pitchFamily="18" charset="0"/>
              </a:rPr>
              <a:t> </a:t>
            </a:r>
            <a:r>
              <a:rPr lang="en-GB" sz="1500">
                <a:ea typeface="Cambria Math" panose="02040503050406030204" pitchFamily="18" charset="0"/>
              </a:rPr>
              <a:t>value of a financial instrument is the present value of cash flows generated by the instrument in the future</a:t>
            </a:r>
            <a:r>
              <a:rPr lang="en-GB" sz="1500" i="1">
                <a:ea typeface="Cambria Math" panose="02040503050406030204" pitchFamily="18" charset="0"/>
              </a:rPr>
              <a:t>. 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>
                <a:ea typeface="Cambria Math" panose="02040503050406030204" pitchFamily="18" charset="0"/>
              </a:rPr>
              <a:t>Therefore the fair price of a bond is the present value of its future cash flows.</a:t>
            </a: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6A045B-2900-A4B2-D261-072DAA922D34}"/>
              </a:ext>
            </a:extLst>
          </p:cNvPr>
          <p:cNvGrpSpPr/>
          <p:nvPr/>
        </p:nvGrpSpPr>
        <p:grpSpPr>
          <a:xfrm>
            <a:off x="1331640" y="4560979"/>
            <a:ext cx="5699637" cy="1480052"/>
            <a:chOff x="2377849" y="4432539"/>
            <a:chExt cx="5967335" cy="1973402"/>
          </a:xfrm>
        </p:grpSpPr>
        <p:sp>
          <p:nvSpPr>
            <p:cNvPr id="5" name="Double Bracket 4">
              <a:extLst>
                <a:ext uri="{FF2B5EF4-FFF2-40B4-BE49-F238E27FC236}">
                  <a16:creationId xmlns:a16="http://schemas.microsoft.com/office/drawing/2014/main" id="{06910D9D-CD0F-4482-A4D1-997B77282B06}"/>
                </a:ext>
              </a:extLst>
            </p:cNvPr>
            <p:cNvSpPr/>
            <p:nvPr/>
          </p:nvSpPr>
          <p:spPr>
            <a:xfrm>
              <a:off x="3002203" y="4877406"/>
              <a:ext cx="2833517" cy="544627"/>
            </a:xfrm>
            <a:prstGeom prst="bracketPair">
              <a:avLst/>
            </a:prstGeom>
            <a:solidFill>
              <a:srgbClr val="C00000">
                <a:alpha val="15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EDED82-20D6-4A70-B7F8-593122F11C3C}"/>
                </a:ext>
              </a:extLst>
            </p:cNvPr>
            <p:cNvSpPr txBox="1"/>
            <p:nvPr/>
          </p:nvSpPr>
          <p:spPr>
            <a:xfrm>
              <a:off x="3893827" y="4432539"/>
              <a:ext cx="1050271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500">
                  <a:solidFill>
                    <a:srgbClr val="C00000"/>
                  </a:solidFill>
                  <a:latin typeface="+mj-lt"/>
                </a:rPr>
                <a:t>Annuity</a:t>
              </a:r>
              <a:endParaRPr lang="en-GB" sz="150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600C01A-F146-C130-5EA3-FF2E5835CC84}"/>
                    </a:ext>
                  </a:extLst>
                </p:cNvPr>
                <p:cNvSpPr txBox="1"/>
                <p:nvPr/>
              </p:nvSpPr>
              <p:spPr>
                <a:xfrm>
                  <a:off x="2377849" y="4787892"/>
                  <a:ext cx="5967335" cy="16180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=43.75×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1+4.50%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</m:t>
                                </m:r>
                              </m:sup>
                            </m:sSup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4.50%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+1,000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1+4.50%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−5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994.51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600C01A-F146-C130-5EA3-FF2E5835CC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7849" y="4787892"/>
                  <a:ext cx="5967335" cy="161804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576036-BB12-6622-E91A-B422ADAD6F56}"/>
                  </a:ext>
                </a:extLst>
              </p:cNvPr>
              <p:cNvSpPr txBox="1"/>
              <p:nvPr/>
            </p:nvSpPr>
            <p:spPr>
              <a:xfrm>
                <a:off x="266700" y="2843200"/>
                <a:ext cx="7704976" cy="1720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57175" lvl="1" indent="-257175">
                  <a:spcBef>
                    <a:spcPts val="2700"/>
                  </a:spcBef>
                  <a:buClr>
                    <a:srgbClr val="C00000"/>
                  </a:buClr>
                  <a:buSzPct val="90000"/>
                </a:pPr>
                <a:r>
                  <a:rPr lang="en-GB" sz="1500" i="1" u="sng" dirty="0">
                    <a:ea typeface="Cambria Math" panose="02040503050406030204" pitchFamily="18" charset="0"/>
                  </a:rPr>
                  <a:t>Example</a:t>
                </a:r>
              </a:p>
              <a:p>
                <a:pPr marL="257175" lvl="1" indent="-257175">
                  <a:spcBef>
                    <a:spcPts val="2700"/>
                  </a:spcBef>
                  <a:buClr>
                    <a:srgbClr val="C00000"/>
                  </a:buClr>
                  <a:buSzPct val="90000"/>
                </a:pPr>
                <a:r>
                  <a:rPr lang="en-GB" sz="1500" dirty="0">
                    <a:ea typeface="Cambria Math" panose="02040503050406030204" pitchFamily="18" charset="0"/>
                  </a:rPr>
                  <a:t>Assume a discount rate of 4.50%. The </a:t>
                </a:r>
                <a:r>
                  <a:rPr lang="en-GB" sz="1500" i="1" dirty="0">
                    <a:ea typeface="Cambria Math" panose="02040503050406030204" pitchFamily="18" charset="0"/>
                  </a:rPr>
                  <a:t>fair </a:t>
                </a:r>
                <a:r>
                  <a:rPr lang="en-GB" sz="1500" dirty="0">
                    <a:ea typeface="Cambria Math" panose="02040503050406030204" pitchFamily="18" charset="0"/>
                  </a:rPr>
                  <a:t>value of Accor Hotels bond is the present values of</a:t>
                </a:r>
              </a:p>
              <a:p>
                <a:pPr lvl="1">
                  <a:spcBef>
                    <a:spcPts val="450"/>
                  </a:spcBef>
                  <a:buClr>
                    <a:srgbClr val="C00000"/>
                  </a:buClr>
                  <a:buSzPct val="90000"/>
                  <a:buFont typeface="Calibri" panose="020F0502020204030204" pitchFamily="34" charset="0"/>
                  <a:buChar char="─"/>
                </a:pPr>
                <a:r>
                  <a:rPr lang="en-GB" sz="1500" dirty="0">
                    <a:ea typeface="Cambria Math" panose="02040503050406030204" pitchFamily="18" charset="0"/>
                  </a:rPr>
                  <a:t>Annual coupons of €43.75 for 5 years </a:t>
                </a:r>
                <a14:m>
                  <m:oMath xmlns:m="http://schemas.openxmlformats.org/officeDocument/2006/math">
                    <m:r>
                      <a:rPr lang="en-GB" sz="15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1500" dirty="0">
                    <a:ea typeface="Cambria Math" panose="02040503050406030204" pitchFamily="18" charset="0"/>
                  </a:rPr>
                  <a:t> annuity</a:t>
                </a:r>
              </a:p>
              <a:p>
                <a:pPr lvl="1">
                  <a:spcBef>
                    <a:spcPts val="450"/>
                  </a:spcBef>
                  <a:buClr>
                    <a:srgbClr val="C00000"/>
                  </a:buClr>
                  <a:buSzPct val="90000"/>
                  <a:buFont typeface="Calibri" panose="020F0502020204030204" pitchFamily="34" charset="0"/>
                  <a:buChar char="─"/>
                </a:pPr>
                <a:r>
                  <a:rPr lang="en-GB" sz="1500" dirty="0">
                    <a:ea typeface="Cambria Math" panose="02040503050406030204" pitchFamily="18" charset="0"/>
                  </a:rPr>
                  <a:t>The face value of €1,000 at maturity.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576036-BB12-6622-E91A-B422ADAD6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2843200"/>
                <a:ext cx="7704976" cy="1720984"/>
              </a:xfrm>
              <a:prstGeom prst="rect">
                <a:avLst/>
              </a:prstGeom>
              <a:blipFill>
                <a:blip r:embed="rId4"/>
                <a:stretch>
                  <a:fillRect l="-316" t="-707" b="-28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48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Straight Bond 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700" y="1704974"/>
                <a:ext cx="8591550" cy="4005724"/>
              </a:xfrm>
            </p:spPr>
            <p:txBody>
              <a:bodyPr>
                <a:normAutofit/>
              </a:bodyPr>
              <a:lstStyle/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950">
                    <a:ea typeface="Cambria Math" panose="02040503050406030204" pitchFamily="18" charset="0"/>
                  </a:rPr>
                  <a:t>Therefore the fair value of a bond:</a:t>
                </a: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95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95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GB" sz="195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95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95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GB" sz="195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GB" sz="195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195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 sz="1950">
                  <a:ea typeface="Cambria Math" panose="02040503050406030204" pitchFamily="18" charset="0"/>
                </a:endParaRP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endParaRPr lang="en-GB" sz="1950">
                  <a:ea typeface="Cambria Math" panose="02040503050406030204" pitchFamily="18" charset="0"/>
                </a:endParaRP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650" i="1">
                    <a:ea typeface="Cambria Math" panose="02040503050406030204" pitchFamily="18" charset="0"/>
                  </a:rPr>
                  <a:t>Where:</a:t>
                </a:r>
              </a:p>
              <a:p>
                <a:pPr lvl="1">
                  <a:spcBef>
                    <a:spcPts val="450"/>
                  </a:spcBef>
                  <a:buClr>
                    <a:srgbClr val="C00000"/>
                  </a:buClr>
                  <a:buSzPct val="90000"/>
                  <a:buFont typeface="Calibri" panose="020F0502020204030204" pitchFamily="34" charset="0"/>
                  <a:buChar char="─"/>
                </a:pPr>
                <a:r>
                  <a:rPr lang="en-GB" sz="1650" i="1">
                    <a:ea typeface="Cambria Math" panose="02040503050406030204" pitchFamily="18" charset="0"/>
                  </a:rPr>
                  <a:t>Annual coupons,</a:t>
                </a:r>
                <a14:m>
                  <m:oMath xmlns:m="http://schemas.openxmlformats.org/officeDocument/2006/math">
                    <m:r>
                      <a:rPr lang="en-GB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GB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50" i="1">
                    <a:ea typeface="Cambria Math" panose="020405030504060302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GB" sz="165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50" i="1">
                    <a:ea typeface="Cambria Math" panose="02040503050406030204" pitchFamily="18" charset="0"/>
                  </a:rPr>
                  <a:t> years </a:t>
                </a:r>
                <a14:m>
                  <m:oMath xmlns:m="http://schemas.openxmlformats.org/officeDocument/2006/math">
                    <m:r>
                      <a:rPr lang="en-GB" sz="16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1650" i="1">
                    <a:ea typeface="Cambria Math" panose="02040503050406030204" pitchFamily="18" charset="0"/>
                  </a:rPr>
                  <a:t> annuity</a:t>
                </a:r>
              </a:p>
              <a:p>
                <a:pPr lvl="1">
                  <a:spcBef>
                    <a:spcPts val="450"/>
                  </a:spcBef>
                  <a:buClr>
                    <a:srgbClr val="C00000"/>
                  </a:buClr>
                  <a:buSzPct val="90000"/>
                  <a:buFont typeface="Calibri" panose="020F0502020204030204" pitchFamily="34" charset="0"/>
                  <a:buChar char="─"/>
                </a:pPr>
                <a:r>
                  <a:rPr lang="en-GB" sz="1650" i="1">
                    <a:ea typeface="Cambria Math" panose="02040503050406030204" pitchFamily="18" charset="0"/>
                  </a:rPr>
                  <a:t>The face value, </a:t>
                </a:r>
                <a14:m>
                  <m:oMath xmlns:m="http://schemas.openxmlformats.org/officeDocument/2006/math">
                    <m:r>
                      <a:rPr lang="en-GB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sz="1650" i="1">
                    <a:ea typeface="Cambria Math" panose="02040503050406030204" pitchFamily="18" charset="0"/>
                  </a:rPr>
                  <a:t>, at maturity, </a:t>
                </a:r>
                <a14:m>
                  <m:oMath xmlns:m="http://schemas.openxmlformats.org/officeDocument/2006/math">
                    <m:r>
                      <a:rPr lang="en-GB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GB" sz="1650" i="1">
                  <a:ea typeface="Cambria Math" panose="02040503050406030204" pitchFamily="18" charset="0"/>
                </a:endParaRPr>
              </a:p>
              <a:p>
                <a:pPr lvl="1">
                  <a:spcBef>
                    <a:spcPts val="450"/>
                  </a:spcBef>
                  <a:buClr>
                    <a:srgbClr val="C00000"/>
                  </a:buClr>
                  <a:buSzPct val="90000"/>
                  <a:buFont typeface="Calibri" panose="020F0502020204030204" pitchFamily="34" charset="0"/>
                  <a:buChar char="─"/>
                </a:pPr>
                <a:r>
                  <a:rPr lang="en-GB" sz="1650" i="1">
                    <a:ea typeface="Cambria Math" panose="02040503050406030204" pitchFamily="18" charset="0"/>
                  </a:rPr>
                  <a:t>Discount rate </a:t>
                </a:r>
                <a14:m>
                  <m:oMath xmlns:m="http://schemas.openxmlformats.org/officeDocument/2006/math">
                    <m:r>
                      <a:rPr lang="en-GB" sz="16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50" i="1">
                    <a:ea typeface="Cambria Math" panose="02040503050406030204" pitchFamily="18" charset="0"/>
                  </a:rPr>
                  <a:t>.</a:t>
                </a:r>
              </a:p>
              <a:p>
                <a:pPr marL="0" lvl="1" indent="0">
                  <a:spcBef>
                    <a:spcPts val="31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500" b="1" u="sng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Example</a:t>
                </a:r>
                <a:r>
                  <a:rPr lang="en-GB" sz="1800" b="1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marL="0" lvl="1" indent="0">
                  <a:spcBef>
                    <a:spcPts val="31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500">
                    <a:ea typeface="Cambria Math" panose="02040503050406030204" pitchFamily="18" charset="0"/>
                  </a:rPr>
                  <a:t>A 7-year bond carries an annual 5% coupon and has a face value of $100. Using a discount rate of 3.5%, what is the fair value of the bond?</a:t>
                </a:r>
                <a:endParaRPr lang="en-GB" sz="180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704974"/>
                <a:ext cx="8591550" cy="4005724"/>
              </a:xfrm>
              <a:blipFill>
                <a:blip r:embed="rId3"/>
                <a:stretch>
                  <a:fillRect l="-710" t="-19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16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446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Convertible Bond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 type of bond which provides the holder the option to convert the debt into ordinary shares at a future date or have the bond redeemed for a cash lump sum . Interest is paid up to the date of conversion/redemption.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endParaRPr lang="en-GB" sz="120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 i="1" u="sng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Convertible bond example:</a:t>
            </a:r>
          </a:p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50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 company has 5% convertible bonds, convertible in 5 years time into 50 ordinary shares </a:t>
            </a:r>
            <a:r>
              <a:rPr lang="en-GB" sz="1500" i="1" u="sng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they can be r</a:t>
            </a:r>
            <a:r>
              <a:rPr lang="en-GB" sz="150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edeemed at face value of $100.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So investor receives $5 interest for 5 years 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 5 years time may redeem $100 OR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Convert each $100 of debt into 50 ordinary shares. The shares are worth $2.50 each in 5 years time 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50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 this case the investor is likely to convert the bond into ordinary shares as the conversion will be worth $125 vs the $100 face value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endParaRPr lang="en-GB" sz="1500" i="1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17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841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Convertible Bond Valuation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874197-E302-8F1A-7045-14112F6CF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05" y="1769417"/>
            <a:ext cx="7428786" cy="97571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/>
              <a:t>Same principles as a straight bond however the redeemable value will either be the face value OR the value of the future shares.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We use the higher of; the </a:t>
            </a:r>
            <a:r>
              <a:rPr lang="en-GB">
                <a:solidFill>
                  <a:srgbClr val="C00000"/>
                </a:solidFill>
              </a:rPr>
              <a:t>face value </a:t>
            </a:r>
            <a:r>
              <a:rPr lang="en-GB"/>
              <a:t>and the </a:t>
            </a:r>
            <a:r>
              <a:rPr lang="en-GB">
                <a:solidFill>
                  <a:srgbClr val="C00000"/>
                </a:solidFill>
              </a:rPr>
              <a:t>conversion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6A045B-2900-A4B2-D261-072DAA922D34}"/>
              </a:ext>
            </a:extLst>
          </p:cNvPr>
          <p:cNvGrpSpPr/>
          <p:nvPr/>
        </p:nvGrpSpPr>
        <p:grpSpPr>
          <a:xfrm>
            <a:off x="1259632" y="4535310"/>
            <a:ext cx="5700467" cy="1480052"/>
            <a:chOff x="2185828" y="4432539"/>
            <a:chExt cx="6159356" cy="1973402"/>
          </a:xfrm>
        </p:grpSpPr>
        <p:sp>
          <p:nvSpPr>
            <p:cNvPr id="5" name="Double Bracket 4">
              <a:extLst>
                <a:ext uri="{FF2B5EF4-FFF2-40B4-BE49-F238E27FC236}">
                  <a16:creationId xmlns:a16="http://schemas.microsoft.com/office/drawing/2014/main" id="{06910D9D-CD0F-4482-A4D1-997B77282B06}"/>
                </a:ext>
              </a:extLst>
            </p:cNvPr>
            <p:cNvSpPr/>
            <p:nvPr/>
          </p:nvSpPr>
          <p:spPr>
            <a:xfrm>
              <a:off x="3002203" y="4877406"/>
              <a:ext cx="2833517" cy="544627"/>
            </a:xfrm>
            <a:prstGeom prst="bracketPair">
              <a:avLst/>
            </a:prstGeom>
            <a:solidFill>
              <a:srgbClr val="C00000">
                <a:alpha val="15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EDED82-20D6-4A70-B7F8-593122F11C3C}"/>
                </a:ext>
              </a:extLst>
            </p:cNvPr>
            <p:cNvSpPr txBox="1"/>
            <p:nvPr/>
          </p:nvSpPr>
          <p:spPr>
            <a:xfrm>
              <a:off x="3893827" y="4432539"/>
              <a:ext cx="1050271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500">
                  <a:solidFill>
                    <a:srgbClr val="C00000"/>
                  </a:solidFill>
                  <a:latin typeface="+mj-lt"/>
                </a:rPr>
                <a:t>Annuity</a:t>
              </a:r>
              <a:endParaRPr lang="en-GB" sz="150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600C01A-F146-C130-5EA3-FF2E5835CC84}"/>
                    </a:ext>
                  </a:extLst>
                </p:cNvPr>
                <p:cNvSpPr txBox="1"/>
                <p:nvPr/>
              </p:nvSpPr>
              <p:spPr>
                <a:xfrm>
                  <a:off x="2185828" y="4787892"/>
                  <a:ext cx="6159356" cy="16180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=5×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1+4.50%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</m:t>
                                </m:r>
                              </m:sup>
                            </m:sSup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4.50%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+125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1+4.50%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−5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=€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994.51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600C01A-F146-C130-5EA3-FF2E5835CC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828" y="4787892"/>
                  <a:ext cx="6159356" cy="161804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576036-BB12-6622-E91A-B422ADAD6F56}"/>
              </a:ext>
            </a:extLst>
          </p:cNvPr>
          <p:cNvSpPr txBox="1"/>
          <p:nvPr/>
        </p:nvSpPr>
        <p:spPr>
          <a:xfrm>
            <a:off x="266700" y="2843200"/>
            <a:ext cx="77049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lvl="1" indent="-257175">
              <a:spcBef>
                <a:spcPts val="2700"/>
              </a:spcBef>
              <a:buClr>
                <a:srgbClr val="C00000"/>
              </a:buClr>
              <a:buSzPct val="90000"/>
            </a:pPr>
            <a:r>
              <a:rPr lang="en-GB" sz="1500" i="1" u="sng">
                <a:ea typeface="Cambria Math" panose="02040503050406030204" pitchFamily="18" charset="0"/>
              </a:rPr>
              <a:t>Convertible Bond 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66B3C-D260-98F4-58A9-E20A0B0C9156}"/>
              </a:ext>
            </a:extLst>
          </p:cNvPr>
          <p:cNvSpPr txBox="1"/>
          <p:nvPr/>
        </p:nvSpPr>
        <p:spPr>
          <a:xfrm>
            <a:off x="431515" y="3254191"/>
            <a:ext cx="7721885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35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 company has 5% convertible bonds, convertible in 5 years time into 50 ordinary shares </a:t>
            </a:r>
            <a:r>
              <a:rPr lang="en-GB" sz="1350" i="1" u="sng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 they can be r</a:t>
            </a:r>
            <a:r>
              <a:rPr lang="en-GB" sz="135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edeemed at face value of $100. The share price is anticipated  to be $2.50 in 5 years time. Use a discount factor of 4.5%.</a:t>
            </a:r>
          </a:p>
          <a:p>
            <a:pPr algn="just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Redemption value with either be Face value </a:t>
            </a:r>
            <a:r>
              <a:rPr lang="en-GB" sz="1350" i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$100 or Convertible value $125. The convertible value is higher so we use this. </a:t>
            </a:r>
          </a:p>
        </p:txBody>
      </p:sp>
    </p:spTree>
    <p:extLst>
      <p:ext uri="{BB962C8B-B14F-4D97-AF65-F5344CB8AC3E}">
        <p14:creationId xmlns:p14="http://schemas.microsoft.com/office/powerpoint/2010/main" val="36266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Zero coupon bond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700" y="1704974"/>
                <a:ext cx="8591550" cy="400572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950">
                    <a:ea typeface="Cambria Math" panose="02040503050406030204" pitchFamily="18" charset="0"/>
                  </a:rPr>
                  <a:t>A zero coupon bond is a type of bond that does not pay any coupons. The bond is issued at a significant discount to the redemption value. So the investor receives a significant return in terms of capital gain. </a:t>
                </a:r>
              </a:p>
              <a:p>
                <a:pPr marL="0" indent="0" algn="just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950">
                    <a:ea typeface="Cambria Math" panose="02040503050406030204" pitchFamily="18" charset="0"/>
                  </a:rPr>
                  <a:t>The </a:t>
                </a:r>
                <a:r>
                  <a:rPr lang="en-GB" sz="1950" i="1">
                    <a:ea typeface="Cambria Math" panose="02040503050406030204" pitchFamily="18" charset="0"/>
                  </a:rPr>
                  <a:t>fair </a:t>
                </a:r>
                <a:r>
                  <a:rPr lang="en-GB" sz="1950">
                    <a:ea typeface="Cambria Math" panose="02040503050406030204" pitchFamily="18" charset="0"/>
                  </a:rPr>
                  <a:t>value of a zero-coupon bond is then:</a:t>
                </a:r>
              </a:p>
              <a:p>
                <a:pPr marL="0" lvl="1" indent="0">
                  <a:lnSpc>
                    <a:spcPct val="150000"/>
                  </a:lnSpc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95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95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GB" sz="195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95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 sz="1950">
                  <a:ea typeface="Cambria Math" panose="02040503050406030204" pitchFamily="18" charset="0"/>
                </a:endParaRPr>
              </a:p>
              <a:p>
                <a:pPr marL="0" lvl="1" indent="0">
                  <a:spcBef>
                    <a:spcPts val="31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950" b="1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Example 3: </a:t>
                </a:r>
                <a:r>
                  <a:rPr lang="en-GB" sz="1950">
                    <a:ea typeface="Cambria Math" panose="02040503050406030204" pitchFamily="18" charset="0"/>
                  </a:rPr>
                  <a:t>A zero coupon 10 year bond, has a face value of £1,000. Using a discount rate of 7%, what is the fair value of the bond?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704974"/>
                <a:ext cx="8591550" cy="4005724"/>
              </a:xfrm>
              <a:blipFill>
                <a:blip r:embed="rId3"/>
                <a:stretch>
                  <a:fillRect l="-710" t="-1979" r="-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19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633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Bond Price Fluctuates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349054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>
                <a:solidFill>
                  <a:schemeClr val="accent5">
                    <a:lumMod val="75000"/>
                  </a:schemeClr>
                </a:solidFill>
              </a:rPr>
              <a:t>Accor Hotels Bond price over the past year</a:t>
            </a:r>
            <a:endParaRPr lang="en-GB">
              <a:solidFill>
                <a:schemeClr val="accent5">
                  <a:lumMod val="75000"/>
                </a:schemeClr>
              </a:solidFill>
              <a:ea typeface="Cambria Math" panose="02040503050406030204" pitchFamily="18" charset="0"/>
            </a:endParaRP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>
              <a:ea typeface="Cambria Math" panose="02040503050406030204" pitchFamily="18" charset="0"/>
            </a:endParaRP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>
              <a:ea typeface="Cambria Math" panose="02040503050406030204" pitchFamily="18" charset="0"/>
            </a:endParaRP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>
              <a:ea typeface="Cambria Math" panose="02040503050406030204" pitchFamily="18" charset="0"/>
            </a:endParaRP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>
              <a:ea typeface="Cambria Math" panose="02040503050406030204" pitchFamily="18" charset="0"/>
            </a:endParaRP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4500">
              <a:ea typeface="Cambria Math" panose="02040503050406030204" pitchFamily="18" charset="0"/>
            </a:endParaRP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4500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E1CE9-B59B-4582-8BEF-BD3907F1C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15" y="2258453"/>
            <a:ext cx="5747327" cy="2409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222608-5930-4766-A7A4-E11E7EEEE255}"/>
              </a:ext>
            </a:extLst>
          </p:cNvPr>
          <p:cNvSpPr txBox="1"/>
          <p:nvPr/>
        </p:nvSpPr>
        <p:spPr>
          <a:xfrm>
            <a:off x="5948569" y="4668279"/>
            <a:ext cx="3195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Source: </a:t>
            </a:r>
            <a:r>
              <a:rPr lang="en-GB" sz="1200">
                <a:hlinkClick r:id="rId4"/>
              </a:rPr>
              <a:t>https://markets.businessinsider.com/</a:t>
            </a:r>
            <a:r>
              <a:rPr lang="en-GB" sz="120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615CB5-3881-5564-52C4-CD80D9836BE7}"/>
              </a:ext>
            </a:extLst>
          </p:cNvPr>
          <p:cNvSpPr txBox="1"/>
          <p:nvPr/>
        </p:nvSpPr>
        <p:spPr>
          <a:xfrm>
            <a:off x="2548634" y="5287756"/>
            <a:ext cx="46195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b="1">
                <a:solidFill>
                  <a:schemeClr val="accent5">
                    <a:lumMod val="75000"/>
                  </a:schemeClr>
                </a:solidFill>
                <a:ea typeface="Cambria Math" panose="02040503050406030204" pitchFamily="18" charset="0"/>
              </a:rPr>
              <a:t>Question: </a:t>
            </a:r>
            <a:r>
              <a:rPr lang="en-GB">
                <a:ea typeface="Cambria Math" panose="02040503050406030204" pitchFamily="18" charset="0"/>
              </a:rPr>
              <a:t>How can the fair value equation be used?</a:t>
            </a:r>
            <a:endParaRPr lang="en-GB" b="1">
              <a:solidFill>
                <a:schemeClr val="accent5">
                  <a:lumMod val="75000"/>
                </a:schemeClr>
              </a:solidFill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89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Bond 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6938" y="1775973"/>
                <a:ext cx="8591550" cy="400572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800">
                    <a:ea typeface="Cambria Math" panose="02040503050406030204" pitchFamily="18" charset="0"/>
                  </a:rPr>
                  <a:t>The </a:t>
                </a:r>
                <a:r>
                  <a:rPr lang="en-GB" sz="1800" i="1">
                    <a:ea typeface="Cambria Math" panose="02040503050406030204" pitchFamily="18" charset="0"/>
                  </a:rPr>
                  <a:t>fair </a:t>
                </a:r>
                <a:r>
                  <a:rPr lang="en-GB" sz="1800">
                    <a:ea typeface="Cambria Math" panose="02040503050406030204" pitchFamily="18" charset="0"/>
                  </a:rPr>
                  <a:t>value of a bond is:</a:t>
                </a: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 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>
                  <a:ea typeface="Cambria Math" panose="02040503050406030204" pitchFamily="18" charset="0"/>
                </a:endParaRP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800">
                    <a:ea typeface="Cambria Math" panose="02040503050406030204" pitchFamily="18" charset="0"/>
                  </a:rPr>
                  <a:t>The importance of the valuation equation is to determine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800">
                    <a:ea typeface="Cambria Math" panose="02040503050406030204" pitchFamily="18" charset="0"/>
                  </a:rPr>
                  <a:t>, </a:t>
                </a:r>
                <a:r>
                  <a:rPr lang="en-GB" sz="1800"/>
                  <a:t>the discount rate at which the present value of the coupons and the face value is equal to the market price.</a:t>
                </a:r>
                <a:endParaRPr lang="en-GB" sz="1500">
                  <a:ea typeface="Cambria Math" panose="02040503050406030204" pitchFamily="18" charset="0"/>
                </a:endParaRPr>
              </a:p>
              <a:p>
                <a:pPr marL="0" lvl="1" indent="0" algn="ctr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800">
                    <a:ea typeface="Cambria Math" panose="02040503050406030204" pitchFamily="18" charset="0"/>
                  </a:rPr>
                  <a:t>This internal rate is called the </a:t>
                </a:r>
                <a:r>
                  <a:rPr lang="en-GB" sz="1800" u="sng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yield to maturity (YTM) </a:t>
                </a:r>
                <a:r>
                  <a:rPr lang="en-GB" sz="1800">
                    <a:ea typeface="Cambria Math" panose="02040503050406030204" pitchFamily="18" charset="0"/>
                  </a:rPr>
                  <a:t>on the bond.</a:t>
                </a:r>
              </a:p>
              <a:p>
                <a:pPr marL="0" lvl="1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endParaRPr lang="en-GB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938" y="1775973"/>
                <a:ext cx="8591550" cy="4005724"/>
              </a:xfrm>
              <a:blipFill>
                <a:blip r:embed="rId3"/>
                <a:stretch>
                  <a:fillRect l="-639" t="-1674" b="-12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21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0BE83EA-B5C1-4896-BC5B-9ACA0E9078ED}"/>
              </a:ext>
            </a:extLst>
          </p:cNvPr>
          <p:cNvCxnSpPr>
            <a:cxnSpLocks/>
          </p:cNvCxnSpPr>
          <p:nvPr/>
        </p:nvCxnSpPr>
        <p:spPr>
          <a:xfrm flipV="1">
            <a:off x="2887579" y="2387669"/>
            <a:ext cx="436546" cy="38982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D4A52A-8539-46BA-BFC4-28DE4BCB8A9C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3800405" y="2431454"/>
            <a:ext cx="198897" cy="36094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D553E5-8AB0-4729-83E2-2D9D74C8B7B2}"/>
              </a:ext>
            </a:extLst>
          </p:cNvPr>
          <p:cNvCxnSpPr>
            <a:cxnSpLocks/>
          </p:cNvCxnSpPr>
          <p:nvPr/>
        </p:nvCxnSpPr>
        <p:spPr>
          <a:xfrm flipH="1" flipV="1">
            <a:off x="5172598" y="2431454"/>
            <a:ext cx="102269" cy="36094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3D0AF4-E502-4BA4-B781-BE9E7ED04B93}"/>
              </a:ext>
            </a:extLst>
          </p:cNvPr>
          <p:cNvCxnSpPr>
            <a:cxnSpLocks/>
          </p:cNvCxnSpPr>
          <p:nvPr/>
        </p:nvCxnSpPr>
        <p:spPr>
          <a:xfrm flipH="1">
            <a:off x="5844026" y="1974713"/>
            <a:ext cx="481338" cy="25266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BB81F2-AFFB-4ADC-B6AA-52EC31A328D8}"/>
              </a:ext>
            </a:extLst>
          </p:cNvPr>
          <p:cNvCxnSpPr>
            <a:cxnSpLocks/>
          </p:cNvCxnSpPr>
          <p:nvPr/>
        </p:nvCxnSpPr>
        <p:spPr>
          <a:xfrm flipH="1">
            <a:off x="4936612" y="1974714"/>
            <a:ext cx="1766310" cy="13609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E5FB7EC-A073-41D4-88A8-39A3D17BD342}"/>
              </a:ext>
            </a:extLst>
          </p:cNvPr>
          <p:cNvSpPr txBox="1"/>
          <p:nvPr/>
        </p:nvSpPr>
        <p:spPr>
          <a:xfrm>
            <a:off x="2239536" y="2801645"/>
            <a:ext cx="101787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Observed in the market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B0AD44-D057-4716-BC74-2A409CD80CC4}"/>
              </a:ext>
            </a:extLst>
          </p:cNvPr>
          <p:cNvSpPr txBox="1"/>
          <p:nvPr/>
        </p:nvSpPr>
        <p:spPr>
          <a:xfrm>
            <a:off x="3408326" y="2792400"/>
            <a:ext cx="118195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Determined by the issuer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2E1486-0F58-4DF3-B61D-012C455366CB}"/>
              </a:ext>
            </a:extLst>
          </p:cNvPr>
          <p:cNvSpPr txBox="1"/>
          <p:nvPr/>
        </p:nvSpPr>
        <p:spPr>
          <a:xfrm>
            <a:off x="4892114" y="2777489"/>
            <a:ext cx="118195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Determined by the issuer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9B5FB6-52D7-4071-936B-471CD4B1B16D}"/>
              </a:ext>
            </a:extLst>
          </p:cNvPr>
          <p:cNvSpPr txBox="1"/>
          <p:nvPr/>
        </p:nvSpPr>
        <p:spPr>
          <a:xfrm>
            <a:off x="6556431" y="1606366"/>
            <a:ext cx="118195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Determined by the issuer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04AB4B-9556-4F4A-A06A-374D8030133A}"/>
                  </a:ext>
                </a:extLst>
              </p:cNvPr>
              <p:cNvSpPr txBox="1"/>
              <p:nvPr/>
            </p:nvSpPr>
            <p:spPr>
              <a:xfrm>
                <a:off x="4230303" y="2286225"/>
                <a:ext cx="270000" cy="39241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95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GB" sz="1950" b="1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04AB4B-9556-4F4A-A06A-374D80301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303" y="2286225"/>
                <a:ext cx="270000" cy="392415"/>
              </a:xfrm>
              <a:prstGeom prst="rect">
                <a:avLst/>
              </a:prstGeom>
              <a:blipFill>
                <a:blip r:embed="rId4"/>
                <a:stretch>
                  <a:fillRect r="-6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4EB9216-6342-428C-9161-3724E3A1C2EB}"/>
                  </a:ext>
                </a:extLst>
              </p:cNvPr>
              <p:cNvSpPr txBox="1"/>
              <p:nvPr/>
            </p:nvSpPr>
            <p:spPr>
              <a:xfrm>
                <a:off x="4505022" y="1872530"/>
                <a:ext cx="270000" cy="39241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95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GB" sz="195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4EB9216-6342-428C-9161-3724E3A1C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022" y="1872530"/>
                <a:ext cx="270000" cy="392415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A0FEA0-AD49-4886-AF6D-D9A843F198A9}"/>
                  </a:ext>
                </a:extLst>
              </p:cNvPr>
              <p:cNvSpPr txBox="1"/>
              <p:nvPr/>
            </p:nvSpPr>
            <p:spPr>
              <a:xfrm>
                <a:off x="5477424" y="2126091"/>
                <a:ext cx="270000" cy="39241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95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GB" sz="195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A0FEA0-AD49-4886-AF6D-D9A843F19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424" y="2126091"/>
                <a:ext cx="270000" cy="392415"/>
              </a:xfrm>
              <a:prstGeom prst="rect">
                <a:avLst/>
              </a:prstGeom>
              <a:blipFill>
                <a:blip r:embed="rId6"/>
                <a:stretch>
                  <a:fillRect r="-6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45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  <p:bldP spid="32" grpId="0"/>
      <p:bldP spid="33" grpId="0"/>
      <p:bldP spid="37" grpId="0" animBg="1"/>
      <p:bldP spid="39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Yield to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>
                <a:ea typeface="Cambria Math" panose="02040503050406030204" pitchFamily="18" charset="0"/>
              </a:rPr>
              <a:t>The </a:t>
            </a:r>
            <a:r>
              <a:rPr lang="en-GB" sz="1800">
                <a:solidFill>
                  <a:schemeClr val="accent5">
                    <a:lumMod val="75000"/>
                  </a:schemeClr>
                </a:solidFill>
                <a:ea typeface="Cambria Math" panose="02040503050406030204" pitchFamily="18" charset="0"/>
              </a:rPr>
              <a:t>yield to maturity </a:t>
            </a:r>
            <a:r>
              <a:rPr lang="en-GB" sz="1800">
                <a:ea typeface="Cambria Math" panose="02040503050406030204" pitchFamily="18" charset="0"/>
              </a:rPr>
              <a:t>is the rate of return required by bondholders for buying the bond i.e. the </a:t>
            </a:r>
            <a:r>
              <a:rPr lang="en-GB" sz="1800">
                <a:solidFill>
                  <a:srgbClr val="C00000"/>
                </a:solidFill>
                <a:ea typeface="Cambria Math" panose="02040503050406030204" pitchFamily="18" charset="0"/>
              </a:rPr>
              <a:t>compensation</a:t>
            </a:r>
            <a:r>
              <a:rPr lang="en-GB" sz="1800">
                <a:ea typeface="Cambria Math" panose="02040503050406030204" pitchFamily="18" charset="0"/>
              </a:rPr>
              <a:t> bondholders receive for lending the issuer funds until maturity.</a:t>
            </a: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800">
                <a:ea typeface="Cambria Math" panose="02040503050406030204" pitchFamily="18" charset="0"/>
              </a:rPr>
              <a:t>This compensation will vary from bond to bond and over time, for the same bond depending on:</a:t>
            </a:r>
          </a:p>
          <a:p>
            <a:pPr marL="0" lvl="1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650" i="1">
                <a:solidFill>
                  <a:schemeClr val="accent5">
                    <a:lumMod val="75000"/>
                  </a:schemeClr>
                </a:solidFill>
                <a:ea typeface="Cambria Math" panose="02040503050406030204" pitchFamily="18" charset="0"/>
              </a:rPr>
              <a:t>YTM Building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22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E8B90-4B29-4965-AB9B-3650861CAA47}"/>
              </a:ext>
            </a:extLst>
          </p:cNvPr>
          <p:cNvSpPr/>
          <p:nvPr/>
        </p:nvSpPr>
        <p:spPr>
          <a:xfrm>
            <a:off x="4064268" y="4726606"/>
            <a:ext cx="693019" cy="916805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663FB8-082F-4C37-A3EA-3EF651E90C12}"/>
              </a:ext>
            </a:extLst>
          </p:cNvPr>
          <p:cNvSpPr/>
          <p:nvPr/>
        </p:nvSpPr>
        <p:spPr>
          <a:xfrm>
            <a:off x="4064267" y="4153993"/>
            <a:ext cx="693019" cy="54021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7198B3-837C-487B-AC09-05712E2CAAEB}"/>
              </a:ext>
            </a:extLst>
          </p:cNvPr>
          <p:cNvSpPr/>
          <p:nvPr/>
        </p:nvSpPr>
        <p:spPr>
          <a:xfrm>
            <a:off x="4064267" y="3584899"/>
            <a:ext cx="693019" cy="540219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7A157559-8A87-41C1-B0E7-06B95EE1E38B}"/>
              </a:ext>
            </a:extLst>
          </p:cNvPr>
          <p:cNvSpPr/>
          <p:nvPr/>
        </p:nvSpPr>
        <p:spPr>
          <a:xfrm>
            <a:off x="3773705" y="4726606"/>
            <a:ext cx="153403" cy="916805"/>
          </a:xfrm>
          <a:prstGeom prst="leftBrac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4EEE3FC5-8617-4FEA-BA1C-0A8F0DF6BF9E}"/>
              </a:ext>
            </a:extLst>
          </p:cNvPr>
          <p:cNvSpPr/>
          <p:nvPr/>
        </p:nvSpPr>
        <p:spPr>
          <a:xfrm>
            <a:off x="3765583" y="4153993"/>
            <a:ext cx="153403" cy="572613"/>
          </a:xfrm>
          <a:prstGeom prst="leftBrac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FB511BEF-FD13-46BD-8A8D-ED81B17050D9}"/>
              </a:ext>
            </a:extLst>
          </p:cNvPr>
          <p:cNvSpPr/>
          <p:nvPr/>
        </p:nvSpPr>
        <p:spPr>
          <a:xfrm>
            <a:off x="3757461" y="3585971"/>
            <a:ext cx="153403" cy="572613"/>
          </a:xfrm>
          <a:prstGeom prst="leftBrac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395B2-136F-4E7A-8426-785CCCDE6EE3}"/>
              </a:ext>
            </a:extLst>
          </p:cNvPr>
          <p:cNvSpPr/>
          <p:nvPr/>
        </p:nvSpPr>
        <p:spPr>
          <a:xfrm>
            <a:off x="1698947" y="5014527"/>
            <a:ext cx="286495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GB">
                <a:solidFill>
                  <a:schemeClr val="accent1">
                    <a:lumMod val="60000"/>
                    <a:lumOff val="40000"/>
                  </a:schemeClr>
                </a:solidFill>
              </a:rPr>
              <a:t>Short-Term Risk-free Rate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80042E-E70C-46A9-8076-83202FD171CF}"/>
              </a:ext>
            </a:extLst>
          </p:cNvPr>
          <p:cNvSpPr/>
          <p:nvPr/>
        </p:nvSpPr>
        <p:spPr>
          <a:xfrm>
            <a:off x="2271674" y="3735557"/>
            <a:ext cx="1903085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GB">
                <a:solidFill>
                  <a:schemeClr val="accent1">
                    <a:lumMod val="50000"/>
                  </a:schemeClr>
                </a:solidFill>
              </a:rPr>
              <a:t>Default Premium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7324E6-5EBD-4E7D-A1D8-4CC948A84DCC}"/>
              </a:ext>
            </a:extLst>
          </p:cNvPr>
          <p:cNvSpPr/>
          <p:nvPr/>
        </p:nvSpPr>
        <p:spPr>
          <a:xfrm>
            <a:off x="2188777" y="4285603"/>
            <a:ext cx="1992853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GB">
                <a:solidFill>
                  <a:schemeClr val="accent1">
                    <a:lumMod val="75000"/>
                  </a:schemeClr>
                </a:solidFill>
              </a:rPr>
              <a:t>Maturity Premium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9A55778B-38B8-46E2-9E07-60AE33CBC241}"/>
              </a:ext>
            </a:extLst>
          </p:cNvPr>
          <p:cNvSpPr/>
          <p:nvPr/>
        </p:nvSpPr>
        <p:spPr>
          <a:xfrm rot="10800000">
            <a:off x="4910688" y="3584899"/>
            <a:ext cx="153403" cy="2058512"/>
          </a:xfrm>
          <a:prstGeom prst="lef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AD013E-9B1B-4E0F-8BDE-282AAEE25CDC}"/>
              </a:ext>
            </a:extLst>
          </p:cNvPr>
          <p:cNvSpPr/>
          <p:nvPr/>
        </p:nvSpPr>
        <p:spPr>
          <a:xfrm>
            <a:off x="5217491" y="4475655"/>
            <a:ext cx="1830373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GB">
                <a:solidFill>
                  <a:srgbClr val="C00000"/>
                </a:solidFill>
              </a:rPr>
              <a:t>Yield to Maturity</a:t>
            </a:r>
          </a:p>
        </p:txBody>
      </p:sp>
    </p:spTree>
    <p:extLst>
      <p:ext uri="{BB962C8B-B14F-4D97-AF65-F5344CB8AC3E}">
        <p14:creationId xmlns:p14="http://schemas.microsoft.com/office/powerpoint/2010/main" val="370086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  <p:bldP spid="19" grpId="0" animBg="1"/>
      <p:bldP spid="7" grpId="0" animBg="1"/>
      <p:bldP spid="22" grpId="0" animBg="1"/>
      <p:bldP spid="23" grpId="0" animBg="1"/>
      <p:bldP spid="9" grpId="0"/>
      <p:bldP spid="24" grpId="0"/>
      <p:bldP spid="25" grpId="0"/>
      <p:bldP spid="26" grpId="0" animBg="1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Yield to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704974"/>
            <a:ext cx="7500563" cy="1208027"/>
          </a:xfrm>
        </p:spPr>
        <p:txBody>
          <a:bodyPr>
            <a:normAutofit/>
          </a:bodyPr>
          <a:lstStyle/>
          <a:p>
            <a:pPr marL="42863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500" i="1">
                <a:solidFill>
                  <a:srgbClr val="C00000"/>
                </a:solidFill>
              </a:rPr>
              <a:t>The short-term risk free rate</a:t>
            </a:r>
          </a:p>
          <a:p>
            <a:pPr lvl="1" algn="just">
              <a:spcBef>
                <a:spcPts val="4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350"/>
              <a:t>Captures the overall level of rates in the economy: </a:t>
            </a:r>
            <a:r>
              <a:rPr lang="en-GB" sz="1350" i="1"/>
              <a:t>consumption preference and inflation</a:t>
            </a:r>
            <a:r>
              <a:rPr lang="en-GB" sz="1350"/>
              <a:t>. </a:t>
            </a:r>
          </a:p>
          <a:p>
            <a:pPr lvl="1" algn="just">
              <a:spcBef>
                <a:spcPts val="4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350"/>
              <a:t>Represents the minimum return expected from an absolutely </a:t>
            </a:r>
            <a:r>
              <a:rPr lang="en-GB" sz="1350" u="sng"/>
              <a:t>riskless</a:t>
            </a:r>
            <a:r>
              <a:rPr lang="en-GB" sz="1350"/>
              <a:t> short-term investment.</a:t>
            </a:r>
          </a:p>
          <a:p>
            <a:pPr marL="0" lvl="1" indent="0">
              <a:spcBef>
                <a:spcPts val="450"/>
              </a:spcBef>
              <a:buClr>
                <a:srgbClr val="C00000"/>
              </a:buClr>
              <a:buSzPct val="90000"/>
              <a:buNone/>
              <a:tabLst>
                <a:tab pos="339329" algn="l"/>
              </a:tabLst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23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7179F6-E07D-400C-BC6F-8E646A93FB44}"/>
              </a:ext>
            </a:extLst>
          </p:cNvPr>
          <p:cNvGrpSpPr/>
          <p:nvPr/>
        </p:nvGrpSpPr>
        <p:grpSpPr>
          <a:xfrm>
            <a:off x="266701" y="2963459"/>
            <a:ext cx="7328909" cy="466064"/>
            <a:chOff x="837290" y="4176777"/>
            <a:chExt cx="9771879" cy="6214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6DC37F-D7B3-4893-A9E0-E7AC3C7029AE}"/>
                </a:ext>
              </a:extLst>
            </p:cNvPr>
            <p:cNvSpPr txBox="1"/>
            <p:nvPr/>
          </p:nvSpPr>
          <p:spPr>
            <a:xfrm>
              <a:off x="9511888" y="4176777"/>
              <a:ext cx="1097281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>
                  <a:solidFill>
                    <a:schemeClr val="accent5">
                      <a:lumMod val="75000"/>
                    </a:schemeClr>
                  </a:solidFill>
                </a:rPr>
                <a:t>Fisher Equation</a:t>
              </a:r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EC0CD9FD-7B34-4C45-B9DE-01136641EEFB}"/>
                </a:ext>
              </a:extLst>
            </p:cNvPr>
            <p:cNvSpPr/>
            <p:nvPr/>
          </p:nvSpPr>
          <p:spPr>
            <a:xfrm>
              <a:off x="9473387" y="4212389"/>
              <a:ext cx="77002" cy="575109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12F12596-04DA-43DF-B021-1EFFF9721833}"/>
                </a:ext>
              </a:extLst>
            </p:cNvPr>
            <p:cNvSpPr/>
            <p:nvPr/>
          </p:nvSpPr>
          <p:spPr>
            <a:xfrm flipH="1">
              <a:off x="1100487" y="4223087"/>
              <a:ext cx="77002" cy="575109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85BDF1-2942-1EA0-8A63-4F3495786772}"/>
                </a:ext>
              </a:extLst>
            </p:cNvPr>
            <p:cNvSpPr txBox="1"/>
            <p:nvPr/>
          </p:nvSpPr>
          <p:spPr>
            <a:xfrm>
              <a:off x="837290" y="4325974"/>
              <a:ext cx="8825608" cy="4001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just">
                <a:spcBef>
                  <a:spcPts val="450"/>
                </a:spcBef>
                <a:buClr>
                  <a:srgbClr val="C00000"/>
                </a:buClr>
                <a:buSzPct val="90000"/>
              </a:pPr>
              <a:r>
                <a:rPr lang="en-GB" sz="1350">
                  <a:latin typeface="+mj-lt"/>
                </a:rPr>
                <a:t>Short-term risk free rate = Expected Inflation + Expected Real Rate of Return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664335D-55A8-C050-EE93-7F817E5C1495}"/>
              </a:ext>
            </a:extLst>
          </p:cNvPr>
          <p:cNvSpPr txBox="1"/>
          <p:nvPr/>
        </p:nvSpPr>
        <p:spPr>
          <a:xfrm>
            <a:off x="266700" y="3762487"/>
            <a:ext cx="7328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spcBef>
                <a:spcPts val="450"/>
              </a:spcBef>
              <a:buClr>
                <a:srgbClr val="C00000"/>
              </a:buClr>
              <a:buSzPct val="90000"/>
              <a:tabLst>
                <a:tab pos="339329" algn="l"/>
              </a:tabLst>
            </a:pPr>
            <a:r>
              <a:rPr lang="en-GB">
                <a:solidFill>
                  <a:srgbClr val="C00000"/>
                </a:solidFill>
                <a:ea typeface="Cambria Math" panose="02040503050406030204" pitchFamily="18" charset="0"/>
              </a:rPr>
              <a:t>Expected real rate of return: </a:t>
            </a:r>
            <a:r>
              <a:rPr lang="en-GB"/>
              <a:t>As economic growth increases, the real expected return increases as individuals have a stronger desire for current consumption.</a:t>
            </a:r>
          </a:p>
        </p:txBody>
      </p:sp>
    </p:spTree>
    <p:extLst>
      <p:ext uri="{BB962C8B-B14F-4D97-AF65-F5344CB8AC3E}">
        <p14:creationId xmlns:p14="http://schemas.microsoft.com/office/powerpoint/2010/main" val="272824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Yield to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marL="342900" lvl="1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500" i="1">
                <a:solidFill>
                  <a:srgbClr val="C00000"/>
                </a:solidFill>
              </a:rPr>
              <a:t>Maturity premium</a:t>
            </a:r>
          </a:p>
          <a:p>
            <a:pPr marL="342900" lvl="1" indent="0" algn="just">
              <a:spcBef>
                <a:spcPts val="450"/>
              </a:spcBef>
              <a:buClr>
                <a:srgbClr val="C00000"/>
              </a:buClr>
              <a:buSzPct val="90000"/>
              <a:buNone/>
            </a:pPr>
            <a:r>
              <a:rPr lang="en-GB"/>
              <a:t>Represents the extra compensation for </a:t>
            </a:r>
            <a:r>
              <a:rPr lang="en-GB" i="1"/>
              <a:t>time, </a:t>
            </a:r>
            <a:r>
              <a:rPr lang="en-GB" b="1" u="sng"/>
              <a:t>in the absence of risk. </a:t>
            </a:r>
            <a:r>
              <a:rPr lang="en-GB"/>
              <a:t>The difference between longer-term risk free rates and short-term risk free rates</a:t>
            </a:r>
          </a:p>
          <a:p>
            <a:pPr marL="342900" lvl="1" indent="0" algn="just">
              <a:spcBef>
                <a:spcPts val="450"/>
              </a:spcBef>
              <a:buClr>
                <a:srgbClr val="C00000"/>
              </a:buClr>
              <a:buSzPct val="90000"/>
              <a:buNone/>
            </a:pPr>
            <a:r>
              <a:rPr lang="en-GB"/>
              <a:t>As the maturity of the bond increases, the volatility of the bond increases and should offer a higher maturity premium.</a:t>
            </a:r>
          </a:p>
          <a:p>
            <a:pPr lvl="1" algn="just">
              <a:spcBef>
                <a:spcPts val="4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6480061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24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527540C-5E03-4EFA-B505-0A36989F88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181320"/>
              </p:ext>
            </p:extLst>
          </p:nvPr>
        </p:nvGraphicFramePr>
        <p:xfrm>
          <a:off x="47826" y="3799436"/>
          <a:ext cx="4463404" cy="2400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4FBC52-BB0D-4B4E-8BE7-84FE722A3A46}"/>
              </a:ext>
            </a:extLst>
          </p:cNvPr>
          <p:cNvCxnSpPr>
            <a:cxnSpLocks/>
          </p:cNvCxnSpPr>
          <p:nvPr/>
        </p:nvCxnSpPr>
        <p:spPr>
          <a:xfrm flipH="1" flipV="1">
            <a:off x="2982075" y="5402366"/>
            <a:ext cx="301514" cy="877733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5C319F0-3307-44CB-9ED9-A7966E697ECD}"/>
              </a:ext>
            </a:extLst>
          </p:cNvPr>
          <p:cNvSpPr/>
          <p:nvPr/>
        </p:nvSpPr>
        <p:spPr>
          <a:xfrm>
            <a:off x="2466418" y="6303923"/>
            <a:ext cx="256535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>
                <a:solidFill>
                  <a:srgbClr val="000000"/>
                </a:solidFill>
              </a:rPr>
              <a:t>Bonds with longer maturities are more sensitive to changes in interest rates.</a:t>
            </a:r>
            <a:endParaRPr lang="en-GB" sz="105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79BDE0B-D372-60CE-D190-3214368A33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7416750"/>
              </p:ext>
            </p:extLst>
          </p:nvPr>
        </p:nvGraphicFramePr>
        <p:xfrm>
          <a:off x="4730104" y="4047392"/>
          <a:ext cx="4366070" cy="2152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62073E5-E0AB-5AD9-03F1-753C2424DF82}"/>
              </a:ext>
            </a:extLst>
          </p:cNvPr>
          <p:cNvSpPr txBox="1"/>
          <p:nvPr/>
        </p:nvSpPr>
        <p:spPr>
          <a:xfrm>
            <a:off x="5948569" y="6257757"/>
            <a:ext cx="3195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US Government Bond Yield on 02 Nov. 2020</a:t>
            </a:r>
          </a:p>
          <a:p>
            <a:r>
              <a:rPr lang="en-GB" sz="1200"/>
              <a:t>(Source: </a:t>
            </a:r>
            <a:r>
              <a:rPr lang="en-GB" sz="1200">
                <a:hlinkClick r:id="rId5"/>
              </a:rPr>
              <a:t>https://www.treasury.gov/</a:t>
            </a:r>
            <a:r>
              <a:rPr lang="en-GB" sz="1200"/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272936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0" grpId="0"/>
      <p:bldGraphic spid="6" grpId="0">
        <p:bldAsOne/>
      </p:bldGraphic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Yield to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marL="42863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500" i="1">
                <a:solidFill>
                  <a:srgbClr val="C00000"/>
                </a:solidFill>
              </a:rPr>
              <a:t>Default premium</a:t>
            </a:r>
          </a:p>
          <a:p>
            <a:pPr lvl="1" algn="just">
              <a:spcBef>
                <a:spcPts val="4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500"/>
              <a:t>Represents the extra compensation for </a:t>
            </a:r>
            <a:r>
              <a:rPr lang="en-GB" sz="1500" i="1"/>
              <a:t>risk.</a:t>
            </a:r>
          </a:p>
          <a:p>
            <a:pPr lvl="1" algn="just">
              <a:spcBef>
                <a:spcPts val="4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500"/>
              <a:t>Reflects the likelihood of the issuer defaulting on this obligations to pay coupons and the face value.</a:t>
            </a:r>
          </a:p>
          <a:p>
            <a:pPr lvl="1" algn="just">
              <a:spcBef>
                <a:spcPts val="4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500"/>
              <a:t>Bond rating is a scoring scheme used to assess the creditworthiness of a bond. </a:t>
            </a:r>
          </a:p>
          <a:p>
            <a:pPr lvl="1" algn="just">
              <a:spcBef>
                <a:spcPts val="4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500"/>
              <a:t>Credit agencies rate a debt issuer based upon its </a:t>
            </a:r>
            <a:r>
              <a:rPr lang="en-GB" sz="1500" i="1">
                <a:solidFill>
                  <a:schemeClr val="accent5">
                    <a:lumMod val="75000"/>
                  </a:schemeClr>
                </a:solidFill>
              </a:rPr>
              <a:t>willingness</a:t>
            </a:r>
            <a:r>
              <a:rPr lang="en-GB" sz="1500"/>
              <a:t> and </a:t>
            </a:r>
            <a:r>
              <a:rPr lang="en-GB" sz="1500" i="1">
                <a:solidFill>
                  <a:schemeClr val="accent5">
                    <a:lumMod val="75000"/>
                  </a:schemeClr>
                </a:solidFill>
              </a:rPr>
              <a:t>ability</a:t>
            </a:r>
            <a:r>
              <a:rPr lang="en-GB" sz="1500"/>
              <a:t> to repay its debts.</a:t>
            </a:r>
          </a:p>
          <a:p>
            <a:pPr lvl="2" algn="just">
              <a:spcBef>
                <a:spcPts val="450"/>
              </a:spcBef>
              <a:buClr>
                <a:srgbClr val="C00000"/>
              </a:buClr>
              <a:buSzPct val="90000"/>
              <a:buFont typeface="Calibri" panose="020F0502020204030204" pitchFamily="34" charset="0"/>
              <a:buChar char="─"/>
            </a:pPr>
            <a:r>
              <a:rPr lang="en-GB" sz="1350"/>
              <a:t>Willingness - the financial discipline that is inherent in a company’s culture and its financial processes.</a:t>
            </a:r>
          </a:p>
          <a:p>
            <a:pPr lvl="2" algn="just">
              <a:spcBef>
                <a:spcPts val="450"/>
              </a:spcBef>
              <a:buClr>
                <a:srgbClr val="C00000"/>
              </a:buClr>
              <a:buSzPct val="90000"/>
              <a:buFont typeface="Calibri" panose="020F0502020204030204" pitchFamily="34" charset="0"/>
              <a:buChar char="─"/>
            </a:pPr>
            <a:r>
              <a:rPr lang="en-GB" sz="1350"/>
              <a:t>Ability - a function of a company’s ability to generate sufficient cash flow to pay interest expenses.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25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333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3" y="209604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 dirty="0"/>
              <a:t>Default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3" y="1196752"/>
            <a:ext cx="8563053" cy="4405865"/>
          </a:xfrm>
        </p:spPr>
        <p:txBody>
          <a:bodyPr>
            <a:normAutofit/>
          </a:bodyPr>
          <a:lstStyle/>
          <a:p>
            <a:pPr marL="0" lvl="1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Bond Rating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26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FA02BA-3F49-4C6D-9B16-C8851EF0129A}"/>
              </a:ext>
            </a:extLst>
          </p:cNvPr>
          <p:cNvGraphicFramePr>
            <a:graphicFrameLocks noGrp="1"/>
          </p:cNvGraphicFramePr>
          <p:nvPr/>
        </p:nvGraphicFramePr>
        <p:xfrm>
          <a:off x="1327885" y="1596893"/>
          <a:ext cx="6608900" cy="40057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94546">
                  <a:extLst>
                    <a:ext uri="{9D8B030D-6E8A-4147-A177-3AD203B41FA5}">
                      <a16:colId xmlns:a16="http://schemas.microsoft.com/office/drawing/2014/main" val="1716043182"/>
                    </a:ext>
                  </a:extLst>
                </a:gridCol>
                <a:gridCol w="994546">
                  <a:extLst>
                    <a:ext uri="{9D8B030D-6E8A-4147-A177-3AD203B41FA5}">
                      <a16:colId xmlns:a16="http://schemas.microsoft.com/office/drawing/2014/main" val="3468779886"/>
                    </a:ext>
                  </a:extLst>
                </a:gridCol>
                <a:gridCol w="994546">
                  <a:extLst>
                    <a:ext uri="{9D8B030D-6E8A-4147-A177-3AD203B41FA5}">
                      <a16:colId xmlns:a16="http://schemas.microsoft.com/office/drawing/2014/main" val="1078144928"/>
                    </a:ext>
                  </a:extLst>
                </a:gridCol>
                <a:gridCol w="3625262">
                  <a:extLst>
                    <a:ext uri="{9D8B030D-6E8A-4147-A177-3AD203B41FA5}">
                      <a16:colId xmlns:a16="http://schemas.microsoft.com/office/drawing/2014/main" val="4288892232"/>
                    </a:ext>
                  </a:extLst>
                </a:gridCol>
              </a:tblGrid>
              <a:tr h="257861"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S&amp;P’S</a:t>
                      </a:r>
                    </a:p>
                  </a:txBody>
                  <a:tcPr marL="68580" marR="68580" marT="34290" marB="34290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MOODY’S</a:t>
                      </a:r>
                    </a:p>
                  </a:txBody>
                  <a:tcPr marL="68580" marR="68580" marT="34290" marB="34290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FITCH</a:t>
                      </a:r>
                    </a:p>
                  </a:txBody>
                  <a:tcPr marL="68580" marR="68580" marT="34290" marB="34290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/>
                        <a:t>Description</a:t>
                      </a:r>
                    </a:p>
                  </a:txBody>
                  <a:tcPr marL="68580" marR="68580" marT="34290" marB="34290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069432"/>
                  </a:ext>
                </a:extLst>
              </a:tr>
              <a:tr h="4512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/>
                        <a:t>AAA</a:t>
                      </a:r>
                    </a:p>
                  </a:txBody>
                  <a:tcPr marL="68580" marR="68580" marT="34290" marB="34290" anchor="ctr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 err="1"/>
                        <a:t>Aaa</a:t>
                      </a:r>
                      <a:endParaRPr lang="en-GB" sz="1100"/>
                    </a:p>
                  </a:txBody>
                  <a:tcPr marL="68580" marR="68580" marT="34290" marB="34290" anchor="ctr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100"/>
                        <a:t>AAA</a:t>
                      </a:r>
                    </a:p>
                  </a:txBody>
                  <a:tcPr marL="68580" marR="68580" marT="34290" marB="34290" anchor="ctr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GB" sz="1100"/>
                        <a:t>Highest credit quality; strong ability to meet obligations.</a:t>
                      </a:r>
                    </a:p>
                  </a:txBody>
                  <a:tcPr marL="68580" marR="68580" marT="34290" marB="34290" anchor="ctr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260920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Aa1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en-GB" sz="1100"/>
                        <a:t>Very high credit quality; low risk of default.</a:t>
                      </a:r>
                    </a:p>
                  </a:txBody>
                  <a:tcPr marL="68580" marR="68580" marT="34290" marB="34290" anchor="ctr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422564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Aa2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endParaRPr lang="en-GB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04734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AA-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Aa3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AA-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endParaRPr lang="en-GB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416005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A1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en-GB" sz="1100"/>
                        <a:t>High credit quality; but more vulnerable to changes to business or economy.</a:t>
                      </a:r>
                    </a:p>
                  </a:txBody>
                  <a:tcPr marL="68580" marR="68580" marT="34290" marB="34290" anchor="ctr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796236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A2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50000"/>
                        </a:lnSpc>
                      </a:pPr>
                      <a:endParaRPr lang="en-GB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84714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A-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A3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A-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50000"/>
                        </a:lnSpc>
                      </a:pPr>
                      <a:endParaRPr lang="en-GB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241147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BBB+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Baa1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BBB+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en-GB" sz="1100"/>
                        <a:t>Adequate credit quality for now; but likely to be impaired in conditions change.</a:t>
                      </a:r>
                    </a:p>
                  </a:txBody>
                  <a:tcPr marL="68580" marR="68580" marT="34290" marB="34290" anchor="ctr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25487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BBB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Baa2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BBB</a:t>
                      </a:r>
                    </a:p>
                  </a:txBody>
                  <a:tcPr marL="68580" marR="68580" marT="34290" marB="34290" anchor="b"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endParaRPr lang="en-GB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090039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BBB-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Baa3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BBB-</a:t>
                      </a:r>
                    </a:p>
                  </a:txBody>
                  <a:tcPr marL="68580" marR="68580" marT="34290" marB="34290" anchor="b">
                    <a:lnB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endParaRPr lang="en-GB"/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85045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Ba1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en-GB" sz="1100"/>
                        <a:t>Below investment grade; but a good chance the issuer can meet commitments.</a:t>
                      </a:r>
                    </a:p>
                  </a:txBody>
                  <a:tcPr marL="68580" marR="68580" marT="34290" marB="34290" anchor="ctr">
                    <a:lnT w="190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395688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Ba2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endParaRPr lang="en-GB"/>
                    </a:p>
                  </a:txBody>
                  <a:tcPr anchor="ctr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669411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BB-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Ba3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BB-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endParaRPr lang="en-GB"/>
                    </a:p>
                  </a:txBody>
                  <a:tcPr anchor="ctr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477733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B1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B+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en-GB" sz="1100"/>
                        <a:t>Significant credit risk; but issuer is currently able to meet commitments.</a:t>
                      </a:r>
                    </a:p>
                  </a:txBody>
                  <a:tcPr marL="68580" marR="68580" marT="34290" marB="34290" anchor="ctr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302294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B2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endParaRPr lang="en-GB"/>
                    </a:p>
                  </a:txBody>
                  <a:tcPr anchor="ctr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205722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B-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B3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B-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endParaRPr lang="en-GB"/>
                    </a:p>
                  </a:txBody>
                  <a:tcPr anchor="ctr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024785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CCC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 err="1"/>
                        <a:t>Caa</a:t>
                      </a:r>
                      <a:endParaRPr lang="en-GB" sz="1100"/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CCC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en-GB" sz="1100"/>
                        <a:t>High default risk.</a:t>
                      </a:r>
                    </a:p>
                  </a:txBody>
                  <a:tcPr marL="68580" marR="68580" marT="34290" marB="34290" anchor="ctr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644913"/>
                  </a:ext>
                </a:extLst>
              </a:tr>
              <a:tr h="174012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CC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Ca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CC</a:t>
                      </a:r>
                    </a:p>
                  </a:txBody>
                  <a:tcPr marL="68580" marR="68580" marT="34290" marB="34290" anchor="b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endParaRPr lang="en-GB"/>
                    </a:p>
                  </a:txBody>
                  <a:tcPr anchor="ctr">
                    <a:lnT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704059"/>
                  </a:ext>
                </a:extLst>
              </a:tr>
              <a:tr h="338399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C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C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</a:pPr>
                      <a:r>
                        <a:rPr lang="en-GB" sz="1100"/>
                        <a:t>C</a:t>
                      </a:r>
                    </a:p>
                  </a:txBody>
                  <a:tcPr marL="68580" marR="68580" marT="34290" marB="34290" anchor="b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en-GB" sz="1100"/>
                        <a:t>Issuer failed to meet scheduled interests or principal payments</a:t>
                      </a:r>
                    </a:p>
                  </a:txBody>
                  <a:tcPr marL="68580" marR="68580" marT="34290" marB="34290" anchor="ctr"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33271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37FE27-18F6-4E57-BF85-520AC13305FA}"/>
              </a:ext>
            </a:extLst>
          </p:cNvPr>
          <p:cNvCxnSpPr>
            <a:cxnSpLocks/>
          </p:cNvCxnSpPr>
          <p:nvPr/>
        </p:nvCxnSpPr>
        <p:spPr>
          <a:xfrm flipV="1">
            <a:off x="1258535" y="2151427"/>
            <a:ext cx="0" cy="1404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D11F66-5E36-4BCC-84C7-049E0D4A1E09}"/>
              </a:ext>
            </a:extLst>
          </p:cNvPr>
          <p:cNvCxnSpPr>
            <a:cxnSpLocks/>
          </p:cNvCxnSpPr>
          <p:nvPr/>
        </p:nvCxnSpPr>
        <p:spPr>
          <a:xfrm>
            <a:off x="1258535" y="4055697"/>
            <a:ext cx="0" cy="1404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3CA789-6CE5-4E48-9B42-ADA355A931F9}"/>
              </a:ext>
            </a:extLst>
          </p:cNvPr>
          <p:cNvSpPr txBox="1"/>
          <p:nvPr/>
        </p:nvSpPr>
        <p:spPr>
          <a:xfrm>
            <a:off x="-36095" y="2601577"/>
            <a:ext cx="1225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Investment Grade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4A75C-E6C6-41AE-988C-5DB4FFB4505F}"/>
              </a:ext>
            </a:extLst>
          </p:cNvPr>
          <p:cNvSpPr txBox="1"/>
          <p:nvPr/>
        </p:nvSpPr>
        <p:spPr>
          <a:xfrm>
            <a:off x="-159419" y="4328824"/>
            <a:ext cx="1366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/>
              <a:t>Non-Investment</a:t>
            </a:r>
            <a:r>
              <a:rPr lang="en-GB"/>
              <a:t> Grade</a:t>
            </a:r>
          </a:p>
        </p:txBody>
      </p:sp>
    </p:spTree>
    <p:extLst>
      <p:ext uri="{BB962C8B-B14F-4D97-AF65-F5344CB8AC3E}">
        <p14:creationId xmlns:p14="http://schemas.microsoft.com/office/powerpoint/2010/main" val="3343240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Default Premium – Bond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marL="0" lvl="1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/>
              <a:t> Bonds with lower ratings, have a lower credit worthiness, i.e. carry more risk and so have to pay a higher yield.</a:t>
            </a:r>
          </a:p>
          <a:p>
            <a:pPr marL="0" lvl="1" indent="0" algn="just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i="1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27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76E2A9-BBC7-4841-9FCE-F1DDB817B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708920"/>
            <a:ext cx="5781983" cy="379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86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/>
              <a:t>Yield to Maturity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4661" y="1704974"/>
                <a:ext cx="8591550" cy="400572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500">
                    <a:ea typeface="Cambria Math" panose="02040503050406030204" pitchFamily="18" charset="0"/>
                  </a:rPr>
                  <a:t>The yield to maturity is the rate of return required by bondholders for buying the bond.</a:t>
                </a:r>
              </a:p>
              <a:p>
                <a:pPr marL="339329" indent="0">
                  <a:spcBef>
                    <a:spcPts val="1350"/>
                  </a:spcBef>
                  <a:buClr>
                    <a:srgbClr val="C00000"/>
                  </a:buClr>
                  <a:buSzPct val="90000"/>
                  <a:buNone/>
                </a:pPr>
                <a:r>
                  <a:rPr lang="en-GB" sz="1500"/>
                  <a:t>Short-term Risk-free Rate</a:t>
                </a:r>
                <a:endParaRPr lang="en-GB" sz="1500">
                  <a:solidFill>
                    <a:srgbClr val="C00000"/>
                  </a:solidFill>
                </a:endParaRPr>
              </a:p>
              <a:p>
                <a:pPr marL="339329" indent="0">
                  <a:buClr>
                    <a:srgbClr val="C00000"/>
                  </a:buClr>
                  <a:buSzPct val="90000"/>
                  <a:buNone/>
                </a:pPr>
                <a:r>
                  <a:rPr lang="en-GB" sz="1500"/>
                  <a:t>Maturity Premium				</a:t>
                </a:r>
                <a:r>
                  <a:rPr lang="en-GB" sz="1500">
                    <a:solidFill>
                      <a:srgbClr val="C00000"/>
                    </a:solidFill>
                  </a:rPr>
                  <a:t>       </a:t>
                </a:r>
                <a:r>
                  <a:rPr lang="en-GB" sz="1500"/>
                  <a:t>Yield to Maturity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GB" sz="1500">
                    <a:solidFill>
                      <a:srgbClr val="C00000"/>
                    </a:solidFill>
                  </a:rPr>
                  <a:t>	 </a:t>
                </a:r>
                <a:r>
                  <a:rPr lang="en-GB" sz="1500"/>
                  <a:t>Bond Price</a:t>
                </a:r>
                <a:endParaRPr lang="en-GB" sz="1500">
                  <a:solidFill>
                    <a:srgbClr val="C00000"/>
                  </a:solidFill>
                </a:endParaRPr>
              </a:p>
              <a:p>
                <a:pPr marL="339329" indent="0">
                  <a:buClr>
                    <a:srgbClr val="C00000"/>
                  </a:buClr>
                  <a:buSzPct val="90000"/>
                  <a:buNone/>
                </a:pPr>
                <a:r>
                  <a:rPr lang="en-GB" sz="1500"/>
                  <a:t>Default Premium</a:t>
                </a:r>
                <a:endParaRPr lang="en-GB" sz="1500">
                  <a:solidFill>
                    <a:srgbClr val="C00000"/>
                  </a:solidFill>
                </a:endParaRPr>
              </a:p>
              <a:p>
                <a:pPr marL="0" indent="0">
                  <a:buClr>
                    <a:srgbClr val="C00000"/>
                  </a:buClr>
                  <a:buSzPct val="90000"/>
                  <a:buNone/>
                </a:pPr>
                <a:endParaRPr lang="en-GB" sz="1050"/>
              </a:p>
              <a:p>
                <a:pPr marL="0" indent="0">
                  <a:buClr>
                    <a:srgbClr val="C00000"/>
                  </a:buClr>
                  <a:buSzPct val="90000"/>
                  <a:buNone/>
                </a:pPr>
                <a:endParaRPr lang="en-GB" sz="1800"/>
              </a:p>
              <a:p>
                <a:pPr marL="0" indent="0">
                  <a:buClr>
                    <a:srgbClr val="C00000"/>
                  </a:buClr>
                  <a:buSzPct val="90000"/>
                  <a:buNone/>
                </a:pPr>
                <a:endParaRPr lang="en-GB" sz="18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661" y="1704974"/>
                <a:ext cx="8591550" cy="4005724"/>
              </a:xfrm>
              <a:blipFill>
                <a:blip r:embed="rId3"/>
                <a:stretch>
                  <a:fillRect l="-284" t="-12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28</a:t>
            </a:fld>
            <a:endParaRPr lang="en-GB" sz="135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BC38DD-3ED1-489F-810F-01AB42726D31}"/>
              </a:ext>
            </a:extLst>
          </p:cNvPr>
          <p:cNvCxnSpPr>
            <a:cxnSpLocks/>
          </p:cNvCxnSpPr>
          <p:nvPr/>
        </p:nvCxnSpPr>
        <p:spPr>
          <a:xfrm flipV="1">
            <a:off x="455481" y="2119233"/>
            <a:ext cx="102218" cy="257304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212377-A7A4-4D7E-9805-D02DC375276F}"/>
              </a:ext>
            </a:extLst>
          </p:cNvPr>
          <p:cNvCxnSpPr>
            <a:cxnSpLocks/>
          </p:cNvCxnSpPr>
          <p:nvPr/>
        </p:nvCxnSpPr>
        <p:spPr>
          <a:xfrm flipV="1">
            <a:off x="450739" y="2918446"/>
            <a:ext cx="102218" cy="257304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EFC02B-8BF1-47F5-A4F0-A0DAC7C3736A}"/>
              </a:ext>
            </a:extLst>
          </p:cNvPr>
          <p:cNvCxnSpPr>
            <a:cxnSpLocks/>
          </p:cNvCxnSpPr>
          <p:nvPr/>
        </p:nvCxnSpPr>
        <p:spPr>
          <a:xfrm flipV="1">
            <a:off x="441918" y="2557173"/>
            <a:ext cx="102218" cy="257304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89893F10-4786-45DC-BA01-24AF36A9F189}"/>
              </a:ext>
            </a:extLst>
          </p:cNvPr>
          <p:cNvSpPr/>
          <p:nvPr/>
        </p:nvSpPr>
        <p:spPr>
          <a:xfrm>
            <a:off x="3290983" y="2143977"/>
            <a:ext cx="102218" cy="1029815"/>
          </a:xfrm>
          <a:prstGeom prst="rightBrace">
            <a:avLst/>
          </a:prstGeom>
          <a:ln w="2222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E8B6E4-413D-47A0-AC71-534062885DB1}"/>
              </a:ext>
            </a:extLst>
          </p:cNvPr>
          <p:cNvCxnSpPr>
            <a:cxnSpLocks/>
          </p:cNvCxnSpPr>
          <p:nvPr/>
        </p:nvCxnSpPr>
        <p:spPr>
          <a:xfrm flipV="1">
            <a:off x="3548780" y="2530232"/>
            <a:ext cx="102218" cy="257304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64207A7-9994-4708-8B08-F556EF5258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707541"/>
              </p:ext>
            </p:extLst>
          </p:nvPr>
        </p:nvGraphicFramePr>
        <p:xfrm>
          <a:off x="2124777" y="3267439"/>
          <a:ext cx="4894447" cy="2819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D08FC2-CB54-456F-A56B-96055AB4D1B4}"/>
              </a:ext>
            </a:extLst>
          </p:cNvPr>
          <p:cNvCxnSpPr>
            <a:cxnSpLocks/>
          </p:cNvCxnSpPr>
          <p:nvPr/>
        </p:nvCxnSpPr>
        <p:spPr>
          <a:xfrm>
            <a:off x="7236296" y="2530232"/>
            <a:ext cx="102218" cy="257304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46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Graphic spid="13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F64F-FA0A-81AE-0B71-D22A4529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48" y="957424"/>
            <a:ext cx="6447501" cy="724328"/>
          </a:xfrm>
        </p:spPr>
        <p:txBody>
          <a:bodyPr>
            <a:normAutofit fontScale="90000"/>
          </a:bodyPr>
          <a:lstStyle/>
          <a:p>
            <a:r>
              <a:rPr lang="en-GB"/>
              <a:t>Estimating the Yield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C03DA-3082-036C-0E52-3340E25297A0}"/>
              </a:ext>
            </a:extLst>
          </p:cNvPr>
          <p:cNvSpPr txBox="1"/>
          <p:nvPr/>
        </p:nvSpPr>
        <p:spPr>
          <a:xfrm>
            <a:off x="161248" y="1748887"/>
            <a:ext cx="770497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85725">
              <a:buClr>
                <a:srgbClr val="C00000"/>
              </a:buClr>
              <a:buSzPct val="90000"/>
            </a:pPr>
            <a:r>
              <a:rPr lang="en-GB" sz="1500" i="1" u="sng">
                <a:ea typeface="Cambria Math" panose="02040503050406030204" pitchFamily="18" charset="0"/>
              </a:rPr>
              <a:t>Example</a:t>
            </a:r>
          </a:p>
          <a:p>
            <a:pPr>
              <a:buClr>
                <a:srgbClr val="C00000"/>
              </a:buClr>
              <a:buSzPct val="90000"/>
            </a:pPr>
            <a:r>
              <a:rPr lang="en-GB" sz="1500">
                <a:ea typeface="Cambria Math" panose="02040503050406030204" pitchFamily="18" charset="0"/>
              </a:rPr>
              <a:t>Company has issued 7% convertible debt, current market value is $107 per $100 bond. The convertible debt can be redeemed in 6 years time or converted into 15 shares per $100 bond. The current share price is $5.50. The share price is expected to increase at an average rate of 6% per annum. What is the investors expected rate of return on the bonds i.e. the yield.</a:t>
            </a:r>
          </a:p>
          <a:p>
            <a:pPr>
              <a:buClr>
                <a:srgbClr val="C00000"/>
              </a:buClr>
              <a:buSzPct val="90000"/>
            </a:pPr>
            <a:endParaRPr lang="en-GB" sz="1500">
              <a:ea typeface="Cambria Math" panose="02040503050406030204" pitchFamily="18" charset="0"/>
            </a:endParaRPr>
          </a:p>
          <a:p>
            <a:pPr>
              <a:buClr>
                <a:srgbClr val="C00000"/>
              </a:buClr>
              <a:buSzPct val="90000"/>
              <a:buAutoNum type="arabicPeriod"/>
            </a:pPr>
            <a:r>
              <a:rPr lang="en-GB" sz="1500">
                <a:ea typeface="Cambria Math" panose="02040503050406030204" pitchFamily="18" charset="0"/>
              </a:rPr>
              <a:t>Redemption or conversion… </a:t>
            </a:r>
          </a:p>
          <a:p>
            <a:pPr>
              <a:buClr>
                <a:srgbClr val="C00000"/>
              </a:buClr>
              <a:buSzPct val="90000"/>
              <a:buAutoNum type="arabicPeriod"/>
            </a:pPr>
            <a:r>
              <a:rPr lang="en-GB" sz="1500">
                <a:ea typeface="Cambria Math" panose="02040503050406030204" pitchFamily="18" charset="0"/>
              </a:rPr>
              <a:t>Use the higher value in the IRR calculation</a:t>
            </a:r>
          </a:p>
          <a:p>
            <a:pPr>
              <a:buClr>
                <a:srgbClr val="C00000"/>
              </a:buClr>
              <a:buSzPct val="90000"/>
              <a:buAutoNum type="arabicPeriod"/>
            </a:pPr>
            <a:r>
              <a:rPr lang="en-GB" sz="1500">
                <a:ea typeface="Cambria Math" panose="02040503050406030204" pitchFamily="18" charset="0"/>
              </a:rPr>
              <a:t>Formulae: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411C2F-9D6E-E6A1-9F9D-2D71A8CAAB9F}"/>
              </a:ext>
            </a:extLst>
          </p:cNvPr>
          <p:cNvGrpSpPr/>
          <p:nvPr/>
        </p:nvGrpSpPr>
        <p:grpSpPr>
          <a:xfrm>
            <a:off x="1277776" y="4107520"/>
            <a:ext cx="5225832" cy="504433"/>
            <a:chOff x="2535478" y="4029536"/>
            <a:chExt cx="6265760" cy="664176"/>
          </a:xfrm>
        </p:grpSpPr>
        <p:sp>
          <p:nvSpPr>
            <p:cNvPr id="11" name="Double Bracket 10">
              <a:extLst>
                <a:ext uri="{FF2B5EF4-FFF2-40B4-BE49-F238E27FC236}">
                  <a16:creationId xmlns:a16="http://schemas.microsoft.com/office/drawing/2014/main" id="{59B9604D-60BA-597F-1EC6-D3C17A801A5D}"/>
                </a:ext>
              </a:extLst>
            </p:cNvPr>
            <p:cNvSpPr/>
            <p:nvPr/>
          </p:nvSpPr>
          <p:spPr>
            <a:xfrm>
              <a:off x="3886328" y="4149324"/>
              <a:ext cx="1837910" cy="423231"/>
            </a:xfrm>
            <a:prstGeom prst="bracketPair">
              <a:avLst/>
            </a:prstGeom>
            <a:solidFill>
              <a:srgbClr val="C00000">
                <a:alpha val="15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7C2327-75D4-965B-2A66-215C3F2D156E}"/>
                    </a:ext>
                  </a:extLst>
                </p:cNvPr>
                <p:cNvSpPr txBox="1"/>
                <p:nvPr/>
              </p:nvSpPr>
              <p:spPr>
                <a:xfrm>
                  <a:off x="2535478" y="4029536"/>
                  <a:ext cx="6265760" cy="6641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=7×</m:t>
                        </m:r>
                        <m:f>
                          <m:fPr>
                            <m:ctrlP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GB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GB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GB" sz="13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%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%</m:t>
                            </m:r>
                          </m:den>
                        </m:f>
                        <m:r>
                          <a:rPr lang="en-GB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+110</m:t>
                        </m:r>
                        <m:sSup>
                          <m:sSupPr>
                            <m:ctrlP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e>
                            </m:d>
                          </m:e>
                          <m:sup>
                            <m:r>
                              <a:rPr lang="en-GB" sz="1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−5</m:t>
                            </m:r>
                          </m:sup>
                        </m:sSup>
                        <m:r>
                          <a:rPr lang="en-GB" sz="1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GB" sz="1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$107</m:t>
                        </m:r>
                      </m:oMath>
                    </m:oMathPara>
                  </a14:m>
                  <a:endParaRPr lang="en-GB" sz="13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7C2327-75D4-965B-2A66-215C3F2D1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5478" y="4029536"/>
                  <a:ext cx="6265760" cy="66417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90E828C-BBC4-2148-DE50-ED48CB0A357A}"/>
              </a:ext>
            </a:extLst>
          </p:cNvPr>
          <p:cNvSpPr txBox="1"/>
          <p:nvPr/>
        </p:nvSpPr>
        <p:spPr>
          <a:xfrm>
            <a:off x="260265" y="4955720"/>
            <a:ext cx="36770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Trial and error of discount rates… </a:t>
            </a:r>
          </a:p>
          <a:p>
            <a:r>
              <a:rPr lang="en-GB" dirty="0"/>
              <a:t>5% = $116</a:t>
            </a:r>
          </a:p>
          <a:p>
            <a:r>
              <a:rPr lang="en-GB" dirty="0"/>
              <a:t>10% = $94.84</a:t>
            </a:r>
          </a:p>
          <a:p>
            <a:r>
              <a:rPr lang="en-GB" dirty="0">
                <a:highlight>
                  <a:srgbClr val="FFFF00"/>
                </a:highlight>
              </a:rPr>
              <a:t>7% = $107.13</a:t>
            </a:r>
          </a:p>
          <a:p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41151F-33CA-AD0E-AAC8-DC02392D39F8}"/>
              </a:ext>
            </a:extLst>
          </p:cNvPr>
          <p:cNvCxnSpPr>
            <a:cxnSpLocks/>
          </p:cNvCxnSpPr>
          <p:nvPr/>
        </p:nvCxnSpPr>
        <p:spPr>
          <a:xfrm flipV="1">
            <a:off x="3275856" y="4585324"/>
            <a:ext cx="2201974" cy="100391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Cloud 22">
            <a:extLst>
              <a:ext uri="{FF2B5EF4-FFF2-40B4-BE49-F238E27FC236}">
                <a16:creationId xmlns:a16="http://schemas.microsoft.com/office/drawing/2014/main" id="{1ACA72AB-0472-5FA4-9F96-FF4C8AE6099A}"/>
              </a:ext>
            </a:extLst>
          </p:cNvPr>
          <p:cNvSpPr/>
          <p:nvPr/>
        </p:nvSpPr>
        <p:spPr>
          <a:xfrm>
            <a:off x="5635846" y="5229200"/>
            <a:ext cx="3174714" cy="147732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7% is the yield from the debt. This is the true return on debt not the coupon rate</a:t>
            </a:r>
          </a:p>
        </p:txBody>
      </p:sp>
    </p:spTree>
    <p:extLst>
      <p:ext uri="{BB962C8B-B14F-4D97-AF65-F5344CB8AC3E}">
        <p14:creationId xmlns:p14="http://schemas.microsoft.com/office/powerpoint/2010/main" val="233070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5467A-AA78-8673-DC7F-3C0CA8E43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itle 1">
            <a:extLst>
              <a:ext uri="{FF2B5EF4-FFF2-40B4-BE49-F238E27FC236}">
                <a16:creationId xmlns:a16="http://schemas.microsoft.com/office/drawing/2014/main" id="{CF077CA6-FF93-02F0-E812-3B05C03A3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1376773"/>
            <a:ext cx="7886700" cy="64654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Learning Outcomes Covered</a:t>
            </a:r>
          </a:p>
        </p:txBody>
      </p:sp>
      <p:graphicFrame>
        <p:nvGraphicFramePr>
          <p:cNvPr id="13315" name="Text Placeholder 1">
            <a:extLst>
              <a:ext uri="{FF2B5EF4-FFF2-40B4-BE49-F238E27FC236}">
                <a16:creationId xmlns:a16="http://schemas.microsoft.com/office/drawing/2014/main" id="{9ED3DB57-C4D3-BA21-835F-71F1FD06F3DD}"/>
              </a:ext>
            </a:extLst>
          </p:cNvPr>
          <p:cNvGraphicFramePr/>
          <p:nvPr/>
        </p:nvGraphicFramePr>
        <p:xfrm>
          <a:off x="892515" y="2492896"/>
          <a:ext cx="7632848" cy="3403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8513961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632B-2FCE-B6ED-C419-427E610D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D38A-6D63-08BB-0FBC-2882D1231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2" y="3317479"/>
            <a:ext cx="6515620" cy="994172"/>
          </a:xfrm>
        </p:spPr>
        <p:txBody>
          <a:bodyPr/>
          <a:lstStyle/>
          <a:p>
            <a:r>
              <a:rPr lang="en-GB" sz="2800" dirty="0">
                <a:latin typeface="Segoe Sans"/>
              </a:rPr>
              <a:t>Equity</a:t>
            </a:r>
          </a:p>
        </p:txBody>
      </p:sp>
    </p:spTree>
    <p:extLst>
      <p:ext uri="{BB962C8B-B14F-4D97-AF65-F5344CB8AC3E}">
        <p14:creationId xmlns:p14="http://schemas.microsoft.com/office/powerpoint/2010/main" val="1668558411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FAFD7E7B-6604-474F-B2AC-65277B75DAFC}" vid="{767162DD-F454-4E7C-BE43-B759DEAC2942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8D2D201-97C8-4E70-BF77-76D11DC8600F}">
  <ds:schemaRefs>
    <ds:schemaRef ds:uri="e8946c25-bf8a-4e7a-b3bc-ca2d5c690832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08ae8d-d1eb-4f33-a34c-6ad8d87baf5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3a4ab234-afbc-41ab-b2db-358d80304e46"/>
    <ds:schemaRef ds:uri="037ba92a-5764-4297-b5f7-6ea117412624"/>
  </ds:schemaRefs>
</ds:datastoreItem>
</file>

<file path=customXml/itemProps3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template sky standard</Template>
  <TotalTime>218</TotalTime>
  <Words>2959</Words>
  <Application>Microsoft Office PowerPoint</Application>
  <PresentationFormat>On-screen Show (4:3)</PresentationFormat>
  <Paragraphs>552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Courier New</vt:lpstr>
      <vt:lpstr>Segoe Sans</vt:lpstr>
      <vt:lpstr>Tahoma</vt:lpstr>
      <vt:lpstr>Wingdings</vt:lpstr>
      <vt:lpstr>Wingdings 3</vt:lpstr>
      <vt:lpstr>Custom Design</vt:lpstr>
      <vt:lpstr>Metropolitan</vt:lpstr>
      <vt:lpstr>UMET9G-30-1  Accounting &amp; Finance for Decision Making  Capital Structure - Debt</vt:lpstr>
      <vt:lpstr>Recap</vt:lpstr>
      <vt:lpstr>Learning Outcomes</vt:lpstr>
      <vt:lpstr>Recap: Role of Finance in Corporations</vt:lpstr>
      <vt:lpstr>Recap: Sources of Finance</vt:lpstr>
      <vt:lpstr>Recap: Equity vs Debt</vt:lpstr>
      <vt:lpstr>Rceap: Debt</vt:lpstr>
      <vt:lpstr>SoFP – what about debt?</vt:lpstr>
      <vt:lpstr>Income statement – what about debt?</vt:lpstr>
      <vt:lpstr>Loan &amp; Lease</vt:lpstr>
      <vt:lpstr>Bond</vt:lpstr>
      <vt:lpstr>Bonds</vt:lpstr>
      <vt:lpstr>Straight Bond</vt:lpstr>
      <vt:lpstr>Straight Bond Cash Flows</vt:lpstr>
      <vt:lpstr>Straight Bond Valuation</vt:lpstr>
      <vt:lpstr>Straight Bond Valuation</vt:lpstr>
      <vt:lpstr>Convertible Bond</vt:lpstr>
      <vt:lpstr>Convertible Bond Valuation</vt:lpstr>
      <vt:lpstr>Zero coupon bond</vt:lpstr>
      <vt:lpstr>Bond Price Fluctuates</vt:lpstr>
      <vt:lpstr>Bond Price</vt:lpstr>
      <vt:lpstr>Yield to Maturity</vt:lpstr>
      <vt:lpstr>Yield to Maturity</vt:lpstr>
      <vt:lpstr>Yield to Maturity</vt:lpstr>
      <vt:lpstr>Yield to Maturity</vt:lpstr>
      <vt:lpstr>Default Premium</vt:lpstr>
      <vt:lpstr>Default Premium – Bond Rating</vt:lpstr>
      <vt:lpstr>Yield to Maturity</vt:lpstr>
      <vt:lpstr>Estimating the Yield</vt:lpstr>
      <vt:lpstr>Learning Outcomes Covered</vt:lpstr>
      <vt:lpstr>Next Week</vt:lpstr>
    </vt:vector>
  </TitlesOfParts>
  <Company>UWE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 Structure - DEBT</dc:title>
  <dc:creator>Demelza Pilgrim</dc:creator>
  <cp:lastModifiedBy>Demelza Pilgrim</cp:lastModifiedBy>
  <cp:revision>1</cp:revision>
  <cp:lastPrinted>2016-09-22T10:08:48Z</cp:lastPrinted>
  <dcterms:created xsi:type="dcterms:W3CDTF">2023-10-19T13:47:21Z</dcterms:created>
  <dcterms:modified xsi:type="dcterms:W3CDTF">2025-08-20T16:12:24Z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dlc_DocIdItemGuid">
    <vt:lpwstr>0beaf668-18bc-407e-89e0-ef66d74dcf56</vt:lpwstr>
  </property>
</Properties>
</file>