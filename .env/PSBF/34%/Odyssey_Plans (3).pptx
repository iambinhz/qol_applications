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5124176" cy="10689336"/>
  <p:notesSz cx="10689336" cy="1512417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137160"/>
            <a:ext cx="14758416" cy="41148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Odyssey Plan A: your current/default path  —  "Financial Analyst Bridging Data and Strategy"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548640"/>
          <a:ext cx="14758416" cy="914400"/>
        </p:xfrm>
        <a:graphic>
          <a:graphicData uri="http://schemas.openxmlformats.org/drawingml/2006/table">
            <a:tbl>
              <a:tblPr/>
              <a:tblGrid>
                <a:gridCol w="3689604"/>
                <a:gridCol w="3689604"/>
                <a:gridCol w="3689604"/>
                <a:gridCol w="3689604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My Assessment of Where I am Now</a:t>
                      </a:r>
                      <a:endParaRPr lang="en-US" sz="1200" dirty="0"/>
                    </a:p>
                  </a:txBody>
                  <a:tcPr marL="635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Stage 1: What Do I Need to Do Next?</a:t>
                      </a:r>
                      <a:endParaRPr lang="en-US" sz="1200" dirty="0"/>
                    </a:p>
                  </a:txBody>
                  <a:tcPr marL="635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Stage 2: Where Do I Need to Be at Graduation?</a:t>
                      </a:r>
                      <a:endParaRPr lang="en-US" sz="1200" dirty="0"/>
                    </a:p>
                  </a:txBody>
                  <a:tcPr marL="635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Stage 3: What is My 5-Year Destination?</a:t>
                      </a:r>
                      <a:endParaRPr lang="en-US" sz="1200" dirty="0"/>
                    </a:p>
                  </a:txBody>
                  <a:tcPr marL="635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6400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</a:rPr>
                        <a:t>Year 1 Student
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BSc Banking &amp; Finance, NEU-UWE
</a:t>
                      </a:r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1E3A5F"/>
                          </a:solidFill>
                        </a:rPr>
                        <a:t>
CURRENT CAPABILITIES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● Basic Excel skills: formulas, charts, tables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● Formal academic writing in English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● Strong independent research skills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● Basic system thinking and programming skills (HTML/CSS/JavaScript/Python)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● Bilingual: Vietnamese + English (IELTS 6.0)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● Created a unique studying method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● Can use AI effectively
</a:t>
                      </a:r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1E3A5F"/>
                          </a:solidFill>
                        </a:rPr>
                        <a:t>
INTERESTS &amp; VALUES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● Combining logical analysis with creative problem-solving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● Highly valuing the balance between Workview and Lifeview: protecting time for physical health, family, and personal hobbies
</a:t>
                      </a:r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1E3A5F"/>
                          </a:solidFill>
                        </a:rPr>
                        <a:t>
GAPS TO ADDRESS
</a:t>
                      </a:r>
                      <a:pPr indent="0" marL="0">
                        <a:buNone/>
                      </a:pPr>
                      <a:r>
                        <a:rPr lang="en-US" sz="750" i="1" dirty="0">
                          <a:solidFill>
                            <a:srgbClr val="DC2626"/>
                          </a:solidFill>
                        </a:rPr>
                        <a:t>△ No internship experiences
</a:t>
                      </a:r>
                      <a:pPr indent="0" marL="0">
                        <a:buNone/>
                      </a:pPr>
                      <a:r>
                        <a:rPr lang="en-US" sz="750" i="1" dirty="0">
                          <a:solidFill>
                            <a:srgbClr val="DC2626"/>
                          </a:solidFill>
                        </a:rPr>
                        <a:t>△ Need to improve skills in advanced data manipulation tools
</a:t>
                      </a:r>
                      <a:pPr indent="0" marL="0">
                        <a:buNone/>
                      </a:pPr>
                      <a:r>
                        <a:rPr lang="en-US" sz="750" i="1" dirty="0">
                          <a:solidFill>
                            <a:srgbClr val="DC2626"/>
                          </a:solidFill>
                        </a:rPr>
                        <a:t>△ Lack of an important skills in Banking and Finance
</a:t>
                      </a:r>
                      <a:endParaRPr lang="en-US" sz="1200" dirty="0"/>
                    </a:p>
                  </a:txBody>
                  <a:tcPr marL="63500" marR="50800" marT="50800" marB="50800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</a:rPr>
                        <a:t>Build Foundations
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Year 2 actions (2026-2027)
</a:t>
                      </a:r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1E3A5F"/>
                          </a:solidFill>
                        </a:rPr>
                        <a:t>
CONCRETE ACTIONS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✓ Apply for summer internship at Vietnamese banks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✓ Explore CFA and related finance certificates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✓ Maintain an efficient study method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✓ Further research on AI applications in Banking and Finance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✓ Complete short online courses about Data Analytics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✓ Build a tool to create a Dashboard that automatically collects and visualizes data on alternative assets
</a:t>
                      </a:r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1E3A5F"/>
                          </a:solidFill>
                        </a:rPr>
                        <a:t>
SKILL DEVELOPMENT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● Improve academic and specialized English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● Know how to use basic and lower-advanced Excel skills.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● Proficient in reading World's Financial Reports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● Learn SQL and basic Python for Finance (Pandas, NumPy)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● Start to do personal analyses
</a:t>
                      </a:r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1E3A5F"/>
                          </a:solidFill>
                        </a:rPr>
                        <a:t>
FEEDBACK LOOP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↺ Regularly consult with my lecturers and senior academic club members to get feedback on my study progress and personal data projects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↺ Review internship progress monthly
</a:t>
                      </a:r>
                      <a:endParaRPr lang="en-US" sz="1200" dirty="0"/>
                    </a:p>
                  </a:txBody>
                  <a:tcPr marL="63500" marR="50800" marT="50800" marB="50800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</a:rPr>
                        <a:t>Graduate Ready
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Graduation (2028-2029)
</a:t>
                      </a:r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1E3A5F"/>
                          </a:solidFill>
                        </a:rPr>
                        <a:t>
TARGET POSITION AT GRADUATION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✓ Graduate with 2:1 or above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✓ CFA Level 1 passed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✓ Finished internships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✓ Management Trainee in the Finance department of multinational corporations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✓ Data Analyst / Junior Financial Analyst at Securities firms, Investment Funds, or Banks
</a:t>
                      </a:r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1E3A5F"/>
                          </a:solidFill>
                        </a:rPr>
                        <a:t>
APPLICATIONS &amp; TRANSITION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✓ Build a professional portfolio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✓ Practice and prepare for corporate aptitude tests and case study interviews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✓ Use the automated data Dashboard project to demonstrate practical competence during interviews
</a:t>
                      </a:r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1E3A5F"/>
                          </a:solidFill>
                        </a:rPr>
                        <a:t>
NETWORK BUILT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● Build a professional LinkedIn profile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● Have a strong network with finance professionals and university alumni
</a:t>
                      </a:r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1E3A5F"/>
                          </a:solidFill>
                        </a:rPr>
                        <a:t>
FEEDBACK LOOP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↺ Apply for an internship for at least 3-6 months before graduation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↺ Observe and upgrade analysis skills
</a:t>
                      </a:r>
                      <a:endParaRPr lang="en-US" sz="1200" dirty="0"/>
                    </a:p>
                  </a:txBody>
                  <a:tcPr marL="63500" marR="50800" marT="50800" marB="50800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</a:rPr>
                        <a:t>Senior Financial Analyst
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5-year destination (2031)
</a:t>
                      </a:r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1E3A5F"/>
                          </a:solidFill>
                        </a:rPr>
                        <a:t>
ROLE DESCRIPTION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⭐ Become a Senior Financial Analyst or Business Intelligence Analyst
</a:t>
                      </a:r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1E3A5F"/>
                          </a:solidFill>
                        </a:rPr>
                        <a:t>
PROFESSIONAL STANDING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● Complete the advanced levels of the CFA and CAIA examinations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● 3+ years of experience in Banking and Finance field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● Be recognized as a pioneering expert capable of automating complex financial analysis processes, saving maximum time on manual reporting
</a:t>
                      </a:r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1E3A5F"/>
                          </a:solidFill>
                        </a:rPr>
                        <a:t>
LIFE ALIGNMENT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⚖ Save plenty of time by the Dashboard tool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⚖ Stable hours for family and outdoor activities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⚖ Hang out with friends every week
</a:t>
                      </a:r>
                      <a:endParaRPr lang="en-US" sz="1200" dirty="0"/>
                    </a:p>
                  </a:txBody>
                  <a:tcPr marL="63500" marR="50800" marT="50800" marB="50800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7205472"/>
          <a:ext cx="14758416" cy="914400"/>
        </p:xfrm>
        <a:graphic>
          <a:graphicData uri="http://schemas.openxmlformats.org/drawingml/2006/table">
            <a:tbl>
              <a:tblPr/>
              <a:tblGrid>
                <a:gridCol w="5903366"/>
                <a:gridCol w="4427525"/>
                <a:gridCol w="4427525"/>
              </a:tblGrid>
              <a:tr h="31181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94A3B8"/>
                          </a:solidFill>
                        </a:rPr>
                        <a:t>EMBEDDED EVIDENCE
</a:t>
                      </a:r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94A3B8"/>
                          </a:solidFill>
                        </a:rPr>
                        <a:t>(No files uploaded)</a:t>
                      </a:r>
                      <a:endParaRPr lang="en-US" sz="1200" dirty="0"/>
                    </a:p>
                  </a:txBody>
                  <a:tcPr marL="63500" marR="50800" marT="50800" marB="50800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64748B"/>
                          </a:solidFill>
                        </a:rPr>
                        <a:t>RESOURCES
</a:t>
                      </a:r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3A5F"/>
                          </a:solidFill>
                        </a:rPr>
                        <a:t>■■■■■■■□□□ (7/10)
</a:t>
                      </a:r>
                      <a:pPr indent="0" marL="0">
                        <a:buNone/>
                      </a:pPr>
                      <a:r>
                        <a:rPr lang="en-US" sz="550" i="1" dirty="0">
                          <a:solidFill>
                            <a:srgbClr val="94A3B8"/>
                          </a:solidFill>
                        </a:rPr>
                        <a:t>Requires intense focus on mastering macroeconomic measurements alongside advanced data programming libraries
</a:t>
                      </a:r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64748B"/>
                          </a:solidFill>
                        </a:rPr>
                        <a:t>CONFIDENCE
</a:t>
                      </a:r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3A5F"/>
                          </a:solidFill>
                        </a:rPr>
                        <a:t>■■■■■■■■■□ (9/10)
</a:t>
                      </a:r>
                      <a:pPr indent="0" marL="0">
                        <a:buNone/>
                      </a:pPr>
                      <a:r>
                        <a:rPr lang="en-US" sz="550" i="1" dirty="0">
                          <a:solidFill>
                            <a:srgbClr val="94A3B8"/>
                          </a:solidFill>
                        </a:rPr>
                        <a:t>My self-assessment shows I already possess the emotional maturity, honesty, and technical baseline required to succeed
</a:t>
                      </a:r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64748B"/>
                          </a:solidFill>
                        </a:rPr>
                        <a:t>LIKE PLAN?
</a:t>
                      </a:r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3A5F"/>
                          </a:solidFill>
                        </a:rPr>
                        <a:t>■■■■■■■■■□ (9/10)
</a:t>
                      </a:r>
                      <a:pPr indent="0" marL="0">
                        <a:buNone/>
                      </a:pPr>
                      <a:r>
                        <a:rPr lang="en-US" sz="550" i="1" dirty="0">
                          <a:solidFill>
                            <a:srgbClr val="94A3B8"/>
                          </a:solidFill>
                        </a:rPr>
                        <a:t>It perfectly merges my coding hobby with a highly respected, intellectually stimulating career path
</a:t>
                      </a:r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64748B"/>
                          </a:solidFill>
                        </a:rPr>
                        <a:t>COHERENCE
</a:t>
                      </a:r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3A5F"/>
                          </a:solidFill>
                        </a:rPr>
                        <a:t>■■■■■■■■■□ (9/10)
</a:t>
                      </a:r>
                      <a:pPr indent="0" marL="0">
                        <a:buNone/>
                      </a:pPr>
                      <a:r>
                        <a:rPr lang="en-US" sz="550" i="1" dirty="0">
                          <a:solidFill>
                            <a:srgbClr val="94A3B8"/>
                          </a:solidFill>
                        </a:rPr>
                        <a:t>Directly aligns my current academic trajectory and personal strengths with the exact competencies demanded by the financial industry
</a:t>
                      </a:r>
                      <a:endParaRPr lang="en-US" sz="1200" dirty="0"/>
                    </a:p>
                  </a:txBody>
                  <a:tcPr marL="63500" marR="50800" marT="50800" marB="50800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</a:rPr>
                        <a:t>6 WORD TITLE
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"Financial Analyst Bridging Data and Strategy"
</a:t>
                      </a:r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</a:rPr>
                        <a:t>QUESTIONS: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</a:rPr>
                        <a:t>1. How might I leverage my coding and system-building skills to automate repetitive tasks, ensuring I avoid becoming a manual "Excel data-entry machine" early in my career?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</a:rPr>
                        <a:t>2. How might I utilize my experience in building and managing online communities to confidently network with alumni and industry experts in the corporate financial sector?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</a:rPr>
                        <a:t>3. How might I effectively communicate my unique blend of finance, technology, and system-building skills during interviews to clearly stand out from traditional finance candidates?</a:t>
                      </a:r>
                      <a:endParaRPr lang="en-US" sz="1200" dirty="0"/>
                    </a:p>
                  </a:txBody>
                  <a:tcPr marL="63500" marR="50800" marT="50800" marB="50800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182880" y="10323576"/>
            <a:ext cx="147584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137160"/>
            <a:ext cx="14758416" cy="41148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Odyssey Plan B: your best alternative path  —  "Safeguarding Financial Systems With Technical Integrity"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548640"/>
          <a:ext cx="14758416" cy="914400"/>
        </p:xfrm>
        <a:graphic>
          <a:graphicData uri="http://schemas.openxmlformats.org/drawingml/2006/table">
            <a:tbl>
              <a:tblPr/>
              <a:tblGrid>
                <a:gridCol w="3689604"/>
                <a:gridCol w="3689604"/>
                <a:gridCol w="3689604"/>
                <a:gridCol w="3689604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My Assessment of Where I am Now</a:t>
                      </a:r>
                      <a:endParaRPr lang="en-US" sz="1200" dirty="0"/>
                    </a:p>
                  </a:txBody>
                  <a:tcPr marL="635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Stage 1: What Do I Need to Do Next?</a:t>
                      </a:r>
                      <a:endParaRPr lang="en-US" sz="1200" dirty="0"/>
                    </a:p>
                  </a:txBody>
                  <a:tcPr marL="635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Stage 2: Where Do I Need to Be at Graduation?</a:t>
                      </a:r>
                      <a:endParaRPr lang="en-US" sz="1200" dirty="0"/>
                    </a:p>
                  </a:txBody>
                  <a:tcPr marL="635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Stage 3: What is My 5-Year Destination?</a:t>
                      </a:r>
                      <a:endParaRPr lang="en-US" sz="1200" dirty="0"/>
                    </a:p>
                  </a:txBody>
                  <a:tcPr marL="635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6400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C3AED"/>
                          </a:solidFill>
                        </a:rPr>
                        <a:t>Year 1 Student
</a:t>
                      </a:r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7C3AED"/>
                          </a:solidFill>
                        </a:rPr>
                        <a:t>
CURRENT CAPABILITIES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● Basic Excel skills: formulas, charts, tables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● Formal academic writing in English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● Strong independent research skills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● Bilingual: Vietnamese + English (IELTS 6.0)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● Created a unique studying method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● Proficient in using Python, HTML/CSS/JS, and AI tools and capable of writing scripts to clean data, automate repetitive tasks, and build basic applications
</a:t>
                      </a:r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7C3AED"/>
                          </a:solidFill>
                        </a:rPr>
                        <a:t>
INTERESTS &amp; VALUES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● Combining logical analysis with creative problem-solving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● High value placed on "extreme honesty", ethics, and transparency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● Strongly prioritizing work-life balance, seeking a role with structured, predictable hours to protect personal time for family, outdoor sports, and hobbies
</a:t>
                      </a:r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7C3AED"/>
                          </a:solidFill>
                        </a:rPr>
                        <a:t>
GAPS TO ADDRESS
</a:t>
                      </a:r>
                      <a:pPr indent="0" marL="0">
                        <a:buNone/>
                      </a:pPr>
                      <a:r>
                        <a:rPr lang="en-US" sz="750" i="1" dirty="0">
                          <a:solidFill>
                            <a:srgbClr val="DC2626"/>
                          </a:solidFill>
                        </a:rPr>
                        <a:t>△ Lack of formal knowledge in specific cybersecurity frameworks, anti-money laundering (AML) protocols, and regulatory compliance laws
</a:t>
                      </a:r>
                      <a:pPr indent="0" marL="0">
                        <a:buNone/>
                      </a:pPr>
                      <a:r>
                        <a:rPr lang="en-US" sz="750" i="1" dirty="0">
                          <a:solidFill>
                            <a:srgbClr val="DC2626"/>
                          </a:solidFill>
                        </a:rPr>
                        <a:t>△ No internship experiences
</a:t>
                      </a:r>
                      <a:endParaRPr lang="en-US" sz="1200" dirty="0"/>
                    </a:p>
                  </a:txBody>
                  <a:tcPr marL="63500" marR="50800" marT="50800" marB="50800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C3AED"/>
                          </a:solidFill>
                        </a:rPr>
                        <a:t>Build Foundations
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Year 2 actions (2026-2027)
</a:t>
                      </a:r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7C3AED"/>
                          </a:solidFill>
                        </a:rPr>
                        <a:t>
CONCRETE ACTIONS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✓ Pivot personal coding projects towards risk detection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✓ Achieve academic excellence in core economic and financial modules to solidify the understanding of systemic market risks and vulnerabilities
</a:t>
                      </a:r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7C3AED"/>
                          </a:solidFill>
                        </a:rPr>
                        <a:t>
SKILL DEVELOPMENT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● Master advanced SQL for complex querying, joining massive datasets, and investigating fraud trails within corporate databases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● Study Regulatory Technology (RegTech) fundamentals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● Acquire foundational knowledge of cloud databases (e.g., Snowflake, AWS Redshift) to understand how modern fintech companies store and process transaction logs
</a:t>
                      </a:r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7C3AED"/>
                          </a:solidFill>
                        </a:rPr>
                        <a:t>
FEEDBACK LOOP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↺ Submit the anomaly-detection algorithm to academic lecturers and industry mentors for rigorous code review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↺ Monthly: coding review
</a:t>
                      </a:r>
                      <a:endParaRPr lang="en-US" sz="1200" dirty="0"/>
                    </a:p>
                  </a:txBody>
                  <a:tcPr marL="63500" marR="50800" marT="50800" marB="50800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C3AED"/>
                          </a:solidFill>
                        </a:rPr>
                        <a:t>Graduate Ready
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Graduation (2028-2029)
</a:t>
                      </a:r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7C3AED"/>
                          </a:solidFill>
                        </a:rPr>
                        <a:t>
TARGET POSITION AT GRADUATION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✓ Graduate with 2:1 or above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✓ Risk Data Analyst, Compliance Operations Specialist, or Trust &amp; Safety Analyst at a leading Fintech enterprise, digital-first bank, or global e-commerce platform
</a:t>
                      </a:r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7C3AED"/>
                          </a:solidFill>
                        </a:rPr>
                        <a:t>
APPLICATIONS &amp; TRANSITION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✓ Build a professional portfolio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✓ Leverage past experience in managing toxic digital environments and resolving server disputes to illustrate an ability to handle high-pressure compliance alerts and make objective, data-driven decisions
</a:t>
                      </a:r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7C3AED"/>
                          </a:solidFill>
                        </a:rPr>
                        <a:t>
STARTUP PREPARATION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● Proactively engage with professionals in the RegTech and Fintech sectors. Focus on early-stage companies that require versatile analysts capable of understanding financial logic and building backend compliance rules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● Monthly: coding review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● Complete a specialized internship in a Risk or Compliance Operations department to experience real-time threat monitoring and understand enterprise incident-response protocols
</a:t>
                      </a:r>
                      <a:endParaRPr lang="en-US" sz="1200" dirty="0"/>
                    </a:p>
                  </a:txBody>
                  <a:tcPr marL="63500" marR="50800" marT="50800" marB="50800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C3AED"/>
                          </a:solidFill>
                        </a:rPr>
                        <a:t>Technical Risk Operations Manager
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5-year destination (2031)
</a:t>
                      </a:r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7C3AED"/>
                          </a:solidFill>
                        </a:rPr>
                        <a:t>
ROLE DESCRIPTION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⭐ Senior Technical Risk Operations Manager or Compliance Systems Architect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⭐ Responsibilities include designing, optimizing, and deploying automated rule engines that intercept fraudulent transactions in milliseconds without disrupting legitimate user experiences
</a:t>
                      </a:r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7C3AED"/>
                          </a:solidFill>
                        </a:rPr>
                        <a:t>
PROFESSIONAL STANDING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● Attainment of globally recognized industry certifications, such as the Certified Anti-Money Laundering Specialist (CAMS) or Certified Fraud Examiner (CFE)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● Recognized across engineering and executive teams as a highly ethical, technically proficient leader who remains exceptionally calm and decisive during regulatory audits or systemic cyber-attacks
</a:t>
                      </a:r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7C3AED"/>
                          </a:solidFill>
                        </a:rPr>
                        <a:t>
LIFE ALIGNMENT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⚖ Stable hours for family and outdoor activities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⚖ Hang out with friends every week
</a:t>
                      </a:r>
                      <a:endParaRPr lang="en-US" sz="1200" dirty="0"/>
                    </a:p>
                  </a:txBody>
                  <a:tcPr marL="63500" marR="50800" marT="50800" marB="50800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7205472"/>
          <a:ext cx="14758416" cy="914400"/>
        </p:xfrm>
        <a:graphic>
          <a:graphicData uri="http://schemas.openxmlformats.org/drawingml/2006/table">
            <a:tbl>
              <a:tblPr/>
              <a:tblGrid>
                <a:gridCol w="5903366"/>
                <a:gridCol w="4427525"/>
                <a:gridCol w="4427525"/>
              </a:tblGrid>
              <a:tr h="31181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94A3B8"/>
                          </a:solidFill>
                        </a:rPr>
                        <a:t>EMBEDDED EVIDENCE
</a:t>
                      </a:r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94A3B8"/>
                          </a:solidFill>
                        </a:rPr>
                        <a:t>(No files uploaded)</a:t>
                      </a:r>
                      <a:endParaRPr lang="en-US" sz="1200" dirty="0"/>
                    </a:p>
                  </a:txBody>
                  <a:tcPr marL="63500" marR="50800" marT="50800" marB="50800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64748B"/>
                          </a:solidFill>
                        </a:rPr>
                        <a:t>RESOURCES
</a:t>
                      </a:r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7C3AED"/>
                          </a:solidFill>
                        </a:rPr>
                        <a:t>■■■■■■□□□□ (6/10)
</a:t>
                      </a:r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64748B"/>
                          </a:solidFill>
                        </a:rPr>
                        <a:t>CONFIDENCE
</a:t>
                      </a:r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7C3AED"/>
                          </a:solidFill>
                        </a:rPr>
                        <a:t>■■■■■■■■■□ (9/10)
</a:t>
                      </a:r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64748B"/>
                          </a:solidFill>
                        </a:rPr>
                        <a:t>LIKE PLAN?
</a:t>
                      </a:r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7C3AED"/>
                          </a:solidFill>
                        </a:rPr>
                        <a:t>■■■■■■■■□□ (8/10)
</a:t>
                      </a:r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64748B"/>
                          </a:solidFill>
                        </a:rPr>
                        <a:t>COHERENCE
</a:t>
                      </a:r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7C3AED"/>
                          </a:solidFill>
                        </a:rPr>
                        <a:t>■■■■■■■■■□ (9/10)
</a:t>
                      </a:r>
                      <a:endParaRPr lang="en-US" sz="1200" dirty="0"/>
                    </a:p>
                  </a:txBody>
                  <a:tcPr marL="63500" marR="50800" marT="50800" marB="50800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</a:rPr>
                        <a:t>6 WORD TITLE
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"Safeguarding Financial Systems With Technical Integrity"
</a:t>
                      </a:r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</a:rPr>
                        <a:t>QUESTIONS: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</a:rPr>
                        <a:t>1. How might I formally translate my practical experience in debugging digital servers and managing online disputes into recognized enterprise risk management competencies?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</a:rPr>
                        <a:t>2. How might I build a technical portfolio using Python and SQL that proves my ability to detect financial anomalies before securing formal employment?
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</a:rPr>
                        <a:t>3. How might I successfully navigate the transition from studying traditional, profit-driven financial models to designing defensive, compliance-driven algorithms?</a:t>
                      </a:r>
                      <a:endParaRPr lang="en-US" sz="1200" dirty="0"/>
                    </a:p>
                  </a:txBody>
                  <a:tcPr marL="63500" marR="50800" marT="50800" marB="50800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182880" y="10323576"/>
            <a:ext cx="147584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2026-03-31T09:23:11Z</dcterms:created>
  <dcterms:modified xsi:type="dcterms:W3CDTF">2026-03-31T09:23:11Z</dcterms:modified>
</cp:coreProperties>
</file>