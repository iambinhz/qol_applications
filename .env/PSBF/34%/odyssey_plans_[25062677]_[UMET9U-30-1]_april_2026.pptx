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0" r:id="rId3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A0"/>
    <a:srgbClr val="5B2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4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55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package" Target="../embeddings/Microsoft_Word_Document.docx"/><Relationship Id="rId7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package" Target="../embeddings/Microsoft_Word_Document1.docx"/><Relationship Id="rId4" Type="http://schemas.openxmlformats.org/officeDocument/2006/relationships/image" Target="../media/image1.emf"/><Relationship Id="rId9" Type="http://schemas.openxmlformats.org/officeDocument/2006/relationships/package" Target="../embeddings/Microsoft_Excel_Worksheet2.xlsx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package" Target="../embeddings/Microsoft_Word_Document3.docx"/><Relationship Id="rId7" Type="http://schemas.openxmlformats.org/officeDocument/2006/relationships/package" Target="../embeddings/Microsoft_Excel_Worksheet5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package" Target="../embeddings/Microsoft_Word_Document4.docx"/><Relationship Id="rId4" Type="http://schemas.openxmlformats.org/officeDocument/2006/relationships/image" Target="../media/image1.emf"/><Relationship Id="rId9" Type="http://schemas.openxmlformats.org/officeDocument/2006/relationships/package" Target="../embeddings/Microsoft_Excel_Worksheet6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14758416" cy="411480"/>
          </a:xfrm>
          <a:prstGeom prst="rect">
            <a:avLst/>
          </a:prstGeom>
          <a:solidFill>
            <a:srgbClr val="0D7377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badi" panose="020F0502020204030204" pitchFamily="34" charset="0"/>
              </a:rPr>
              <a:t>Odyssey Plan A: "Financial Analyst Bridging Data and Strategy"</a:t>
            </a:r>
            <a:endParaRPr lang="en-US" sz="2400" dirty="0">
              <a:latin typeface="Abadi" panose="020F0502020204030204" pitchFamily="34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608504"/>
              </p:ext>
            </p:extLst>
          </p:nvPr>
        </p:nvGraphicFramePr>
        <p:xfrm>
          <a:off x="182880" y="548640"/>
          <a:ext cx="14758416" cy="6656832"/>
        </p:xfrm>
        <a:graphic>
          <a:graphicData uri="http://schemas.openxmlformats.org/drawingml/2006/table">
            <a:tbl>
              <a:tblPr/>
              <a:tblGrid>
                <a:gridCol w="368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My Assessment of Where I am Now</a:t>
                      </a:r>
                      <a:endParaRPr lang="en-US" sz="2400" dirty="0">
                        <a:solidFill>
                          <a:schemeClr val="bg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Stage 1: What Do I Need to Do Next?</a:t>
                      </a:r>
                      <a:endParaRPr lang="en-US" sz="2400" dirty="0">
                        <a:solidFill>
                          <a:schemeClr val="bg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Stage 2: Where Do I Need to Be at Graduation?</a:t>
                      </a:r>
                      <a:endParaRPr lang="en-US" sz="2400" dirty="0">
                        <a:solidFill>
                          <a:schemeClr val="bg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Stage 3: What is My 5-Year Destination?</a:t>
                      </a:r>
                      <a:endParaRPr lang="en-US" sz="2400" dirty="0">
                        <a:solidFill>
                          <a:schemeClr val="bg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Year 1 Student
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BSc Banking &amp; Finance, NEU-UWE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CURRENT CAPABILITIES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● Basic Excel skills: formulas, charts, tables
● Formal academic writing in English
● Strong independent research skills
● Basic system thinking and programming skills (HTML/CSS/JavaScript/Python)
● Bilingual: Vietnamese + English (IELTS 6.0)
● Created a unique studying method
● Can use AI effectively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INTERESTS &amp; VALUES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● Combining logical analysis with creative problem-solving
● Highly valuing the balance between Workview and Lifeview: protecting time for physical health, family, and personal hobbies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GAPS TO ADDRESS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i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△ No internship experiences
△ Need to improve skills in advanced data manipulation tools
△ Lack of an important skills in Banking and Finance</a:t>
                      </a:r>
                      <a:r>
                        <a:rPr lang="en-US" sz="1000" i="1" dirty="0">
                          <a:solidFill>
                            <a:srgbClr val="DC2626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endParaRPr lang="en-US" sz="1200" dirty="0">
                        <a:latin typeface="Abadi" panose="020B0604020104020204" pitchFamily="34" charset="0"/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Prepare Foundations
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Year 2 actions (2026-2027)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CONCRETE ACTIONS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✓ Apply for summer internship at Vietnamese banks
✓ Explore CFA and related finance certificates
✓ Maintain an efficient study method
✓ Further research on AI applications in Banking and Finance
✓ Complete short online courses about Data Analytics
✓ Build a tool to create a Dashboard that automatically collects and visualizes data on alternative assets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SKILL DEVELOPMENT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● Improve academic and specialized English
● Know how to use basic and lower-advanced Excel skills
● Proficient in reading World's Financial Reports
● Learn SQL and advanced Python for Finance (Pandas, NumPy)
● Start to do personal analyses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FEEDBACK LOOP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Regularly consult with my lecturers and senior academic club members to get feedback on my study progress and personal data projects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Review internship progress monthly
</a:t>
                      </a:r>
                      <a:endParaRPr lang="en-US" sz="12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Graduation
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Graduation (2028-2029)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TARGET POSITION AT GRADUATION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✓ Graduate with 2:1 or above
✓ CFA Level 1 passed
✓ Finished internships
✓ Management Trainee in the Finance department of multinational corporations
✓ Data Analyst / Junior Financial Analyst at Securities firms, Investment Funds, or Banks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APPLICATIONS &amp; TRANSITION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✓ Build a professional portfolio
✓ Practice and prepare for corporate aptitude tests and case study interviews
✓ Use the automated data Dashboard project to demonstrate practical competence during interviews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NETWORK BUILT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Build a professional LinkedIn profile
● Have a strong network with finance professionals and university alumni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
FEEDBACK LOOP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Apply for an internship for at least 3-6 months before graduation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Observe and upgrade analysis skills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
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Senior Financial Analyst
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5-year destination (2031)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1E3A5F"/>
                          </a:solidFill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ROLE DESCRIPTION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⭐ Become a Senior Financial Analyst or Business Intelligence Analyst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PROFESSIONAL STANDING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● Complete the advanced levels of the CFA and CAIA examinations
● 3+ years of experience in Banking and Finance field
● Be recognized as a pioneering expert capable of automating complex financial analysis processes, saving maximum time on manual reporting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Abadi" panose="020B0604020104020204" pitchFamily="34" charset="0"/>
                        </a:rPr>
                        <a:t>LIFE ALIGNMENT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● Save plenty of time by the Dashboard tool
● Stable hours for family and outdoor activities
● Hang out with friends every week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182880" y="7205472"/>
          <a:ext cx="14758416" cy="3118104"/>
        </p:xfrm>
        <a:graphic>
          <a:graphicData uri="http://schemas.openxmlformats.org/drawingml/2006/table">
            <a:tbl>
              <a:tblPr/>
              <a:tblGrid>
                <a:gridCol w="5903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8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EMBEDDED EVIDENCES: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Capability-matrix.xlsx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
Evidence Document.docx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
Know Yourself Workbook.xlsx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
Reflective Blog.docx</a:t>
                      </a: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RESOURCES
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■■■■■■■□□□ (7/10)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Requires intense focus on mastering macroeconomic measurements alongside advanced data programming libraries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CONFIDENCE
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■■■■■■■■■□ (9/10)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My self-assessment shows I already possess the emotional maturity, honesty, and technical baseline required to succeed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LIKE PLAN?
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■■■■■■■■■□ (9/10)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It perfectly merges my coding hobby with a highly respected, intellectually stimulating career path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COHERENCE
</a:t>
                      </a: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■■■■■■■■■□ (9/10)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Directly aligns my current academic trajectory and personal strengths with the exact competencies demanded by the financial industry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endParaRPr lang="en-US" sz="2000" dirty="0">
                        <a:solidFill>
                          <a:schemeClr val="bg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6 WORD TITLE
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"Financial Analyst Bridging Data and Strategy"
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QUESTIONS:
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1. How might I leverage my coding and system-building skills to automate repetitive tasks, ensuring I avoid becoming a manual "Excel data-entry machine" early in my career?
2. How might I utilize my experience in building and managing online communities to confidently network with alumni and industry experts in the corporate financial sector?
3. How might I effectively communicate my unique blend of finance, technology, and system-building skills during interviews to clearly stand out from traditional finance candidates?</a:t>
                      </a:r>
                      <a:endParaRPr lang="en-US" sz="2400" dirty="0">
                        <a:solidFill>
                          <a:schemeClr val="bg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82880" y="10323576"/>
            <a:ext cx="1475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620E53E-B245-354D-6172-C351B1EF1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44274"/>
              </p:ext>
            </p:extLst>
          </p:nvPr>
        </p:nvGraphicFramePr>
        <p:xfrm>
          <a:off x="2170397" y="7918522"/>
          <a:ext cx="522407" cy="440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71525" progId="Word.Document.12">
                  <p:embed/>
                </p:oleObj>
              </mc:Choice>
              <mc:Fallback>
                <p:oleObj name="Document" showAsIcon="1" r:id="rId3" imgW="914400" imgH="771525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620E53E-B245-354D-6172-C351B1EF1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0397" y="7918522"/>
                        <a:ext cx="522407" cy="440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15491F0-D9E4-3247-3189-CE466D7974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39784"/>
              </p:ext>
            </p:extLst>
          </p:nvPr>
        </p:nvGraphicFramePr>
        <p:xfrm>
          <a:off x="2941496" y="8600732"/>
          <a:ext cx="511388" cy="431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5" imgW="914400" imgH="771525" progId="Word.Document.12">
                  <p:embed/>
                </p:oleObj>
              </mc:Choice>
              <mc:Fallback>
                <p:oleObj name="Document" showAsIcon="1" r:id="rId5" imgW="914400" imgH="771525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15491F0-D9E4-3247-3189-CE466D797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41496" y="8600732"/>
                        <a:ext cx="511388" cy="431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2ADF736-EBAC-C5BA-BA29-7567C9D256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967" y="9032216"/>
            <a:ext cx="3290856" cy="1291360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6052F6B-3C15-2B50-CAD5-AD8371BBA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142157"/>
              </p:ext>
            </p:extLst>
          </p:nvPr>
        </p:nvGraphicFramePr>
        <p:xfrm>
          <a:off x="1738848" y="7469216"/>
          <a:ext cx="588179" cy="49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7" imgW="914400" imgH="771525" progId="Excel.Sheet.12">
                  <p:embed/>
                </p:oleObj>
              </mc:Choice>
              <mc:Fallback>
                <p:oleObj name="Worksheet" showAsIcon="1" r:id="rId7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38848" y="7469216"/>
                        <a:ext cx="588179" cy="496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22CFF24-5733-5501-9272-039EE2EC43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125190"/>
              </p:ext>
            </p:extLst>
          </p:nvPr>
        </p:nvGraphicFramePr>
        <p:xfrm>
          <a:off x="2554144" y="8263678"/>
          <a:ext cx="552660" cy="466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9" imgW="914400" imgH="771525" progId="Excel.Sheet.12">
                  <p:embed/>
                </p:oleObj>
              </mc:Choice>
              <mc:Fallback>
                <p:oleObj name="Worksheet" showAsIcon="1" r:id="rId9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4144" y="8263678"/>
                        <a:ext cx="552660" cy="466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114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14758416" cy="411480"/>
          </a:xfrm>
          <a:prstGeom prst="rect">
            <a:avLst/>
          </a:prstGeom>
          <a:solidFill>
            <a:srgbClr val="2563A0"/>
          </a:solidFill>
          <a:ln/>
        </p:spPr>
        <p:txBody>
          <a:bodyPr wrap="square" lIns="0" tIns="10160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badi" panose="020B0604020104020204" pitchFamily="34" charset="0"/>
              </a:rPr>
              <a:t>Odyssey Plan B: "Safeguarding Financial Systems With Technical Integrity"</a:t>
            </a: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436279"/>
              </p:ext>
            </p:extLst>
          </p:nvPr>
        </p:nvGraphicFramePr>
        <p:xfrm>
          <a:off x="182880" y="548640"/>
          <a:ext cx="14758416" cy="6656832"/>
        </p:xfrm>
        <a:graphic>
          <a:graphicData uri="http://schemas.openxmlformats.org/drawingml/2006/table">
            <a:tbl>
              <a:tblPr/>
              <a:tblGrid>
                <a:gridCol w="368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My Assessment of Where I am Now</a:t>
                      </a:r>
                      <a:endParaRPr lang="en-US" sz="1100" dirty="0"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Stage 1: What Do I Need to Do Next?</a:t>
                      </a:r>
                      <a:endParaRPr lang="en-US" sz="1100" dirty="0"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Stage 2: Where Do I Need to Be at Graduation?</a:t>
                      </a:r>
                      <a:endParaRPr lang="en-US" sz="1100" dirty="0"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Stage 3: What is My 5-Year Destination?</a:t>
                      </a:r>
                      <a:endParaRPr lang="en-US" sz="1100" dirty="0">
                        <a:latin typeface="Abadi" panose="020B0604020104020204" pitchFamily="34" charset="0"/>
                      </a:endParaRPr>
                    </a:p>
                  </a:txBody>
                  <a:tcPr marL="63500" marR="38100" marT="38100" marB="381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Year 1 Student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BSc Banking &amp; Finance, NEU-UWE</a:t>
                      </a:r>
                      <a:r>
                        <a:rPr lang="en-US" sz="11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CURRENT CAPABILITIES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Basic Excel skills: formulas, charts, tables
● Formal academic writing in English
● Strong independent research skills
● Bilingual: Vietnamese + English (IELTS 6.0)
● Created a unique studying method
● Proficient in using Python, HTML/CSS/JS, and AI tools and capable of writing scripts to clean data, automate repetitive tasks, and build basic applications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INTERESTS &amp; VALUES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Combining logical analysis with creative problem-solving
● High value placed on "extreme honesty", ethics, and transparency
● Strongly prioritizing work-life balance, seeking a role with structured, predictable hours to protect personal time for family, outdoor sports, and hobbies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GAPS TO ADDRESS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△ Lack of formal knowledge in specific cybersecurity frameworks, anti-money laundering (AML) protocols, and regulatory compliance laws
△ No internship experiences</a:t>
                      </a:r>
                      <a:r>
                        <a:rPr lang="en-US" sz="1000" i="1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endParaRPr lang="en-US" sz="120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Prepare Foundations</a:t>
                      </a:r>
                      <a:r>
                        <a:rPr lang="en-US" sz="1100" b="1" dirty="0">
                          <a:solidFill>
                            <a:srgbClr val="2563A0"/>
                          </a:solidFill>
                        </a:rPr>
                        <a:t>
</a:t>
                      </a:r>
                      <a:r>
                        <a:rPr lang="en-US" sz="1050" dirty="0">
                          <a:solidFill>
                            <a:srgbClr val="475569"/>
                          </a:solidFill>
                          <a:latin typeface="Abadi" panose="020B0604020104020204" pitchFamily="34" charset="0"/>
                        </a:rPr>
                        <a:t>Year 2 actions (2026-2027)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2563A0"/>
                          </a:solidFill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CONCRETE ACTIONS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✓ Pivot personal coding projects towards risk detection
✓ Achieve academic excellence in core economic and financial modules to solidify the understanding of systemic market risks and vulnerabilities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SKILL DEVELOPMENT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Master advanced SQL for complex querying, joining massive datasets, and investigating fraud trails within corporate databases
● Study Regulatory Technology (RegTech) fundamentals
● Acquire foundational knowledge of cloud databases (e.g., Snowflake, AWS Redshift) to understand how modern fintech companies store and process transaction logs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FEEDBACK LOOP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● 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Submit the anomaly-detection algorithm to academic lecturers and industry mentors for rigorous code review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● 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Monthly: coding review</a:t>
                      </a: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Graduation</a:t>
                      </a:r>
                      <a:r>
                        <a:rPr lang="en-US" sz="11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50" dirty="0">
                          <a:solidFill>
                            <a:srgbClr val="475569"/>
                          </a:solidFill>
                          <a:latin typeface="Abadi" panose="020B0604020104020204" pitchFamily="34" charset="0"/>
                        </a:rPr>
                        <a:t>Graduation (2028-2029)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TARGET POSITION AT GRADUATION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✓ Graduate with 2:1 or above
✓ Risk Data Analyst, Compliance Operations Specialist, or Trust &amp; Safety Analyst at a leading Fintech enterprise, digital-first bank, or global e-commerce platform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APPLICATIONS &amp; TRANSITION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✓ Build a professional portfolio
✓ Leverage past experience in managing toxic digital environments and resolving server disputes to illustrate an ability to handle high-pressure compliance alerts and make objective, data-driven decisions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FEEDBACK LOOP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Proactively engage with professionals in the RegTech and Fintech sectors. Focus on early-stage companies that require versatile analysts capable of understanding financial logic and building backend compliance rules
● Monthly: coding review
● Complete a specialized internship in a Risk or Compliance Operations department to experience real-time threat monitoring and understand enterprise incident-response protocols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3A5F"/>
                          </a:solidFill>
                          <a:latin typeface="Abadi" panose="020B0604020104020204" pitchFamily="34" charset="0"/>
                        </a:rPr>
                        <a:t>Technical Risk Operations Manager</a:t>
                      </a:r>
                      <a:r>
                        <a:rPr lang="en-US" sz="11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50" dirty="0">
                          <a:solidFill>
                            <a:srgbClr val="475569"/>
                          </a:solidFill>
                          <a:latin typeface="Abadi" panose="020B0604020104020204" pitchFamily="34" charset="0"/>
                        </a:rPr>
                        <a:t>5-year destination (2031)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65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ROLE DESCRIPTION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⭐ Senior Technical Risk Operations Manager or Compliance Systems Architect
⭐ Responsibilities include designing, optimizing, and deploying automated rule engines that intercept fraudulent transactions in milliseconds without disrupting legitimate user experiences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PROFESSIONAL STANDING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Attainment of globally recognized industry certifications, such as the Certified Anti-Money Laundering Specialist (CAMS) or Certified Fraud Examiner (CFE)
● Recognized across engineering and executive teams as a highly ethical, technically proficient leader who remains exceptionally calm and decisive during regulatory audits or systemic cyber-attacks
</a:t>
                      </a:r>
                      <a:r>
                        <a:rPr lang="en-US" sz="1000" b="1" dirty="0">
                          <a:solidFill>
                            <a:srgbClr val="2563A0"/>
                          </a:solidFill>
                          <a:latin typeface="Abadi" panose="020B0604020104020204" pitchFamily="34" charset="0"/>
                        </a:rPr>
                        <a:t>
LIFE ALIGNMENT
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● Stable hours for family and outdoor activities
● Hang out with friends every week</a:t>
                      </a: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55333"/>
              </p:ext>
            </p:extLst>
          </p:nvPr>
        </p:nvGraphicFramePr>
        <p:xfrm>
          <a:off x="182880" y="7205472"/>
          <a:ext cx="14758416" cy="3118104"/>
        </p:xfrm>
        <a:graphic>
          <a:graphicData uri="http://schemas.openxmlformats.org/drawingml/2006/table">
            <a:tbl>
              <a:tblPr/>
              <a:tblGrid>
                <a:gridCol w="5903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8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EMBEDDED EVIDENCES: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Abadi" panose="020B0604020104020204" pitchFamily="34" charset="0"/>
                        </a:rPr>
                        <a:t>Capability-matrix.xlsx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badi" panose="020B0604020104020204" pitchFamily="34" charset="0"/>
                        </a:rPr>
                        <a:t>
Evidence Document.docx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badi" panose="020B0604020104020204" pitchFamily="34" charset="0"/>
                        </a:rPr>
                        <a:t>
Know Yourself Workbook.xlsx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badi" panose="020B0604020104020204" pitchFamily="34" charset="0"/>
                        </a:rPr>
                        <a:t>
Reflective Blog.docx</a:t>
                      </a:r>
                      <a:r>
                        <a:rPr lang="en-US" sz="700" dirty="0">
                          <a:solidFill>
                            <a:srgbClr val="1E293B"/>
                          </a:solidFill>
                        </a:rPr>
                        <a:t>
</a:t>
                      </a:r>
                      <a:endParaRPr lang="en-US" sz="1200" dirty="0"/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RESOURCES
■■■■■■□□□□ (6/10)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Requires allocating self-study time toward advanced SQL, cloud basics, and RegTech frameworks, but heavily leverages existing programming and analytical logic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CONFIDENCE
■■■■■■■■■□ (9/10)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Highly aligned with innate values of extreme honesty, established technical aptitude, and the requirement for a stable lifestyle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LIKE PLAN?
■■■■■■■■□□ (8/10)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Provides excellent work-life balance and utilizes a passion for coding to perform meaningful, protective work</a:t>
                      </a:r>
                      <a:r>
                        <a:rPr lang="en-US" sz="1000" i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
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badi" panose="020B0604020104020204" pitchFamily="34" charset="0"/>
                        </a:rPr>
                        <a:t>COHERENCE
■■■■■■■■■□ (9/10)
</a:t>
                      </a:r>
                      <a:r>
                        <a:rPr lang="en-US" sz="10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Logically synthesizes financial education, coding proficiency, and a strong ethical compass into a highly in-demand, future-proof career path</a:t>
                      </a:r>
                      <a:r>
                        <a:rPr lang="en-US" sz="550" i="1" dirty="0">
                          <a:solidFill>
                            <a:schemeClr val="bg1"/>
                          </a:solidFill>
                        </a:rPr>
                        <a:t>
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6 WORD TITLE
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"Safeguarding Financial Systems With Technical Integrity"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
QUESTIONS:
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</a:rPr>
                        <a:t>1. How might I formally translate my practical experience in debugging digital servers and managing online disputes into recognized enterprise risk management competencies?
2. How might I build a technical portfolio using Python and SQL that proves my ability to detect financial anomalies before securing formal employment?
3. How might I successfully navigate the transition from studying traditional, profit-driven financial models to designing defensive, compliance-driven algorithms?</a:t>
                      </a:r>
                      <a:endParaRPr lang="en-US" sz="1100" dirty="0">
                        <a:latin typeface="Abadi" panose="020B0604020104020204" pitchFamily="34" charset="0"/>
                      </a:endParaRPr>
                    </a:p>
                  </a:txBody>
                  <a:tcPr marL="63500" marR="50800" marT="50800" marB="5080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82880" y="10323576"/>
            <a:ext cx="1475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F74340C-6EDA-9A96-D422-F8F19D0D5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453066"/>
              </p:ext>
            </p:extLst>
          </p:nvPr>
        </p:nvGraphicFramePr>
        <p:xfrm>
          <a:off x="2170397" y="7918522"/>
          <a:ext cx="522407" cy="440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71525" progId="Word.Document.12">
                  <p:embed/>
                </p:oleObj>
              </mc:Choice>
              <mc:Fallback>
                <p:oleObj name="Document" showAsIcon="1" r:id="rId3" imgW="914400" imgH="771525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620E53E-B245-354D-6172-C351B1EF1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0397" y="7918522"/>
                        <a:ext cx="522407" cy="440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DB230B8-FD9A-166D-86FF-7826B74BD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1496" y="8600732"/>
          <a:ext cx="511388" cy="431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5" imgW="914400" imgH="771525" progId="Word.Document.12">
                  <p:embed/>
                </p:oleObj>
              </mc:Choice>
              <mc:Fallback>
                <p:oleObj name="Document" showAsIcon="1" r:id="rId5" imgW="914400" imgH="771525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15491F0-D9E4-3247-3189-CE466D797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41496" y="8600732"/>
                        <a:ext cx="511388" cy="431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01CD5A2-04E6-B9B8-A48C-2F67AAAC3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967" y="9032216"/>
            <a:ext cx="3290856" cy="1291360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71EA757-21FB-D0E1-1966-FB23A580A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026968"/>
              </p:ext>
            </p:extLst>
          </p:nvPr>
        </p:nvGraphicFramePr>
        <p:xfrm>
          <a:off x="1738848" y="7469216"/>
          <a:ext cx="588179" cy="49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7" imgW="914400" imgH="771525" progId="Excel.Sheet.12">
                  <p:embed/>
                </p:oleObj>
              </mc:Choice>
              <mc:Fallback>
                <p:oleObj name="Worksheet" showAsIcon="1" r:id="rId7" imgW="914400" imgH="771525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6052F6B-3C15-2B50-CAD5-AD8371BBA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38848" y="7469216"/>
                        <a:ext cx="588179" cy="496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899581F-CAA8-88E9-9B9B-BA4BDFF68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299364"/>
              </p:ext>
            </p:extLst>
          </p:nvPr>
        </p:nvGraphicFramePr>
        <p:xfrm>
          <a:off x="2554144" y="8263678"/>
          <a:ext cx="552660" cy="466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9" imgW="914400" imgH="771525" progId="Excel.Sheet.12">
                  <p:embed/>
                </p:oleObj>
              </mc:Choice>
              <mc:Fallback>
                <p:oleObj name="Worksheet" showAsIcon="1" r:id="rId9" imgW="914400" imgH="771525" progId="Excel.Sheet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B22CFF24-5733-5501-9272-039EE2EC43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4144" y="8263678"/>
                        <a:ext cx="552660" cy="466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052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8033C7-C729-495D-A000-46A78206C962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1707</Words>
  <Application>Microsoft Office PowerPoint</Application>
  <PresentationFormat>Custom</PresentationFormat>
  <Paragraphs>36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Abadi</vt:lpstr>
      <vt:lpstr>Arial</vt:lpstr>
      <vt:lpstr>Office Theme</vt:lpstr>
      <vt:lpstr>Microsoft Word Document</vt:lpstr>
      <vt:lpstr>Microsoft Excel Worksheet</vt:lpstr>
      <vt:lpstr>Document</vt:lpstr>
      <vt:lpstr>Worksheet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Binh Nguyen</cp:lastModifiedBy>
  <cp:revision>4</cp:revision>
  <dcterms:created xsi:type="dcterms:W3CDTF">2026-04-02T02:06:26Z</dcterms:created>
  <dcterms:modified xsi:type="dcterms:W3CDTF">2026-04-02T03:37:22Z</dcterms:modified>
</cp:coreProperties>
</file>