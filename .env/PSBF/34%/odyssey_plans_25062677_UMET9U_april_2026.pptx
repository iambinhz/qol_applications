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5124113" cy="10688638"/>
  <p:notesSz cx="10688638" cy="151241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6" d="100"/>
          <a:sy n="106" d="100"/>
        </p:scale>
        <p:origin x="78" y="-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9145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137160"/>
            <a:ext cx="14758416" cy="41148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 </a:t>
            </a:r>
            <a:r>
              <a:rPr lang="en-US" sz="2400" b="1" dirty="0">
                <a:solidFill>
                  <a:srgbClr val="FFFFFF"/>
                </a:solidFill>
              </a:rPr>
              <a:t>Odyssey Plan A: your current/default path  —  "Financial Analyst Bridging Data and Strategy"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890918"/>
              </p:ext>
            </p:extLst>
          </p:nvPr>
        </p:nvGraphicFramePr>
        <p:xfrm>
          <a:off x="182880" y="548640"/>
          <a:ext cx="14758416" cy="6690360"/>
        </p:xfrm>
        <a:graphic>
          <a:graphicData uri="http://schemas.openxmlformats.org/drawingml/2006/table">
            <a:tbl>
              <a:tblPr/>
              <a:tblGrid>
                <a:gridCol w="3689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9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9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96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My Assessment of Where I am Now</a:t>
                      </a:r>
                      <a:endParaRPr lang="en-US" sz="1400" dirty="0"/>
                    </a:p>
                  </a:txBody>
                  <a:tcPr marL="635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Stage 1: What Do I Need to Do Next?</a:t>
                      </a:r>
                      <a:endParaRPr lang="en-US" sz="1400" dirty="0"/>
                    </a:p>
                  </a:txBody>
                  <a:tcPr marL="635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Stage 2: Where Do I Need to Be at Graduation?</a:t>
                      </a:r>
                      <a:endParaRPr lang="en-US" sz="1400" dirty="0"/>
                    </a:p>
                  </a:txBody>
                  <a:tcPr marL="635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Stage 3: What is My 5-Year Destination?</a:t>
                      </a:r>
                      <a:endParaRPr lang="en-US" sz="1400" dirty="0"/>
                    </a:p>
                  </a:txBody>
                  <a:tcPr marL="635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dirty="0">
                          <a:solidFill>
                            <a:srgbClr val="1E3A5F"/>
                          </a:solidFill>
                        </a:rPr>
                        <a:t>Year 1 Student</a:t>
                      </a:r>
                      <a:r>
                        <a:rPr lang="en-US" sz="1100" b="1" dirty="0">
                          <a:solidFill>
                            <a:srgbClr val="1E3A5F"/>
                          </a:solidFill>
                        </a:rPr>
                        <a:t>
</a:t>
                      </a: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BSc Banking &amp; Finance, NEU-UWE
</a:t>
                      </a:r>
                      <a:r>
                        <a:rPr lang="en-US" sz="650" b="1" dirty="0">
                          <a:solidFill>
                            <a:srgbClr val="1E3A5F"/>
                          </a:solidFill>
                        </a:rPr>
                        <a:t>
</a:t>
                      </a:r>
                      <a:r>
                        <a:rPr lang="en-US" sz="1200" b="1" dirty="0">
                          <a:solidFill>
                            <a:srgbClr val="1E3A5F"/>
                          </a:solidFill>
                        </a:rPr>
                        <a:t>CURRENT CAPABILITIES
</a:t>
                      </a: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● Basic Excel skills: formulas, charts, etc
● Formal academic writing in English
● Strong independent research skills
● Basic system thinking and programming skills (HTML/CSS/JavaScript/Python)
● Bilingual: Vietnamese + English (IELTS 6.0)
● Created a unique studying method
● Can use AI effectively
</a:t>
                      </a:r>
                      <a:r>
                        <a:rPr lang="en-US" sz="1200" b="1" dirty="0">
                          <a:solidFill>
                            <a:srgbClr val="1E3A5F"/>
                          </a:solidFill>
                        </a:rPr>
                        <a:t>
INTERESTS &amp; VALUES
</a:t>
                      </a: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● Combining logical analysis with creative problem-solving
● Highly valuing the balance between Workview and Lifeview: protecting time for physical health, family, and personal hobbies
</a:t>
                      </a:r>
                      <a:r>
                        <a:rPr lang="en-US" sz="1200" b="1" dirty="0">
                          <a:solidFill>
                            <a:srgbClr val="1E3A5F"/>
                          </a:solidFill>
                        </a:rPr>
                        <a:t>
GAPS TO ADDRESS
</a:t>
                      </a:r>
                      <a:r>
                        <a:rPr lang="en-US" sz="1200" i="1" dirty="0">
                          <a:solidFill>
                            <a:srgbClr val="DC2626"/>
                          </a:solidFill>
                        </a:rPr>
                        <a:t>△ No internship experiences
△ Need to improve skills in advanced data manipulation tools
△ Lack of an important skills in Banking and Finance</a:t>
                      </a:r>
                      <a:r>
                        <a:rPr lang="en-US" sz="750" i="1" dirty="0">
                          <a:solidFill>
                            <a:srgbClr val="DC2626"/>
                          </a:solidFill>
                        </a:rPr>
                        <a:t>
</a:t>
                      </a:r>
                      <a:endParaRPr lang="en-US" sz="1200" dirty="0"/>
                    </a:p>
                  </a:txBody>
                  <a:tcPr marL="63500" marR="508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dirty="0">
                          <a:solidFill>
                            <a:srgbClr val="1E3A5F"/>
                          </a:solidFill>
                        </a:rPr>
                        <a:t>Build Foundations</a:t>
                      </a:r>
                      <a:r>
                        <a:rPr lang="en-US" sz="1100" b="1" dirty="0">
                          <a:solidFill>
                            <a:srgbClr val="1E3A5F"/>
                          </a:solidFill>
                        </a:rPr>
                        <a:t>
</a:t>
                      </a: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Year 2 actions (2026-2027)
</a:t>
                      </a:r>
                      <a:r>
                        <a:rPr lang="en-US" sz="650" b="1" dirty="0">
                          <a:solidFill>
                            <a:srgbClr val="1E3A5F"/>
                          </a:solidFill>
                        </a:rPr>
                        <a:t>
</a:t>
                      </a:r>
                      <a:r>
                        <a:rPr lang="en-US" sz="1200" b="1" dirty="0">
                          <a:solidFill>
                            <a:srgbClr val="1E3A5F"/>
                          </a:solidFill>
                        </a:rPr>
                        <a:t>CONCRETE ACTIONS
</a:t>
                      </a: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✓ Apply for summer internship at Vietnamese banks
✓ Explore CFA and related finance certificates
✓ Maintain an efficient study method
✓ Further research on AI applications in Banking and Finance
✓ Complete short online courses about Data Analytics
✓ Build a tool to create a Dashboard that automatically collects and visualizes data on alternative assets
</a:t>
                      </a:r>
                      <a:r>
                        <a:rPr lang="en-US" sz="1200" b="1" dirty="0">
                          <a:solidFill>
                            <a:srgbClr val="1E3A5F"/>
                          </a:solidFill>
                        </a:rPr>
                        <a:t>
SKILL DEVELOPMENT
</a:t>
                      </a: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● Improve academic and specialized English
● Know how to use basic and lower-advanced Excel skills.
● Proficient in reading World's Financial Reports
● Learn SQL and basic Python for Finance (Pandas, NumPy)
● Start to do personal analyses
</a:t>
                      </a:r>
                      <a:r>
                        <a:rPr lang="en-US" sz="1200" b="1" dirty="0">
                          <a:solidFill>
                            <a:srgbClr val="1E3A5F"/>
                          </a:solidFill>
                        </a:rPr>
                        <a:t>
FEEDBACK LOOP
</a:t>
                      </a: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↺ Regularly present personal data project to lecturers to receive feedback and improve the model
↺ Review internship progress monthly</a:t>
                      </a: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
</a:t>
                      </a:r>
                      <a:endParaRPr lang="en-US" sz="1200" dirty="0"/>
                    </a:p>
                  </a:txBody>
                  <a:tcPr marL="63500" marR="508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dirty="0">
                          <a:solidFill>
                            <a:srgbClr val="1E3A5F"/>
                          </a:solidFill>
                        </a:rPr>
                        <a:t>Graduate Ready</a:t>
                      </a:r>
                      <a:r>
                        <a:rPr lang="en-US" sz="1100" b="1" dirty="0">
                          <a:solidFill>
                            <a:srgbClr val="1E3A5F"/>
                          </a:solidFill>
                        </a:rPr>
                        <a:t>
</a:t>
                      </a: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Graduation (2028-2029)
</a:t>
                      </a:r>
                      <a:r>
                        <a:rPr lang="en-US" sz="650" b="1" dirty="0">
                          <a:solidFill>
                            <a:srgbClr val="1E3A5F"/>
                          </a:solidFill>
                        </a:rPr>
                        <a:t>
</a:t>
                      </a:r>
                      <a:r>
                        <a:rPr lang="en-US" sz="1200" b="1" dirty="0">
                          <a:solidFill>
                            <a:srgbClr val="1E3A5F"/>
                          </a:solidFill>
                        </a:rPr>
                        <a:t>TARGET POSITION AT GRADUATION
</a:t>
                      </a: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✓ Graduate with 2:1 or above
✓ CFA Level 1 passed
✓ Finished internships
✓ Management Trainee in the Finance department of multinational corporations
✓ Data Analyst / Junior Financial Analyst at Securities firms, Investment Funds, or Banks
</a:t>
                      </a:r>
                      <a:r>
                        <a:rPr lang="en-US" sz="1200" b="1" dirty="0">
                          <a:solidFill>
                            <a:srgbClr val="1E3A5F"/>
                          </a:solidFill>
                        </a:rPr>
                        <a:t>
APPLICATIONS &amp; TRANSITION
</a:t>
                      </a: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✓ Build a professional portfolio
✓ Practice and prepare for corporate aptitude tests and case study interviews
✓ Use the automated data Dashboard project to demonstrate practical competence during interviews
</a:t>
                      </a:r>
                      <a:r>
                        <a:rPr lang="en-US" sz="1200" b="1" dirty="0">
                          <a:solidFill>
                            <a:srgbClr val="1E3A5F"/>
                          </a:solidFill>
                        </a:rPr>
                        <a:t>
NETWORK BUILT
</a:t>
                      </a: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● Have a strong network with finance professionals and university alumni
● Build a professional LinkedIn profile
</a:t>
                      </a:r>
                      <a:r>
                        <a:rPr lang="en-US" sz="1200" b="1" dirty="0">
                          <a:solidFill>
                            <a:srgbClr val="1E3A5F"/>
                          </a:solidFill>
                        </a:rPr>
                        <a:t>
FEEDBACK LOOP
</a:t>
                      </a: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↺ Apply for an internship for at least 3-6 months before graduation
↺ Observe and upgrade analysis skills</a:t>
                      </a: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
</a:t>
                      </a:r>
                      <a:endParaRPr lang="en-US" sz="1200" dirty="0"/>
                    </a:p>
                  </a:txBody>
                  <a:tcPr marL="63500" marR="508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dirty="0">
                          <a:solidFill>
                            <a:srgbClr val="1E3A5F"/>
                          </a:solidFill>
                        </a:rPr>
                        <a:t>Senior Financial Analyst</a:t>
                      </a:r>
                      <a:r>
                        <a:rPr lang="en-US" sz="1100" b="1" dirty="0">
                          <a:solidFill>
                            <a:srgbClr val="1E3A5F"/>
                          </a:solidFill>
                        </a:rPr>
                        <a:t>
</a:t>
                      </a: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5-year destination (2031)
</a:t>
                      </a:r>
                      <a:r>
                        <a:rPr lang="en-US" sz="650" b="1" dirty="0">
                          <a:solidFill>
                            <a:srgbClr val="1E3A5F"/>
                          </a:solidFill>
                        </a:rPr>
                        <a:t>
</a:t>
                      </a:r>
                      <a:r>
                        <a:rPr lang="en-US" sz="1200" b="1" dirty="0">
                          <a:solidFill>
                            <a:srgbClr val="1E3A5F"/>
                          </a:solidFill>
                        </a:rPr>
                        <a:t>ROLE DESCRIPTION
</a:t>
                      </a: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⭐ Become a Senior Financial Analyst or Business Intelligence Analyst
</a:t>
                      </a:r>
                      <a:r>
                        <a:rPr lang="en-US" sz="1200" b="1" dirty="0">
                          <a:solidFill>
                            <a:srgbClr val="1E3A5F"/>
                          </a:solidFill>
                        </a:rPr>
                        <a:t>
PROFESSIONAL STANDING
</a:t>
                      </a: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● Complete the advanced levels of the CFA and CAIA examinations
● 3+ years of experience in Banking and Finance field
● Be recognized as a pioneering expert capable of automating complex financial analysis processes, saving maximum time on manual reporting
</a:t>
                      </a:r>
                      <a:r>
                        <a:rPr lang="en-US" sz="1200" b="1" dirty="0">
                          <a:solidFill>
                            <a:srgbClr val="1E3A5F"/>
                          </a:solidFill>
                        </a:rPr>
                        <a:t>
LIFE ALIGNMENT
</a:t>
                      </a: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⚖ Save plenty of time by the Dashboard tool
⚖ Stable hours for family and outdoor activities
</a:t>
                      </a:r>
                      <a:endParaRPr lang="en-US" sz="1200" dirty="0"/>
                    </a:p>
                  </a:txBody>
                  <a:tcPr marL="63500" marR="508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205472"/>
          <a:ext cx="14758416" cy="3118104"/>
        </p:xfrm>
        <a:graphic>
          <a:graphicData uri="http://schemas.openxmlformats.org/drawingml/2006/table">
            <a:tbl>
              <a:tblPr/>
              <a:tblGrid>
                <a:gridCol w="5903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181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b="1" dirty="0">
                          <a:solidFill>
                            <a:srgbClr val="94A3B8"/>
                          </a:solidFill>
                        </a:rPr>
                        <a:t>EMBEDDED EVIDENCE
</a:t>
                      </a: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• capability-matrix-exercise.xlsx
• Evidence Document.docx
• Know Yourself Workbook 2025 v1 for PD2.xlsx
• Reflective Blog.docx
</a:t>
                      </a:r>
                      <a:endParaRPr lang="en-US" sz="1200" dirty="0"/>
                    </a:p>
                  </a:txBody>
                  <a:tcPr marL="63500" marR="508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64748B"/>
                          </a:solidFill>
                        </a:rPr>
                        <a:t>RESOURCES
</a:t>
                      </a:r>
                      <a:r>
                        <a:rPr lang="en-US" sz="750" b="1" dirty="0">
                          <a:solidFill>
                            <a:srgbClr val="1E3A5F"/>
                          </a:solidFill>
                        </a:rPr>
                        <a:t>■■■■■■■□□□ (7/10)
</a:t>
                      </a:r>
                      <a:r>
                        <a:rPr lang="en-US" sz="600" b="1" dirty="0">
                          <a:solidFill>
                            <a:srgbClr val="64748B"/>
                          </a:solidFill>
                        </a:rPr>
                        <a:t>CONFIDENCE
</a:t>
                      </a:r>
                      <a:r>
                        <a:rPr lang="en-US" sz="750" b="1" dirty="0">
                          <a:solidFill>
                            <a:srgbClr val="1E3A5F"/>
                          </a:solidFill>
                        </a:rPr>
                        <a:t>■■■■■■■■□□ (8/10)
</a:t>
                      </a:r>
                      <a:r>
                        <a:rPr lang="en-US" sz="600" b="1" dirty="0">
                          <a:solidFill>
                            <a:srgbClr val="64748B"/>
                          </a:solidFill>
                        </a:rPr>
                        <a:t>LIKE PLAN?
</a:t>
                      </a:r>
                      <a:r>
                        <a:rPr lang="en-US" sz="750" b="1" dirty="0">
                          <a:solidFill>
                            <a:srgbClr val="1E3A5F"/>
                          </a:solidFill>
                        </a:rPr>
                        <a:t>■■■■■■■■□□ (8/10)
</a:t>
                      </a:r>
                      <a:r>
                        <a:rPr lang="en-US" sz="600" b="1" dirty="0">
                          <a:solidFill>
                            <a:srgbClr val="64748B"/>
                          </a:solidFill>
                        </a:rPr>
                        <a:t>COHERENCE
</a:t>
                      </a:r>
                      <a:r>
                        <a:rPr lang="en-US" sz="750" b="1" dirty="0">
                          <a:solidFill>
                            <a:srgbClr val="1E3A5F"/>
                          </a:solidFill>
                        </a:rPr>
                        <a:t>■■■■■■■■□□ (8/10)
</a:t>
                      </a:r>
                      <a:endParaRPr lang="en-US" sz="1200" dirty="0"/>
                    </a:p>
                  </a:txBody>
                  <a:tcPr marL="63500" marR="508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6 WORD TITLE
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"Financial Analyst Bridging Data and Strategy"
</a:t>
                      </a: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QUESTIONS:
</a:t>
                      </a:r>
                      <a:r>
                        <a:rPr lang="en-US" sz="750" dirty="0">
                          <a:solidFill>
                            <a:srgbClr val="FFFFFF"/>
                          </a:solidFill>
                        </a:rPr>
                        <a:t>1. How might I leverage my coding and system-building skills to automate repetitive tasks, ensuring I avoid becoming a manual "Excel data-entry machine" early in my career?
2. How might I utilize my experience in building and managing online communities to confidently network with alumni and industry experts in the corporate financial sector?
3. How might I effectively communicate my unique blend of finance, technology, and system-building skills during interviews to clearly stand out from traditional finance candidates?</a:t>
                      </a:r>
                      <a:endParaRPr lang="en-US" sz="1200" dirty="0"/>
                    </a:p>
                  </a:txBody>
                  <a:tcPr marL="63500" marR="508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82880" y="10323576"/>
            <a:ext cx="147584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Nguyen Thanh Binh | 25062677 | UMET9U-30-1 | Plan A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137160"/>
            <a:ext cx="14758416" cy="41148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Odyssey Plan B: your best alternative path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548640"/>
          <a:ext cx="14758416" cy="6656832"/>
        </p:xfrm>
        <a:graphic>
          <a:graphicData uri="http://schemas.openxmlformats.org/drawingml/2006/table">
            <a:tbl>
              <a:tblPr/>
              <a:tblGrid>
                <a:gridCol w="3689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9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9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96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My Assessment of Where I am Now</a:t>
                      </a:r>
                      <a:endParaRPr lang="en-US" sz="1200" dirty="0"/>
                    </a:p>
                  </a:txBody>
                  <a:tcPr marL="635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Stage 1: What Do I Need to Do Next?</a:t>
                      </a:r>
                      <a:endParaRPr lang="en-US" sz="1200" dirty="0"/>
                    </a:p>
                  </a:txBody>
                  <a:tcPr marL="635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Stage 2: Where Do I Need to Be at Graduation?</a:t>
                      </a:r>
                      <a:endParaRPr lang="en-US" sz="1200" dirty="0"/>
                    </a:p>
                  </a:txBody>
                  <a:tcPr marL="635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Stage 3: What is My 5-Year Destination?</a:t>
                      </a:r>
                      <a:endParaRPr lang="en-US" sz="1200" dirty="0"/>
                    </a:p>
                  </a:txBody>
                  <a:tcPr marL="635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b="1" dirty="0">
                          <a:solidFill>
                            <a:srgbClr val="7C3AED"/>
                          </a:solidFill>
                        </a:rPr>
                        <a:t>
CURRENT CAPABILITIES
INTERESTS &amp; VALUES
GAPS TO ADDRESS
</a:t>
                      </a:r>
                      <a:endParaRPr lang="en-US" sz="1200" dirty="0"/>
                    </a:p>
                  </a:txBody>
                  <a:tcPr marL="63500" marR="508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b="1" dirty="0">
                          <a:solidFill>
                            <a:srgbClr val="7C3AED"/>
                          </a:solidFill>
                        </a:rPr>
                        <a:t>
CONCRETE ACTIONS
SKILL DEVELOPMENT
FEEDBACK LOOP
</a:t>
                      </a:r>
                      <a:endParaRPr lang="en-US" sz="1200" dirty="0"/>
                    </a:p>
                  </a:txBody>
                  <a:tcPr marL="63500" marR="508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b="1" dirty="0">
                          <a:solidFill>
                            <a:srgbClr val="7C3AED"/>
                          </a:solidFill>
                        </a:rPr>
                        <a:t>
TARGET POSITION AT GRADUATION
APPLICATIONS &amp; TRANSITION
STARTUP PREPARATION
</a:t>
                      </a:r>
                      <a:endParaRPr lang="en-US" sz="1200" dirty="0"/>
                    </a:p>
                  </a:txBody>
                  <a:tcPr marL="63500" marR="508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b="1" dirty="0">
                          <a:solidFill>
                            <a:srgbClr val="7C3AED"/>
                          </a:solidFill>
                        </a:rPr>
                        <a:t>
ROLE DESCRIPTION
PROFESSIONAL STANDING
LIFE ALIGNMENT
</a:t>
                      </a:r>
                      <a:endParaRPr lang="en-US" sz="1200" dirty="0"/>
                    </a:p>
                  </a:txBody>
                  <a:tcPr marL="63500" marR="508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205472"/>
          <a:ext cx="14758416" cy="3118104"/>
        </p:xfrm>
        <a:graphic>
          <a:graphicData uri="http://schemas.openxmlformats.org/drawingml/2006/table">
            <a:tbl>
              <a:tblPr/>
              <a:tblGrid>
                <a:gridCol w="5903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181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b="1" dirty="0">
                          <a:solidFill>
                            <a:srgbClr val="94A3B8"/>
                          </a:solidFill>
                        </a:rPr>
                        <a:t>EMBEDDED EVIDENCE
</a:t>
                      </a:r>
                      <a:r>
                        <a:rPr lang="en-US" sz="700" i="1" dirty="0">
                          <a:solidFill>
                            <a:srgbClr val="94A3B8"/>
                          </a:solidFill>
                        </a:rPr>
                        <a:t>(No files uploaded)</a:t>
                      </a:r>
                      <a:endParaRPr lang="en-US" sz="1200" dirty="0"/>
                    </a:p>
                  </a:txBody>
                  <a:tcPr marL="63500" marR="508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64748B"/>
                          </a:solidFill>
                        </a:rPr>
                        <a:t>RESOURCES
</a:t>
                      </a:r>
                      <a:r>
                        <a:rPr lang="en-US" sz="750" b="1" dirty="0">
                          <a:solidFill>
                            <a:srgbClr val="7C3AED"/>
                          </a:solidFill>
                        </a:rPr>
                        <a:t>□□□□□□□□□□ (0/10)
</a:t>
                      </a:r>
                      <a:r>
                        <a:rPr lang="en-US" sz="600" b="1" dirty="0">
                          <a:solidFill>
                            <a:srgbClr val="64748B"/>
                          </a:solidFill>
                        </a:rPr>
                        <a:t>CONFIDENCE
</a:t>
                      </a:r>
                      <a:r>
                        <a:rPr lang="en-US" sz="750" b="1" dirty="0">
                          <a:solidFill>
                            <a:srgbClr val="7C3AED"/>
                          </a:solidFill>
                        </a:rPr>
                        <a:t>□□□□□□□□□□ (0/10)
</a:t>
                      </a:r>
                      <a:r>
                        <a:rPr lang="en-US" sz="600" b="1" dirty="0">
                          <a:solidFill>
                            <a:srgbClr val="64748B"/>
                          </a:solidFill>
                        </a:rPr>
                        <a:t>LIKE PLAN?
</a:t>
                      </a:r>
                      <a:r>
                        <a:rPr lang="en-US" sz="750" b="1" dirty="0">
                          <a:solidFill>
                            <a:srgbClr val="7C3AED"/>
                          </a:solidFill>
                        </a:rPr>
                        <a:t>□□□□□□□□□□ (0/10)
</a:t>
                      </a:r>
                      <a:r>
                        <a:rPr lang="en-US" sz="600" b="1" dirty="0">
                          <a:solidFill>
                            <a:srgbClr val="64748B"/>
                          </a:solidFill>
                        </a:rPr>
                        <a:t>COHERENCE
</a:t>
                      </a:r>
                      <a:r>
                        <a:rPr lang="en-US" sz="750" b="1" dirty="0">
                          <a:solidFill>
                            <a:srgbClr val="7C3AED"/>
                          </a:solidFill>
                        </a:rPr>
                        <a:t>□□□□□□□□□□ (0/10)
</a:t>
                      </a:r>
                      <a:endParaRPr lang="en-US" sz="1200" dirty="0"/>
                    </a:p>
                  </a:txBody>
                  <a:tcPr marL="63500" marR="508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6 WORD TITLE
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(Not set)
</a:t>
                      </a: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QUESTIONS:
</a:t>
                      </a:r>
                      <a:r>
                        <a:rPr lang="en-US" sz="750" dirty="0">
                          <a:solidFill>
                            <a:srgbClr val="FFFFFF"/>
                          </a:solidFill>
                        </a:rPr>
                        <a:t>—
—
—</a:t>
                      </a:r>
                      <a:endParaRPr lang="en-US" sz="1200" dirty="0"/>
                    </a:p>
                  </a:txBody>
                  <a:tcPr marL="63500" marR="508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82880" y="10323576"/>
            <a:ext cx="147584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938</Words>
  <Application>Microsoft Office PowerPoint</Application>
  <PresentationFormat>Custom</PresentationFormat>
  <Paragraphs>27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Binh Nguyen</cp:lastModifiedBy>
  <cp:revision>2</cp:revision>
  <dcterms:created xsi:type="dcterms:W3CDTF">2026-03-30T15:07:49Z</dcterms:created>
  <dcterms:modified xsi:type="dcterms:W3CDTF">2026-03-31T06:38:34Z</dcterms:modified>
</cp:coreProperties>
</file>