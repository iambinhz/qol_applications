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8" r:id="rId6"/>
    <p:sldId id="281" r:id="rId7"/>
    <p:sldId id="282" r:id="rId8"/>
    <p:sldId id="283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5" r:id="rId19"/>
    <p:sldId id="294" r:id="rId20"/>
    <p:sldId id="296" r:id="rId21"/>
    <p:sldId id="271" r:id="rId22"/>
  </p:sldIdLst>
  <p:sldSz cx="9144000" cy="6858000" type="screen4x3"/>
  <p:notesSz cx="9144000" cy="6858000"/>
  <p:custDataLst>
    <p:tags r:id="rId2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30613"/>
    <a:srgbClr val="7A7392"/>
    <a:srgbClr val="16818D"/>
    <a:srgbClr val="1A9DAC"/>
    <a:srgbClr val="1C9DAC"/>
    <a:srgbClr val="598752"/>
    <a:srgbClr val="6DA463"/>
    <a:srgbClr val="A65C45"/>
    <a:srgbClr val="CC7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4F6B8A-9AEF-4FD2-A012-A52CCFB06671}" v="758" dt="2026-02-02T08:45:47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86410"/>
  </p:normalViewPr>
  <p:slideViewPr>
    <p:cSldViewPr showGuides="1">
      <p:cViewPr varScale="1">
        <p:scale>
          <a:sx n="111" d="100"/>
          <a:sy n="111" d="100"/>
        </p:scale>
        <p:origin x="1482" y="9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19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hold Heinlein" userId="c5e5d61b-3817-4f51-a712-dcf8bfbff443" providerId="ADAL" clId="{49431ECB-42D2-48D6-9016-5889F3B84DB9}"/>
    <pc:docChg chg="undo custSel addSld modSld sldOrd">
      <pc:chgData name="Reinhold Heinlein" userId="c5e5d61b-3817-4f51-a712-dcf8bfbff443" providerId="ADAL" clId="{49431ECB-42D2-48D6-9016-5889F3B84DB9}" dt="2026-02-02T09:44:54.067" v="2184" actId="20577"/>
      <pc:docMkLst>
        <pc:docMk/>
      </pc:docMkLst>
      <pc:sldChg chg="modSp mod">
        <pc:chgData name="Reinhold Heinlein" userId="c5e5d61b-3817-4f51-a712-dcf8bfbff443" providerId="ADAL" clId="{49431ECB-42D2-48D6-9016-5889F3B84DB9}" dt="2026-02-02T09:44:54.067" v="2184" actId="20577"/>
        <pc:sldMkLst>
          <pc:docMk/>
          <pc:sldMk cId="371339850" sldId="256"/>
        </pc:sldMkLst>
        <pc:spChg chg="mod">
          <ac:chgData name="Reinhold Heinlein" userId="c5e5d61b-3817-4f51-a712-dcf8bfbff443" providerId="ADAL" clId="{49431ECB-42D2-48D6-9016-5889F3B84DB9}" dt="2026-02-02T09:44:54.067" v="2184" actId="20577"/>
          <ac:spMkLst>
            <pc:docMk/>
            <pc:sldMk cId="371339850" sldId="256"/>
            <ac:spMk id="2" creationId="{27F129AE-110C-40B7-9DF3-A4A07ADFD71E}"/>
          </ac:spMkLst>
        </pc:spChg>
        <pc:spChg chg="mod">
          <ac:chgData name="Reinhold Heinlein" userId="c5e5d61b-3817-4f51-a712-dcf8bfbff443" providerId="ADAL" clId="{49431ECB-42D2-48D6-9016-5889F3B84DB9}" dt="2026-02-02T08:40:35.078" v="2160" actId="20577"/>
          <ac:spMkLst>
            <pc:docMk/>
            <pc:sldMk cId="371339850" sldId="256"/>
            <ac:spMk id="6" creationId="{8261A58E-4331-43B5-A70A-203EF9F254A4}"/>
          </ac:spMkLst>
        </pc:spChg>
      </pc:sldChg>
      <pc:sldChg chg="modSp mod">
        <pc:chgData name="Reinhold Heinlein" userId="c5e5d61b-3817-4f51-a712-dcf8bfbff443" providerId="ADAL" clId="{49431ECB-42D2-48D6-9016-5889F3B84DB9}" dt="2026-01-30T09:36:43.935" v="98" actId="113"/>
        <pc:sldMkLst>
          <pc:docMk/>
          <pc:sldMk cId="3927551627" sldId="287"/>
        </pc:sldMkLst>
        <pc:spChg chg="mod">
          <ac:chgData name="Reinhold Heinlein" userId="c5e5d61b-3817-4f51-a712-dcf8bfbff443" providerId="ADAL" clId="{49431ECB-42D2-48D6-9016-5889F3B84DB9}" dt="2026-01-30T09:36:43.935" v="98" actId="113"/>
          <ac:spMkLst>
            <pc:docMk/>
            <pc:sldMk cId="3927551627" sldId="287"/>
            <ac:spMk id="3" creationId="{A14355C2-AFAE-3425-F03A-2D349B2ED458}"/>
          </ac:spMkLst>
        </pc:spChg>
      </pc:sldChg>
      <pc:sldChg chg="modSp mod">
        <pc:chgData name="Reinhold Heinlein" userId="c5e5d61b-3817-4f51-a712-dcf8bfbff443" providerId="ADAL" clId="{49431ECB-42D2-48D6-9016-5889F3B84DB9}" dt="2026-01-30T08:44:57.004" v="0" actId="20577"/>
        <pc:sldMkLst>
          <pc:docMk/>
          <pc:sldMk cId="69171857" sldId="290"/>
        </pc:sldMkLst>
        <pc:spChg chg="mod">
          <ac:chgData name="Reinhold Heinlein" userId="c5e5d61b-3817-4f51-a712-dcf8bfbff443" providerId="ADAL" clId="{49431ECB-42D2-48D6-9016-5889F3B84DB9}" dt="2026-01-30T08:44:57.004" v="0" actId="20577"/>
          <ac:spMkLst>
            <pc:docMk/>
            <pc:sldMk cId="69171857" sldId="290"/>
            <ac:spMk id="3" creationId="{77BE123C-0F02-CE50-DEDE-2564D7A5388F}"/>
          </ac:spMkLst>
        </pc:spChg>
      </pc:sldChg>
      <pc:sldChg chg="addSp modSp mod">
        <pc:chgData name="Reinhold Heinlein" userId="c5e5d61b-3817-4f51-a712-dcf8bfbff443" providerId="ADAL" clId="{49431ECB-42D2-48D6-9016-5889F3B84DB9}" dt="2026-01-30T09:01:08.239" v="97" actId="20577"/>
        <pc:sldMkLst>
          <pc:docMk/>
          <pc:sldMk cId="2202058289" sldId="291"/>
        </pc:sldMkLst>
        <pc:spChg chg="mod">
          <ac:chgData name="Reinhold Heinlein" userId="c5e5d61b-3817-4f51-a712-dcf8bfbff443" providerId="ADAL" clId="{49431ECB-42D2-48D6-9016-5889F3B84DB9}" dt="2026-01-30T08:54:16.982" v="43" actId="20577"/>
          <ac:spMkLst>
            <pc:docMk/>
            <pc:sldMk cId="2202058289" sldId="291"/>
            <ac:spMk id="2" creationId="{6C513729-706E-31C1-2346-028AD580D81F}"/>
          </ac:spMkLst>
        </pc:spChg>
        <pc:spChg chg="mod">
          <ac:chgData name="Reinhold Heinlein" userId="c5e5d61b-3817-4f51-a712-dcf8bfbff443" providerId="ADAL" clId="{49431ECB-42D2-48D6-9016-5889F3B84DB9}" dt="2026-01-30T09:01:08.239" v="97" actId="20577"/>
          <ac:spMkLst>
            <pc:docMk/>
            <pc:sldMk cId="2202058289" sldId="291"/>
            <ac:spMk id="3" creationId="{155F3A36-5D86-9A8A-4CB1-CA1A79E322EA}"/>
          </ac:spMkLst>
        </pc:spChg>
        <pc:picChg chg="add mod">
          <ac:chgData name="Reinhold Heinlein" userId="c5e5d61b-3817-4f51-a712-dcf8bfbff443" providerId="ADAL" clId="{49431ECB-42D2-48D6-9016-5889F3B84DB9}" dt="2026-01-30T08:56:46.484" v="57" actId="1076"/>
          <ac:picMkLst>
            <pc:docMk/>
            <pc:sldMk cId="2202058289" sldId="291"/>
            <ac:picMk id="5" creationId="{4E5629E7-C006-89AE-7119-AAB481F1EF83}"/>
          </ac:picMkLst>
        </pc:picChg>
      </pc:sldChg>
      <pc:sldChg chg="delSp modSp add mod">
        <pc:chgData name="Reinhold Heinlein" userId="c5e5d61b-3817-4f51-a712-dcf8bfbff443" providerId="ADAL" clId="{49431ECB-42D2-48D6-9016-5889F3B84DB9}" dt="2026-02-02T08:45:47.760" v="2182" actId="20577"/>
        <pc:sldMkLst>
          <pc:docMk/>
          <pc:sldMk cId="1151069950" sldId="292"/>
        </pc:sldMkLst>
        <pc:spChg chg="mod">
          <ac:chgData name="Reinhold Heinlein" userId="c5e5d61b-3817-4f51-a712-dcf8bfbff443" providerId="ADAL" clId="{49431ECB-42D2-48D6-9016-5889F3B84DB9}" dt="2026-01-30T09:39:45.256" v="146" actId="20577"/>
          <ac:spMkLst>
            <pc:docMk/>
            <pc:sldMk cId="1151069950" sldId="292"/>
            <ac:spMk id="2" creationId="{B5E1A956-6F97-8406-CA48-62EAD12DE894}"/>
          </ac:spMkLst>
        </pc:spChg>
        <pc:spChg chg="mod">
          <ac:chgData name="Reinhold Heinlein" userId="c5e5d61b-3817-4f51-a712-dcf8bfbff443" providerId="ADAL" clId="{49431ECB-42D2-48D6-9016-5889F3B84DB9}" dt="2026-02-02T08:45:47.760" v="2182" actId="20577"/>
          <ac:spMkLst>
            <pc:docMk/>
            <pc:sldMk cId="1151069950" sldId="292"/>
            <ac:spMk id="3" creationId="{F762EE04-420B-A101-6BB3-DB2C9C698044}"/>
          </ac:spMkLst>
        </pc:spChg>
      </pc:sldChg>
      <pc:sldChg chg="modSp add mod">
        <pc:chgData name="Reinhold Heinlein" userId="c5e5d61b-3817-4f51-a712-dcf8bfbff443" providerId="ADAL" clId="{49431ECB-42D2-48D6-9016-5889F3B84DB9}" dt="2026-01-30T10:25:58.037" v="1459" actId="20577"/>
        <pc:sldMkLst>
          <pc:docMk/>
          <pc:sldMk cId="4199902945" sldId="293"/>
        </pc:sldMkLst>
        <pc:spChg chg="mod">
          <ac:chgData name="Reinhold Heinlein" userId="c5e5d61b-3817-4f51-a712-dcf8bfbff443" providerId="ADAL" clId="{49431ECB-42D2-48D6-9016-5889F3B84DB9}" dt="2026-01-30T09:55:54.268" v="846" actId="20577"/>
          <ac:spMkLst>
            <pc:docMk/>
            <pc:sldMk cId="4199902945" sldId="293"/>
            <ac:spMk id="2" creationId="{AA73480A-C8D0-E5E8-F70C-380D22EE6CC8}"/>
          </ac:spMkLst>
        </pc:spChg>
        <pc:spChg chg="mod">
          <ac:chgData name="Reinhold Heinlein" userId="c5e5d61b-3817-4f51-a712-dcf8bfbff443" providerId="ADAL" clId="{49431ECB-42D2-48D6-9016-5889F3B84DB9}" dt="2026-01-30T10:25:58.037" v="1459" actId="20577"/>
          <ac:spMkLst>
            <pc:docMk/>
            <pc:sldMk cId="4199902945" sldId="293"/>
            <ac:spMk id="3" creationId="{699BD422-342C-3C9E-65DC-405E7DA33630}"/>
          </ac:spMkLst>
        </pc:spChg>
      </pc:sldChg>
      <pc:sldChg chg="modSp add mod">
        <pc:chgData name="Reinhold Heinlein" userId="c5e5d61b-3817-4f51-a712-dcf8bfbff443" providerId="ADAL" clId="{49431ECB-42D2-48D6-9016-5889F3B84DB9}" dt="2026-01-30T10:25:52.442" v="1458" actId="20577"/>
        <pc:sldMkLst>
          <pc:docMk/>
          <pc:sldMk cId="526504216" sldId="294"/>
        </pc:sldMkLst>
        <pc:spChg chg="mod">
          <ac:chgData name="Reinhold Heinlein" userId="c5e5d61b-3817-4f51-a712-dcf8bfbff443" providerId="ADAL" clId="{49431ECB-42D2-48D6-9016-5889F3B84DB9}" dt="2026-01-30T10:19:45.795" v="1282" actId="20577"/>
          <ac:spMkLst>
            <pc:docMk/>
            <pc:sldMk cId="526504216" sldId="294"/>
            <ac:spMk id="2" creationId="{E7107D6C-EDD7-FCA7-2466-9D96D2E27B8E}"/>
          </ac:spMkLst>
        </pc:spChg>
        <pc:spChg chg="mod">
          <ac:chgData name="Reinhold Heinlein" userId="c5e5d61b-3817-4f51-a712-dcf8bfbff443" providerId="ADAL" clId="{49431ECB-42D2-48D6-9016-5889F3B84DB9}" dt="2026-01-30T10:25:52.442" v="1458" actId="20577"/>
          <ac:spMkLst>
            <pc:docMk/>
            <pc:sldMk cId="526504216" sldId="294"/>
            <ac:spMk id="3" creationId="{AC170A9B-6692-11CF-040F-99A1D9B8ACD0}"/>
          </ac:spMkLst>
        </pc:spChg>
      </pc:sldChg>
      <pc:sldChg chg="modSp add mod ord">
        <pc:chgData name="Reinhold Heinlein" userId="c5e5d61b-3817-4f51-a712-dcf8bfbff443" providerId="ADAL" clId="{49431ECB-42D2-48D6-9016-5889F3B84DB9}" dt="2026-01-30T11:32:40.917" v="2129" actId="20577"/>
        <pc:sldMkLst>
          <pc:docMk/>
          <pc:sldMk cId="1659145687" sldId="295"/>
        </pc:sldMkLst>
        <pc:spChg chg="mod">
          <ac:chgData name="Reinhold Heinlein" userId="c5e5d61b-3817-4f51-a712-dcf8bfbff443" providerId="ADAL" clId="{49431ECB-42D2-48D6-9016-5889F3B84DB9}" dt="2026-01-30T10:54:15.257" v="2004" actId="20577"/>
          <ac:spMkLst>
            <pc:docMk/>
            <pc:sldMk cId="1659145687" sldId="295"/>
            <ac:spMk id="2" creationId="{BA9A57D9-6BA9-328C-123F-6B3BFA17B8AC}"/>
          </ac:spMkLst>
        </pc:spChg>
        <pc:spChg chg="mod">
          <ac:chgData name="Reinhold Heinlein" userId="c5e5d61b-3817-4f51-a712-dcf8bfbff443" providerId="ADAL" clId="{49431ECB-42D2-48D6-9016-5889F3B84DB9}" dt="2026-01-30T11:32:40.917" v="2129" actId="20577"/>
          <ac:spMkLst>
            <pc:docMk/>
            <pc:sldMk cId="1659145687" sldId="295"/>
            <ac:spMk id="3" creationId="{2712330B-6502-9964-C673-880DBBA6104B}"/>
          </ac:spMkLst>
        </pc:spChg>
      </pc:sldChg>
      <pc:sldChg chg="modSp add mod">
        <pc:chgData name="Reinhold Heinlein" userId="c5e5d61b-3817-4f51-a712-dcf8bfbff443" providerId="ADAL" clId="{49431ECB-42D2-48D6-9016-5889F3B84DB9}" dt="2026-01-30T10:54:19.996" v="2006" actId="20577"/>
        <pc:sldMkLst>
          <pc:docMk/>
          <pc:sldMk cId="3162938999" sldId="296"/>
        </pc:sldMkLst>
        <pc:spChg chg="mod">
          <ac:chgData name="Reinhold Heinlein" userId="c5e5d61b-3817-4f51-a712-dcf8bfbff443" providerId="ADAL" clId="{49431ECB-42D2-48D6-9016-5889F3B84DB9}" dt="2026-01-30T10:54:19.996" v="2006" actId="20577"/>
          <ac:spMkLst>
            <pc:docMk/>
            <pc:sldMk cId="3162938999" sldId="296"/>
            <ac:spMk id="2" creationId="{EA649DAD-9EC4-FE2C-CD7D-ED538A8D65A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7A73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7834" y="3057655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0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57606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7A7392"/>
              </a:buClr>
              <a:tabLst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7A7392"/>
              </a:buClr>
              <a:buFont typeface="+mj-lt"/>
              <a:buAutoNum type="arabi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196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BB70-497C-4277-BE10-470B42F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2852936"/>
            <a:ext cx="4283969" cy="25922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7A7392"/>
                </a:solidFill>
                <a:latin typeface="+mj-lt"/>
                <a:ea typeface="Georgia" charset="0"/>
                <a:cs typeface="Georgia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 dirty="0"/>
              <a:t>100%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9D4CE-1D53-486E-821D-6DD3FBD41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2852738"/>
            <a:ext cx="3656012" cy="2592387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7A7392"/>
                </a:solidFill>
              </a:defRPr>
            </a:lvl1pPr>
            <a:lvl2pPr marL="609600" indent="0">
              <a:buNone/>
              <a:defRPr sz="2000">
                <a:solidFill>
                  <a:srgbClr val="7A7392"/>
                </a:solidFill>
              </a:defRPr>
            </a:lvl2pPr>
            <a:lvl3pPr marL="1219200" indent="0">
              <a:buNone/>
              <a:defRPr sz="2000">
                <a:solidFill>
                  <a:srgbClr val="7A7392"/>
                </a:solidFill>
              </a:defRPr>
            </a:lvl3pPr>
            <a:lvl4pPr marL="1828800" indent="0">
              <a:buNone/>
              <a:defRPr sz="2000">
                <a:solidFill>
                  <a:srgbClr val="7A7392"/>
                </a:solidFill>
              </a:defRPr>
            </a:lvl4pPr>
            <a:lvl5pPr marL="2438400" indent="0">
              <a:buNone/>
              <a:defRPr sz="2000">
                <a:solidFill>
                  <a:srgbClr val="7A739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5661025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1pPr>
            <a:lvl2pPr marL="6096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2pPr>
            <a:lvl3pPr marL="12192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3pPr>
            <a:lvl4pPr marL="18288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4pPr>
            <a:lvl5pPr marL="24384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734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7200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</p:sldLayoutIdLst>
  <p:transition spd="slow">
    <p:fade/>
  </p:transition>
  <p:hf hdr="0" ftr="0" dt="0"/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7A7392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29AE-110C-40B7-9DF3-A4A07ADF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3745769"/>
          </a:xfrm>
        </p:spPr>
        <p:txBody>
          <a:bodyPr/>
          <a:lstStyle/>
          <a:p>
            <a:r>
              <a:rPr lang="en-GB" noProof="0" dirty="0"/>
              <a:t>UMET9U-30-1- Professional Skills for Banking and Finance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Lecture 19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6D5A-6272-44C9-9121-5A48D169B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noProof="0" dirty="0"/>
              <a:t>Presented by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07F5E-61FF-45D2-B0E6-0386A93DB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01207"/>
          </a:xfrm>
        </p:spPr>
        <p:txBody>
          <a:bodyPr/>
          <a:lstStyle/>
          <a:p>
            <a:r>
              <a:rPr lang="en-GB" sz="2000" noProof="0" dirty="0"/>
              <a:t>Reinhold Heinlein</a:t>
            </a:r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61A58E-4331-43B5-A70A-203EF9F254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37133985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2C33-84D3-4C74-9F36-3265F3BE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68" y="764704"/>
            <a:ext cx="6515620" cy="2952328"/>
          </a:xfrm>
        </p:spPr>
        <p:txBody>
          <a:bodyPr>
            <a:normAutofit/>
          </a:bodyPr>
          <a:lstStyle/>
          <a:p>
            <a:r>
              <a:rPr lang="en-GB" sz="3200" noProof="0" dirty="0">
                <a:solidFill>
                  <a:schemeClr val="accent4"/>
                </a:solidFill>
              </a:rPr>
              <a:t>Lecture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63DF7-30A5-4CDB-B2AD-10BDF696F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6474" y="1772816"/>
            <a:ext cx="6515620" cy="3384376"/>
          </a:xfrm>
        </p:spPr>
        <p:txBody>
          <a:bodyPr/>
          <a:lstStyle/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Revision of normal probability distributions (see also lecture 12)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Statistical inference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lang="en-GB" sz="2400" dirty="0">
                <a:solidFill>
                  <a:prstClr val="black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Sampling distribution of the mean</a:t>
            </a: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r>
              <a:rPr lang="en-GB" sz="2400" dirty="0">
                <a:solidFill>
                  <a:prstClr val="black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Central limit theorem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>
              <a:buClr>
                <a:srgbClr val="7A7392"/>
              </a:buClr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884623810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5F2D-9D15-3BE6-90B7-55BEF6ED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34CB-FF37-D2CB-E643-50383052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Normal</a:t>
            </a:r>
            <a:r>
              <a:rPr lang="en-GB" noProof="0" dirty="0"/>
              <a:t>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408DA-D5EC-BFA0-F7BD-694F45DB27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dirty="0"/>
              <a:t>Characteristics of any normal distribution: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Bell-shaped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Symmetric about mean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Continuous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Never touches the x-axis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Total area under curve is 1.00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Approximately 68% lies within 1 standard deviation of the mean, 95% within 2 standard deviations, and 99.7% within 3 standard deviations of the mean.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34374912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1203-111F-01F6-12E2-FDDF1EEFC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FE7C-014B-72E5-2BA6-265579AC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Normal</a:t>
            </a:r>
            <a:r>
              <a:rPr lang="en-GB" noProof="0" dirty="0"/>
              <a:t>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BE2CCA-181E-7A1F-975C-C520366FE15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Data values represented by</a:t>
                </a:r>
                <a:r>
                  <a:rPr lang="en-GB" sz="2400" i="1" dirty="0"/>
                  <a:t> x </a:t>
                </a:r>
                <a:r>
                  <a:rPr lang="en-GB" sz="2400" dirty="0"/>
                  <a:t>which follows a normal distribution, has mean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400" dirty="0"/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BE2CCA-181E-7A1F-975C-C520366FE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35459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25F4-76D9-1692-FE78-FF87A4F98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67C1-946C-E4AC-12D1-C00ABAA5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The standard normal </a:t>
            </a:r>
            <a:r>
              <a:rPr lang="en-GB" dirty="0"/>
              <a:t>curve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D6AD06-B14E-3A32-0C2A-4F783A906B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We fix the horizontal scale so that units of standard deviation are used (Z values) instead of X values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Data values represented by</a:t>
                </a:r>
                <a:r>
                  <a:rPr lang="en-GB" sz="2400" i="1" dirty="0"/>
                  <a:t> z </a:t>
                </a:r>
                <a:r>
                  <a:rPr lang="en-GB" sz="2400" dirty="0"/>
                  <a:t>which has mean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and variance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(0, 1)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D6AD06-B14E-3A32-0C2A-4F783A906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19059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DE7A-6725-52BA-5EEC-6D39ECA2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CAB0A-6B01-AD3F-2473-1342F6B6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Areas under the curve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C5444-5F52-5090-EE19-79F2C0816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Areas under the curve can be looked up on the Z table.</a:t>
            </a:r>
          </a:p>
          <a:p>
            <a:pPr marL="0" lvl="0" indent="0">
              <a:buNone/>
            </a:pPr>
            <a:r>
              <a:rPr lang="en-GB" sz="2400" dirty="0"/>
              <a:t>There is a probability of 0.68 that a value will lie in this region.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1884C-0F33-4FCF-F2BB-44392F7A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37" y="1484784"/>
            <a:ext cx="7632327" cy="311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575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A707-0EA2-84F4-A7E5-BED312AE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B688-6D97-FC27-F52D-3DAF3BC8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Population and samples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2C152-F560-252D-5079-A4653C4F68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 population refers to all items of interest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 sample is a small subset of the population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sample should be chosen at random so that it is representative of the population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We use a sample to infer something about the population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Different samples give different 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Symbols: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88B88E9-5DB9-546D-2C95-CC50CAD2EF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4772269"/>
                  </p:ext>
                </p:extLst>
              </p:nvPr>
            </p:nvGraphicFramePr>
            <p:xfrm>
              <a:off x="900111" y="5157787"/>
              <a:ext cx="60960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1769">
                      <a:extLst>
                        <a:ext uri="{9D8B030D-6E8A-4147-A177-3AD203B41FA5}">
                          <a16:colId xmlns:a16="http://schemas.microsoft.com/office/drawing/2014/main" val="1421371046"/>
                        </a:ext>
                      </a:extLst>
                    </a:gridCol>
                    <a:gridCol w="1800200">
                      <a:extLst>
                        <a:ext uri="{9D8B030D-6E8A-4147-A177-3AD203B41FA5}">
                          <a16:colId xmlns:a16="http://schemas.microsoft.com/office/drawing/2014/main" val="1834755260"/>
                        </a:ext>
                      </a:extLst>
                    </a:gridCol>
                    <a:gridCol w="1704031">
                      <a:extLst>
                        <a:ext uri="{9D8B030D-6E8A-4147-A177-3AD203B41FA5}">
                          <a16:colId xmlns:a16="http://schemas.microsoft.com/office/drawing/2014/main" val="5049181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Population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34967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36104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Standard deviation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1919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88B88E9-5DB9-546D-2C95-CC50CAD2EF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4772269"/>
                  </p:ext>
                </p:extLst>
              </p:nvPr>
            </p:nvGraphicFramePr>
            <p:xfrm>
              <a:off x="900111" y="5157787"/>
              <a:ext cx="60960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91769">
                      <a:extLst>
                        <a:ext uri="{9D8B030D-6E8A-4147-A177-3AD203B41FA5}">
                          <a16:colId xmlns:a16="http://schemas.microsoft.com/office/drawing/2014/main" val="1421371046"/>
                        </a:ext>
                      </a:extLst>
                    </a:gridCol>
                    <a:gridCol w="1800200">
                      <a:extLst>
                        <a:ext uri="{9D8B030D-6E8A-4147-A177-3AD203B41FA5}">
                          <a16:colId xmlns:a16="http://schemas.microsoft.com/office/drawing/2014/main" val="1834755260"/>
                        </a:ext>
                      </a:extLst>
                    </a:gridCol>
                    <a:gridCol w="1704031">
                      <a:extLst>
                        <a:ext uri="{9D8B030D-6E8A-4147-A177-3AD203B41FA5}">
                          <a16:colId xmlns:a16="http://schemas.microsoft.com/office/drawing/2014/main" val="5049181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Population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34967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746" t="-109211" r="-96271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7857" t="-109211" r="-1429" b="-1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1042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Standard deviation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4746" t="-212000" r="-96271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7857" t="-212000" r="-1429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19191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6584188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3D2C-BF76-6DBC-B3A3-46E909DC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4387-6D78-9D3C-811D-A6809873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Best estimates of the parameters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14355C2-AFAE-3425-F03A-2D349B2ED45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sample mean,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sz="2400" dirty="0"/>
                  <a:t>, is the best estimator of the population parameter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These are called the </a:t>
                </a:r>
                <a:r>
                  <a:rPr lang="en-GB" sz="2400" b="1" dirty="0"/>
                  <a:t>Point estimates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word ‘best’ has statistical meaning. It means the estimate with the smallest variance.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expected value of our sample mean is the population mean; the estimate is unbiased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14355C2-AFAE-3425-F03A-2D349B2ED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 r="-7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755162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2E01-FCE4-EAC1-B8C1-05965B8C5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88BB-2200-C0E7-0653-99B6B3E5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Sampling distribution of the mean 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145B6-4884-5C7F-E367-2BDAC1A92C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If you took lots of samples from </a:t>
            </a:r>
            <a:r>
              <a:rPr lang="en-GB" sz="2400" b="1" dirty="0"/>
              <a:t>any distribution </a:t>
            </a:r>
            <a:r>
              <a:rPr lang="en-GB" sz="2400" dirty="0"/>
              <a:t>with finite variance, the distribution of the sample mean would be </a:t>
            </a:r>
            <a:r>
              <a:rPr lang="en-GB" sz="2400" b="1" dirty="0"/>
              <a:t>approximately normal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This is the </a:t>
            </a:r>
            <a:r>
              <a:rPr lang="en-GB" sz="2400" dirty="0">
                <a:solidFill>
                  <a:srgbClr val="FF0000"/>
                </a:solidFill>
              </a:rPr>
              <a:t>central limit theorem</a:t>
            </a:r>
            <a:r>
              <a:rPr lang="en-GB" sz="2400" dirty="0"/>
              <a:t>, which is a very important result in statistics.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524929495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A529-247B-B22B-81C7-974DB7F2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206A-0ED5-8404-C893-CC4BE01F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Sampling distribution of the mean 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F69EF-5CD7-96AD-B845-D39868C4CE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Even in this highly non-normal population, repeated sample means will be approximately normal.  This is essentially because they can be too high or too low in equal measure.</a:t>
            </a:r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D76E9-6F44-EB1C-CEDF-0020DA37A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578" y="1628800"/>
            <a:ext cx="4186546" cy="331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9157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DB8F2-671C-C8F1-258F-1C31FD1E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9F37-EFCC-4926-B9EF-1A79589D1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Standard error 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BE123C-0F02-CE50-DEDE-2564D7A5388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standard deviation of the sampling distribution is called the standard error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For the mean – Standard Error of the Mean (</a:t>
                </a:r>
                <a:r>
                  <a:rPr lang="en-GB" sz="2400" b="1" dirty="0"/>
                  <a:t>STEM</a:t>
                </a:r>
                <a:r>
                  <a:rPr lang="en-GB" sz="2400" dirty="0"/>
                  <a:t>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𝑆𝑇𝐸𝑀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As n increases the denominator increases and our estimate becomes more precise. The bigger n, the better.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7BE123C-0F02-CE50-DEDE-2564D7A53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7185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B1AA3-3B99-B663-94FD-A1B180285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3729-706E-31C1-2346-028AD580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Distribution of sample means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5F3A36-5D86-9A8A-4CB1-CA1A79E322EA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So, if our samples are large enough, the sampling distribution of the mean is </a:t>
                </a:r>
                <a:r>
                  <a:rPr lang="en-GB" sz="2400" b="1" dirty="0"/>
                  <a:t>normal</a:t>
                </a:r>
                <a:r>
                  <a:rPr lang="en-GB" sz="2400" dirty="0"/>
                  <a:t>, with expected value equal to the population mean and standard deviation equal to </a:t>
                </a:r>
                <a:r>
                  <a:rPr lang="en-GB" sz="2400" b="1" dirty="0"/>
                  <a:t>STEM</a:t>
                </a:r>
                <a:r>
                  <a:rPr lang="en-GB" sz="2400" dirty="0"/>
                  <a:t>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5F3A36-5D86-9A8A-4CB1-CA1A79E32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 r="-24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E5629E7-C006-89AE-7119-AAB481F1E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412776"/>
            <a:ext cx="3620005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58289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6D82-6863-449F-A042-FAAB33ED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A956-6F97-8406-CA48-62EAD12D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Interval estimation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762EE04-420B-A101-6BB3-DB2C9C69804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We use the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sz="2400" dirty="0"/>
                  <a:t> as a point estimator of the population mean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Further, we are interested in an interval estimate:</a:t>
                </a:r>
              </a:p>
              <a:p>
                <a:pPr marL="0" lvl="0" indent="0">
                  <a:buNone/>
                </a:pPr>
                <a:r>
                  <a:rPr lang="en-GB" sz="2400" dirty="0"/>
                  <a:t>	</a:t>
                </a:r>
                <a:r>
                  <a:rPr lang="en-GB" sz="2400"/>
                  <a:t>Interval estimate = Point </a:t>
                </a:r>
                <a:r>
                  <a:rPr lang="en-GB" sz="2400" dirty="0"/>
                  <a:t>estimate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GB" sz="2400" dirty="0"/>
                  <a:t> Margin of error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To compute the margin of error we use the standard deviation of the sampling distribution.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In the following we have two cases: The population standard deviation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400" dirty="0"/>
                  <a:t> is known or not known.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762EE04-420B-A101-6BB3-DB2C9C6980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069950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A741-AED2-6C9D-B086-1839494F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480A-C8D0-E5E8-F70C-380D22EE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Case 1: 𝜎 is known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99BD422-342C-3C9E-65DC-405E7DA3363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population standard deviation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400" dirty="0"/>
                  <a:t> is known.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interval estimate for a population mean is as follows: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274638" lvl="1" indent="0">
                  <a:buNone/>
                </a:pPr>
                <a:r>
                  <a:rPr lang="en-GB" sz="2400" dirty="0"/>
                  <a:t>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GB" sz="2400" dirty="0"/>
                  <a:t> is the confidence coefficient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GB" sz="2400" dirty="0"/>
                  <a:t> the relevant </a:t>
                </a:r>
                <a:r>
                  <a:rPr lang="en-GB" sz="2400" i="1" dirty="0"/>
                  <a:t>z</a:t>
                </a:r>
                <a:r>
                  <a:rPr lang="en-GB" sz="2400" dirty="0"/>
                  <a:t> value from the standard normal probability distribution.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A sample size of 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GB" sz="2400" dirty="0"/>
                  <a:t>  is desired. This is less relevant when the population is normal in the first place.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99BD422-342C-3C9E-65DC-405E7DA33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90294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EC91-2D1F-3027-5712-EDAC54907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57D9-6BA9-328C-123F-6B3BFA17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1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712330B-6502-9964-C673-880DBBA6104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The standard deviation,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400" dirty="0"/>
                  <a:t>, of income is £15,000. In a sample of 40 households, income is £40,000. Estimate the 95% confidence interval for the population mean income?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As 𝜎 is known we are in case 1: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40,000</m:t>
                      </m: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1.96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15,000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=40,000±4,648.55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The population mean is with 95% confidence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35,351 , 44,649</m:t>
                        </m:r>
                      </m:e>
                    </m:d>
                  </m:oMath>
                </a14:m>
                <a:r>
                  <a:rPr lang="en-GB" sz="2400" dirty="0"/>
                  <a:t>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712330B-6502-9964-C673-880DBBA61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 t="-1891" r="-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14568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FFA4F-AAFB-67FF-BBFB-B9EE94E62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7D6C-EDD7-FCA7-2466-9D96D2E2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Case 2: 𝜎 is unknown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C170A9B-6692-11CF-040F-99A1D9B8ACD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population standard deviation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400" dirty="0"/>
                  <a:t> is not known.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In this case we must use the sample standard deviation </a:t>
                </a:r>
                <a:r>
                  <a:rPr lang="en-GB" sz="2400" i="1" dirty="0"/>
                  <a:t>s</a:t>
                </a:r>
                <a:r>
                  <a:rPr lang="en-GB" sz="2400" dirty="0"/>
                  <a:t> to estimate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interval estimate for a population mean is as follows: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274638" lvl="1" indent="0">
                  <a:buNone/>
                </a:pPr>
                <a:r>
                  <a:rPr lang="en-GB" sz="2400" dirty="0"/>
                  <a:t>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GB" sz="2400" dirty="0"/>
                  <a:t> is the confidence coefficient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GB" sz="2400" dirty="0"/>
                  <a:t> the relevant </a:t>
                </a:r>
                <a:r>
                  <a:rPr lang="en-GB" sz="2400" i="1" dirty="0"/>
                  <a:t>t</a:t>
                </a:r>
                <a:r>
                  <a:rPr lang="en-GB" sz="2400" dirty="0"/>
                  <a:t> value from the </a:t>
                </a:r>
                <a:r>
                  <a:rPr lang="en-GB" sz="2400" i="1" dirty="0"/>
                  <a:t>t</a:t>
                </a:r>
                <a:r>
                  <a:rPr lang="en-GB" sz="2400" dirty="0"/>
                  <a:t> distribution with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2400" dirty="0"/>
                  <a:t> degrees of freedom.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A sample size of 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GB" sz="2400" dirty="0"/>
                  <a:t>  is desired. This is less relevant when the population is normal in the first place.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C170A9B-6692-11CF-040F-99A1D9B8A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 r="-10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50421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4AE0F-5086-E443-9034-2F454776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9DAD-9EC4-FE2C-CD7D-ED538A8D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 2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542131-6795-CD25-F846-4395EA2072C4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In a sample of 40 households, income is £40,000 and sample standard deviation is £15,000. What is the 95% confidence interval for the population mean income?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As 𝜎 is unknown we are in case 2: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40,000</m:t>
                      </m: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2.021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15,000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</m:e>
                          </m:rad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=40,000±4,793.22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The population mean is with 95% confidence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35,207 , 44,793</m:t>
                        </m:r>
                      </m:e>
                    </m:d>
                  </m:oMath>
                </a14:m>
                <a:r>
                  <a:rPr lang="en-GB" sz="2400" dirty="0"/>
                  <a:t>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542131-6795-CD25-F846-4395EA2072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 t="-1891" r="-11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93899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CE13-887D-424D-9C90-08C9AE0E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Next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F03B-6FBE-4B0C-93A0-8DB46AC1ED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412776"/>
            <a:ext cx="6551612" cy="2880320"/>
          </a:xfrm>
        </p:spPr>
        <p:txBody>
          <a:bodyPr/>
          <a:lstStyle/>
          <a:p>
            <a:r>
              <a:rPr lang="en-GB" sz="2400" noProof="0" dirty="0"/>
              <a:t>Hypothesis testing</a:t>
            </a:r>
          </a:p>
          <a:p>
            <a:pPr marL="9525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63191569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E Lilac standard" id="{B50C80D3-D9F5-4009-9938-F1B85FF744A3}" vid="{FD532FFD-1352-4344-A026-1EC031F17F7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a63ec7c-6655-44e7-8cc1-d1896a7f84b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89C2B03CC9B4B848357AD3FCA0F8D" ma:contentTypeVersion="18" ma:contentTypeDescription="Create a new document." ma:contentTypeScope="" ma:versionID="9c70d1b8ff5784da77d5e8ac5f5ee068">
  <xsd:schema xmlns:xsd="http://www.w3.org/2001/XMLSchema" xmlns:xs="http://www.w3.org/2001/XMLSchema" xmlns:p="http://schemas.microsoft.com/office/2006/metadata/properties" xmlns:ns3="0a63ec7c-6655-44e7-8cc1-d1896a7f84b6" xmlns:ns4="eaad8dcd-1243-433a-a0b1-5eb79d1ccaf5" targetNamespace="http://schemas.microsoft.com/office/2006/metadata/properties" ma:root="true" ma:fieldsID="c3c62d2be93880894511948f698c4aa4" ns3:_="" ns4:_="">
    <xsd:import namespace="0a63ec7c-6655-44e7-8cc1-d1896a7f84b6"/>
    <xsd:import namespace="eaad8dcd-1243-433a-a0b1-5eb79d1cca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63ec7c-6655-44e7-8cc1-d1896a7f8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d8dcd-1243-433a-a0b1-5eb79d1ccaf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D2D201-97C8-4E70-BF77-76D11DC8600F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  <ds:schemaRef ds:uri="eaad8dcd-1243-433a-a0b1-5eb79d1ccaf5"/>
    <ds:schemaRef ds:uri="0a63ec7c-6655-44e7-8cc1-d1896a7f84b6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DFFD38-5222-4053-9C14-8FD6BB649E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63ec7c-6655-44e7-8cc1-d1896a7f84b6"/>
    <ds:schemaRef ds:uri="eaad8dcd-1243-433a-a0b1-5eb79d1cca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c0de803-e079-4d4f-96bc-6f3b3b6923e3}" enabled="1" method="Privileged" siteId="{07ef1208-413c-4b5e-9cdd-64ef305754f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UWE Lilac standard</Template>
  <TotalTime>6054</TotalTime>
  <Words>899</Words>
  <Application>Microsoft Office PowerPoint</Application>
  <PresentationFormat>On-screen Show (4:3)</PresentationFormat>
  <Paragraphs>236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 Math</vt:lpstr>
      <vt:lpstr>Courier New</vt:lpstr>
      <vt:lpstr>Georgia</vt:lpstr>
      <vt:lpstr>Tahoma</vt:lpstr>
      <vt:lpstr>Custom Design</vt:lpstr>
      <vt:lpstr>UMET9U-30-1- Professional Skills for Banking and Finance   Lecture 19</vt:lpstr>
      <vt:lpstr>Lecture content</vt:lpstr>
      <vt:lpstr>Normal distribution  </vt:lpstr>
      <vt:lpstr>Normal distribution  </vt:lpstr>
      <vt:lpstr>The standard normal curve  </vt:lpstr>
      <vt:lpstr>Areas under the curve  </vt:lpstr>
      <vt:lpstr>Population and samples  </vt:lpstr>
      <vt:lpstr>Best estimates of the parameters  </vt:lpstr>
      <vt:lpstr>Sampling distribution of the mean   </vt:lpstr>
      <vt:lpstr>Sampling distribution of the mean   </vt:lpstr>
      <vt:lpstr>Standard error   </vt:lpstr>
      <vt:lpstr>Distribution of sample means  </vt:lpstr>
      <vt:lpstr>Interval estimation  </vt:lpstr>
      <vt:lpstr>Case 1: 𝜎 is known  </vt:lpstr>
      <vt:lpstr>Example 1  </vt:lpstr>
      <vt:lpstr>Case 2: 𝜎 is unknown  </vt:lpstr>
      <vt:lpstr>Example 2 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UMED8M-15-2 - Introductory econometrics   Lecture 1</dc:title>
  <dc:creator>Reinhold Heinlein</dc:creator>
  <cp:lastModifiedBy>Reinhold Heinlein</cp:lastModifiedBy>
  <cp:revision>21</cp:revision>
  <cp:lastPrinted>2016-09-22T10:08:48Z</cp:lastPrinted>
  <dcterms:created xsi:type="dcterms:W3CDTF">2021-06-15T10:15:29Z</dcterms:created>
  <dcterms:modified xsi:type="dcterms:W3CDTF">2026-02-02T09:45:00Z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0x01010078489C2B03CC9B4B848357AD3FCA0F8D</vt:lpwstr>
  </property>
</Properties>
</file>