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0"/>
  </p:notesMasterIdLst>
  <p:handoutMasterIdLst>
    <p:handoutMasterId r:id="rId21"/>
  </p:handoutMasterIdLst>
  <p:sldIdLst>
    <p:sldId id="256" r:id="rId5"/>
    <p:sldId id="258"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71" r:id="rId19"/>
  </p:sldIdLst>
  <p:sldSz cx="9144000" cy="6858000" type="screen4x3"/>
  <p:notesSz cx="9144000" cy="6858000"/>
  <p:custDataLst>
    <p:tags r:id="rId22"/>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E30613"/>
    <a:srgbClr val="7A7392"/>
    <a:srgbClr val="16818D"/>
    <a:srgbClr val="1A9DAC"/>
    <a:srgbClr val="1C9DAC"/>
    <a:srgbClr val="598752"/>
    <a:srgbClr val="6DA463"/>
    <a:srgbClr val="A65C45"/>
    <a:srgbClr val="CC70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2EC402-52DE-451A-94D9-860F277B0A1A}" v="980" dt="2026-02-16T11:14:49.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1" autoAdjust="0"/>
    <p:restoredTop sz="86410"/>
  </p:normalViewPr>
  <p:slideViewPr>
    <p:cSldViewPr showGuides="1">
      <p:cViewPr varScale="1">
        <p:scale>
          <a:sx n="111" d="100"/>
          <a:sy n="111" d="100"/>
        </p:scale>
        <p:origin x="1482" y="78"/>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06" d="100"/>
          <a:sy n="106" d="100"/>
        </p:scale>
        <p:origin x="196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nhold Heinlein" userId="c5e5d61b-3817-4f51-a712-dcf8bfbff443" providerId="ADAL" clId="{49431ECB-42D2-48D6-9016-5889F3B84DB9}"/>
    <pc:docChg chg="undo custSel addSld delSld modSld">
      <pc:chgData name="Reinhold Heinlein" userId="c5e5d61b-3817-4f51-a712-dcf8bfbff443" providerId="ADAL" clId="{49431ECB-42D2-48D6-9016-5889F3B84DB9}" dt="2026-02-16T11:14:49.791" v="3598" actId="20577"/>
      <pc:docMkLst>
        <pc:docMk/>
      </pc:docMkLst>
      <pc:sldChg chg="modSp mod">
        <pc:chgData name="Reinhold Heinlein" userId="c5e5d61b-3817-4f51-a712-dcf8bfbff443" providerId="ADAL" clId="{49431ECB-42D2-48D6-9016-5889F3B84DB9}" dt="2026-02-05T09:11:14.756" v="1" actId="20577"/>
        <pc:sldMkLst>
          <pc:docMk/>
          <pc:sldMk cId="371339850" sldId="256"/>
        </pc:sldMkLst>
        <pc:spChg chg="mod">
          <ac:chgData name="Reinhold Heinlein" userId="c5e5d61b-3817-4f51-a712-dcf8bfbff443" providerId="ADAL" clId="{49431ECB-42D2-48D6-9016-5889F3B84DB9}" dt="2026-02-05T09:11:14.756" v="1" actId="20577"/>
          <ac:spMkLst>
            <pc:docMk/>
            <pc:sldMk cId="371339850" sldId="256"/>
            <ac:spMk id="2" creationId="{27F129AE-110C-40B7-9DF3-A4A07ADFD71E}"/>
          </ac:spMkLst>
        </pc:spChg>
      </pc:sldChg>
      <pc:sldChg chg="modSp mod">
        <pc:chgData name="Reinhold Heinlein" userId="c5e5d61b-3817-4f51-a712-dcf8bfbff443" providerId="ADAL" clId="{49431ECB-42D2-48D6-9016-5889F3B84DB9}" dt="2026-02-06T07:52:47.331" v="2713" actId="20577"/>
        <pc:sldMkLst>
          <pc:docMk/>
          <pc:sldMk cId="2884623810" sldId="258"/>
        </pc:sldMkLst>
        <pc:spChg chg="mod">
          <ac:chgData name="Reinhold Heinlein" userId="c5e5d61b-3817-4f51-a712-dcf8bfbff443" providerId="ADAL" clId="{49431ECB-42D2-48D6-9016-5889F3B84DB9}" dt="2026-02-06T07:52:47.331" v="2713" actId="20577"/>
          <ac:spMkLst>
            <pc:docMk/>
            <pc:sldMk cId="2884623810" sldId="258"/>
            <ac:spMk id="3" creationId="{67A63DF7-30A5-4CDB-B2AD-10BDF696FBA6}"/>
          </ac:spMkLst>
        </pc:spChg>
      </pc:sldChg>
      <pc:sldChg chg="modSp mod">
        <pc:chgData name="Reinhold Heinlein" userId="c5e5d61b-3817-4f51-a712-dcf8bfbff443" providerId="ADAL" clId="{49431ECB-42D2-48D6-9016-5889F3B84DB9}" dt="2026-02-06T08:56:59.613" v="3539" actId="114"/>
        <pc:sldMkLst>
          <pc:docMk/>
          <pc:sldMk cId="1363191569" sldId="271"/>
        </pc:sldMkLst>
        <pc:spChg chg="mod">
          <ac:chgData name="Reinhold Heinlein" userId="c5e5d61b-3817-4f51-a712-dcf8bfbff443" providerId="ADAL" clId="{49431ECB-42D2-48D6-9016-5889F3B84DB9}" dt="2026-02-06T08:56:59.613" v="3539" actId="114"/>
          <ac:spMkLst>
            <pc:docMk/>
            <pc:sldMk cId="1363191569" sldId="271"/>
            <ac:spMk id="3" creationId="{ADEBF03B-6FBE-4B0C-93A0-8DB46AC1EDBD}"/>
          </ac:spMkLst>
        </pc:spChg>
      </pc:sldChg>
      <pc:sldChg chg="modSp mod">
        <pc:chgData name="Reinhold Heinlein" userId="c5e5d61b-3817-4f51-a712-dcf8bfbff443" providerId="ADAL" clId="{49431ECB-42D2-48D6-9016-5889F3B84DB9}" dt="2026-02-05T09:46:11.577" v="250" actId="20577"/>
        <pc:sldMkLst>
          <pc:docMk/>
          <pc:sldMk cId="2343749125" sldId="281"/>
        </pc:sldMkLst>
        <pc:spChg chg="mod">
          <ac:chgData name="Reinhold Heinlein" userId="c5e5d61b-3817-4f51-a712-dcf8bfbff443" providerId="ADAL" clId="{49431ECB-42D2-48D6-9016-5889F3B84DB9}" dt="2026-02-05T09:25:55.089" v="104" actId="20577"/>
          <ac:spMkLst>
            <pc:docMk/>
            <pc:sldMk cId="2343749125" sldId="281"/>
            <ac:spMk id="2" creationId="{4DE834CB-FF37-D2CB-E643-50383052CED1}"/>
          </ac:spMkLst>
        </pc:spChg>
        <pc:spChg chg="mod">
          <ac:chgData name="Reinhold Heinlein" userId="c5e5d61b-3817-4f51-a712-dcf8bfbff443" providerId="ADAL" clId="{49431ECB-42D2-48D6-9016-5889F3B84DB9}" dt="2026-02-05T09:46:11.577" v="250" actId="20577"/>
          <ac:spMkLst>
            <pc:docMk/>
            <pc:sldMk cId="2343749125" sldId="281"/>
            <ac:spMk id="3" creationId="{1A1408DA-D5EC-BFA0-F7BD-694F45DB2788}"/>
          </ac:spMkLst>
        </pc:spChg>
      </pc:sldChg>
      <pc:sldChg chg="addSp modSp add mod">
        <pc:chgData name="Reinhold Heinlein" userId="c5e5d61b-3817-4f51-a712-dcf8bfbff443" providerId="ADAL" clId="{49431ECB-42D2-48D6-9016-5889F3B84DB9}" dt="2026-02-05T12:05:15.431" v="2157" actId="114"/>
        <pc:sldMkLst>
          <pc:docMk/>
          <pc:sldMk cId="3692349756" sldId="282"/>
        </pc:sldMkLst>
        <pc:spChg chg="mod">
          <ac:chgData name="Reinhold Heinlein" userId="c5e5d61b-3817-4f51-a712-dcf8bfbff443" providerId="ADAL" clId="{49431ECB-42D2-48D6-9016-5889F3B84DB9}" dt="2026-02-05T10:01:51.818" v="418" actId="20577"/>
          <ac:spMkLst>
            <pc:docMk/>
            <pc:sldMk cId="3692349756" sldId="282"/>
            <ac:spMk id="2" creationId="{D92EE14C-F833-B3B8-2B65-C470E7ED637F}"/>
          </ac:spMkLst>
        </pc:spChg>
        <pc:spChg chg="mod">
          <ac:chgData name="Reinhold Heinlein" userId="c5e5d61b-3817-4f51-a712-dcf8bfbff443" providerId="ADAL" clId="{49431ECB-42D2-48D6-9016-5889F3B84DB9}" dt="2026-02-05T12:05:15.431" v="2157" actId="114"/>
          <ac:spMkLst>
            <pc:docMk/>
            <pc:sldMk cId="3692349756" sldId="282"/>
            <ac:spMk id="3" creationId="{FCA763D4-E9F7-0672-5413-69B1F179CD25}"/>
          </ac:spMkLst>
        </pc:spChg>
        <pc:graphicFrameChg chg="add mod modGraphic">
          <ac:chgData name="Reinhold Heinlein" userId="c5e5d61b-3817-4f51-a712-dcf8bfbff443" providerId="ADAL" clId="{49431ECB-42D2-48D6-9016-5889F3B84DB9}" dt="2026-02-05T10:10:48.048" v="529" actId="1076"/>
          <ac:graphicFrameMkLst>
            <pc:docMk/>
            <pc:sldMk cId="3692349756" sldId="282"/>
            <ac:graphicFrameMk id="5" creationId="{856A8382-FFE4-C5CD-69A2-349E90346B2F}"/>
          </ac:graphicFrameMkLst>
        </pc:graphicFrameChg>
      </pc:sldChg>
      <pc:sldChg chg="addSp delSp modSp add mod">
        <pc:chgData name="Reinhold Heinlein" userId="c5e5d61b-3817-4f51-a712-dcf8bfbff443" providerId="ADAL" clId="{49431ECB-42D2-48D6-9016-5889F3B84DB9}" dt="2026-02-05T12:33:22.159" v="2573" actId="27918"/>
        <pc:sldMkLst>
          <pc:docMk/>
          <pc:sldMk cId="1589544556" sldId="283"/>
        </pc:sldMkLst>
        <pc:spChg chg="mod">
          <ac:chgData name="Reinhold Heinlein" userId="c5e5d61b-3817-4f51-a712-dcf8bfbff443" providerId="ADAL" clId="{49431ECB-42D2-48D6-9016-5889F3B84DB9}" dt="2026-02-05T10:58:56.668" v="1208" actId="20577"/>
          <ac:spMkLst>
            <pc:docMk/>
            <pc:sldMk cId="1589544556" sldId="283"/>
            <ac:spMk id="2" creationId="{F64D3A5C-8B6F-704E-715B-6C237786A656}"/>
          </ac:spMkLst>
        </pc:spChg>
        <pc:spChg chg="mod">
          <ac:chgData name="Reinhold Heinlein" userId="c5e5d61b-3817-4f51-a712-dcf8bfbff443" providerId="ADAL" clId="{49431ECB-42D2-48D6-9016-5889F3B84DB9}" dt="2026-02-05T10:56:14.318" v="1179" actId="20577"/>
          <ac:spMkLst>
            <pc:docMk/>
            <pc:sldMk cId="1589544556" sldId="283"/>
            <ac:spMk id="3" creationId="{6036B980-732F-C711-D890-3C1030FF618C}"/>
          </ac:spMkLst>
        </pc:spChg>
        <pc:graphicFrameChg chg="add mod">
          <ac:chgData name="Reinhold Heinlein" userId="c5e5d61b-3817-4f51-a712-dcf8bfbff443" providerId="ADAL" clId="{49431ECB-42D2-48D6-9016-5889F3B84DB9}" dt="2026-02-05T10:23:31.071" v="887" actId="14100"/>
          <ac:graphicFrameMkLst>
            <pc:docMk/>
            <pc:sldMk cId="1589544556" sldId="283"/>
            <ac:graphicFrameMk id="6" creationId="{6F84846D-2371-8C7B-E871-CFCDA64E6DCC}"/>
          </ac:graphicFrameMkLst>
        </pc:graphicFrameChg>
      </pc:sldChg>
      <pc:sldChg chg="delSp modSp add mod">
        <pc:chgData name="Reinhold Heinlein" userId="c5e5d61b-3817-4f51-a712-dcf8bfbff443" providerId="ADAL" clId="{49431ECB-42D2-48D6-9016-5889F3B84DB9}" dt="2026-02-05T10:59:09.879" v="1238" actId="20577"/>
        <pc:sldMkLst>
          <pc:docMk/>
          <pc:sldMk cId="2056419546" sldId="284"/>
        </pc:sldMkLst>
        <pc:spChg chg="mod">
          <ac:chgData name="Reinhold Heinlein" userId="c5e5d61b-3817-4f51-a712-dcf8bfbff443" providerId="ADAL" clId="{49431ECB-42D2-48D6-9016-5889F3B84DB9}" dt="2026-02-05T10:59:09.879" v="1238" actId="20577"/>
          <ac:spMkLst>
            <pc:docMk/>
            <pc:sldMk cId="2056419546" sldId="284"/>
            <ac:spMk id="2" creationId="{D49B58A0-C92C-B036-6D2C-E68459FAA0E8}"/>
          </ac:spMkLst>
        </pc:spChg>
        <pc:spChg chg="mod">
          <ac:chgData name="Reinhold Heinlein" userId="c5e5d61b-3817-4f51-a712-dcf8bfbff443" providerId="ADAL" clId="{49431ECB-42D2-48D6-9016-5889F3B84DB9}" dt="2026-02-05T10:35:07.675" v="1172" actId="20577"/>
          <ac:spMkLst>
            <pc:docMk/>
            <pc:sldMk cId="2056419546" sldId="284"/>
            <ac:spMk id="3" creationId="{1845AE76-45E1-ECBB-5DE4-316A3880F52B}"/>
          </ac:spMkLst>
        </pc:spChg>
      </pc:sldChg>
      <pc:sldChg chg="addSp modSp add mod">
        <pc:chgData name="Reinhold Heinlein" userId="c5e5d61b-3817-4f51-a712-dcf8bfbff443" providerId="ADAL" clId="{49431ECB-42D2-48D6-9016-5889F3B84DB9}" dt="2026-02-05T12:33:22.165" v="2574" actId="27918"/>
        <pc:sldMkLst>
          <pc:docMk/>
          <pc:sldMk cId="3881528177" sldId="285"/>
        </pc:sldMkLst>
        <pc:spChg chg="mod">
          <ac:chgData name="Reinhold Heinlein" userId="c5e5d61b-3817-4f51-a712-dcf8bfbff443" providerId="ADAL" clId="{49431ECB-42D2-48D6-9016-5889F3B84DB9}" dt="2026-02-05T10:59:21.451" v="1256" actId="20577"/>
          <ac:spMkLst>
            <pc:docMk/>
            <pc:sldMk cId="3881528177" sldId="285"/>
            <ac:spMk id="2" creationId="{A266D8AB-F270-610D-99F5-7B8913FD435C}"/>
          </ac:spMkLst>
        </pc:spChg>
        <pc:spChg chg="mod">
          <ac:chgData name="Reinhold Heinlein" userId="c5e5d61b-3817-4f51-a712-dcf8bfbff443" providerId="ADAL" clId="{49431ECB-42D2-48D6-9016-5889F3B84DB9}" dt="2026-02-05T11:02:57.555" v="1433" actId="20577"/>
          <ac:spMkLst>
            <pc:docMk/>
            <pc:sldMk cId="3881528177" sldId="285"/>
            <ac:spMk id="3" creationId="{6918776F-02E9-52DA-7F90-73A6B7C37D9D}"/>
          </ac:spMkLst>
        </pc:spChg>
        <pc:graphicFrameChg chg="add mod">
          <ac:chgData name="Reinhold Heinlein" userId="c5e5d61b-3817-4f51-a712-dcf8bfbff443" providerId="ADAL" clId="{49431ECB-42D2-48D6-9016-5889F3B84DB9}" dt="2026-02-05T11:03:07.492" v="1434" actId="1076"/>
          <ac:graphicFrameMkLst>
            <pc:docMk/>
            <pc:sldMk cId="3881528177" sldId="285"/>
            <ac:graphicFrameMk id="4" creationId="{6F84846D-2371-8C7B-E871-CFCDA64E6DCC}"/>
          </ac:graphicFrameMkLst>
        </pc:graphicFrameChg>
      </pc:sldChg>
      <pc:sldChg chg="addSp delSp modSp add mod">
        <pc:chgData name="Reinhold Heinlein" userId="c5e5d61b-3817-4f51-a712-dcf8bfbff443" providerId="ADAL" clId="{49431ECB-42D2-48D6-9016-5889F3B84DB9}" dt="2026-02-05T12:05:50.559" v="2162" actId="20577"/>
        <pc:sldMkLst>
          <pc:docMk/>
          <pc:sldMk cId="2612922921" sldId="286"/>
        </pc:sldMkLst>
        <pc:spChg chg="mod">
          <ac:chgData name="Reinhold Heinlein" userId="c5e5d61b-3817-4f51-a712-dcf8bfbff443" providerId="ADAL" clId="{49431ECB-42D2-48D6-9016-5889F3B84DB9}" dt="2026-02-05T11:07:18.105" v="1473" actId="20577"/>
          <ac:spMkLst>
            <pc:docMk/>
            <pc:sldMk cId="2612922921" sldId="286"/>
            <ac:spMk id="2" creationId="{07A96490-77BF-E697-8577-CE89DA600C51}"/>
          </ac:spMkLst>
        </pc:spChg>
        <pc:spChg chg="mod">
          <ac:chgData name="Reinhold Heinlein" userId="c5e5d61b-3817-4f51-a712-dcf8bfbff443" providerId="ADAL" clId="{49431ECB-42D2-48D6-9016-5889F3B84DB9}" dt="2026-02-05T12:05:50.559" v="2162" actId="20577"/>
          <ac:spMkLst>
            <pc:docMk/>
            <pc:sldMk cId="2612922921" sldId="286"/>
            <ac:spMk id="3" creationId="{6DBB1371-C644-BFCB-59A3-4F0B18808991}"/>
          </ac:spMkLst>
        </pc:spChg>
        <pc:graphicFrameChg chg="add del mod">
          <ac:chgData name="Reinhold Heinlein" userId="c5e5d61b-3817-4f51-a712-dcf8bfbff443" providerId="ADAL" clId="{49431ECB-42D2-48D6-9016-5889F3B84DB9}" dt="2026-02-05T11:11:21.402" v="1625" actId="14100"/>
          <ac:graphicFrameMkLst>
            <pc:docMk/>
            <pc:sldMk cId="2612922921" sldId="286"/>
            <ac:graphicFrameMk id="4" creationId="{9CD40522-5B69-518A-C170-C094C0787B90}"/>
          </ac:graphicFrameMkLst>
        </pc:graphicFrameChg>
        <pc:cxnChg chg="add mod">
          <ac:chgData name="Reinhold Heinlein" userId="c5e5d61b-3817-4f51-a712-dcf8bfbff443" providerId="ADAL" clId="{49431ECB-42D2-48D6-9016-5889F3B84DB9}" dt="2026-02-05T11:11:39.114" v="1626" actId="1076"/>
          <ac:cxnSpMkLst>
            <pc:docMk/>
            <pc:sldMk cId="2612922921" sldId="286"/>
            <ac:cxnSpMk id="6" creationId="{0CDFC49B-3213-4299-13FB-CBB519614DF5}"/>
          </ac:cxnSpMkLst>
        </pc:cxnChg>
      </pc:sldChg>
      <pc:sldChg chg="delSp modSp add mod">
        <pc:chgData name="Reinhold Heinlein" userId="c5e5d61b-3817-4f51-a712-dcf8bfbff443" providerId="ADAL" clId="{49431ECB-42D2-48D6-9016-5889F3B84DB9}" dt="2026-02-05T12:06:09.677" v="2163" actId="20577"/>
        <pc:sldMkLst>
          <pc:docMk/>
          <pc:sldMk cId="3436793226" sldId="287"/>
        </pc:sldMkLst>
        <pc:spChg chg="mod">
          <ac:chgData name="Reinhold Heinlein" userId="c5e5d61b-3817-4f51-a712-dcf8bfbff443" providerId="ADAL" clId="{49431ECB-42D2-48D6-9016-5889F3B84DB9}" dt="2026-02-05T11:16:29.419" v="1683" actId="20577"/>
          <ac:spMkLst>
            <pc:docMk/>
            <pc:sldMk cId="3436793226" sldId="287"/>
            <ac:spMk id="2" creationId="{0E53A437-0388-9B48-DFC1-41F9D3811CC9}"/>
          </ac:spMkLst>
        </pc:spChg>
        <pc:spChg chg="mod">
          <ac:chgData name="Reinhold Heinlein" userId="c5e5d61b-3817-4f51-a712-dcf8bfbff443" providerId="ADAL" clId="{49431ECB-42D2-48D6-9016-5889F3B84DB9}" dt="2026-02-05T12:06:09.677" v="2163" actId="20577"/>
          <ac:spMkLst>
            <pc:docMk/>
            <pc:sldMk cId="3436793226" sldId="287"/>
            <ac:spMk id="3" creationId="{32BC5A8B-487C-2A4D-9280-0E40D2F5D934}"/>
          </ac:spMkLst>
        </pc:spChg>
      </pc:sldChg>
      <pc:sldChg chg="modSp add mod">
        <pc:chgData name="Reinhold Heinlein" userId="c5e5d61b-3817-4f51-a712-dcf8bfbff443" providerId="ADAL" clId="{49431ECB-42D2-48D6-9016-5889F3B84DB9}" dt="2026-02-16T11:14:49.791" v="3598" actId="20577"/>
        <pc:sldMkLst>
          <pc:docMk/>
          <pc:sldMk cId="1632756751" sldId="288"/>
        </pc:sldMkLst>
        <pc:spChg chg="mod">
          <ac:chgData name="Reinhold Heinlein" userId="c5e5d61b-3817-4f51-a712-dcf8bfbff443" providerId="ADAL" clId="{49431ECB-42D2-48D6-9016-5889F3B84DB9}" dt="2026-02-05T12:01:40.237" v="2147" actId="20577"/>
          <ac:spMkLst>
            <pc:docMk/>
            <pc:sldMk cId="1632756751" sldId="288"/>
            <ac:spMk id="2" creationId="{0D5C2A8C-8A12-E8B6-72B6-04629C534355}"/>
          </ac:spMkLst>
        </pc:spChg>
        <pc:spChg chg="mod">
          <ac:chgData name="Reinhold Heinlein" userId="c5e5d61b-3817-4f51-a712-dcf8bfbff443" providerId="ADAL" clId="{49431ECB-42D2-48D6-9016-5889F3B84DB9}" dt="2026-02-16T11:14:49.791" v="3598" actId="20577"/>
          <ac:spMkLst>
            <pc:docMk/>
            <pc:sldMk cId="1632756751" sldId="288"/>
            <ac:spMk id="3" creationId="{03552F85-7D0B-43E6-E3E4-772CBD3F841A}"/>
          </ac:spMkLst>
        </pc:spChg>
      </pc:sldChg>
      <pc:sldChg chg="addSp modSp add mod">
        <pc:chgData name="Reinhold Heinlein" userId="c5e5d61b-3817-4f51-a712-dcf8bfbff443" providerId="ADAL" clId="{49431ECB-42D2-48D6-9016-5889F3B84DB9}" dt="2026-02-06T09:29:58.661" v="3559" actId="20577"/>
        <pc:sldMkLst>
          <pc:docMk/>
          <pc:sldMk cId="2913945063" sldId="289"/>
        </pc:sldMkLst>
        <pc:spChg chg="mod">
          <ac:chgData name="Reinhold Heinlein" userId="c5e5d61b-3817-4f51-a712-dcf8bfbff443" providerId="ADAL" clId="{49431ECB-42D2-48D6-9016-5889F3B84DB9}" dt="2026-02-05T12:10:44.458" v="2224" actId="20577"/>
          <ac:spMkLst>
            <pc:docMk/>
            <pc:sldMk cId="2913945063" sldId="289"/>
            <ac:spMk id="2" creationId="{68F06B3D-AE3F-3D5C-F5AE-7B6ECE406EDE}"/>
          </ac:spMkLst>
        </pc:spChg>
        <pc:spChg chg="mod">
          <ac:chgData name="Reinhold Heinlein" userId="c5e5d61b-3817-4f51-a712-dcf8bfbff443" providerId="ADAL" clId="{49431ECB-42D2-48D6-9016-5889F3B84DB9}" dt="2026-02-06T09:29:58.661" v="3559" actId="20577"/>
          <ac:spMkLst>
            <pc:docMk/>
            <pc:sldMk cId="2913945063" sldId="289"/>
            <ac:spMk id="3" creationId="{DB4588FF-0A24-5E26-31D5-6661189E1C4A}"/>
          </ac:spMkLst>
        </pc:spChg>
        <pc:graphicFrameChg chg="add mod modGraphic">
          <ac:chgData name="Reinhold Heinlein" userId="c5e5d61b-3817-4f51-a712-dcf8bfbff443" providerId="ADAL" clId="{49431ECB-42D2-48D6-9016-5889F3B84DB9}" dt="2026-02-05T12:30:04.713" v="2399" actId="207"/>
          <ac:graphicFrameMkLst>
            <pc:docMk/>
            <pc:sldMk cId="2913945063" sldId="289"/>
            <ac:graphicFrameMk id="4" creationId="{5C88ACA0-AC24-A4D2-14DC-13C65C1A099A}"/>
          </ac:graphicFrameMkLst>
        </pc:graphicFrameChg>
      </pc:sldChg>
      <pc:sldChg chg="delSp modSp add mod">
        <pc:chgData name="Reinhold Heinlein" userId="c5e5d61b-3817-4f51-a712-dcf8bfbff443" providerId="ADAL" clId="{49431ECB-42D2-48D6-9016-5889F3B84DB9}" dt="2026-02-06T08:06:00.638" v="2868" actId="20577"/>
        <pc:sldMkLst>
          <pc:docMk/>
          <pc:sldMk cId="3370639992" sldId="290"/>
        </pc:sldMkLst>
        <pc:spChg chg="mod">
          <ac:chgData name="Reinhold Heinlein" userId="c5e5d61b-3817-4f51-a712-dcf8bfbff443" providerId="ADAL" clId="{49431ECB-42D2-48D6-9016-5889F3B84DB9}" dt="2026-02-05T12:34:08.619" v="2609" actId="20577"/>
          <ac:spMkLst>
            <pc:docMk/>
            <pc:sldMk cId="3370639992" sldId="290"/>
            <ac:spMk id="2" creationId="{AA5AE47A-0685-925F-6F15-E07A75DC6797}"/>
          </ac:spMkLst>
        </pc:spChg>
        <pc:spChg chg="mod">
          <ac:chgData name="Reinhold Heinlein" userId="c5e5d61b-3817-4f51-a712-dcf8bfbff443" providerId="ADAL" clId="{49431ECB-42D2-48D6-9016-5889F3B84DB9}" dt="2026-02-06T08:06:00.638" v="2868" actId="20577"/>
          <ac:spMkLst>
            <pc:docMk/>
            <pc:sldMk cId="3370639992" sldId="290"/>
            <ac:spMk id="3" creationId="{C980A2E0-2FDF-FDEE-7875-777A3397E507}"/>
          </ac:spMkLst>
        </pc:spChg>
      </pc:sldChg>
      <pc:sldChg chg="modSp add mod">
        <pc:chgData name="Reinhold Heinlein" userId="c5e5d61b-3817-4f51-a712-dcf8bfbff443" providerId="ADAL" clId="{49431ECB-42D2-48D6-9016-5889F3B84DB9}" dt="2026-02-06T08:18:03.800" v="3123" actId="20577"/>
        <pc:sldMkLst>
          <pc:docMk/>
          <pc:sldMk cId="2659128861" sldId="291"/>
        </pc:sldMkLst>
        <pc:spChg chg="mod">
          <ac:chgData name="Reinhold Heinlein" userId="c5e5d61b-3817-4f51-a712-dcf8bfbff443" providerId="ADAL" clId="{49431ECB-42D2-48D6-9016-5889F3B84DB9}" dt="2026-02-06T08:09:40.056" v="2912" actId="20577"/>
          <ac:spMkLst>
            <pc:docMk/>
            <pc:sldMk cId="2659128861" sldId="291"/>
            <ac:spMk id="2" creationId="{E49970DE-48B0-48DF-8FD5-6BD47018B21D}"/>
          </ac:spMkLst>
        </pc:spChg>
        <pc:spChg chg="mod">
          <ac:chgData name="Reinhold Heinlein" userId="c5e5d61b-3817-4f51-a712-dcf8bfbff443" providerId="ADAL" clId="{49431ECB-42D2-48D6-9016-5889F3B84DB9}" dt="2026-02-06T08:18:03.800" v="3123" actId="20577"/>
          <ac:spMkLst>
            <pc:docMk/>
            <pc:sldMk cId="2659128861" sldId="291"/>
            <ac:spMk id="3" creationId="{BDB0C0B5-E674-4EF8-EACE-7C46275D0E01}"/>
          </ac:spMkLst>
        </pc:spChg>
      </pc:sldChg>
      <pc:sldChg chg="modSp add mod">
        <pc:chgData name="Reinhold Heinlein" userId="c5e5d61b-3817-4f51-a712-dcf8bfbff443" providerId="ADAL" clId="{49431ECB-42D2-48D6-9016-5889F3B84DB9}" dt="2026-02-06T08:32:20.776" v="3455" actId="207"/>
        <pc:sldMkLst>
          <pc:docMk/>
          <pc:sldMk cId="1998749007" sldId="292"/>
        </pc:sldMkLst>
        <pc:spChg chg="mod">
          <ac:chgData name="Reinhold Heinlein" userId="c5e5d61b-3817-4f51-a712-dcf8bfbff443" providerId="ADAL" clId="{49431ECB-42D2-48D6-9016-5889F3B84DB9}" dt="2026-02-06T08:25:38.173" v="3166" actId="20577"/>
          <ac:spMkLst>
            <pc:docMk/>
            <pc:sldMk cId="1998749007" sldId="292"/>
            <ac:spMk id="2" creationId="{931C6CB2-036E-A6B5-26E2-2B99CB5B39C0}"/>
          </ac:spMkLst>
        </pc:spChg>
        <pc:spChg chg="mod">
          <ac:chgData name="Reinhold Heinlein" userId="c5e5d61b-3817-4f51-a712-dcf8bfbff443" providerId="ADAL" clId="{49431ECB-42D2-48D6-9016-5889F3B84DB9}" dt="2026-02-06T08:32:20.776" v="3455" actId="207"/>
          <ac:spMkLst>
            <pc:docMk/>
            <pc:sldMk cId="1998749007" sldId="292"/>
            <ac:spMk id="3" creationId="{B3493E04-7870-4E87-20CF-6C5E87E4F01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weacuk-my.sharepoint.com/personal/reinhold_heinlein_uwe_ac_uk/Documents/PSBF25/Lectures/Advertisement%20Sales%20data%20-%20lecture%202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uweacuk-my.sharepoint.com/personal/reinhold_heinlein_uwe_ac_uk/Documents/PSBF25/Lectures/Advertisement%20Sales%20data%20-%20lecture%202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uweacuk-my.sharepoint.com/personal/reinhold_heinlein_uwe_ac_uk/Documents/PSBF25/Lectures/Advertisement%20Sales%20data%20-%20lecture%2021.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Sheet1!$A$3</c:f>
              <c:strCache>
                <c:ptCount val="1"/>
                <c:pt idx="0">
                  <c:v>Sales Revenue(Y)</c:v>
                </c:pt>
              </c:strCache>
            </c:strRef>
          </c:tx>
          <c:spPr>
            <a:ln w="38100" cap="rnd">
              <a:noFill/>
              <a:round/>
            </a:ln>
            <a:effectLst/>
          </c:spPr>
          <c:marker>
            <c:symbol val="circle"/>
            <c:size val="5"/>
            <c:spPr>
              <a:solidFill>
                <a:schemeClr val="accent1"/>
              </a:solidFill>
              <a:ln w="9525">
                <a:solidFill>
                  <a:schemeClr val="accent1"/>
                </a:solidFill>
              </a:ln>
              <a:effectLst/>
            </c:spPr>
          </c:marker>
          <c:xVal>
            <c:numRef>
              <c:f>Sheet1!$B$2:$K$2</c:f>
              <c:numCache>
                <c:formatCode>General</c:formatCode>
                <c:ptCount val="10"/>
                <c:pt idx="0">
                  <c:v>10</c:v>
                </c:pt>
                <c:pt idx="1">
                  <c:v>9</c:v>
                </c:pt>
                <c:pt idx="2">
                  <c:v>11</c:v>
                </c:pt>
                <c:pt idx="3">
                  <c:v>12</c:v>
                </c:pt>
                <c:pt idx="4">
                  <c:v>11</c:v>
                </c:pt>
                <c:pt idx="5">
                  <c:v>12</c:v>
                </c:pt>
                <c:pt idx="6">
                  <c:v>13</c:v>
                </c:pt>
                <c:pt idx="7">
                  <c:v>13</c:v>
                </c:pt>
                <c:pt idx="8">
                  <c:v>14</c:v>
                </c:pt>
                <c:pt idx="9">
                  <c:v>15</c:v>
                </c:pt>
              </c:numCache>
            </c:numRef>
          </c:xVal>
          <c:yVal>
            <c:numRef>
              <c:f>Sheet1!$B$3:$K$3</c:f>
              <c:numCache>
                <c:formatCode>General</c:formatCode>
                <c:ptCount val="10"/>
                <c:pt idx="0">
                  <c:v>44</c:v>
                </c:pt>
                <c:pt idx="1">
                  <c:v>40</c:v>
                </c:pt>
                <c:pt idx="2">
                  <c:v>42</c:v>
                </c:pt>
                <c:pt idx="3">
                  <c:v>46</c:v>
                </c:pt>
                <c:pt idx="4">
                  <c:v>48</c:v>
                </c:pt>
                <c:pt idx="5">
                  <c:v>52</c:v>
                </c:pt>
                <c:pt idx="6">
                  <c:v>54</c:v>
                </c:pt>
                <c:pt idx="7">
                  <c:v>58</c:v>
                </c:pt>
                <c:pt idx="8">
                  <c:v>56</c:v>
                </c:pt>
                <c:pt idx="9">
                  <c:v>60</c:v>
                </c:pt>
              </c:numCache>
            </c:numRef>
          </c:yVal>
          <c:smooth val="0"/>
          <c:extLst>
            <c:ext xmlns:c16="http://schemas.microsoft.com/office/drawing/2014/chart" uri="{C3380CC4-5D6E-409C-BE32-E72D297353CC}">
              <c16:uniqueId val="{00000000-D6D3-444C-AB77-FC4DFC0014D4}"/>
            </c:ext>
          </c:extLst>
        </c:ser>
        <c:dLbls>
          <c:showLegendKey val="0"/>
          <c:showVal val="0"/>
          <c:showCatName val="0"/>
          <c:showSerName val="0"/>
          <c:showPercent val="0"/>
          <c:showBubbleSize val="0"/>
        </c:dLbls>
        <c:axId val="1395678992"/>
        <c:axId val="1395680432"/>
      </c:scatterChart>
      <c:valAx>
        <c:axId val="1395678992"/>
        <c:scaling>
          <c:orientation val="minMax"/>
          <c:min val="8"/>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Advertisement</a:t>
                </a:r>
                <a:r>
                  <a:rPr lang="en-GB" sz="1200" baseline="0"/>
                  <a:t> expenditures</a:t>
                </a:r>
                <a:endParaRPr lang="en-GB" sz="120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80432"/>
        <c:crosses val="autoZero"/>
        <c:crossBetween val="midCat"/>
      </c:valAx>
      <c:valAx>
        <c:axId val="1395680432"/>
        <c:scaling>
          <c:orientation val="minMax"/>
          <c:min val="3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Sales</a:t>
                </a:r>
                <a:r>
                  <a:rPr lang="en-GB" sz="1200" baseline="0"/>
                  <a:t> revenues </a:t>
                </a:r>
                <a:endParaRPr lang="en-GB" sz="120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7899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Sheet1!$A$3</c:f>
              <c:strCache>
                <c:ptCount val="1"/>
                <c:pt idx="0">
                  <c:v>Sales Revenue(Y)</c:v>
                </c:pt>
              </c:strCache>
            </c:strRef>
          </c:tx>
          <c:spPr>
            <a:ln w="38100" cap="rnd">
              <a:noFill/>
              <a:round/>
            </a:ln>
            <a:effectLst/>
          </c:spPr>
          <c:marker>
            <c:symbol val="circle"/>
            <c:size val="5"/>
            <c:spPr>
              <a:solidFill>
                <a:schemeClr val="accent1"/>
              </a:solidFill>
              <a:ln w="9525">
                <a:solidFill>
                  <a:schemeClr val="accent1"/>
                </a:solidFill>
              </a:ln>
              <a:effectLst/>
            </c:spPr>
          </c:marker>
          <c:trendline>
            <c:spPr>
              <a:ln w="19050" cap="rnd">
                <a:solidFill>
                  <a:srgbClr val="FF0000"/>
                </a:solidFill>
                <a:prstDash val="solid"/>
              </a:ln>
              <a:effectLst/>
            </c:spPr>
            <c:trendlineType val="linear"/>
            <c:dispRSqr val="0"/>
            <c:dispEq val="0"/>
          </c:trendline>
          <c:xVal>
            <c:numRef>
              <c:f>Sheet1!$B$2:$K$2</c:f>
              <c:numCache>
                <c:formatCode>General</c:formatCode>
                <c:ptCount val="10"/>
                <c:pt idx="0">
                  <c:v>10</c:v>
                </c:pt>
                <c:pt idx="1">
                  <c:v>9</c:v>
                </c:pt>
                <c:pt idx="2">
                  <c:v>11</c:v>
                </c:pt>
                <c:pt idx="3">
                  <c:v>12</c:v>
                </c:pt>
                <c:pt idx="4">
                  <c:v>11</c:v>
                </c:pt>
                <c:pt idx="5">
                  <c:v>12</c:v>
                </c:pt>
                <c:pt idx="6">
                  <c:v>13</c:v>
                </c:pt>
                <c:pt idx="7">
                  <c:v>13</c:v>
                </c:pt>
                <c:pt idx="8">
                  <c:v>14</c:v>
                </c:pt>
                <c:pt idx="9">
                  <c:v>15</c:v>
                </c:pt>
              </c:numCache>
            </c:numRef>
          </c:xVal>
          <c:yVal>
            <c:numRef>
              <c:f>Sheet1!$B$3:$K$3</c:f>
              <c:numCache>
                <c:formatCode>General</c:formatCode>
                <c:ptCount val="10"/>
                <c:pt idx="0">
                  <c:v>44</c:v>
                </c:pt>
                <c:pt idx="1">
                  <c:v>40</c:v>
                </c:pt>
                <c:pt idx="2">
                  <c:v>42</c:v>
                </c:pt>
                <c:pt idx="3">
                  <c:v>46</c:v>
                </c:pt>
                <c:pt idx="4">
                  <c:v>48</c:v>
                </c:pt>
                <c:pt idx="5">
                  <c:v>52</c:v>
                </c:pt>
                <c:pt idx="6">
                  <c:v>54</c:v>
                </c:pt>
                <c:pt idx="7">
                  <c:v>58</c:v>
                </c:pt>
                <c:pt idx="8">
                  <c:v>56</c:v>
                </c:pt>
                <c:pt idx="9">
                  <c:v>60</c:v>
                </c:pt>
              </c:numCache>
            </c:numRef>
          </c:yVal>
          <c:smooth val="0"/>
          <c:extLst>
            <c:ext xmlns:c16="http://schemas.microsoft.com/office/drawing/2014/chart" uri="{C3380CC4-5D6E-409C-BE32-E72D297353CC}">
              <c16:uniqueId val="{00000001-6B7D-41B7-A1FF-60EBEC886392}"/>
            </c:ext>
          </c:extLst>
        </c:ser>
        <c:dLbls>
          <c:showLegendKey val="0"/>
          <c:showVal val="0"/>
          <c:showCatName val="0"/>
          <c:showSerName val="0"/>
          <c:showPercent val="0"/>
          <c:showBubbleSize val="0"/>
        </c:dLbls>
        <c:axId val="1395678992"/>
        <c:axId val="1395680432"/>
      </c:scatterChart>
      <c:valAx>
        <c:axId val="1395678992"/>
        <c:scaling>
          <c:orientation val="minMax"/>
          <c:min val="8"/>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Advertisement</a:t>
                </a:r>
                <a:r>
                  <a:rPr lang="en-GB" sz="1200" baseline="0"/>
                  <a:t> expenditures</a:t>
                </a:r>
                <a:endParaRPr lang="en-GB" sz="120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80432"/>
        <c:crosses val="autoZero"/>
        <c:crossBetween val="midCat"/>
      </c:valAx>
      <c:valAx>
        <c:axId val="1395680432"/>
        <c:scaling>
          <c:orientation val="minMax"/>
          <c:min val="3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Sales</a:t>
                </a:r>
                <a:r>
                  <a:rPr lang="en-GB" sz="1200" baseline="0"/>
                  <a:t> revenues </a:t>
                </a:r>
                <a:endParaRPr lang="en-GB" sz="120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7899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Sheet1!$A$3</c:f>
              <c:strCache>
                <c:ptCount val="1"/>
                <c:pt idx="0">
                  <c:v>Sales Revenue(Y)</c:v>
                </c:pt>
              </c:strCache>
            </c:strRef>
          </c:tx>
          <c:spPr>
            <a:ln w="38100" cap="rnd">
              <a:noFill/>
              <a:round/>
            </a:ln>
            <a:effectLst/>
          </c:spPr>
          <c:marker>
            <c:symbol val="circle"/>
            <c:size val="5"/>
            <c:spPr>
              <a:solidFill>
                <a:schemeClr val="accent1"/>
              </a:solidFill>
              <a:ln w="9525">
                <a:solidFill>
                  <a:schemeClr val="accent1"/>
                </a:solidFill>
              </a:ln>
              <a:effectLst/>
            </c:spPr>
          </c:marker>
          <c:trendline>
            <c:spPr>
              <a:ln w="19050" cap="rnd">
                <a:solidFill>
                  <a:srgbClr val="FF0000"/>
                </a:solidFill>
                <a:prstDash val="solid"/>
              </a:ln>
              <a:effectLst/>
            </c:spPr>
            <c:trendlineType val="linear"/>
            <c:dispRSqr val="0"/>
            <c:dispEq val="0"/>
          </c:trendline>
          <c:xVal>
            <c:numRef>
              <c:f>Sheet1!$B$2:$K$2</c:f>
              <c:numCache>
                <c:formatCode>General</c:formatCode>
                <c:ptCount val="10"/>
                <c:pt idx="0">
                  <c:v>10</c:v>
                </c:pt>
                <c:pt idx="1">
                  <c:v>9</c:v>
                </c:pt>
                <c:pt idx="2">
                  <c:v>11</c:v>
                </c:pt>
                <c:pt idx="3">
                  <c:v>12</c:v>
                </c:pt>
                <c:pt idx="4">
                  <c:v>11</c:v>
                </c:pt>
                <c:pt idx="5">
                  <c:v>12</c:v>
                </c:pt>
                <c:pt idx="6">
                  <c:v>13</c:v>
                </c:pt>
                <c:pt idx="7">
                  <c:v>13</c:v>
                </c:pt>
                <c:pt idx="8">
                  <c:v>14</c:v>
                </c:pt>
                <c:pt idx="9">
                  <c:v>15</c:v>
                </c:pt>
              </c:numCache>
            </c:numRef>
          </c:xVal>
          <c:yVal>
            <c:numRef>
              <c:f>Sheet1!$B$3:$K$3</c:f>
              <c:numCache>
                <c:formatCode>General</c:formatCode>
                <c:ptCount val="10"/>
                <c:pt idx="0">
                  <c:v>44</c:v>
                </c:pt>
                <c:pt idx="1">
                  <c:v>40</c:v>
                </c:pt>
                <c:pt idx="2">
                  <c:v>42</c:v>
                </c:pt>
                <c:pt idx="3">
                  <c:v>46</c:v>
                </c:pt>
                <c:pt idx="4">
                  <c:v>48</c:v>
                </c:pt>
                <c:pt idx="5">
                  <c:v>52</c:v>
                </c:pt>
                <c:pt idx="6">
                  <c:v>54</c:v>
                </c:pt>
                <c:pt idx="7">
                  <c:v>58</c:v>
                </c:pt>
                <c:pt idx="8">
                  <c:v>56</c:v>
                </c:pt>
                <c:pt idx="9">
                  <c:v>60</c:v>
                </c:pt>
              </c:numCache>
            </c:numRef>
          </c:yVal>
          <c:smooth val="0"/>
          <c:extLst>
            <c:ext xmlns:c16="http://schemas.microsoft.com/office/drawing/2014/chart" uri="{C3380CC4-5D6E-409C-BE32-E72D297353CC}">
              <c16:uniqueId val="{00000001-6B7D-41B7-A1FF-60EBEC886392}"/>
            </c:ext>
          </c:extLst>
        </c:ser>
        <c:dLbls>
          <c:showLegendKey val="0"/>
          <c:showVal val="0"/>
          <c:showCatName val="0"/>
          <c:showSerName val="0"/>
          <c:showPercent val="0"/>
          <c:showBubbleSize val="0"/>
        </c:dLbls>
        <c:axId val="1395678992"/>
        <c:axId val="1395680432"/>
      </c:scatterChart>
      <c:valAx>
        <c:axId val="1395678992"/>
        <c:scaling>
          <c:orientation val="minMax"/>
          <c:min val="8"/>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Advertisement</a:t>
                </a:r>
                <a:r>
                  <a:rPr lang="en-GB" sz="1200" baseline="0"/>
                  <a:t> expenditures</a:t>
                </a:r>
                <a:endParaRPr lang="en-GB" sz="120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80432"/>
        <c:crosses val="autoZero"/>
        <c:crossBetween val="midCat"/>
      </c:valAx>
      <c:valAx>
        <c:axId val="1395680432"/>
        <c:scaling>
          <c:orientation val="minMax"/>
          <c:min val="3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200"/>
                  <a:t>Sales</a:t>
                </a:r>
                <a:r>
                  <a:rPr lang="en-GB" sz="1200" baseline="0"/>
                  <a:t> revenues </a:t>
                </a:r>
                <a:endParaRPr lang="en-GB" sz="120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5678992"/>
        <c:crosses val="autoZero"/>
        <c:crossBetween val="midCat"/>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0.44122</cdr:x>
      <cdr:y>0.47937</cdr:y>
    </cdr:from>
    <cdr:to>
      <cdr:x>0.44122</cdr:x>
      <cdr:y>0.52381</cdr:y>
    </cdr:to>
    <cdr:cxnSp macro="">
      <cdr:nvCxnSpPr>
        <cdr:cNvPr id="3" name="Straight Arrow Connector 2">
          <a:extLst xmlns:a="http://schemas.openxmlformats.org/drawingml/2006/main">
            <a:ext uri="{FF2B5EF4-FFF2-40B4-BE49-F238E27FC236}">
              <a16:creationId xmlns:a16="http://schemas.microsoft.com/office/drawing/2014/main" id="{0535E131-E32D-D432-A1ED-ACB6126C334E}"/>
            </a:ext>
          </a:extLst>
        </cdr:cNvPr>
        <cdr:cNvCxnSpPr/>
      </cdr:nvCxnSpPr>
      <cdr:spPr>
        <a:xfrm xmlns:a="http://schemas.openxmlformats.org/drawingml/2006/main">
          <a:off x="2160239" y="1449761"/>
          <a:ext cx="0" cy="134415"/>
        </a:xfrm>
        <a:prstGeom xmlns:a="http://schemas.openxmlformats.org/drawingml/2006/main" prst="straightConnector1">
          <a:avLst/>
        </a:prstGeom>
        <a:ln xmlns:a="http://schemas.openxmlformats.org/drawingml/2006/main">
          <a:headEnd type="triangle"/>
          <a:tailEnd type="triangle"/>
        </a:ln>
      </cdr:spPr>
      <cdr:style>
        <a:lnRef xmlns:a="http://schemas.openxmlformats.org/drawingml/2006/main" idx="2">
          <a:schemeClr val="accent3"/>
        </a:lnRef>
        <a:fillRef xmlns:a="http://schemas.openxmlformats.org/drawingml/2006/main" idx="0">
          <a:schemeClr val="accent3"/>
        </a:fillRef>
        <a:effectRef xmlns:a="http://schemas.openxmlformats.org/drawingml/2006/main" idx="1">
          <a:schemeClr val="accent3"/>
        </a:effectRef>
        <a:fontRef xmlns:a="http://schemas.openxmlformats.org/drawingml/2006/main" idx="minor">
          <a:schemeClr val="tx1"/>
        </a:fontRef>
      </cdr:style>
    </cdr:cxnSp>
  </cdr:relSizeAnchor>
  <cdr:relSizeAnchor xmlns:cdr="http://schemas.openxmlformats.org/drawingml/2006/chartDrawing">
    <cdr:from>
      <cdr:x>0.64698</cdr:x>
      <cdr:y>0.22222</cdr:y>
    </cdr:from>
    <cdr:to>
      <cdr:x>0.64698</cdr:x>
      <cdr:y>0.35556</cdr:y>
    </cdr:to>
    <cdr:cxnSp macro="">
      <cdr:nvCxnSpPr>
        <cdr:cNvPr id="5" name="Straight Arrow Connector 4">
          <a:extLst xmlns:a="http://schemas.openxmlformats.org/drawingml/2006/main">
            <a:ext uri="{FF2B5EF4-FFF2-40B4-BE49-F238E27FC236}">
              <a16:creationId xmlns:a16="http://schemas.microsoft.com/office/drawing/2014/main" id="{894C29C2-B4ED-C34F-C37C-7A543BAA60DB}"/>
            </a:ext>
          </a:extLst>
        </cdr:cNvPr>
        <cdr:cNvCxnSpPr/>
      </cdr:nvCxnSpPr>
      <cdr:spPr>
        <a:xfrm xmlns:a="http://schemas.openxmlformats.org/drawingml/2006/main">
          <a:off x="3311849" y="720080"/>
          <a:ext cx="0" cy="432048"/>
        </a:xfrm>
        <a:prstGeom xmlns:a="http://schemas.openxmlformats.org/drawingml/2006/main" prst="straightConnector1">
          <a:avLst/>
        </a:prstGeom>
        <a:ln xmlns:a="http://schemas.openxmlformats.org/drawingml/2006/main">
          <a:headEnd type="triangle"/>
          <a:tailEnd type="triangle"/>
        </a:ln>
      </cdr:spPr>
      <cdr:style>
        <a:lnRef xmlns:a="http://schemas.openxmlformats.org/drawingml/2006/main" idx="2">
          <a:schemeClr val="accent3"/>
        </a:lnRef>
        <a:fillRef xmlns:a="http://schemas.openxmlformats.org/drawingml/2006/main" idx="0">
          <a:schemeClr val="accent3"/>
        </a:fillRef>
        <a:effectRef xmlns:a="http://schemas.openxmlformats.org/drawingml/2006/main" idx="1">
          <a:schemeClr val="accent3"/>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gn="l">
              <a:lnSpc>
                <a:spcPts val="1300"/>
              </a:lnSpc>
              <a:spcBef>
                <a:spcPts val="0"/>
              </a:spcBef>
              <a:buFontTx/>
              <a:buNone/>
              <a:defRPr sz="18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6"/>
            <a:ext cx="1219139" cy="673215"/>
          </a:xfrm>
          <a:prstGeom prst="rect">
            <a:avLst/>
          </a:prstGeom>
        </p:spPr>
        <p:txBody>
          <a:bodyPr lIns="0" tIns="0" rIns="0" bIns="0"/>
          <a:lstStyle>
            <a:lvl1pPr marL="0" indent="0" algn="l">
              <a:lnSpc>
                <a:spcPct val="1000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4" y="3057655"/>
            <a:ext cx="1219139" cy="673215"/>
          </a:xfrm>
          <a:prstGeom prst="rect">
            <a:avLst/>
          </a:prstGeom>
        </p:spPr>
        <p:txBody>
          <a:bodyPr lIns="0" tIns="0" rIns="0" bIns="0"/>
          <a:lstStyle>
            <a:lvl1pPr marL="0" indent="0" algn="l">
              <a:lnSpc>
                <a:spcPct val="100000"/>
              </a:lnSpc>
              <a:spcBef>
                <a:spcPts val="0"/>
              </a:spcBef>
              <a:buFontTx/>
              <a:buNone/>
              <a:defRPr sz="2000" b="1" i="0">
                <a:solidFill>
                  <a:schemeClr val="bg1"/>
                </a:solidFill>
                <a:latin typeface="+mj-lt"/>
                <a:ea typeface="Tahoma" charset="0"/>
                <a:cs typeface="Tahoma" charset="0"/>
              </a:defRPr>
            </a:lvl1pPr>
          </a:lstStyle>
          <a:p>
            <a:pPr lvl="0"/>
            <a:r>
              <a:rPr lang="en-US"/>
              <a:t>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576064"/>
          </a:xfrm>
          <a:prstGeom prst="rect">
            <a:avLst/>
          </a:prstGeom>
        </p:spPr>
        <p:txBody>
          <a:bodyPr lIns="0" tIns="0" rIns="0" bIns="0"/>
          <a:lstStyle>
            <a:lvl1pPr marL="0" indent="0" algn="l">
              <a:lnSpc>
                <a:spcPct val="100000"/>
              </a:lnSpc>
              <a:spcBef>
                <a:spcPts val="0"/>
              </a:spcBef>
              <a:buFontTx/>
              <a:buNone/>
              <a:defRPr sz="1800" b="0" i="0">
                <a:solidFill>
                  <a:schemeClr val="bg1"/>
                </a:solidFill>
                <a:latin typeface="+mn-lt"/>
                <a:ea typeface="Tahoma"/>
                <a:cs typeface="Tahoma"/>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7A7392"/>
              </a:buClr>
              <a:tabLst/>
              <a:defRPr sz="2000">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700213"/>
            <a:ext cx="6551612" cy="4465637"/>
          </a:xfrm>
          <a:prstGeom prst="rect">
            <a:avLst/>
          </a:prstGeom>
        </p:spPr>
        <p:txBody>
          <a:bodyPr lIns="0" tIns="0" rIns="0" bIns="0"/>
          <a:lstStyle>
            <a:lvl1pPr marL="266700" indent="-266700">
              <a:buClr>
                <a:srgbClr val="7A7392"/>
              </a:buClr>
              <a:buFont typeface="+mj-lt"/>
              <a:buAutoNum type="arabicPeriod"/>
              <a:defRPr sz="2000">
                <a:latin typeface="+mn-lt"/>
                <a:ea typeface="Tahoma" panose="020B0604030504040204" pitchFamily="34" charset="0"/>
                <a:cs typeface="Tahoma" panose="020B0604030504040204" pitchFamily="34" charset="0"/>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baseline="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7"/>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19697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7A7392"/>
                </a:solidFill>
                <a:latin typeface="+mj-lt"/>
              </a:defRPr>
            </a:lvl1pPr>
            <a:lvl2pPr marL="609600" indent="0">
              <a:lnSpc>
                <a:spcPts val="3600"/>
              </a:lnSpc>
              <a:buNone/>
              <a:defRPr sz="2800" b="0" i="1" baseline="0">
                <a:solidFill>
                  <a:srgbClr val="7A7392"/>
                </a:solidFill>
                <a:latin typeface="+mj-lt"/>
              </a:defRPr>
            </a:lvl2pPr>
            <a:lvl3pPr marL="1219200" indent="0">
              <a:lnSpc>
                <a:spcPts val="3600"/>
              </a:lnSpc>
              <a:buNone/>
              <a:defRPr sz="2800" b="0" i="1" baseline="0">
                <a:solidFill>
                  <a:srgbClr val="7A7392"/>
                </a:solidFill>
                <a:latin typeface="+mj-lt"/>
              </a:defRPr>
            </a:lvl3pPr>
            <a:lvl4pPr marL="1828800" indent="0">
              <a:lnSpc>
                <a:spcPts val="3600"/>
              </a:lnSpc>
              <a:buNone/>
              <a:defRPr sz="2800" b="0" i="1" baseline="0">
                <a:solidFill>
                  <a:srgbClr val="7A7392"/>
                </a:solidFill>
                <a:latin typeface="+mj-lt"/>
              </a:defRPr>
            </a:lvl4pPr>
            <a:lvl5pPr marL="2438400" indent="0">
              <a:lnSpc>
                <a:spcPts val="3600"/>
              </a:lnSpc>
              <a:buNone/>
              <a:defRPr sz="2800" b="0" i="1" baseline="0">
                <a:solidFill>
                  <a:srgbClr val="7A7392"/>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3" y="2852936"/>
            <a:ext cx="4283969" cy="2592288"/>
          </a:xfrm>
          <a:prstGeom prst="rect">
            <a:avLst/>
          </a:prstGeom>
        </p:spPr>
        <p:txBody>
          <a:bodyPr/>
          <a:lstStyle>
            <a:lvl1pPr marL="0" indent="0" algn="r">
              <a:lnSpc>
                <a:spcPts val="9600"/>
              </a:lnSpc>
              <a:buNone/>
              <a:defRPr sz="13000" b="0" i="0" baseline="0">
                <a:solidFill>
                  <a:srgbClr val="7A7392"/>
                </a:solidFill>
                <a:latin typeface="+mj-lt"/>
                <a:ea typeface="Georgia" charset="0"/>
                <a:cs typeface="Georgia"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852738"/>
            <a:ext cx="3656012" cy="2592387"/>
          </a:xfrm>
          <a:prstGeom prst="rect">
            <a:avLst/>
          </a:prstGeom>
        </p:spPr>
        <p:txBody>
          <a:bodyPr/>
          <a:lstStyle>
            <a:lvl1pPr>
              <a:defRPr sz="2000">
                <a:solidFill>
                  <a:srgbClr val="7A7392"/>
                </a:solidFill>
              </a:defRPr>
            </a:lvl1pPr>
            <a:lvl2pPr marL="609600" indent="0">
              <a:buNone/>
              <a:defRPr sz="2000">
                <a:solidFill>
                  <a:srgbClr val="7A7392"/>
                </a:solidFill>
              </a:defRPr>
            </a:lvl2pPr>
            <a:lvl3pPr marL="1219200" indent="0">
              <a:buNone/>
              <a:defRPr sz="2000">
                <a:solidFill>
                  <a:srgbClr val="7A7392"/>
                </a:solidFill>
              </a:defRPr>
            </a:lvl3pPr>
            <a:lvl4pPr marL="1828800" indent="0">
              <a:buNone/>
              <a:defRPr sz="2000">
                <a:solidFill>
                  <a:srgbClr val="7A7392"/>
                </a:solidFill>
              </a:defRPr>
            </a:lvl4pPr>
            <a:lvl5pPr marL="2438400" indent="0">
              <a:buNone/>
              <a:defRPr sz="2000">
                <a:solidFill>
                  <a:srgbClr val="7A739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4"/>
          <p:cNvSpPr>
            <a:spLocks noGrp="1"/>
          </p:cNvSpPr>
          <p:nvPr>
            <p:ph type="body" sz="quarter" idx="14"/>
          </p:nvPr>
        </p:nvSpPr>
        <p:spPr>
          <a:xfrm>
            <a:off x="970980" y="5661025"/>
            <a:ext cx="7129412" cy="648295"/>
          </a:xfrm>
          <a:prstGeom prst="rect">
            <a:avLst/>
          </a:prstGeom>
        </p:spPr>
        <p:txBody>
          <a:bodyPr/>
          <a:lstStyle>
            <a:lvl1pPr marL="0" indent="0" algn="r">
              <a:lnSpc>
                <a:spcPts val="1400"/>
              </a:lnSpc>
              <a:buNone/>
              <a:defRPr sz="1800" baseline="0">
                <a:solidFill>
                  <a:schemeClr val="tx1"/>
                </a:solidFill>
                <a:latin typeface="Tahoma" charset="0"/>
              </a:defRPr>
            </a:lvl1pPr>
            <a:lvl2pPr marL="609600" indent="0" algn="r">
              <a:lnSpc>
                <a:spcPts val="1400"/>
              </a:lnSpc>
              <a:buNone/>
              <a:defRPr sz="1800" baseline="0">
                <a:solidFill>
                  <a:schemeClr val="tx1"/>
                </a:solidFill>
                <a:latin typeface="Tahoma" charset="0"/>
              </a:defRPr>
            </a:lvl2pPr>
            <a:lvl3pPr marL="1219200" indent="0" algn="r">
              <a:lnSpc>
                <a:spcPts val="1400"/>
              </a:lnSpc>
              <a:buNone/>
              <a:defRPr sz="1800" baseline="0">
                <a:solidFill>
                  <a:schemeClr val="tx1"/>
                </a:solidFill>
                <a:latin typeface="Tahoma" charset="0"/>
              </a:defRPr>
            </a:lvl3pPr>
            <a:lvl4pPr marL="1828800" indent="0" algn="r">
              <a:lnSpc>
                <a:spcPts val="1400"/>
              </a:lnSpc>
              <a:buNone/>
              <a:defRPr sz="1800" baseline="0">
                <a:solidFill>
                  <a:schemeClr val="tx1"/>
                </a:solidFill>
                <a:latin typeface="Tahoma" charset="0"/>
              </a:defRPr>
            </a:lvl4pPr>
            <a:lvl5pPr marL="2438400" indent="0" algn="r">
              <a:lnSpc>
                <a:spcPts val="1400"/>
              </a:lnSpc>
              <a:buNone/>
              <a:defRPr sz="1800" baseline="0">
                <a:solidFill>
                  <a:schemeClr val="tx1"/>
                </a:solidFill>
                <a:latin typeface="Tahoma"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6497342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184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7"/>
            <a:ext cx="7886700" cy="720079"/>
          </a:xfrm>
          <a:prstGeom prst="rect">
            <a:avLst/>
          </a:prstGeom>
        </p:spPr>
        <p:txBody>
          <a:bodyPr vert="horz" lIns="0" tIns="0" rIns="0" bIns="0" rtlCol="0" anchor="t" anchorCtr="0">
            <a:normAutofit/>
          </a:bodyPr>
          <a:lstStyle/>
          <a:p>
            <a:r>
              <a:rPr lang="en-US"/>
              <a:t>Click to edit Master title style</a:t>
            </a:r>
            <a:endParaRPr lang="en-US" dirty="0"/>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Lst>
  <p:transition spd="slow">
    <p:fade/>
  </p:transition>
  <p:hf hdr="0" ftr="0" dt="0"/>
  <p:txStyles>
    <p:titleStyle>
      <a:lvl1pPr algn="l" defTabSz="606425" rtl="0" eaLnBrk="1" fontAlgn="base" hangingPunct="1">
        <a:spcBef>
          <a:spcPct val="0"/>
        </a:spcBef>
        <a:spcAft>
          <a:spcPct val="0"/>
        </a:spcAft>
        <a:defRPr sz="3600" kern="1200">
          <a:solidFill>
            <a:srgbClr val="7A7392"/>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129AE-110C-40B7-9DF3-A4A07ADFD71E}"/>
              </a:ext>
            </a:extLst>
          </p:cNvPr>
          <p:cNvSpPr>
            <a:spLocks noGrp="1"/>
          </p:cNvSpPr>
          <p:nvPr>
            <p:ph type="title"/>
          </p:nvPr>
        </p:nvSpPr>
        <p:spPr>
          <a:xfrm>
            <a:off x="2050826" y="1915479"/>
            <a:ext cx="5689524" cy="3745769"/>
          </a:xfrm>
        </p:spPr>
        <p:txBody>
          <a:bodyPr/>
          <a:lstStyle/>
          <a:p>
            <a:r>
              <a:rPr lang="en-GB" noProof="0" dirty="0"/>
              <a:t>UMET9U-30-1- Professional Skills for Banking and Finance</a:t>
            </a:r>
            <a:br>
              <a:rPr lang="en-GB" noProof="0" dirty="0"/>
            </a:br>
            <a:br>
              <a:rPr lang="en-GB" noProof="0" dirty="0"/>
            </a:br>
            <a:br>
              <a:rPr lang="en-GB" noProof="0" dirty="0"/>
            </a:br>
            <a:r>
              <a:rPr lang="en-GB" noProof="0" dirty="0"/>
              <a:t>Lecture </a:t>
            </a:r>
            <a:r>
              <a:rPr lang="en-GB" dirty="0"/>
              <a:t>21</a:t>
            </a:r>
            <a:endParaRPr lang="en-GB" noProof="0" dirty="0"/>
          </a:p>
        </p:txBody>
      </p:sp>
      <p:sp>
        <p:nvSpPr>
          <p:cNvPr id="3" name="Text Placeholder 2">
            <a:extLst>
              <a:ext uri="{FF2B5EF4-FFF2-40B4-BE49-F238E27FC236}">
                <a16:creationId xmlns:a16="http://schemas.microsoft.com/office/drawing/2014/main" id="{78DD6D5A-6272-44C9-9121-5A48D169B9A6}"/>
              </a:ext>
            </a:extLst>
          </p:cNvPr>
          <p:cNvSpPr>
            <a:spLocks noGrp="1"/>
          </p:cNvSpPr>
          <p:nvPr>
            <p:ph type="body" sz="quarter" idx="15"/>
          </p:nvPr>
        </p:nvSpPr>
        <p:spPr/>
        <p:txBody>
          <a:bodyPr/>
          <a:lstStyle/>
          <a:p>
            <a:r>
              <a:rPr lang="en-GB" sz="2000" noProof="0" dirty="0"/>
              <a:t>Presented by</a:t>
            </a:r>
          </a:p>
        </p:txBody>
      </p:sp>
      <p:sp>
        <p:nvSpPr>
          <p:cNvPr id="4" name="Text Placeholder 3">
            <a:extLst>
              <a:ext uri="{FF2B5EF4-FFF2-40B4-BE49-F238E27FC236}">
                <a16:creationId xmlns:a16="http://schemas.microsoft.com/office/drawing/2014/main" id="{CE307F5E-61FF-45D2-B0E6-0386A93DB487}"/>
              </a:ext>
            </a:extLst>
          </p:cNvPr>
          <p:cNvSpPr>
            <a:spLocks noGrp="1"/>
          </p:cNvSpPr>
          <p:nvPr>
            <p:ph type="body" sz="quarter" idx="16"/>
          </p:nvPr>
        </p:nvSpPr>
        <p:spPr>
          <a:xfrm>
            <a:off x="586420" y="2323736"/>
            <a:ext cx="1219139" cy="601207"/>
          </a:xfrm>
        </p:spPr>
        <p:txBody>
          <a:bodyPr/>
          <a:lstStyle/>
          <a:p>
            <a:r>
              <a:rPr lang="en-GB" sz="2000" noProof="0" dirty="0"/>
              <a:t>Reinhold Heinlein</a:t>
            </a:r>
            <a:endParaRPr lang="en-GB" noProof="0" dirty="0"/>
          </a:p>
        </p:txBody>
      </p:sp>
      <p:sp>
        <p:nvSpPr>
          <p:cNvPr id="6" name="Text Placeholder 5">
            <a:extLst>
              <a:ext uri="{FF2B5EF4-FFF2-40B4-BE49-F238E27FC236}">
                <a16:creationId xmlns:a16="http://schemas.microsoft.com/office/drawing/2014/main" id="{8261A58E-4331-43B5-A70A-203EF9F254A4}"/>
              </a:ext>
            </a:extLst>
          </p:cNvPr>
          <p:cNvSpPr>
            <a:spLocks noGrp="1"/>
          </p:cNvSpPr>
          <p:nvPr>
            <p:ph type="body" sz="quarter" idx="18"/>
          </p:nvPr>
        </p:nvSpPr>
        <p:spPr/>
        <p:txBody>
          <a:bodyPr/>
          <a:lstStyle/>
          <a:p>
            <a:r>
              <a:rPr lang="en-GB" noProof="0" dirty="0"/>
              <a:t>March 2026</a:t>
            </a:r>
          </a:p>
        </p:txBody>
      </p:sp>
    </p:spTree>
    <p:extLst>
      <p:ext uri="{BB962C8B-B14F-4D97-AF65-F5344CB8AC3E}">
        <p14:creationId xmlns:p14="http://schemas.microsoft.com/office/powerpoint/2010/main" val="37133985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2C33-84D3-4C74-9F36-3265F3BE99AD}"/>
              </a:ext>
            </a:extLst>
          </p:cNvPr>
          <p:cNvSpPr>
            <a:spLocks noGrp="1"/>
          </p:cNvSpPr>
          <p:nvPr>
            <p:ph type="title"/>
          </p:nvPr>
        </p:nvSpPr>
        <p:spPr>
          <a:xfrm>
            <a:off x="872168" y="764704"/>
            <a:ext cx="6515620" cy="2952328"/>
          </a:xfrm>
        </p:spPr>
        <p:txBody>
          <a:bodyPr>
            <a:normAutofit/>
          </a:bodyPr>
          <a:lstStyle/>
          <a:p>
            <a:r>
              <a:rPr lang="en-GB" sz="3200" noProof="0" dirty="0">
                <a:solidFill>
                  <a:schemeClr val="accent4"/>
                </a:solidFill>
              </a:rPr>
              <a:t>Lecture content</a:t>
            </a:r>
          </a:p>
        </p:txBody>
      </p:sp>
      <p:sp>
        <p:nvSpPr>
          <p:cNvPr id="3" name="Text Placeholder 2">
            <a:extLst>
              <a:ext uri="{FF2B5EF4-FFF2-40B4-BE49-F238E27FC236}">
                <a16:creationId xmlns:a16="http://schemas.microsoft.com/office/drawing/2014/main" id="{67A63DF7-30A5-4CDB-B2AD-10BDF696FBA6}"/>
              </a:ext>
            </a:extLst>
          </p:cNvPr>
          <p:cNvSpPr>
            <a:spLocks noGrp="1"/>
          </p:cNvSpPr>
          <p:nvPr>
            <p:ph type="body" sz="quarter" idx="11"/>
          </p:nvPr>
        </p:nvSpPr>
        <p:spPr>
          <a:xfrm>
            <a:off x="886474" y="1772816"/>
            <a:ext cx="6515620" cy="3384376"/>
          </a:xfrm>
        </p:spPr>
        <p:txBody>
          <a:bodyPr/>
          <a:lstStyle/>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r>
              <a:rPr lang="en-GB" sz="2400" dirty="0">
                <a:solidFill>
                  <a:prstClr val="black"/>
                </a:solidFill>
                <a:latin typeface="Calibri"/>
                <a:ea typeface="Tahoma" panose="020B0604030504040204" pitchFamily="34" charset="0"/>
                <a:cs typeface="Tahoma" panose="020B0604030504040204" pitchFamily="34" charset="0"/>
              </a:rPr>
              <a:t>Regression analysis</a:t>
            </a: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r>
              <a:rPr lang="en-GB" sz="2400" dirty="0">
                <a:solidFill>
                  <a:prstClr val="black"/>
                </a:solidFill>
                <a:latin typeface="Calibri"/>
                <a:ea typeface="Tahoma" panose="020B0604030504040204" pitchFamily="34" charset="0"/>
                <a:cs typeface="Tahoma" panose="020B0604030504040204" pitchFamily="34" charset="0"/>
              </a:rPr>
              <a:t>Computing coefficients</a:t>
            </a: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r>
              <a:rPr lang="en-GB" sz="2400" dirty="0">
                <a:solidFill>
                  <a:prstClr val="black"/>
                </a:solidFill>
                <a:latin typeface="Calibri"/>
                <a:ea typeface="Tahoma" panose="020B0604030504040204" pitchFamily="34" charset="0"/>
                <a:cs typeface="Tahoma" panose="020B0604030504040204" pitchFamily="34" charset="0"/>
              </a:rPr>
              <a:t>Interpretation of coefficients</a:t>
            </a:r>
            <a:endParaRPr lang="en-GB" sz="2400" dirty="0">
              <a:solidFill>
                <a:prstClr val="black"/>
              </a:solidFill>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9525">
              <a:buClr>
                <a:srgbClr val="7A7392"/>
              </a:buClr>
              <a:defRPr/>
            </a:pPr>
            <a:endParaRPr lang="en-GB" sz="2400" noProof="0" dirty="0">
              <a:solidFill>
                <a:prstClr val="black"/>
              </a:solidFill>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85750" indent="-285750">
              <a:buFont typeface="Arial" panose="020B0604020202020204" pitchFamily="34" charset="0"/>
              <a:buChar char="•"/>
            </a:pPr>
            <a:endParaRPr lang="en-GB" sz="2400" noProof="0" dirty="0"/>
          </a:p>
        </p:txBody>
      </p:sp>
    </p:spTree>
    <p:extLst>
      <p:ext uri="{BB962C8B-B14F-4D97-AF65-F5344CB8AC3E}">
        <p14:creationId xmlns:p14="http://schemas.microsoft.com/office/powerpoint/2010/main" val="2884623810"/>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5F2D-9D15-3BE6-90B7-55BEF6ED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834CB-FF37-D2CB-E643-50383052CED1}"/>
              </a:ext>
            </a:extLst>
          </p:cNvPr>
          <p:cNvSpPr>
            <a:spLocks noGrp="1"/>
          </p:cNvSpPr>
          <p:nvPr>
            <p:ph type="title"/>
          </p:nvPr>
        </p:nvSpPr>
        <p:spPr/>
        <p:txBody>
          <a:bodyPr>
            <a:normAutofit fontScale="90000"/>
          </a:bodyPr>
          <a:lstStyle/>
          <a:p>
            <a:r>
              <a:rPr lang="en-GB" noProof="0" dirty="0"/>
              <a:t>Regression analysis</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1A1408DA-D5EC-BFA0-F7BD-694F45DB2788}"/>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Regression analysis is a statistical method for estimating the relationship between a dependent variable and one or more independent variables.</a:t>
            </a:r>
          </a:p>
          <a:p>
            <a:pPr marL="342900" lvl="0" indent="-342900">
              <a:buFont typeface="Arial" panose="020B0604020202020204" pitchFamily="34" charset="0"/>
              <a:buChar char="•"/>
            </a:pPr>
            <a:r>
              <a:rPr lang="en-GB" sz="2400" dirty="0"/>
              <a:t>Simple or Bivariate regressions have only one independent variable</a:t>
            </a:r>
          </a:p>
          <a:p>
            <a:pPr marL="0" lvl="0" indent="0">
              <a:buNone/>
            </a:pPr>
            <a:endParaRPr lang="en-GB" sz="2400" dirty="0"/>
          </a:p>
          <a:p>
            <a:pPr marL="0" lvl="0" indent="0">
              <a:buNone/>
            </a:pPr>
            <a:endParaRPr lang="en-GB" sz="2400" dirty="0"/>
          </a:p>
          <a:p>
            <a:pPr marL="0" lvl="0" indent="0">
              <a:buNone/>
            </a:pPr>
            <a:r>
              <a:rPr lang="en-GB" sz="2400" dirty="0"/>
              <a:t>We might be interested in relationships between:</a:t>
            </a:r>
          </a:p>
          <a:p>
            <a:pPr marL="342900" lvl="0" indent="-342900">
              <a:buFont typeface="Wingdings" panose="05000000000000000000" pitchFamily="2" charset="2"/>
              <a:buChar char="§"/>
            </a:pPr>
            <a:r>
              <a:rPr lang="en-GB" sz="2400" dirty="0"/>
              <a:t>Consumption and income</a:t>
            </a:r>
          </a:p>
          <a:p>
            <a:pPr marL="342900" lvl="0" indent="-342900">
              <a:buFont typeface="Wingdings" panose="05000000000000000000" pitchFamily="2" charset="2"/>
              <a:buChar char="§"/>
            </a:pPr>
            <a:r>
              <a:rPr lang="en-GB" sz="2400" dirty="0"/>
              <a:t>Inflation and unemployment</a:t>
            </a:r>
          </a:p>
          <a:p>
            <a:pPr marL="342900" lvl="0" indent="-342900">
              <a:buFont typeface="Wingdings" panose="05000000000000000000" pitchFamily="2" charset="2"/>
              <a:buChar char="§"/>
            </a:pPr>
            <a:r>
              <a:rPr lang="en-GB" sz="2400" dirty="0"/>
              <a:t>Sales revenue and advertisement</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spTree>
    <p:extLst>
      <p:ext uri="{BB962C8B-B14F-4D97-AF65-F5344CB8AC3E}">
        <p14:creationId xmlns:p14="http://schemas.microsoft.com/office/powerpoint/2010/main" val="2343749125"/>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06BAF-7919-BD3E-D1A2-25FC776DD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EE14C-F833-B3B8-2B65-C470E7ED637F}"/>
              </a:ext>
            </a:extLst>
          </p:cNvPr>
          <p:cNvSpPr>
            <a:spLocks noGrp="1"/>
          </p:cNvSpPr>
          <p:nvPr>
            <p:ph type="title"/>
          </p:nvPr>
        </p:nvSpPr>
        <p:spPr/>
        <p:txBody>
          <a:bodyPr>
            <a:normAutofit fontScale="90000"/>
          </a:bodyPr>
          <a:lstStyle/>
          <a:p>
            <a:r>
              <a:rPr lang="en-GB" dirty="0"/>
              <a:t>Example</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FCA763D4-E9F7-0672-5413-69B1F179CD25}"/>
              </a:ext>
            </a:extLst>
          </p:cNvPr>
          <p:cNvSpPr>
            <a:spLocks noGrp="1"/>
          </p:cNvSpPr>
          <p:nvPr>
            <p:ph type="body" sz="quarter" idx="11"/>
          </p:nvPr>
        </p:nvSpPr>
        <p:spPr>
          <a:xfrm>
            <a:off x="900112" y="1700213"/>
            <a:ext cx="7632327" cy="5157787"/>
          </a:xfrm>
        </p:spPr>
        <p:txBody>
          <a:bodyPr/>
          <a:lstStyle/>
          <a:p>
            <a:pPr marL="0" lvl="0" indent="0">
              <a:buNone/>
            </a:pPr>
            <a:r>
              <a:rPr lang="en-GB" sz="2400" dirty="0"/>
              <a:t>A firm wishes to test the hypothesis that more advertising will result in more sales and also wants to test the strength of the relationship i.e. by how much will sales increase for every additional £1 spent on advertising. </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0" lvl="0" indent="0">
              <a:buNone/>
            </a:pPr>
            <a:r>
              <a:rPr lang="en-GB" sz="2400" dirty="0"/>
              <a:t>Sales Revenue is the dependent variable (</a:t>
            </a:r>
            <a:r>
              <a:rPr lang="en-GB" sz="2400" i="1" dirty="0"/>
              <a:t>Y</a:t>
            </a:r>
            <a:r>
              <a:rPr lang="en-GB" sz="2400" dirty="0"/>
              <a:t>) and advertising expenditure is the independent or explanatory variable (</a:t>
            </a:r>
            <a:r>
              <a:rPr lang="en-GB" sz="2400" i="1" dirty="0"/>
              <a:t>X</a:t>
            </a:r>
            <a:r>
              <a:rPr lang="en-GB" sz="2400" dirty="0"/>
              <a:t>). Values are in thousands of Pound (1 unit = £1,000).</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graphicFrame>
        <p:nvGraphicFramePr>
          <p:cNvPr id="5" name="Table 4">
            <a:extLst>
              <a:ext uri="{FF2B5EF4-FFF2-40B4-BE49-F238E27FC236}">
                <a16:creationId xmlns:a16="http://schemas.microsoft.com/office/drawing/2014/main" id="{856A8382-FFE4-C5CD-69A2-349E90346B2F}"/>
              </a:ext>
            </a:extLst>
          </p:cNvPr>
          <p:cNvGraphicFramePr>
            <a:graphicFrameLocks noGrp="1"/>
          </p:cNvGraphicFramePr>
          <p:nvPr>
            <p:extLst>
              <p:ext uri="{D42A27DB-BD31-4B8C-83A1-F6EECF244321}">
                <p14:modId xmlns:p14="http://schemas.microsoft.com/office/powerpoint/2010/main" val="1352410232"/>
              </p:ext>
            </p:extLst>
          </p:nvPr>
        </p:nvGraphicFramePr>
        <p:xfrm>
          <a:off x="900111" y="3307998"/>
          <a:ext cx="6840000" cy="1905804"/>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727056334"/>
                    </a:ext>
                  </a:extLst>
                </a:gridCol>
                <a:gridCol w="540000">
                  <a:extLst>
                    <a:ext uri="{9D8B030D-6E8A-4147-A177-3AD203B41FA5}">
                      <a16:colId xmlns:a16="http://schemas.microsoft.com/office/drawing/2014/main" val="1411362604"/>
                    </a:ext>
                  </a:extLst>
                </a:gridCol>
                <a:gridCol w="540000">
                  <a:extLst>
                    <a:ext uri="{9D8B030D-6E8A-4147-A177-3AD203B41FA5}">
                      <a16:colId xmlns:a16="http://schemas.microsoft.com/office/drawing/2014/main" val="148651846"/>
                    </a:ext>
                  </a:extLst>
                </a:gridCol>
                <a:gridCol w="540000">
                  <a:extLst>
                    <a:ext uri="{9D8B030D-6E8A-4147-A177-3AD203B41FA5}">
                      <a16:colId xmlns:a16="http://schemas.microsoft.com/office/drawing/2014/main" val="1301646516"/>
                    </a:ext>
                  </a:extLst>
                </a:gridCol>
                <a:gridCol w="540000">
                  <a:extLst>
                    <a:ext uri="{9D8B030D-6E8A-4147-A177-3AD203B41FA5}">
                      <a16:colId xmlns:a16="http://schemas.microsoft.com/office/drawing/2014/main" val="2228125313"/>
                    </a:ext>
                  </a:extLst>
                </a:gridCol>
                <a:gridCol w="540000">
                  <a:extLst>
                    <a:ext uri="{9D8B030D-6E8A-4147-A177-3AD203B41FA5}">
                      <a16:colId xmlns:a16="http://schemas.microsoft.com/office/drawing/2014/main" val="1474535510"/>
                    </a:ext>
                  </a:extLst>
                </a:gridCol>
                <a:gridCol w="540000">
                  <a:extLst>
                    <a:ext uri="{9D8B030D-6E8A-4147-A177-3AD203B41FA5}">
                      <a16:colId xmlns:a16="http://schemas.microsoft.com/office/drawing/2014/main" val="1966445486"/>
                    </a:ext>
                  </a:extLst>
                </a:gridCol>
                <a:gridCol w="540000">
                  <a:extLst>
                    <a:ext uri="{9D8B030D-6E8A-4147-A177-3AD203B41FA5}">
                      <a16:colId xmlns:a16="http://schemas.microsoft.com/office/drawing/2014/main" val="2816910921"/>
                    </a:ext>
                  </a:extLst>
                </a:gridCol>
                <a:gridCol w="540000">
                  <a:extLst>
                    <a:ext uri="{9D8B030D-6E8A-4147-A177-3AD203B41FA5}">
                      <a16:colId xmlns:a16="http://schemas.microsoft.com/office/drawing/2014/main" val="3272296026"/>
                    </a:ext>
                  </a:extLst>
                </a:gridCol>
                <a:gridCol w="540000">
                  <a:extLst>
                    <a:ext uri="{9D8B030D-6E8A-4147-A177-3AD203B41FA5}">
                      <a16:colId xmlns:a16="http://schemas.microsoft.com/office/drawing/2014/main" val="254491512"/>
                    </a:ext>
                  </a:extLst>
                </a:gridCol>
                <a:gridCol w="540000">
                  <a:extLst>
                    <a:ext uri="{9D8B030D-6E8A-4147-A177-3AD203B41FA5}">
                      <a16:colId xmlns:a16="http://schemas.microsoft.com/office/drawing/2014/main" val="532108624"/>
                    </a:ext>
                  </a:extLst>
                </a:gridCol>
              </a:tblGrid>
              <a:tr h="548811">
                <a:tc>
                  <a:txBody>
                    <a:bodyPr/>
                    <a:lstStyle/>
                    <a:p>
                      <a:pPr algn="l" fontAlgn="b">
                        <a:buNone/>
                      </a:pPr>
                      <a:r>
                        <a:rPr lang="en-GB" sz="1600" b="0" i="0" u="none" strike="noStrike" dirty="0">
                          <a:solidFill>
                            <a:srgbClr val="000000"/>
                          </a:solidFill>
                          <a:effectLst/>
                          <a:latin typeface="Aptos Narrow" panose="020B0004020202020204" pitchFamily="34" charset="0"/>
                        </a:rPr>
                        <a:t>Year (t)</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1</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2</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3</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4</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5</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6</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7</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8</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9</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10</a:t>
                      </a:r>
                    </a:p>
                  </a:txBody>
                  <a:tcPr marL="6350" marR="6350" marT="6350" marB="0" anchor="ctr"/>
                </a:tc>
                <a:extLst>
                  <a:ext uri="{0D108BD9-81ED-4DB2-BD59-A6C34878D82A}">
                    <a16:rowId xmlns:a16="http://schemas.microsoft.com/office/drawing/2014/main" val="454493097"/>
                  </a:ext>
                </a:extLst>
              </a:tr>
              <a:tr h="603317">
                <a:tc>
                  <a:txBody>
                    <a:bodyPr/>
                    <a:lstStyle/>
                    <a:p>
                      <a:pPr algn="l" fontAlgn="b">
                        <a:buNone/>
                      </a:pPr>
                      <a:r>
                        <a:rPr lang="en-GB" sz="1600" b="0" i="0" u="none" strike="noStrike" dirty="0">
                          <a:solidFill>
                            <a:srgbClr val="000000"/>
                          </a:solidFill>
                          <a:effectLst/>
                          <a:latin typeface="Aptos Narrow" panose="020B0004020202020204" pitchFamily="34" charset="0"/>
                        </a:rPr>
                        <a:t>Advertising Expenditure (X)</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10</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9</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11</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12</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11</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12</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13</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13</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14</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15</a:t>
                      </a:r>
                    </a:p>
                  </a:txBody>
                  <a:tcPr marL="6350" marR="6350" marT="6350" marB="0" anchor="ctr"/>
                </a:tc>
                <a:extLst>
                  <a:ext uri="{0D108BD9-81ED-4DB2-BD59-A6C34878D82A}">
                    <a16:rowId xmlns:a16="http://schemas.microsoft.com/office/drawing/2014/main" val="116924786"/>
                  </a:ext>
                </a:extLst>
              </a:tr>
              <a:tr h="753676">
                <a:tc>
                  <a:txBody>
                    <a:bodyPr/>
                    <a:lstStyle/>
                    <a:p>
                      <a:pPr algn="l" fontAlgn="b">
                        <a:buNone/>
                      </a:pPr>
                      <a:r>
                        <a:rPr lang="en-GB" sz="1600" b="0" i="0" u="none" strike="noStrike" dirty="0">
                          <a:solidFill>
                            <a:srgbClr val="000000"/>
                          </a:solidFill>
                          <a:effectLst/>
                          <a:latin typeface="Aptos Narrow" panose="020B0004020202020204" pitchFamily="34" charset="0"/>
                        </a:rPr>
                        <a:t>Sales Revenue(Y)</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44</a:t>
                      </a:r>
                    </a:p>
                  </a:txBody>
                  <a:tcPr marL="6350" marR="6350" marT="6350" marB="0" anchor="ctr"/>
                </a:tc>
                <a:tc>
                  <a:txBody>
                    <a:bodyPr/>
                    <a:lstStyle/>
                    <a:p>
                      <a:pPr algn="ctr" fontAlgn="b">
                        <a:buNone/>
                      </a:pPr>
                      <a:r>
                        <a:rPr lang="en-GB" sz="1600" b="0" i="0" u="none" strike="noStrike">
                          <a:solidFill>
                            <a:srgbClr val="000000"/>
                          </a:solidFill>
                          <a:effectLst/>
                          <a:latin typeface="Aptos Narrow" panose="020B0004020202020204" pitchFamily="34" charset="0"/>
                        </a:rPr>
                        <a:t>40</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42</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46</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48</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52</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54</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58</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56</a:t>
                      </a:r>
                    </a:p>
                  </a:txBody>
                  <a:tcPr marL="6350" marR="6350" marT="6350" marB="0" anchor="ctr"/>
                </a:tc>
                <a:tc>
                  <a:txBody>
                    <a:bodyPr/>
                    <a:lstStyle/>
                    <a:p>
                      <a:pPr algn="ctr" fontAlgn="b">
                        <a:buNone/>
                      </a:pPr>
                      <a:r>
                        <a:rPr lang="en-GB" sz="1600" b="0" i="0" u="none" strike="noStrike" dirty="0">
                          <a:solidFill>
                            <a:srgbClr val="000000"/>
                          </a:solidFill>
                          <a:effectLst/>
                          <a:latin typeface="Aptos Narrow" panose="020B0004020202020204" pitchFamily="34" charset="0"/>
                        </a:rPr>
                        <a:t>60</a:t>
                      </a:r>
                    </a:p>
                  </a:txBody>
                  <a:tcPr marL="6350" marR="6350" marT="6350" marB="0" anchor="ctr"/>
                </a:tc>
                <a:extLst>
                  <a:ext uri="{0D108BD9-81ED-4DB2-BD59-A6C34878D82A}">
                    <a16:rowId xmlns:a16="http://schemas.microsoft.com/office/drawing/2014/main" val="2309031750"/>
                  </a:ext>
                </a:extLst>
              </a:tr>
            </a:tbl>
          </a:graphicData>
        </a:graphic>
      </p:graphicFrame>
    </p:spTree>
    <p:extLst>
      <p:ext uri="{BB962C8B-B14F-4D97-AF65-F5344CB8AC3E}">
        <p14:creationId xmlns:p14="http://schemas.microsoft.com/office/powerpoint/2010/main" val="369234975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2616F-6618-9EE9-07FA-718C1CC9F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D3A5C-8B6F-704E-715B-6C237786A656}"/>
              </a:ext>
            </a:extLst>
          </p:cNvPr>
          <p:cNvSpPr>
            <a:spLocks noGrp="1"/>
          </p:cNvSpPr>
          <p:nvPr>
            <p:ph type="title"/>
          </p:nvPr>
        </p:nvSpPr>
        <p:spPr/>
        <p:txBody>
          <a:bodyPr>
            <a:normAutofit fontScale="90000"/>
          </a:bodyPr>
          <a:lstStyle/>
          <a:p>
            <a:r>
              <a:rPr lang="en-GB" noProof="0" dirty="0"/>
              <a:t>Scatter graph</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6036B980-732F-C711-D890-3C1030FF618C}"/>
              </a:ext>
            </a:extLst>
          </p:cNvPr>
          <p:cNvSpPr>
            <a:spLocks noGrp="1"/>
          </p:cNvSpPr>
          <p:nvPr>
            <p:ph type="body" sz="quarter" idx="11"/>
          </p:nvPr>
        </p:nvSpPr>
        <p:spPr>
          <a:xfrm>
            <a:off x="900112" y="1700213"/>
            <a:ext cx="7632327" cy="5157787"/>
          </a:xfrm>
        </p:spPr>
        <p:txBody>
          <a:bodyPr/>
          <a:lstStyle/>
          <a:p>
            <a:pPr marL="0" lvl="0" indent="0">
              <a:buNone/>
            </a:pPr>
            <a:r>
              <a:rPr lang="en-GB" sz="2400" dirty="0"/>
              <a:t>A scatter graph plotting advertisement expenditures versus sales revenues.</a:t>
            </a:r>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a:p>
            <a:pPr marL="0" lvl="0" indent="0">
              <a:buNone/>
            </a:pPr>
            <a:r>
              <a:rPr lang="en-GB" sz="2400" noProof="0" dirty="0"/>
              <a:t>There seems to be a strong positive relationship.</a:t>
            </a:r>
          </a:p>
        </p:txBody>
      </p:sp>
      <p:graphicFrame>
        <p:nvGraphicFramePr>
          <p:cNvPr id="6" name="Chart 5">
            <a:extLst>
              <a:ext uri="{FF2B5EF4-FFF2-40B4-BE49-F238E27FC236}">
                <a16:creationId xmlns:a16="http://schemas.microsoft.com/office/drawing/2014/main" id="{6F84846D-2371-8C7B-E871-CFCDA64E6DCC}"/>
              </a:ext>
            </a:extLst>
          </p:cNvPr>
          <p:cNvGraphicFramePr>
            <a:graphicFrameLocks/>
          </p:cNvGraphicFramePr>
          <p:nvPr>
            <p:extLst>
              <p:ext uri="{D42A27DB-BD31-4B8C-83A1-F6EECF244321}">
                <p14:modId xmlns:p14="http://schemas.microsoft.com/office/powerpoint/2010/main" val="2064133788"/>
              </p:ext>
            </p:extLst>
          </p:nvPr>
        </p:nvGraphicFramePr>
        <p:xfrm>
          <a:off x="827584" y="2564904"/>
          <a:ext cx="5976664" cy="34563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8954455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E5849-5143-8AF3-51C7-29129EEDF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B58A0-C92C-B036-6D2C-E68459FAA0E8}"/>
              </a:ext>
            </a:extLst>
          </p:cNvPr>
          <p:cNvSpPr>
            <a:spLocks noGrp="1"/>
          </p:cNvSpPr>
          <p:nvPr>
            <p:ph type="title"/>
          </p:nvPr>
        </p:nvSpPr>
        <p:spPr/>
        <p:txBody>
          <a:bodyPr>
            <a:normAutofit fontScale="90000"/>
          </a:bodyPr>
          <a:lstStyle/>
          <a:p>
            <a:r>
              <a:rPr lang="en-GB" noProof="0" dirty="0"/>
              <a:t>Correlation coefficient</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45AE76-45E1-ECBB-5DE4-316A3880F52B}"/>
                  </a:ext>
                </a:extLst>
              </p:cNvPr>
              <p:cNvSpPr>
                <a:spLocks noGrp="1"/>
              </p:cNvSpPr>
              <p:nvPr>
                <p:ph type="body" sz="quarter" idx="11"/>
              </p:nvPr>
            </p:nvSpPr>
            <p:spPr>
              <a:xfrm>
                <a:off x="900112" y="1700213"/>
                <a:ext cx="7632327" cy="5157787"/>
              </a:xfrm>
            </p:spPr>
            <p:txBody>
              <a:bodyPr/>
              <a:lstStyle/>
              <a:p>
                <a:pPr marL="0" lvl="0" indent="0">
                  <a:buNone/>
                </a:pPr>
                <a:r>
                  <a:rPr lang="en-GB" sz="2400" dirty="0"/>
                  <a:t>We can compute a correlation coefficient between the variables:</a:t>
                </a:r>
              </a:p>
              <a:p>
                <a:pPr marL="0" lvl="0" indent="0">
                  <a:buNone/>
                </a:pPr>
                <a:endParaRPr lang="en-GB" sz="2400" dirty="0"/>
              </a:p>
              <a:p>
                <a:pPr marL="0" lvl="0" inden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𝑐𝑜𝑟</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𝑋</m:t>
                          </m:r>
                          <m:r>
                            <a:rPr lang="en-GB" sz="2400" b="0" i="1" smtClean="0">
                              <a:latin typeface="Cambria Math" panose="02040503050406030204" pitchFamily="18" charset="0"/>
                            </a:rPr>
                            <m:t>, </m:t>
                          </m:r>
                          <m:r>
                            <a:rPr lang="en-GB" sz="2400" b="0" i="1" smtClean="0">
                              <a:latin typeface="Cambria Math" panose="02040503050406030204" pitchFamily="18" charset="0"/>
                            </a:rPr>
                            <m:t>𝑌</m:t>
                          </m:r>
                        </m:e>
                      </m:d>
                      <m:r>
                        <a:rPr lang="en-GB" sz="2400" b="0" i="1" smtClean="0">
                          <a:latin typeface="Cambria Math" panose="02040503050406030204" pitchFamily="18" charset="0"/>
                        </a:rPr>
                        <m:t>=0.923</m:t>
                      </m:r>
                    </m:oMath>
                  </m:oMathPara>
                </a14:m>
                <a:endParaRPr lang="en-GB" sz="2400" dirty="0"/>
              </a:p>
              <a:p>
                <a:pPr marL="0" lvl="0" indent="0">
                  <a:buNone/>
                </a:pPr>
                <a:endParaRPr lang="en-GB" sz="2400" dirty="0"/>
              </a:p>
              <a:p>
                <a:pPr marL="0" lvl="0" indent="0">
                  <a:buNone/>
                </a:pPr>
                <a:r>
                  <a:rPr lang="en-GB" sz="2400" dirty="0"/>
                  <a:t>Correlation is strong and positive. Remember, correlation is always between </a:t>
                </a:r>
                <a14:m>
                  <m:oMath xmlns:m="http://schemas.openxmlformats.org/officeDocument/2006/math">
                    <m:d>
                      <m:dPr>
                        <m:begChr m:val="["/>
                        <m:endChr m:val="]"/>
                        <m:ctrlPr>
                          <a:rPr lang="en-GB" sz="2400" i="1" smtClean="0">
                            <a:latin typeface="Cambria Math" panose="02040503050406030204" pitchFamily="18" charset="0"/>
                          </a:rPr>
                        </m:ctrlPr>
                      </m:dPr>
                      <m:e>
                        <m:r>
                          <a:rPr lang="en-GB" sz="2400" b="0" i="1" smtClean="0">
                            <a:latin typeface="Cambria Math" panose="02040503050406030204" pitchFamily="18" charset="0"/>
                          </a:rPr>
                          <m:t>−1, 1</m:t>
                        </m:r>
                      </m:e>
                    </m:d>
                  </m:oMath>
                </a14:m>
                <a:r>
                  <a:rPr lang="en-GB" sz="2400" dirty="0"/>
                  <a:t>.</a:t>
                </a:r>
              </a:p>
              <a:p>
                <a:pPr marL="0" lvl="0" indent="0">
                  <a:buNone/>
                </a:pPr>
                <a:endParaRPr lang="en-GB" sz="2400" dirty="0"/>
              </a:p>
              <a:p>
                <a:pPr marL="0" lvl="0" indent="0">
                  <a:buNone/>
                </a:pPr>
                <a:endParaRPr lang="en-GB" sz="2400" dirty="0"/>
              </a:p>
            </p:txBody>
          </p:sp>
        </mc:Choice>
        <mc:Fallback xmlns="">
          <p:sp>
            <p:nvSpPr>
              <p:cNvPr id="3" name="Text Placeholder 2">
                <a:extLst>
                  <a:ext uri="{FF2B5EF4-FFF2-40B4-BE49-F238E27FC236}">
                    <a16:creationId xmlns:a16="http://schemas.microsoft.com/office/drawing/2014/main" id="{1845AE76-45E1-ECBB-5DE4-316A3880F52B}"/>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2056419546"/>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8D236-8A3F-2BA6-1000-0A0B38001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6D8AB-F270-610D-99F5-7B8913FD435C}"/>
              </a:ext>
            </a:extLst>
          </p:cNvPr>
          <p:cNvSpPr>
            <a:spLocks noGrp="1"/>
          </p:cNvSpPr>
          <p:nvPr>
            <p:ph type="title"/>
          </p:nvPr>
        </p:nvSpPr>
        <p:spPr/>
        <p:txBody>
          <a:bodyPr>
            <a:normAutofit fontScale="90000"/>
          </a:bodyPr>
          <a:lstStyle/>
          <a:p>
            <a:r>
              <a:rPr lang="en-GB" noProof="0" dirty="0"/>
              <a:t>Fitted line</a:t>
            </a:r>
            <a:br>
              <a:rPr lang="en-GB" noProof="0" dirty="0"/>
            </a:br>
            <a:br>
              <a:rPr lang="en-GB" noProof="0" dirty="0"/>
            </a:br>
            <a:endParaRPr lang="en-GB" noProof="0" dirty="0"/>
          </a:p>
        </p:txBody>
      </p:sp>
      <p:sp>
        <p:nvSpPr>
          <p:cNvPr id="3" name="Text Placeholder 2">
            <a:extLst>
              <a:ext uri="{FF2B5EF4-FFF2-40B4-BE49-F238E27FC236}">
                <a16:creationId xmlns:a16="http://schemas.microsoft.com/office/drawing/2014/main" id="{6918776F-02E9-52DA-7F90-73A6B7C37D9D}"/>
              </a:ext>
            </a:extLst>
          </p:cNvPr>
          <p:cNvSpPr>
            <a:spLocks noGrp="1"/>
          </p:cNvSpPr>
          <p:nvPr>
            <p:ph type="body" sz="quarter" idx="11"/>
          </p:nvPr>
        </p:nvSpPr>
        <p:spPr>
          <a:xfrm>
            <a:off x="900112" y="1700213"/>
            <a:ext cx="7632327" cy="5157787"/>
          </a:xfrm>
        </p:spPr>
        <p:txBody>
          <a:bodyPr/>
          <a:lstStyle/>
          <a:p>
            <a:pPr marL="0" lvl="0" indent="0">
              <a:buNone/>
            </a:pPr>
            <a:r>
              <a:rPr lang="en-GB" sz="2400" dirty="0"/>
              <a:t>The least squares method is a procedure for using sample data to find the estimated regression equation. The equation can be plotted as a fitted line in the scatter graph.</a:t>
            </a:r>
          </a:p>
          <a:p>
            <a:pPr marL="0" lvl="0" indent="0">
              <a:buNone/>
            </a:pPr>
            <a:endParaRPr lang="en-GB" sz="2400" dirty="0"/>
          </a:p>
          <a:p>
            <a:pPr marL="0" lvl="0" indent="0">
              <a:buNone/>
            </a:pPr>
            <a:endParaRPr lang="en-GB" sz="2400" dirty="0"/>
          </a:p>
        </p:txBody>
      </p:sp>
      <p:graphicFrame>
        <p:nvGraphicFramePr>
          <p:cNvPr id="4" name="Chart 3">
            <a:extLst>
              <a:ext uri="{FF2B5EF4-FFF2-40B4-BE49-F238E27FC236}">
                <a16:creationId xmlns:a16="http://schemas.microsoft.com/office/drawing/2014/main" id="{6F84846D-2371-8C7B-E871-CFCDA64E6DCC}"/>
              </a:ext>
            </a:extLst>
          </p:cNvPr>
          <p:cNvGraphicFramePr>
            <a:graphicFrameLocks/>
          </p:cNvGraphicFramePr>
          <p:nvPr>
            <p:extLst>
              <p:ext uri="{D42A27DB-BD31-4B8C-83A1-F6EECF244321}">
                <p14:modId xmlns:p14="http://schemas.microsoft.com/office/powerpoint/2010/main" val="1258321815"/>
              </p:ext>
            </p:extLst>
          </p:nvPr>
        </p:nvGraphicFramePr>
        <p:xfrm>
          <a:off x="900111" y="3140968"/>
          <a:ext cx="5118932" cy="32403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8152817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EA3C8-1D4B-8994-D803-B3DB088E13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96490-77BF-E697-8577-CE89DA600C51}"/>
              </a:ext>
            </a:extLst>
          </p:cNvPr>
          <p:cNvSpPr>
            <a:spLocks noGrp="1"/>
          </p:cNvSpPr>
          <p:nvPr>
            <p:ph type="title"/>
          </p:nvPr>
        </p:nvSpPr>
        <p:spPr/>
        <p:txBody>
          <a:bodyPr>
            <a:normAutofit fontScale="90000"/>
          </a:bodyPr>
          <a:lstStyle/>
          <a:p>
            <a:r>
              <a:rPr lang="en-GB" dirty="0"/>
              <a:t>Least square criterion</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DBB1371-C644-BFCB-59A3-4F0B18808991}"/>
                  </a:ext>
                </a:extLst>
              </p:cNvPr>
              <p:cNvSpPr>
                <a:spLocks noGrp="1"/>
              </p:cNvSpPr>
              <p:nvPr>
                <p:ph type="body" sz="quarter" idx="11"/>
              </p:nvPr>
            </p:nvSpPr>
            <p:spPr>
              <a:xfrm>
                <a:off x="900112" y="1700213"/>
                <a:ext cx="7632327" cy="5157787"/>
              </a:xfrm>
            </p:spPr>
            <p:txBody>
              <a:bodyPr/>
              <a:lstStyle/>
              <a:p>
                <a:pPr marL="0" lvl="0" indent="0">
                  <a:buNone/>
                </a:pPr>
                <a:r>
                  <a:rPr lang="en-GB" sz="2400" dirty="0"/>
                  <a:t>The fitted line should be as close as possible to the dots. This is an optimisation using the least squares criterion:</a:t>
                </a:r>
              </a:p>
              <a:p>
                <a:pPr marL="0" lvl="0" indent="0">
                  <a:buNone/>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rPr>
                        <m:t>𝑀𝑖𝑛</m:t>
                      </m:r>
                      <m:nary>
                        <m:naryPr>
                          <m:chr m:val="∑"/>
                          <m:subHide m:val="on"/>
                          <m:supHide m:val="on"/>
                          <m:ctrlPr>
                            <a:rPr lang="en-GB" sz="2400" b="0" i="1" smtClean="0">
                              <a:latin typeface="Cambria Math" panose="02040503050406030204" pitchFamily="18" charset="0"/>
                            </a:rPr>
                          </m:ctrlPr>
                        </m:naryPr>
                        <m:sub/>
                        <m:sup/>
                        <m:e>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𝑌</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𝑌</m:t>
                                          </m:r>
                                        </m:e>
                                      </m:acc>
                                    </m:e>
                                    <m:sub>
                                      <m:r>
                                        <a:rPr lang="en-GB" sz="2400" b="0" i="1" smtClean="0">
                                          <a:latin typeface="Cambria Math" panose="02040503050406030204" pitchFamily="18" charset="0"/>
                                        </a:rPr>
                                        <m:t>𝑖</m:t>
                                      </m:r>
                                    </m:sub>
                                  </m:sSub>
                                </m:e>
                              </m:d>
                            </m:e>
                            <m:sup>
                              <m:r>
                                <a:rPr lang="en-GB" sz="2400" b="0" i="1" smtClean="0">
                                  <a:latin typeface="Cambria Math" panose="02040503050406030204" pitchFamily="18" charset="0"/>
                                </a:rPr>
                                <m:t>2</m:t>
                              </m:r>
                            </m:sup>
                          </m:sSup>
                        </m:e>
                      </m:nary>
                    </m:oMath>
                  </m:oMathPara>
                </a14:m>
                <a:endParaRPr lang="en-GB" sz="2400" dirty="0"/>
              </a:p>
              <a:p>
                <a:pPr marL="0" lvl="0" indent="0">
                  <a:buNone/>
                </a:pPr>
                <a:endParaRPr lang="en-GB" sz="2400" dirty="0"/>
              </a:p>
            </p:txBody>
          </p:sp>
        </mc:Choice>
        <mc:Fallback xmlns="">
          <p:sp>
            <p:nvSpPr>
              <p:cNvPr id="3" name="Text Placeholder 2">
                <a:extLst>
                  <a:ext uri="{FF2B5EF4-FFF2-40B4-BE49-F238E27FC236}">
                    <a16:creationId xmlns:a16="http://schemas.microsoft.com/office/drawing/2014/main" id="{6DBB1371-C644-BFCB-59A3-4F0B18808991}"/>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r="-1677"/>
                </a:stretch>
              </a:blipFill>
            </p:spPr>
            <p:txBody>
              <a:bodyPr/>
              <a:lstStyle/>
              <a:p>
                <a:r>
                  <a:rPr lang="en-GB">
                    <a:noFill/>
                  </a:rPr>
                  <a:t> </a:t>
                </a:r>
              </a:p>
            </p:txBody>
          </p:sp>
        </mc:Fallback>
      </mc:AlternateContent>
      <p:graphicFrame>
        <p:nvGraphicFramePr>
          <p:cNvPr id="4" name="Chart 3">
            <a:extLst>
              <a:ext uri="{FF2B5EF4-FFF2-40B4-BE49-F238E27FC236}">
                <a16:creationId xmlns:a16="http://schemas.microsoft.com/office/drawing/2014/main" id="{9CD40522-5B69-518A-C170-C094C0787B90}"/>
              </a:ext>
            </a:extLst>
          </p:cNvPr>
          <p:cNvGraphicFramePr>
            <a:graphicFrameLocks/>
          </p:cNvGraphicFramePr>
          <p:nvPr>
            <p:extLst>
              <p:ext uri="{D42A27DB-BD31-4B8C-83A1-F6EECF244321}">
                <p14:modId xmlns:p14="http://schemas.microsoft.com/office/powerpoint/2010/main" val="699121665"/>
              </p:ext>
            </p:extLst>
          </p:nvPr>
        </p:nvGraphicFramePr>
        <p:xfrm>
          <a:off x="3419873" y="3429000"/>
          <a:ext cx="4896024" cy="3024336"/>
        </p:xfrm>
        <a:graphic>
          <a:graphicData uri="http://schemas.openxmlformats.org/drawingml/2006/chart">
            <c:chart xmlns:c="http://schemas.openxmlformats.org/drawingml/2006/chart" xmlns:r="http://schemas.openxmlformats.org/officeDocument/2006/relationships" r:id="rId3"/>
          </a:graphicData>
        </a:graphic>
      </p:graphicFrame>
      <p:cxnSp>
        <p:nvCxnSpPr>
          <p:cNvPr id="6" name="Straight Arrow Connector 5">
            <a:extLst>
              <a:ext uri="{FF2B5EF4-FFF2-40B4-BE49-F238E27FC236}">
                <a16:creationId xmlns:a16="http://schemas.microsoft.com/office/drawing/2014/main" id="{0CDFC49B-3213-4299-13FB-CBB519614DF5}"/>
              </a:ext>
            </a:extLst>
          </p:cNvPr>
          <p:cNvCxnSpPr>
            <a:cxnSpLocks/>
          </p:cNvCxnSpPr>
          <p:nvPr/>
        </p:nvCxnSpPr>
        <p:spPr>
          <a:xfrm>
            <a:off x="6084168" y="4653136"/>
            <a:ext cx="0" cy="360040"/>
          </a:xfrm>
          <a:prstGeom prst="straightConnector1">
            <a:avLst/>
          </a:prstGeom>
          <a:ln>
            <a:headEnd type="triangle"/>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612922921"/>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03B4D-8909-7960-C7B2-82E397C1C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3A437-0388-9B48-DFC1-41F9D3811CC9}"/>
              </a:ext>
            </a:extLst>
          </p:cNvPr>
          <p:cNvSpPr>
            <a:spLocks noGrp="1"/>
          </p:cNvSpPr>
          <p:nvPr>
            <p:ph type="title"/>
          </p:nvPr>
        </p:nvSpPr>
        <p:spPr/>
        <p:txBody>
          <a:bodyPr>
            <a:normAutofit fontScale="90000"/>
          </a:bodyPr>
          <a:lstStyle/>
          <a:p>
            <a:r>
              <a:rPr lang="en-GB" noProof="0" dirty="0"/>
              <a:t>The regression equation</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2BC5A8B-487C-2A4D-9280-0E40D2F5D934}"/>
                  </a:ext>
                </a:extLst>
              </p:cNvPr>
              <p:cNvSpPr>
                <a:spLocks noGrp="1"/>
              </p:cNvSpPr>
              <p:nvPr>
                <p:ph type="body" sz="quarter" idx="11"/>
              </p:nvPr>
            </p:nvSpPr>
            <p:spPr>
              <a:xfrm>
                <a:off x="900112" y="1700213"/>
                <a:ext cx="7632327" cy="5157787"/>
              </a:xfrm>
            </p:spPr>
            <p:txBody>
              <a:bodyPr/>
              <a:lstStyle/>
              <a:p>
                <a:pPr marL="0" lvl="0" indent="0">
                  <a:buNone/>
                </a:pPr>
                <a:r>
                  <a:rPr lang="en-GB" sz="2400" dirty="0"/>
                  <a:t>The regression equation can be written as follows:</a:t>
                </a:r>
              </a:p>
              <a:p>
                <a:pPr marL="0" lvl="0" indent="0">
                  <a:buNone/>
                </a:pPr>
                <a:endParaRPr lang="en-GB" sz="2400" dirty="0"/>
              </a:p>
              <a:p>
                <a:pPr marL="0" lvl="0" indent="0">
                  <a:buNone/>
                </a:pPr>
                <a14:m>
                  <m:oMathPara xmlns:m="http://schemas.openxmlformats.org/officeDocument/2006/math">
                    <m:oMathParaPr>
                      <m:jc m:val="centerGroup"/>
                    </m:oMathParaPr>
                    <m:oMath xmlns:m="http://schemas.openxmlformats.org/officeDocument/2006/math">
                      <m:sSub>
                        <m:sSubPr>
                          <m:ctrlPr>
                            <a:rPr lang="en-GB" sz="2400" i="1" smtClean="0">
                              <a:solidFill>
                                <a:schemeClr val="accent1">
                                  <a:lumMod val="75000"/>
                                </a:schemeClr>
                              </a:solidFill>
                              <a:latin typeface="Cambria Math" panose="02040503050406030204" pitchFamily="18" charset="0"/>
                            </a:rPr>
                          </m:ctrlPr>
                        </m:sSubPr>
                        <m:e>
                          <m:r>
                            <a:rPr lang="en-GB" sz="2400" b="0" i="1" smtClean="0">
                              <a:solidFill>
                                <a:schemeClr val="accent1">
                                  <a:lumMod val="75000"/>
                                </a:schemeClr>
                              </a:solidFill>
                              <a:latin typeface="Cambria Math" panose="02040503050406030204" pitchFamily="18" charset="0"/>
                            </a:rPr>
                            <m:t>𝑌</m:t>
                          </m:r>
                        </m:e>
                        <m:sub>
                          <m:r>
                            <a:rPr lang="en-GB" sz="2400" b="0" i="1" smtClean="0">
                              <a:solidFill>
                                <a:schemeClr val="accent1">
                                  <a:lumMod val="75000"/>
                                </a:schemeClr>
                              </a:solidFill>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solidFill>
                                <a:srgbClr val="FF0000"/>
                              </a:solidFill>
                              <a:latin typeface="Cambria Math" panose="02040503050406030204" pitchFamily="18" charset="0"/>
                            </a:rPr>
                          </m:ctrlPr>
                        </m:sSubPr>
                        <m:e>
                          <m:r>
                            <a:rPr lang="en-GB" sz="2400" b="0" i="1" smtClean="0">
                              <a:solidFill>
                                <a:srgbClr val="FF0000"/>
                              </a:solidFill>
                              <a:latin typeface="Cambria Math" panose="02040503050406030204" pitchFamily="18" charset="0"/>
                            </a:rPr>
                            <m:t>𝑏</m:t>
                          </m:r>
                        </m:e>
                        <m:sub>
                          <m:r>
                            <a:rPr lang="en-GB" sz="2400" b="0" i="1" smtClean="0">
                              <a:solidFill>
                                <a:srgbClr val="FF0000"/>
                              </a:solidFill>
                              <a:latin typeface="Cambria Math" panose="02040503050406030204" pitchFamily="18" charset="0"/>
                            </a:rPr>
                            <m:t>0</m:t>
                          </m:r>
                        </m:sub>
                      </m:sSub>
                      <m:r>
                        <a:rPr lang="en-GB" sz="2400" b="0" i="1" smtClean="0">
                          <a:solidFill>
                            <a:srgbClr val="FF0000"/>
                          </a:solidFill>
                          <a:latin typeface="Cambria Math" panose="02040503050406030204" pitchFamily="18" charset="0"/>
                        </a:rPr>
                        <m:t>+ </m:t>
                      </m:r>
                      <m:sSub>
                        <m:sSubPr>
                          <m:ctrlPr>
                            <a:rPr lang="en-GB" sz="2400" b="0" i="1" smtClean="0">
                              <a:solidFill>
                                <a:srgbClr val="FF0000"/>
                              </a:solidFill>
                              <a:latin typeface="Cambria Math" panose="02040503050406030204" pitchFamily="18" charset="0"/>
                            </a:rPr>
                          </m:ctrlPr>
                        </m:sSubPr>
                        <m:e>
                          <m:r>
                            <a:rPr lang="en-GB" sz="2400" b="0" i="1" smtClean="0">
                              <a:solidFill>
                                <a:srgbClr val="FF0000"/>
                              </a:solidFill>
                              <a:latin typeface="Cambria Math" panose="02040503050406030204" pitchFamily="18" charset="0"/>
                            </a:rPr>
                            <m:t>𝑏</m:t>
                          </m:r>
                        </m:e>
                        <m:sub>
                          <m:r>
                            <a:rPr lang="en-GB" sz="2400" b="0" i="1" smtClean="0">
                              <a:solidFill>
                                <a:srgbClr val="FF0000"/>
                              </a:solidFill>
                              <a:latin typeface="Cambria Math" panose="02040503050406030204" pitchFamily="18" charset="0"/>
                            </a:rPr>
                            <m:t>1</m:t>
                          </m:r>
                        </m:sub>
                      </m:sSub>
                      <m:sSub>
                        <m:sSubPr>
                          <m:ctrlPr>
                            <a:rPr lang="en-GB" sz="2400" b="0" i="1" smtClean="0">
                              <a:solidFill>
                                <a:srgbClr val="FF0000"/>
                              </a:solidFill>
                              <a:latin typeface="Cambria Math" panose="02040503050406030204" pitchFamily="18" charset="0"/>
                            </a:rPr>
                          </m:ctrlPr>
                        </m:sSubPr>
                        <m:e>
                          <m:r>
                            <a:rPr lang="en-GB" sz="2400" b="0" i="1" smtClean="0">
                              <a:solidFill>
                                <a:srgbClr val="FF0000"/>
                              </a:solidFill>
                              <a:latin typeface="Cambria Math" panose="02040503050406030204" pitchFamily="18" charset="0"/>
                            </a:rPr>
                            <m:t>𝑋</m:t>
                          </m:r>
                        </m:e>
                        <m:sub>
                          <m:r>
                            <a:rPr lang="en-GB" sz="2400" b="0" i="1" smtClean="0">
                              <a:solidFill>
                                <a:srgbClr val="FF0000"/>
                              </a:solidFill>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solidFill>
                                <a:srgbClr val="92D050"/>
                              </a:solidFill>
                              <a:latin typeface="Cambria Math" panose="02040503050406030204" pitchFamily="18" charset="0"/>
                            </a:rPr>
                          </m:ctrlPr>
                        </m:sSubPr>
                        <m:e>
                          <m:r>
                            <a:rPr lang="en-GB" sz="2400" b="0" i="1" smtClean="0">
                              <a:solidFill>
                                <a:srgbClr val="92D050"/>
                              </a:solidFill>
                              <a:latin typeface="Cambria Math" panose="02040503050406030204" pitchFamily="18" charset="0"/>
                            </a:rPr>
                            <m:t>𝑒</m:t>
                          </m:r>
                        </m:e>
                        <m:sub>
                          <m:r>
                            <a:rPr lang="en-GB" sz="2400" b="0" i="1" smtClean="0">
                              <a:solidFill>
                                <a:srgbClr val="92D050"/>
                              </a:solidFill>
                              <a:latin typeface="Cambria Math" panose="02040503050406030204" pitchFamily="18" charset="0"/>
                            </a:rPr>
                            <m:t>𝑖</m:t>
                          </m:r>
                        </m:sub>
                      </m:sSub>
                    </m:oMath>
                  </m:oMathPara>
                </a14:m>
                <a:endParaRPr lang="en-GB" sz="2400" dirty="0"/>
              </a:p>
              <a:p>
                <a:pPr marL="0" lvl="0" indent="0">
                  <a:buNone/>
                </a:pPr>
                <a:r>
                  <a:rPr lang="en-GB" sz="2400" dirty="0"/>
                  <a:t>where </a:t>
                </a:r>
              </a:p>
              <a:p>
                <a:pPr marL="0" lvl="0" indent="0">
                  <a:buNone/>
                </a:pP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0</m:t>
                        </m:r>
                      </m:sub>
                    </m:sSub>
                  </m:oMath>
                </a14:m>
                <a:r>
                  <a:rPr lang="en-GB" sz="2400" dirty="0"/>
                  <a:t> is the </a:t>
                </a:r>
                <a:r>
                  <a:rPr lang="en-GB" sz="2400" i="1" dirty="0"/>
                  <a:t>Y</a:t>
                </a:r>
                <a:r>
                  <a:rPr lang="en-GB" sz="2400" dirty="0"/>
                  <a:t> intercept of the estimated regression line</a:t>
                </a:r>
              </a:p>
              <a:p>
                <a:pPr marL="0" lvl="0" indent="0">
                  <a:buNone/>
                </a:pP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1</m:t>
                        </m:r>
                      </m:sub>
                    </m:sSub>
                  </m:oMath>
                </a14:m>
                <a:r>
                  <a:rPr lang="en-GB" sz="2400" dirty="0"/>
                  <a:t> is the slope of the estimated regression line</a:t>
                </a:r>
              </a:p>
              <a:p>
                <a:pPr marL="0" lvl="0" indent="0">
                  <a:buNone/>
                </a:pP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𝑒</m:t>
                        </m:r>
                      </m:e>
                      <m:sub>
                        <m:r>
                          <a:rPr lang="en-GB" sz="2400" b="0" i="1" smtClean="0">
                            <a:latin typeface="Cambria Math" panose="02040503050406030204" pitchFamily="18" charset="0"/>
                          </a:rPr>
                          <m:t>𝑖</m:t>
                        </m:r>
                      </m:sub>
                    </m:sSub>
                  </m:oMath>
                </a14:m>
                <a:r>
                  <a:rPr lang="en-GB" sz="2400" dirty="0"/>
                  <a:t> are the residuals or errors </a:t>
                </a:r>
              </a:p>
              <a:p>
                <a:pPr marL="0" lvl="0" indent="0">
                  <a:buNone/>
                </a:pPr>
                <a:endParaRPr lang="en-GB" sz="2400" dirty="0"/>
              </a:p>
              <a:p>
                <a:pPr marL="0" lvl="0" indent="0">
                  <a:buNone/>
                </a:pPr>
                <a14:m>
                  <m:oMathPara xmlns:m="http://schemas.openxmlformats.org/officeDocument/2006/math">
                    <m:oMathParaPr>
                      <m:jc m:val="center"/>
                    </m:oMathParaPr>
                    <m:oMath xmlns:m="http://schemas.openxmlformats.org/officeDocument/2006/math">
                      <m:sSub>
                        <m:sSubPr>
                          <m:ctrlPr>
                            <a:rPr lang="en-GB" sz="2400" i="1" smtClean="0">
                              <a:solidFill>
                                <a:schemeClr val="accent1">
                                  <a:lumMod val="75000"/>
                                </a:schemeClr>
                              </a:solidFill>
                              <a:latin typeface="Cambria Math" panose="02040503050406030204" pitchFamily="18" charset="0"/>
                            </a:rPr>
                          </m:ctrlPr>
                        </m:sSubPr>
                        <m:e>
                          <m:r>
                            <a:rPr lang="en-GB" sz="2400" i="1">
                              <a:solidFill>
                                <a:schemeClr val="accent1">
                                  <a:lumMod val="75000"/>
                                </a:schemeClr>
                              </a:solidFill>
                              <a:latin typeface="Cambria Math" panose="02040503050406030204" pitchFamily="18" charset="0"/>
                            </a:rPr>
                            <m:t>𝑌</m:t>
                          </m:r>
                        </m:e>
                        <m:sub>
                          <m:r>
                            <a:rPr lang="en-GB" sz="2400" i="1">
                              <a:solidFill>
                                <a:schemeClr val="accent1">
                                  <a:lumMod val="75000"/>
                                </a:schemeClr>
                              </a:solidFill>
                              <a:latin typeface="Cambria Math" panose="02040503050406030204" pitchFamily="18" charset="0"/>
                            </a:rPr>
                            <m:t>𝑖</m:t>
                          </m:r>
                        </m:sub>
                      </m:sSub>
                      <m:r>
                        <a:rPr lang="en-GB" sz="2400" i="1">
                          <a:latin typeface="Cambria Math" panose="02040503050406030204" pitchFamily="18" charset="0"/>
                        </a:rPr>
                        <m:t>=</m:t>
                      </m:r>
                      <m:sSub>
                        <m:sSubPr>
                          <m:ctrlPr>
                            <a:rPr lang="en-GB" sz="2400" i="1" smtClean="0">
                              <a:solidFill>
                                <a:srgbClr val="FF0000"/>
                              </a:solidFill>
                              <a:latin typeface="Cambria Math" panose="02040503050406030204" pitchFamily="18" charset="0"/>
                            </a:rPr>
                          </m:ctrlPr>
                        </m:sSubPr>
                        <m:e>
                          <m:acc>
                            <m:accPr>
                              <m:chr m:val="̂"/>
                              <m:ctrlPr>
                                <a:rPr lang="en-GB" sz="2400" i="1" smtClean="0">
                                  <a:solidFill>
                                    <a:srgbClr val="FF0000"/>
                                  </a:solidFill>
                                  <a:latin typeface="Cambria Math" panose="02040503050406030204" pitchFamily="18" charset="0"/>
                                </a:rPr>
                              </m:ctrlPr>
                            </m:accPr>
                            <m:e>
                              <m:r>
                                <a:rPr lang="en-GB" sz="2400" b="0" i="1" smtClean="0">
                                  <a:solidFill>
                                    <a:srgbClr val="FF0000"/>
                                  </a:solidFill>
                                  <a:latin typeface="Cambria Math" panose="02040503050406030204" pitchFamily="18" charset="0"/>
                                </a:rPr>
                                <m:t>𝑌</m:t>
                              </m:r>
                            </m:e>
                          </m:acc>
                        </m:e>
                        <m:sub>
                          <m:r>
                            <a:rPr lang="en-GB" sz="2400" b="0" i="1" smtClean="0">
                              <a:solidFill>
                                <a:srgbClr val="FF0000"/>
                              </a:solidFill>
                              <a:latin typeface="Cambria Math" panose="02040503050406030204" pitchFamily="18" charset="0"/>
                            </a:rPr>
                            <m:t>𝑖</m:t>
                          </m:r>
                        </m:sub>
                      </m:sSub>
                      <m:r>
                        <a:rPr lang="en-GB" sz="2400" i="1">
                          <a:latin typeface="Cambria Math" panose="02040503050406030204" pitchFamily="18" charset="0"/>
                        </a:rPr>
                        <m:t>+</m:t>
                      </m:r>
                      <m:sSub>
                        <m:sSubPr>
                          <m:ctrlPr>
                            <a:rPr lang="en-GB" sz="2400" i="1" smtClean="0">
                              <a:solidFill>
                                <a:srgbClr val="92D050"/>
                              </a:solidFill>
                              <a:latin typeface="Cambria Math" panose="02040503050406030204" pitchFamily="18" charset="0"/>
                            </a:rPr>
                          </m:ctrlPr>
                        </m:sSubPr>
                        <m:e>
                          <m:r>
                            <a:rPr lang="en-GB" sz="2400" i="1">
                              <a:solidFill>
                                <a:srgbClr val="92D050"/>
                              </a:solidFill>
                              <a:latin typeface="Cambria Math" panose="02040503050406030204" pitchFamily="18" charset="0"/>
                            </a:rPr>
                            <m:t>𝑒</m:t>
                          </m:r>
                        </m:e>
                        <m:sub>
                          <m:r>
                            <a:rPr lang="en-GB" sz="2400" i="1">
                              <a:solidFill>
                                <a:srgbClr val="92D050"/>
                              </a:solidFill>
                              <a:latin typeface="Cambria Math" panose="02040503050406030204" pitchFamily="18" charset="0"/>
                            </a:rPr>
                            <m:t>𝑖</m:t>
                          </m:r>
                        </m:sub>
                      </m:sSub>
                    </m:oMath>
                  </m:oMathPara>
                </a14:m>
                <a:endParaRPr lang="en-GB" sz="2400" dirty="0"/>
              </a:p>
              <a:p>
                <a:pPr marL="0" lvl="0" indent="0">
                  <a:buNone/>
                </a:pPr>
                <a14:m>
                  <m:oMath xmlns:m="http://schemas.openxmlformats.org/officeDocument/2006/math">
                    <m:sSub>
                      <m:sSubPr>
                        <m:ctrlPr>
                          <a:rPr lang="en-GB" sz="2400" i="1" smtClean="0">
                            <a:latin typeface="Cambria Math" panose="02040503050406030204" pitchFamily="18" charset="0"/>
                          </a:rPr>
                        </m:ctrlPr>
                      </m:sSubPr>
                      <m:e>
                        <m:acc>
                          <m:accPr>
                            <m:chr m:val="̂"/>
                            <m:ctrlPr>
                              <a:rPr lang="en-GB" sz="2400" i="1" smtClean="0">
                                <a:latin typeface="Cambria Math" panose="02040503050406030204" pitchFamily="18" charset="0"/>
                              </a:rPr>
                            </m:ctrlPr>
                          </m:accPr>
                          <m:e>
                            <m:r>
                              <a:rPr lang="en-GB" sz="2400" b="0" i="1" smtClean="0">
                                <a:latin typeface="Cambria Math" panose="02040503050406030204" pitchFamily="18" charset="0"/>
                              </a:rPr>
                              <m:t>𝑌</m:t>
                            </m:r>
                          </m:e>
                        </m:acc>
                      </m:e>
                      <m:sub>
                        <m:r>
                          <a:rPr lang="en-GB" sz="2400" b="0" i="1" smtClean="0">
                            <a:latin typeface="Cambria Math" panose="02040503050406030204" pitchFamily="18" charset="0"/>
                          </a:rPr>
                          <m:t>𝑖</m:t>
                        </m:r>
                      </m:sub>
                    </m:sSub>
                  </m:oMath>
                </a14:m>
                <a:r>
                  <a:rPr lang="en-GB" sz="2400" dirty="0"/>
                  <a:t> are the fitted values, the expectation of </a:t>
                </a:r>
                <a:r>
                  <a:rPr lang="en-GB" sz="2400" i="1" dirty="0"/>
                  <a:t>Y</a:t>
                </a:r>
                <a:r>
                  <a:rPr lang="en-GB" sz="2400" dirty="0"/>
                  <a:t> conditional on the value of </a:t>
                </a:r>
                <a:r>
                  <a:rPr lang="en-GB" sz="2400" i="1" dirty="0"/>
                  <a:t>X: 	</a:t>
                </a:r>
                <a14:m>
                  <m:oMath xmlns:m="http://schemas.openxmlformats.org/officeDocument/2006/math">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𝑌</m:t>
                            </m:r>
                          </m:e>
                        </m:acc>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𝐸</m:t>
                    </m:r>
                    <m:d>
                      <m:dPr>
                        <m:begChr m:val="["/>
                        <m:endChr m:val="]"/>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𝑌</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𝑋</m:t>
                            </m:r>
                          </m:e>
                          <m:sub>
                            <m:r>
                              <a:rPr lang="en-GB" sz="2400" b="0" i="1" smtClean="0">
                                <a:latin typeface="Cambria Math" panose="02040503050406030204" pitchFamily="18" charset="0"/>
                              </a:rPr>
                              <m:t>𝑖</m:t>
                            </m:r>
                          </m:sub>
                        </m:sSub>
                      </m:e>
                    </m:d>
                    <m:r>
                      <a:rPr lang="en-GB" sz="2400" b="0" i="1" smtClean="0">
                        <a:latin typeface="Cambria Math" panose="02040503050406030204" pitchFamily="18" charset="0"/>
                      </a:rPr>
                      <m:t>=</m:t>
                    </m:r>
                    <m:sSub>
                      <m:sSubPr>
                        <m:ctrlPr>
                          <a:rPr lang="en-GB" sz="2400" i="1" smtClean="0">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𝑏</m:t>
                        </m:r>
                      </m:e>
                      <m:sub>
                        <m:r>
                          <a:rPr lang="en-GB" sz="2400" i="1">
                            <a:solidFill>
                              <a:schemeClr val="tx1"/>
                            </a:solidFill>
                            <a:latin typeface="Cambria Math" panose="02040503050406030204" pitchFamily="18" charset="0"/>
                          </a:rPr>
                          <m:t>0</m:t>
                        </m:r>
                      </m:sub>
                    </m:sSub>
                    <m:r>
                      <a:rPr lang="en-GB" sz="2400" i="1">
                        <a:solidFill>
                          <a:schemeClr val="tx1"/>
                        </a:solidFill>
                        <a:latin typeface="Cambria Math" panose="02040503050406030204" pitchFamily="18" charset="0"/>
                      </a:rPr>
                      <m:t>+ </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𝑏</m:t>
                        </m:r>
                      </m:e>
                      <m:sub>
                        <m:r>
                          <a:rPr lang="en-GB" sz="2400" i="1">
                            <a:solidFill>
                              <a:schemeClr val="tx1"/>
                            </a:solidFill>
                            <a:latin typeface="Cambria Math" panose="02040503050406030204" pitchFamily="18" charset="0"/>
                          </a:rPr>
                          <m:t>1</m:t>
                        </m:r>
                      </m:sub>
                    </m:sSub>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𝑋</m:t>
                        </m:r>
                      </m:e>
                      <m:sub>
                        <m:r>
                          <a:rPr lang="en-GB" sz="2400" i="1">
                            <a:solidFill>
                              <a:schemeClr val="tx1"/>
                            </a:solidFill>
                            <a:latin typeface="Cambria Math" panose="02040503050406030204" pitchFamily="18" charset="0"/>
                          </a:rPr>
                          <m:t>𝑖</m:t>
                        </m:r>
                      </m:sub>
                    </m:sSub>
                  </m:oMath>
                </a14:m>
                <a:endParaRPr lang="en-GB" sz="2400" i="1" dirty="0"/>
              </a:p>
            </p:txBody>
          </p:sp>
        </mc:Choice>
        <mc:Fallback xmlns="">
          <p:sp>
            <p:nvSpPr>
              <p:cNvPr id="3" name="Text Placeholder 2">
                <a:extLst>
                  <a:ext uri="{FF2B5EF4-FFF2-40B4-BE49-F238E27FC236}">
                    <a16:creationId xmlns:a16="http://schemas.microsoft.com/office/drawing/2014/main" id="{32BC5A8B-487C-2A4D-9280-0E40D2F5D934}"/>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3436793226"/>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BC791-88F8-8C78-DC6E-2AF3B937B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C2A8C-8A12-E8B6-72B6-04629C534355}"/>
              </a:ext>
            </a:extLst>
          </p:cNvPr>
          <p:cNvSpPr>
            <a:spLocks noGrp="1"/>
          </p:cNvSpPr>
          <p:nvPr>
            <p:ph type="title"/>
          </p:nvPr>
        </p:nvSpPr>
        <p:spPr/>
        <p:txBody>
          <a:bodyPr>
            <a:normAutofit fontScale="90000"/>
          </a:bodyPr>
          <a:lstStyle/>
          <a:p>
            <a:r>
              <a:rPr lang="en-GB" dirty="0"/>
              <a:t>How to compute the coefficients</a:t>
            </a:r>
            <a:br>
              <a:rPr lang="en-GB" noProof="0" dirty="0"/>
            </a:b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3552F85-7D0B-43E6-E3E4-772CBD3F841A}"/>
                  </a:ext>
                </a:extLst>
              </p:cNvPr>
              <p:cNvSpPr>
                <a:spLocks noGrp="1"/>
              </p:cNvSpPr>
              <p:nvPr>
                <p:ph type="body" sz="quarter" idx="11"/>
              </p:nvPr>
            </p:nvSpPr>
            <p:spPr>
              <a:xfrm>
                <a:off x="900112" y="1700213"/>
                <a:ext cx="7632327" cy="5157787"/>
              </a:xfrm>
            </p:spPr>
            <p:txBody>
              <a:bodyPr/>
              <a:lstStyle/>
              <a:p>
                <a:pPr marL="0" lvl="0" indent="0">
                  <a:buNone/>
                </a:pPr>
                <a:r>
                  <a:rPr lang="en-GB" sz="2400" dirty="0"/>
                  <a:t>The OLS optimisation procedure c</a:t>
                </a:r>
                <a:r>
                  <a:rPr lang="en-US" sz="2400" dirty="0" err="1"/>
                  <a:t>hooses</a:t>
                </a:r>
                <a:r>
                  <a:rPr lang="en-US" sz="2400" dirty="0"/>
                  <a:t> </a:t>
                </a:r>
                <a:r>
                  <a:rPr lang="en-US" sz="2400" i="1" dirty="0"/>
                  <a:t>b</a:t>
                </a:r>
                <a:r>
                  <a:rPr lang="en-US" sz="2400" i="1" baseline="-25000" dirty="0"/>
                  <a:t>0</a:t>
                </a:r>
                <a:r>
                  <a:rPr lang="en-US" sz="2400" dirty="0"/>
                  <a:t> and </a:t>
                </a:r>
                <a:r>
                  <a:rPr lang="en-US" sz="2400" i="1" dirty="0"/>
                  <a:t>b</a:t>
                </a:r>
                <a:r>
                  <a:rPr lang="en-US" sz="2400" i="1" baseline="-25000" dirty="0"/>
                  <a:t>1</a:t>
                </a:r>
                <a:r>
                  <a:rPr lang="en-US" sz="2400" dirty="0"/>
                  <a:t> to minimize residual sum of squares</a:t>
                </a:r>
              </a:p>
              <a:p>
                <a:pPr marL="9525" indent="0">
                  <a:buNone/>
                </a:pPr>
                <a:endParaRPr lang="en-US" sz="2400" dirty="0"/>
              </a:p>
              <a:p>
                <a:pPr marL="9525" indent="0">
                  <a:buNone/>
                </a:pPr>
                <a:r>
                  <a:rPr lang="en-US" sz="2400" dirty="0"/>
                  <a:t>Minimize  </a:t>
                </a:r>
                <a14:m>
                  <m:oMath xmlns:m="http://schemas.openxmlformats.org/officeDocument/2006/math">
                    <m:nary>
                      <m:naryPr>
                        <m:chr m:val="∑"/>
                        <m:subHide m:val="on"/>
                        <m:supHide m:val="on"/>
                        <m:ctrlPr>
                          <a:rPr lang="en-GB" sz="2400" i="1">
                            <a:latin typeface="Cambria Math" panose="02040503050406030204" pitchFamily="18" charset="0"/>
                          </a:rPr>
                        </m:ctrlPr>
                      </m:naryPr>
                      <m:sub/>
                      <m:sup/>
                      <m:e>
                        <m:sSubSup>
                          <m:sSubSupPr>
                            <m:ctrlPr>
                              <a:rPr lang="en-GB" sz="2400" i="1">
                                <a:latin typeface="Cambria Math" panose="02040503050406030204" pitchFamily="18" charset="0"/>
                              </a:rPr>
                            </m:ctrlPr>
                          </m:sSubSupPr>
                          <m:e>
                            <m:r>
                              <a:rPr lang="en-GB" sz="2400" i="1">
                                <a:latin typeface="Cambria Math" panose="02040503050406030204" pitchFamily="18" charset="0"/>
                              </a:rPr>
                              <m:t>𝑒</m:t>
                            </m:r>
                          </m:e>
                          <m:sub>
                            <m:r>
                              <a:rPr lang="en-GB" sz="2400" i="1">
                                <a:latin typeface="Cambria Math" panose="02040503050406030204" pitchFamily="18" charset="0"/>
                              </a:rPr>
                              <m:t>𝑖</m:t>
                            </m:r>
                          </m:sub>
                          <m:sup>
                            <m:r>
                              <a:rPr lang="en-GB" sz="2400" i="1">
                                <a:latin typeface="Cambria Math" panose="02040503050406030204" pitchFamily="18" charset="0"/>
                              </a:rPr>
                              <m:t>2</m:t>
                            </m:r>
                          </m:sup>
                        </m:sSubSup>
                        <m:r>
                          <a:rPr lang="en-GB" sz="2400" i="1">
                            <a:latin typeface="Cambria Math" panose="02040503050406030204" pitchFamily="18" charset="0"/>
                          </a:rPr>
                          <m:t>=</m:t>
                        </m:r>
                        <m:nary>
                          <m:naryPr>
                            <m:chr m:val="∑"/>
                            <m:subHide m:val="on"/>
                            <m:supHide m:val="on"/>
                            <m:ctrlPr>
                              <a:rPr lang="en-GB" sz="2400" i="1">
                                <a:latin typeface="Cambria Math" panose="02040503050406030204" pitchFamily="18" charset="0"/>
                              </a:rPr>
                            </m:ctrlPr>
                          </m:naryPr>
                          <m:sub/>
                          <m:sup/>
                          <m:e>
                            <m:sSup>
                              <m:sSupPr>
                                <m:ctrlPr>
                                  <a:rPr lang="en-GB" sz="2400" i="1" smtClean="0">
                                    <a:latin typeface="Cambria Math" panose="02040503050406030204" pitchFamily="18" charset="0"/>
                                  </a:rPr>
                                </m:ctrlPr>
                              </m:sSupPr>
                              <m:e>
                                <m:d>
                                  <m:dPr>
                                    <m:ctrlPr>
                                      <a:rPr lang="en-GB" sz="2400" i="1" smtClean="0">
                                        <a:latin typeface="Cambria Math" panose="02040503050406030204" pitchFamily="18" charset="0"/>
                                      </a:rPr>
                                    </m:ctrlPr>
                                  </m:dPr>
                                  <m:e>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𝑌</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𝑌</m:t>
                                            </m:r>
                                          </m:e>
                                        </m:acc>
                                      </m:e>
                                      <m:sub>
                                        <m:r>
                                          <a:rPr lang="en-GB" sz="2400" b="0" i="1" smtClean="0">
                                            <a:latin typeface="Cambria Math" panose="02040503050406030204" pitchFamily="18" charset="0"/>
                                          </a:rPr>
                                          <m:t>𝑖</m:t>
                                        </m:r>
                                      </m:sub>
                                    </m:sSub>
                                  </m:e>
                                </m:d>
                              </m:e>
                              <m:sup>
                                <m:r>
                                  <a:rPr lang="en-GB" sz="2400" b="0" i="1" smtClean="0">
                                    <a:latin typeface="Cambria Math" panose="02040503050406030204" pitchFamily="18" charset="0"/>
                                  </a:rPr>
                                  <m:t>2</m:t>
                                </m:r>
                              </m:sup>
                            </m:sSup>
                          </m:e>
                        </m:nary>
                        <m:r>
                          <a:rPr lang="en-GB" sz="2400" b="0" i="1" smtClean="0">
                            <a:latin typeface="Cambria Math" panose="02040503050406030204" pitchFamily="18" charset="0"/>
                          </a:rPr>
                          <m:t>=</m:t>
                        </m:r>
                        <m:nary>
                          <m:naryPr>
                            <m:chr m:val="∑"/>
                            <m:subHide m:val="on"/>
                            <m:supHide m:val="on"/>
                            <m:ctrlPr>
                              <a:rPr lang="en-GB" sz="2400" i="1">
                                <a:latin typeface="Cambria Math" panose="02040503050406030204" pitchFamily="18" charset="0"/>
                              </a:rPr>
                            </m:ctrlPr>
                          </m:naryPr>
                          <m:sub/>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𝑖</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b="0" i="1" smtClean="0">
                                        <a:latin typeface="Cambria Math" panose="02040503050406030204" pitchFamily="18" charset="0"/>
                                      </a:rPr>
                                      <m:t>0</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b="0" i="1" smtClean="0">
                                        <a:latin typeface="Cambria Math" panose="02040503050406030204" pitchFamily="18" charset="0"/>
                                      </a:rPr>
                                      <m:t>1</m:t>
                                    </m:r>
                                  </m:sub>
                                </m:sSub>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𝑖</m:t>
                                    </m:r>
                                  </m:sub>
                                </m:sSub>
                                <m:r>
                                  <a:rPr lang="en-GB" sz="2400" i="1">
                                    <a:latin typeface="Cambria Math" panose="02040503050406030204" pitchFamily="18" charset="0"/>
                                  </a:rPr>
                                  <m:t>)</m:t>
                                </m:r>
                              </m:e>
                              <m:sup>
                                <m:r>
                                  <a:rPr lang="en-GB" sz="2400" i="1">
                                    <a:latin typeface="Cambria Math" panose="02040503050406030204" pitchFamily="18" charset="0"/>
                                  </a:rPr>
                                  <m:t>2</m:t>
                                </m:r>
                              </m:sup>
                            </m:sSup>
                          </m:e>
                        </m:nary>
                      </m:e>
                    </m:nary>
                  </m:oMath>
                </a14:m>
                <a:endParaRPr lang="en-GB" sz="2400" dirty="0"/>
              </a:p>
              <a:p>
                <a:pPr marL="9525" indent="0">
                  <a:buNone/>
                </a:pPr>
                <a:endParaRPr lang="en-US" sz="2400" dirty="0"/>
              </a:p>
              <a:p>
                <a:pPr marL="9525" indent="0">
                  <a:buNone/>
                </a:pPr>
                <a:r>
                  <a:rPr lang="en-US" sz="2400" dirty="0"/>
                  <a:t>solve using calculus to get:</a:t>
                </a:r>
              </a:p>
              <a:p>
                <a:pPr marL="9525" indent="0">
                  <a:buNone/>
                </a:pPr>
                <a14:m>
                  <m:oMathPara xmlns:m="http://schemas.openxmlformats.org/officeDocument/2006/math">
                    <m:oMathParaPr>
                      <m:jc m:val="centerGroup"/>
                    </m:oMathParaPr>
                    <m:oMath xmlns:m="http://schemas.openxmlformats.org/officeDocument/2006/math">
                      <m:sSub>
                        <m:sSubPr>
                          <m:ctrlPr>
                            <a:rPr lang="en-US"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𝑏</m:t>
                          </m:r>
                        </m:e>
                        <m:sub>
                          <m:r>
                            <a:rPr lang="en-GB" sz="2400" b="0" i="1" smtClean="0">
                              <a:solidFill>
                                <a:srgbClr val="FF0000"/>
                              </a:solidFill>
                              <a:latin typeface="Cambria Math" panose="02040503050406030204" pitchFamily="18" charset="0"/>
                            </a:rPr>
                            <m:t>1</m:t>
                          </m:r>
                        </m:sub>
                      </m:sSub>
                      <m:r>
                        <a:rPr lang="en-GB" sz="2400" i="1">
                          <a:solidFill>
                            <a:srgbClr val="FF0000"/>
                          </a:solidFill>
                          <a:latin typeface="Cambria Math" panose="02040503050406030204" pitchFamily="18" charset="0"/>
                        </a:rPr>
                        <m:t>=</m:t>
                      </m:r>
                      <m:f>
                        <m:fPr>
                          <m:ctrlPr>
                            <a:rPr lang="en-GB" sz="2400" i="1">
                              <a:solidFill>
                                <a:srgbClr val="FF0000"/>
                              </a:solidFill>
                              <a:latin typeface="Cambria Math" panose="02040503050406030204" pitchFamily="18" charset="0"/>
                            </a:rPr>
                          </m:ctrlPr>
                        </m:fPr>
                        <m:num>
                          <m:nary>
                            <m:naryPr>
                              <m:chr m:val="∑"/>
                              <m:subHide m:val="on"/>
                              <m:supHide m:val="on"/>
                              <m:ctrlPr>
                                <a:rPr lang="en-GB" sz="2400" i="1">
                                  <a:solidFill>
                                    <a:srgbClr val="FF0000"/>
                                  </a:solidFill>
                                  <a:latin typeface="Cambria Math" panose="02040503050406030204" pitchFamily="18" charset="0"/>
                                </a:rPr>
                              </m:ctrlPr>
                            </m:naryPr>
                            <m:sub/>
                            <m:sup/>
                            <m:e>
                              <m:sSub>
                                <m:sSubPr>
                                  <m:ctrlPr>
                                    <a:rPr lang="en-GB"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𝑥</m:t>
                                  </m:r>
                                </m:e>
                                <m:sub>
                                  <m:r>
                                    <a:rPr lang="en-GB" sz="2400" i="1">
                                      <a:solidFill>
                                        <a:srgbClr val="FF0000"/>
                                      </a:solidFill>
                                      <a:latin typeface="Cambria Math" panose="02040503050406030204" pitchFamily="18" charset="0"/>
                                    </a:rPr>
                                    <m:t>𝑖</m:t>
                                  </m:r>
                                </m:sub>
                              </m:sSub>
                              <m:sSub>
                                <m:sSubPr>
                                  <m:ctrlPr>
                                    <a:rPr lang="en-GB"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𝑦</m:t>
                                  </m:r>
                                </m:e>
                                <m:sub>
                                  <m:r>
                                    <a:rPr lang="en-GB" sz="2400" i="1">
                                      <a:solidFill>
                                        <a:srgbClr val="FF0000"/>
                                      </a:solidFill>
                                      <a:latin typeface="Cambria Math" panose="02040503050406030204" pitchFamily="18" charset="0"/>
                                    </a:rPr>
                                    <m:t>𝑖</m:t>
                                  </m:r>
                                </m:sub>
                              </m:sSub>
                            </m:e>
                          </m:nary>
                        </m:num>
                        <m:den>
                          <m:nary>
                            <m:naryPr>
                              <m:chr m:val="∑"/>
                              <m:subHide m:val="on"/>
                              <m:supHide m:val="on"/>
                              <m:ctrlPr>
                                <a:rPr lang="en-GB" sz="2400" i="1">
                                  <a:solidFill>
                                    <a:srgbClr val="FF0000"/>
                                  </a:solidFill>
                                  <a:latin typeface="Cambria Math" panose="02040503050406030204" pitchFamily="18" charset="0"/>
                                </a:rPr>
                              </m:ctrlPr>
                            </m:naryPr>
                            <m:sub/>
                            <m:sup/>
                            <m:e>
                              <m:sSubSup>
                                <m:sSubSupPr>
                                  <m:ctrlPr>
                                    <a:rPr lang="en-GB" sz="2400" i="1">
                                      <a:solidFill>
                                        <a:srgbClr val="FF0000"/>
                                      </a:solidFill>
                                      <a:latin typeface="Cambria Math" panose="02040503050406030204" pitchFamily="18" charset="0"/>
                                    </a:rPr>
                                  </m:ctrlPr>
                                </m:sSubSupPr>
                                <m:e>
                                  <m:r>
                                    <a:rPr lang="en-GB" sz="2400" i="1">
                                      <a:solidFill>
                                        <a:srgbClr val="FF0000"/>
                                      </a:solidFill>
                                      <a:latin typeface="Cambria Math" panose="02040503050406030204" pitchFamily="18" charset="0"/>
                                    </a:rPr>
                                    <m:t>𝑥</m:t>
                                  </m:r>
                                </m:e>
                                <m:sub>
                                  <m:r>
                                    <a:rPr lang="en-GB" sz="2400" i="1">
                                      <a:solidFill>
                                        <a:srgbClr val="FF0000"/>
                                      </a:solidFill>
                                      <a:latin typeface="Cambria Math" panose="02040503050406030204" pitchFamily="18" charset="0"/>
                                    </a:rPr>
                                    <m:t>𝑖</m:t>
                                  </m:r>
                                </m:sub>
                                <m:sup>
                                  <m:r>
                                    <a:rPr lang="en-GB" sz="2400" i="1">
                                      <a:solidFill>
                                        <a:srgbClr val="FF0000"/>
                                      </a:solidFill>
                                      <a:latin typeface="Cambria Math" panose="02040503050406030204" pitchFamily="18" charset="0"/>
                                    </a:rPr>
                                    <m:t>2</m:t>
                                  </m:r>
                                </m:sup>
                              </m:sSubSup>
                            </m:e>
                          </m:nary>
                        </m:den>
                      </m:f>
                      <m:r>
                        <a:rPr lang="en-GB" sz="2400" i="1">
                          <a:latin typeface="Cambria Math" panose="02040503050406030204" pitchFamily="18" charset="0"/>
                        </a:rPr>
                        <m:t>=</m:t>
                      </m:r>
                      <m:f>
                        <m:fPr>
                          <m:ctrlPr>
                            <a:rPr lang="en-GB" sz="2400" i="1">
                              <a:latin typeface="Cambria Math" panose="02040503050406030204" pitchFamily="18" charset="0"/>
                            </a:rPr>
                          </m:ctrlPr>
                        </m:fPr>
                        <m:num>
                          <m:nary>
                            <m:naryPr>
                              <m:chr m:val="∑"/>
                              <m:subHide m:val="on"/>
                              <m:supHide m:val="on"/>
                              <m:ctrlPr>
                                <a:rPr lang="en-GB" sz="2400" i="1">
                                  <a:latin typeface="Cambria Math" panose="02040503050406030204" pitchFamily="18" charset="0"/>
                                </a:rPr>
                              </m:ctrlPr>
                            </m:naryPr>
                            <m:sub/>
                            <m:sup/>
                            <m:e>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𝑋</m:t>
                                  </m:r>
                                </m:e>
                              </m:acc>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r>
                                <a:rPr lang="en-GB" sz="2400" i="1">
                                  <a:latin typeface="Cambria Math" panose="02040503050406030204" pitchFamily="18" charset="0"/>
                                </a:rPr>
                                <m:t>)</m:t>
                              </m:r>
                            </m:e>
                          </m:nary>
                        </m:num>
                        <m:den>
                          <m:nary>
                            <m:naryPr>
                              <m:chr m:val="∑"/>
                              <m:subHide m:val="on"/>
                              <m:supHide m:val="on"/>
                              <m:ctrlPr>
                                <a:rPr lang="en-GB" sz="2400" i="1">
                                  <a:latin typeface="Cambria Math" panose="02040503050406030204" pitchFamily="18" charset="0"/>
                                </a:rPr>
                              </m:ctrlPr>
                            </m:naryPr>
                            <m:sub/>
                            <m:sup/>
                            <m:e>
                              <m:sSup>
                                <m:sSupPr>
                                  <m:ctrlPr>
                                    <a:rPr lang="en-GB" sz="2400" i="1">
                                      <a:latin typeface="Cambria Math" panose="02040503050406030204" pitchFamily="18" charset="0"/>
                                    </a:rPr>
                                  </m:ctrlPr>
                                </m:sSupPr>
                                <m:e>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𝑋</m:t>
                                      </m:r>
                                    </m:e>
                                  </m:acc>
                                  <m:r>
                                    <a:rPr lang="en-GB" sz="2400" i="1">
                                      <a:latin typeface="Cambria Math" panose="02040503050406030204" pitchFamily="18" charset="0"/>
                                    </a:rPr>
                                    <m:t>)</m:t>
                                  </m:r>
                                </m:e>
                                <m:sup>
                                  <m:r>
                                    <a:rPr lang="en-GB" sz="2400" i="1">
                                      <a:latin typeface="Cambria Math" panose="02040503050406030204" pitchFamily="18" charset="0"/>
                                    </a:rPr>
                                    <m:t>2</m:t>
                                  </m:r>
                                </m:sup>
                              </m:sSup>
                            </m:e>
                          </m:nary>
                        </m:den>
                      </m:f>
                    </m:oMath>
                  </m:oMathPara>
                </a14:m>
                <a:endParaRPr lang="en-US" sz="2400" dirty="0"/>
              </a:p>
              <a:p>
                <a:pPr marL="9525" indent="0">
                  <a:buNone/>
                </a:pPr>
                <a:endParaRPr lang="en-US" sz="2400" dirty="0"/>
              </a:p>
              <a:p>
                <a:pPr marL="9525" indent="0">
                  <a:buNone/>
                </a:pPr>
                <a14:m>
                  <m:oMathPara xmlns:m="http://schemas.openxmlformats.org/officeDocument/2006/math">
                    <m:oMathParaPr>
                      <m:jc m:val="centerGroup"/>
                    </m:oMathParaPr>
                    <m:oMath xmlns:m="http://schemas.openxmlformats.org/officeDocument/2006/math">
                      <m:sSub>
                        <m:sSubPr>
                          <m:ctrlPr>
                            <a:rPr lang="en-US"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𝑏</m:t>
                          </m:r>
                        </m:e>
                        <m:sub>
                          <m:r>
                            <a:rPr lang="en-GB" sz="2400" b="0" i="1" smtClean="0">
                              <a:solidFill>
                                <a:srgbClr val="FF0000"/>
                              </a:solidFill>
                              <a:latin typeface="Cambria Math" panose="02040503050406030204" pitchFamily="18" charset="0"/>
                            </a:rPr>
                            <m:t>0</m:t>
                          </m:r>
                        </m:sub>
                      </m:sSub>
                      <m:r>
                        <a:rPr lang="en-GB" sz="2400" i="1">
                          <a:solidFill>
                            <a:srgbClr val="FF0000"/>
                          </a:solidFill>
                          <a:latin typeface="Cambria Math" panose="02040503050406030204" pitchFamily="18" charset="0"/>
                        </a:rPr>
                        <m:t>=</m:t>
                      </m:r>
                      <m:acc>
                        <m:accPr>
                          <m:chr m:val="̅"/>
                          <m:ctrlPr>
                            <a:rPr lang="en-GB" sz="2400" i="1">
                              <a:solidFill>
                                <a:srgbClr val="FF0000"/>
                              </a:solidFill>
                              <a:latin typeface="Cambria Math" panose="02040503050406030204" pitchFamily="18" charset="0"/>
                            </a:rPr>
                          </m:ctrlPr>
                        </m:accPr>
                        <m:e>
                          <m:r>
                            <a:rPr lang="en-GB" sz="2400" i="1">
                              <a:solidFill>
                                <a:srgbClr val="FF0000"/>
                              </a:solidFill>
                              <a:latin typeface="Cambria Math" panose="02040503050406030204" pitchFamily="18" charset="0"/>
                            </a:rPr>
                            <m:t>𝑌</m:t>
                          </m:r>
                        </m:e>
                      </m:acc>
                      <m:r>
                        <a:rPr lang="en-GB" sz="2400" i="1">
                          <a:solidFill>
                            <a:srgbClr val="FF0000"/>
                          </a:solidFill>
                          <a:latin typeface="Cambria Math" panose="02040503050406030204" pitchFamily="18" charset="0"/>
                        </a:rPr>
                        <m:t>−</m:t>
                      </m:r>
                      <m:sSub>
                        <m:sSubPr>
                          <m:ctrlPr>
                            <a:rPr lang="en-GB"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𝑏</m:t>
                          </m:r>
                        </m:e>
                        <m:sub>
                          <m:r>
                            <a:rPr lang="en-GB" sz="2400" b="0" i="1" smtClean="0">
                              <a:solidFill>
                                <a:srgbClr val="FF0000"/>
                              </a:solidFill>
                              <a:latin typeface="Cambria Math" panose="02040503050406030204" pitchFamily="18" charset="0"/>
                            </a:rPr>
                            <m:t>1</m:t>
                          </m:r>
                        </m:sub>
                      </m:sSub>
                      <m:acc>
                        <m:accPr>
                          <m:chr m:val="̅"/>
                          <m:ctrlPr>
                            <a:rPr lang="en-GB" sz="2400" i="1">
                              <a:solidFill>
                                <a:srgbClr val="FF0000"/>
                              </a:solidFill>
                              <a:latin typeface="Cambria Math" panose="02040503050406030204" pitchFamily="18" charset="0"/>
                            </a:rPr>
                          </m:ctrlPr>
                        </m:accPr>
                        <m:e>
                          <m:r>
                            <a:rPr lang="en-GB" sz="2400" i="1">
                              <a:solidFill>
                                <a:srgbClr val="FF0000"/>
                              </a:solidFill>
                              <a:latin typeface="Cambria Math" panose="02040503050406030204" pitchFamily="18" charset="0"/>
                            </a:rPr>
                            <m:t>𝑋</m:t>
                          </m:r>
                        </m:e>
                      </m:acc>
                    </m:oMath>
                  </m:oMathPara>
                </a14:m>
                <a:endParaRPr lang="en-US" sz="2400" dirty="0"/>
              </a:p>
              <a:p>
                <a:pPr marL="9525" indent="0">
                  <a:buNone/>
                </a:pPr>
                <a:endParaRPr lang="en-US" sz="2400" dirty="0"/>
              </a:p>
              <a:p>
                <a:pPr marL="9525" indent="0">
                  <a:buNone/>
                </a:pPr>
                <a:r>
                  <a:rPr lang="en-US" sz="2400" dirty="0"/>
                  <a:t>Note: 	</a:t>
                </a:r>
                <a14:m>
                  <m:oMath xmlns:m="http://schemas.openxmlformats.org/officeDocument/2006/math">
                    <m:sSub>
                      <m:sSubPr>
                        <m:ctrlPr>
                          <a:rPr lang="en-US" sz="2400" i="1">
                            <a:latin typeface="Cambria Math" panose="02040503050406030204" pitchFamily="18" charset="0"/>
                          </a:rPr>
                        </m:ctrlPr>
                      </m:sSubPr>
                      <m:e>
                        <m:r>
                          <a:rPr lang="en-GB" sz="2400" i="1">
                            <a:latin typeface="Cambria Math" panose="02040503050406030204" pitchFamily="18" charset="0"/>
                          </a:rPr>
                          <m:t>𝑥</m:t>
                        </m:r>
                      </m:e>
                      <m:sub>
                        <m:r>
                          <a:rPr lang="en-GB" sz="2400" i="1">
                            <a:latin typeface="Cambria Math" panose="02040503050406030204" pitchFamily="18" charset="0"/>
                          </a:rPr>
                          <m:t>𝑖</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𝑋</m:t>
                        </m:r>
                      </m:e>
                    </m:acc>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𝑖</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oMath>
                </a14:m>
                <a:r>
                  <a:rPr lang="en-US" sz="2400" dirty="0"/>
                  <a:t> </a:t>
                </a:r>
              </a:p>
              <a:p>
                <a:pPr marL="0" lvl="0" indent="0">
                  <a:buNone/>
                </a:pPr>
                <a:r>
                  <a:rPr lang="en-GB" sz="2400" dirty="0"/>
                  <a:t> </a:t>
                </a:r>
              </a:p>
            </p:txBody>
          </p:sp>
        </mc:Choice>
        <mc:Fallback>
          <p:sp>
            <p:nvSpPr>
              <p:cNvPr id="3" name="Text Placeholder 2">
                <a:extLst>
                  <a:ext uri="{FF2B5EF4-FFF2-40B4-BE49-F238E27FC236}">
                    <a16:creationId xmlns:a16="http://schemas.microsoft.com/office/drawing/2014/main" id="{03552F85-7D0B-43E6-E3E4-772CBD3F841A}"/>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b="-3310"/>
                </a:stretch>
              </a:blipFill>
            </p:spPr>
            <p:txBody>
              <a:bodyPr/>
              <a:lstStyle/>
              <a:p>
                <a:r>
                  <a:rPr lang="en-GB">
                    <a:noFill/>
                  </a:rPr>
                  <a:t> </a:t>
                </a:r>
              </a:p>
            </p:txBody>
          </p:sp>
        </mc:Fallback>
      </mc:AlternateContent>
    </p:spTree>
    <p:extLst>
      <p:ext uri="{BB962C8B-B14F-4D97-AF65-F5344CB8AC3E}">
        <p14:creationId xmlns:p14="http://schemas.microsoft.com/office/powerpoint/2010/main" val="1632756751"/>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7E7DF-7049-E62A-A14E-E123DE3CC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06B3D-AE3F-3D5C-F5AE-7B6ECE406EDE}"/>
              </a:ext>
            </a:extLst>
          </p:cNvPr>
          <p:cNvSpPr>
            <a:spLocks noGrp="1"/>
          </p:cNvSpPr>
          <p:nvPr>
            <p:ph type="title"/>
          </p:nvPr>
        </p:nvSpPr>
        <p:spPr/>
        <p:txBody>
          <a:bodyPr>
            <a:normAutofit fontScale="90000"/>
          </a:bodyPr>
          <a:lstStyle/>
          <a:p>
            <a:r>
              <a:rPr lang="en-GB" dirty="0"/>
              <a:t>Estimated coefficients for the advertisement example</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B4588FF-0A24-5E26-31D5-6661189E1C4A}"/>
                  </a:ext>
                </a:extLst>
              </p:cNvPr>
              <p:cNvSpPr>
                <a:spLocks noGrp="1"/>
              </p:cNvSpPr>
              <p:nvPr>
                <p:ph type="body" sz="quarter" idx="11"/>
              </p:nvPr>
            </p:nvSpPr>
            <p:spPr>
              <a:xfrm>
                <a:off x="900112" y="1700213"/>
                <a:ext cx="7632327" cy="5157787"/>
              </a:xfrm>
            </p:spPr>
            <p:txBody>
              <a:bodyPr/>
              <a:lstStyle/>
              <a:p>
                <a:pPr marL="0" lvl="0" indent="0">
                  <a:buNone/>
                </a:pPr>
                <a:endParaRPr lang="en-GB" sz="2400" dirty="0"/>
              </a:p>
              <a:p>
                <a:pPr marL="9525" indent="0">
                  <a:buNone/>
                </a:pPr>
                <a:r>
                  <a:rPr lang="en-US" sz="2400" dirty="0"/>
                  <a:t>                                                                            </a:t>
                </a:r>
              </a:p>
              <a:p>
                <a:pPr marL="9525" indent="0">
                  <a:buNone/>
                </a:pPr>
                <a:endParaRPr lang="en-GB" sz="2400" i="1" dirty="0">
                  <a:latin typeface="Cambria Math" panose="02040503050406030204" pitchFamily="18" charset="0"/>
                </a:endParaRPr>
              </a:p>
              <a:p>
                <a:pPr marL="9525" indent="0">
                  <a:buNone/>
                </a:pPr>
                <a:endParaRPr lang="en-GB" sz="2400" i="1" dirty="0">
                  <a:latin typeface="Cambria Math" panose="02040503050406030204" pitchFamily="18" charset="0"/>
                </a:endParaRPr>
              </a:p>
              <a:p>
                <a:pPr marL="9525" indent="0">
                  <a:buNone/>
                </a:pPr>
                <a:endParaRPr lang="en-GB" sz="2400" i="1" dirty="0">
                  <a:latin typeface="Cambria Math" panose="02040503050406030204" pitchFamily="18" charset="0"/>
                </a:endParaRPr>
              </a:p>
              <a:p>
                <a:pPr marL="9525" indent="0">
                  <a:buNone/>
                </a:pPr>
                <a:endParaRPr lang="en-GB" sz="2400" i="1" dirty="0">
                  <a:latin typeface="Cambria Math" panose="02040503050406030204" pitchFamily="18" charset="0"/>
                </a:endParaRPr>
              </a:p>
              <a:p>
                <a:pPr marL="9525" indent="0">
                  <a:buNone/>
                </a:pPr>
                <a:endParaRPr lang="en-GB" sz="2400" i="1" dirty="0">
                  <a:solidFill>
                    <a:schemeClr val="tx1"/>
                  </a:solidFill>
                  <a:latin typeface="Cambria Math" panose="02040503050406030204" pitchFamily="18" charset="0"/>
                </a:endParaRPr>
              </a:p>
              <a:p>
                <a:pPr marL="9525" indent="0">
                  <a:buNone/>
                </a:pPr>
                <a:endParaRPr lang="en-GB" sz="2400" i="1" dirty="0">
                  <a:solidFill>
                    <a:schemeClr val="tx1"/>
                  </a:solidFill>
                  <a:latin typeface="Cambria Math" panose="02040503050406030204" pitchFamily="18" charset="0"/>
                </a:endParaRPr>
              </a:p>
              <a:p>
                <a:pPr marL="9525" indent="0">
                  <a:buNone/>
                </a:pPr>
                <a14:m>
                  <m:oMathPara xmlns:m="http://schemas.openxmlformats.org/officeDocument/2006/math">
                    <m:oMathParaPr>
                      <m:jc m:val="left"/>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𝑏</m:t>
                          </m:r>
                        </m:e>
                        <m:sub>
                          <m:r>
                            <a:rPr lang="en-GB" sz="2400" b="0" i="1" smtClean="0">
                              <a:solidFill>
                                <a:srgbClr val="FF0000"/>
                              </a:solidFill>
                              <a:latin typeface="Cambria Math" panose="02040503050406030204" pitchFamily="18" charset="0"/>
                            </a:rPr>
                            <m:t>1</m:t>
                          </m:r>
                        </m:sub>
                      </m:sSub>
                      <m:r>
                        <a:rPr lang="en-GB" sz="2400" i="1">
                          <a:solidFill>
                            <a:schemeClr val="tx1"/>
                          </a:solidFill>
                          <a:latin typeface="Cambria Math" panose="02040503050406030204" pitchFamily="18" charset="0"/>
                        </a:rPr>
                        <m:t>=</m:t>
                      </m:r>
                      <m:f>
                        <m:fPr>
                          <m:ctrlPr>
                            <a:rPr lang="en-GB" sz="2400" i="1">
                              <a:solidFill>
                                <a:schemeClr val="tx1"/>
                              </a:solidFill>
                              <a:latin typeface="Cambria Math" panose="02040503050406030204" pitchFamily="18" charset="0"/>
                            </a:rPr>
                          </m:ctrlPr>
                        </m:fPr>
                        <m:num>
                          <m:nary>
                            <m:naryPr>
                              <m:chr m:val="∑"/>
                              <m:subHide m:val="on"/>
                              <m:supHide m:val="on"/>
                              <m:ctrlPr>
                                <a:rPr lang="en-GB" sz="2400" i="1">
                                  <a:solidFill>
                                    <a:schemeClr val="tx1"/>
                                  </a:solidFill>
                                  <a:latin typeface="Cambria Math" panose="02040503050406030204" pitchFamily="18" charset="0"/>
                                </a:rPr>
                              </m:ctrlPr>
                            </m:naryPr>
                            <m:sub/>
                            <m:sup/>
                            <m:e>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𝑋</m:t>
                                  </m:r>
                                </m:e>
                                <m:sub>
                                  <m:r>
                                    <a:rPr lang="en-GB" sz="2400" i="1">
                                      <a:solidFill>
                                        <a:schemeClr val="tx1"/>
                                      </a:solidFill>
                                      <a:latin typeface="Cambria Math" panose="02040503050406030204" pitchFamily="18" charset="0"/>
                                    </a:rPr>
                                    <m:t>𝑖</m:t>
                                  </m:r>
                                </m:sub>
                              </m:sSub>
                              <m:r>
                                <a:rPr lang="en-GB" sz="2400" i="1">
                                  <a:solidFill>
                                    <a:schemeClr val="tx1"/>
                                  </a:solidFill>
                                  <a:latin typeface="Cambria Math" panose="02040503050406030204" pitchFamily="18" charset="0"/>
                                </a:rPr>
                                <m:t>−</m:t>
                              </m:r>
                              <m:acc>
                                <m:accPr>
                                  <m:chr m:val="̅"/>
                                  <m:ctrlPr>
                                    <a:rPr lang="en-GB" sz="2400" i="1">
                                      <a:solidFill>
                                        <a:schemeClr val="tx1"/>
                                      </a:solidFill>
                                      <a:latin typeface="Cambria Math" panose="02040503050406030204" pitchFamily="18" charset="0"/>
                                    </a:rPr>
                                  </m:ctrlPr>
                                </m:accPr>
                                <m:e>
                                  <m:r>
                                    <a:rPr lang="en-GB" sz="2400" i="1">
                                      <a:solidFill>
                                        <a:schemeClr val="tx1"/>
                                      </a:solidFill>
                                      <a:latin typeface="Cambria Math" panose="02040503050406030204" pitchFamily="18" charset="0"/>
                                    </a:rPr>
                                    <m:t>𝑋</m:t>
                                  </m:r>
                                </m:e>
                              </m:acc>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𝑌</m:t>
                                  </m:r>
                                </m:e>
                                <m:sub>
                                  <m:r>
                                    <a:rPr lang="en-GB" sz="2400" i="1">
                                      <a:solidFill>
                                        <a:schemeClr val="tx1"/>
                                      </a:solidFill>
                                      <a:latin typeface="Cambria Math" panose="02040503050406030204" pitchFamily="18" charset="0"/>
                                    </a:rPr>
                                    <m:t>𝑖</m:t>
                                  </m:r>
                                </m:sub>
                              </m:sSub>
                              <m:r>
                                <a:rPr lang="en-GB" sz="2400" i="1">
                                  <a:solidFill>
                                    <a:schemeClr val="tx1"/>
                                  </a:solidFill>
                                  <a:latin typeface="Cambria Math" panose="02040503050406030204" pitchFamily="18" charset="0"/>
                                </a:rPr>
                                <m:t>−</m:t>
                              </m:r>
                              <m:acc>
                                <m:accPr>
                                  <m:chr m:val="̅"/>
                                  <m:ctrlPr>
                                    <a:rPr lang="en-GB" sz="2400" i="1">
                                      <a:solidFill>
                                        <a:schemeClr val="tx1"/>
                                      </a:solidFill>
                                      <a:latin typeface="Cambria Math" panose="02040503050406030204" pitchFamily="18" charset="0"/>
                                    </a:rPr>
                                  </m:ctrlPr>
                                </m:accPr>
                                <m:e>
                                  <m:r>
                                    <a:rPr lang="en-GB" sz="2400" i="1">
                                      <a:solidFill>
                                        <a:schemeClr val="tx1"/>
                                      </a:solidFill>
                                      <a:latin typeface="Cambria Math" panose="02040503050406030204" pitchFamily="18" charset="0"/>
                                    </a:rPr>
                                    <m:t>𝑌</m:t>
                                  </m:r>
                                </m:e>
                              </m:acc>
                              <m:r>
                                <a:rPr lang="en-GB" sz="2400" i="1">
                                  <a:solidFill>
                                    <a:schemeClr val="tx1"/>
                                  </a:solidFill>
                                  <a:latin typeface="Cambria Math" panose="02040503050406030204" pitchFamily="18" charset="0"/>
                                </a:rPr>
                                <m:t>)</m:t>
                              </m:r>
                            </m:e>
                          </m:nary>
                        </m:num>
                        <m:den>
                          <m:nary>
                            <m:naryPr>
                              <m:chr m:val="∑"/>
                              <m:subHide m:val="on"/>
                              <m:supHide m:val="on"/>
                              <m:ctrlPr>
                                <a:rPr lang="en-GB" sz="2400" i="1">
                                  <a:solidFill>
                                    <a:schemeClr val="tx1"/>
                                  </a:solidFill>
                                  <a:latin typeface="Cambria Math" panose="02040503050406030204" pitchFamily="18" charset="0"/>
                                </a:rPr>
                              </m:ctrlPr>
                            </m:naryPr>
                            <m:sub/>
                            <m:sup/>
                            <m:e>
                              <m:sSup>
                                <m:sSupPr>
                                  <m:ctrlPr>
                                    <a:rPr lang="en-GB" sz="2400" i="1">
                                      <a:solidFill>
                                        <a:schemeClr val="tx1"/>
                                      </a:solidFill>
                                      <a:latin typeface="Cambria Math" panose="02040503050406030204" pitchFamily="18" charset="0"/>
                                    </a:rPr>
                                  </m:ctrlPr>
                                </m:sSupPr>
                                <m:e>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𝑋</m:t>
                                      </m:r>
                                    </m:e>
                                    <m:sub>
                                      <m:r>
                                        <a:rPr lang="en-GB" sz="2400" i="1">
                                          <a:solidFill>
                                            <a:schemeClr val="tx1"/>
                                          </a:solidFill>
                                          <a:latin typeface="Cambria Math" panose="02040503050406030204" pitchFamily="18" charset="0"/>
                                        </a:rPr>
                                        <m:t>𝑖</m:t>
                                      </m:r>
                                    </m:sub>
                                  </m:sSub>
                                  <m:r>
                                    <a:rPr lang="en-GB" sz="2400" i="1">
                                      <a:solidFill>
                                        <a:schemeClr val="tx1"/>
                                      </a:solidFill>
                                      <a:latin typeface="Cambria Math" panose="02040503050406030204" pitchFamily="18" charset="0"/>
                                    </a:rPr>
                                    <m:t>−</m:t>
                                  </m:r>
                                  <m:acc>
                                    <m:accPr>
                                      <m:chr m:val="̅"/>
                                      <m:ctrlPr>
                                        <a:rPr lang="en-GB" sz="2400" i="1">
                                          <a:solidFill>
                                            <a:schemeClr val="tx1"/>
                                          </a:solidFill>
                                          <a:latin typeface="Cambria Math" panose="02040503050406030204" pitchFamily="18" charset="0"/>
                                        </a:rPr>
                                      </m:ctrlPr>
                                    </m:accPr>
                                    <m:e>
                                      <m:r>
                                        <a:rPr lang="en-GB" sz="2400" i="1">
                                          <a:solidFill>
                                            <a:schemeClr val="tx1"/>
                                          </a:solidFill>
                                          <a:latin typeface="Cambria Math" panose="02040503050406030204" pitchFamily="18" charset="0"/>
                                        </a:rPr>
                                        <m:t>𝑋</m:t>
                                      </m:r>
                                    </m:e>
                                  </m:acc>
                                  <m:r>
                                    <a:rPr lang="en-GB" sz="2400" i="1">
                                      <a:solidFill>
                                        <a:schemeClr val="tx1"/>
                                      </a:solidFill>
                                      <a:latin typeface="Cambria Math" panose="02040503050406030204" pitchFamily="18" charset="0"/>
                                    </a:rPr>
                                    <m:t>)</m:t>
                                  </m:r>
                                </m:e>
                                <m:sup>
                                  <m:r>
                                    <a:rPr lang="en-GB" sz="2400" i="1">
                                      <a:solidFill>
                                        <a:schemeClr val="tx1"/>
                                      </a:solidFill>
                                      <a:latin typeface="Cambria Math" panose="02040503050406030204" pitchFamily="18" charset="0"/>
                                    </a:rPr>
                                    <m:t>2</m:t>
                                  </m:r>
                                </m:sup>
                              </m:sSup>
                            </m:e>
                          </m:nary>
                        </m:den>
                      </m:f>
                      <m:r>
                        <a:rPr lang="en-GB" sz="2400" b="0" i="1" smtClean="0">
                          <a:solidFill>
                            <a:schemeClr val="tx1"/>
                          </a:solidFill>
                          <a:latin typeface="Cambria Math" panose="02040503050406030204" pitchFamily="18" charset="0"/>
                        </a:rPr>
                        <m:t>=</m:t>
                      </m:r>
                      <m:f>
                        <m:fPr>
                          <m:ctrlPr>
                            <a:rPr lang="en-GB" sz="2400" b="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106</m:t>
                          </m:r>
                        </m:num>
                        <m:den>
                          <m:r>
                            <a:rPr lang="en-GB" sz="2400" b="0" i="1" smtClean="0">
                              <a:solidFill>
                                <a:schemeClr val="tx1"/>
                              </a:solidFill>
                              <a:latin typeface="Cambria Math" panose="02040503050406030204" pitchFamily="18" charset="0"/>
                            </a:rPr>
                            <m:t>30</m:t>
                          </m:r>
                        </m:den>
                      </m:f>
                      <m:r>
                        <a:rPr lang="en-GB" sz="2400" b="0" i="1" smtClean="0">
                          <a:solidFill>
                            <a:schemeClr val="tx1"/>
                          </a:solidFill>
                          <a:latin typeface="Cambria Math" panose="02040503050406030204" pitchFamily="18" charset="0"/>
                        </a:rPr>
                        <m:t>=3.533</m:t>
                      </m:r>
                    </m:oMath>
                  </m:oMathPara>
                </a14:m>
                <a:endParaRPr lang="en-US" sz="2400" dirty="0">
                  <a:solidFill>
                    <a:schemeClr val="tx1"/>
                  </a:solidFill>
                </a:endParaRPr>
              </a:p>
              <a:p>
                <a:pPr marL="9525" indent="0">
                  <a:buNone/>
                </a:pPr>
                <a:endParaRPr lang="en-US" sz="2400" dirty="0">
                  <a:solidFill>
                    <a:schemeClr val="tx1"/>
                  </a:solidFill>
                </a:endParaRPr>
              </a:p>
              <a:p>
                <a:pPr marL="9525" indent="0">
                  <a:buNone/>
                </a:pPr>
                <a14:m>
                  <m:oMathPara xmlns:m="http://schemas.openxmlformats.org/officeDocument/2006/math">
                    <m:oMathParaPr>
                      <m:jc m:val="left"/>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𝑏</m:t>
                          </m:r>
                        </m:e>
                        <m:sub>
                          <m:r>
                            <a:rPr lang="en-GB" sz="2400" b="0" i="1" smtClean="0">
                              <a:solidFill>
                                <a:srgbClr val="FF0000"/>
                              </a:solidFill>
                              <a:latin typeface="Cambria Math" panose="02040503050406030204" pitchFamily="18" charset="0"/>
                            </a:rPr>
                            <m:t>0</m:t>
                          </m:r>
                        </m:sub>
                      </m:sSub>
                      <m:r>
                        <a:rPr lang="en-GB" sz="2400" i="1">
                          <a:solidFill>
                            <a:schemeClr val="tx1"/>
                          </a:solidFill>
                          <a:latin typeface="Cambria Math" panose="02040503050406030204" pitchFamily="18" charset="0"/>
                        </a:rPr>
                        <m:t>=</m:t>
                      </m:r>
                      <m:acc>
                        <m:accPr>
                          <m:chr m:val="̅"/>
                          <m:ctrlPr>
                            <a:rPr lang="en-GB" sz="2400" i="1">
                              <a:solidFill>
                                <a:schemeClr val="tx1"/>
                              </a:solidFill>
                              <a:latin typeface="Cambria Math" panose="02040503050406030204" pitchFamily="18" charset="0"/>
                            </a:rPr>
                          </m:ctrlPr>
                        </m:accPr>
                        <m:e>
                          <m:r>
                            <a:rPr lang="en-GB" sz="2400" i="1">
                              <a:solidFill>
                                <a:schemeClr val="tx1"/>
                              </a:solidFill>
                              <a:latin typeface="Cambria Math" panose="02040503050406030204" pitchFamily="18" charset="0"/>
                            </a:rPr>
                            <m:t>𝑌</m:t>
                          </m:r>
                        </m:e>
                      </m:acc>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𝑏</m:t>
                          </m:r>
                        </m:e>
                        <m:sub>
                          <m:r>
                            <a:rPr lang="en-GB" sz="2400" b="0" i="1" smtClean="0">
                              <a:solidFill>
                                <a:schemeClr val="tx1"/>
                              </a:solidFill>
                              <a:latin typeface="Cambria Math" panose="02040503050406030204" pitchFamily="18" charset="0"/>
                            </a:rPr>
                            <m:t>1</m:t>
                          </m:r>
                        </m:sub>
                      </m:sSub>
                      <m:acc>
                        <m:accPr>
                          <m:chr m:val="̅"/>
                          <m:ctrlPr>
                            <a:rPr lang="en-GB" sz="2400" i="1">
                              <a:solidFill>
                                <a:schemeClr val="tx1"/>
                              </a:solidFill>
                              <a:latin typeface="Cambria Math" panose="02040503050406030204" pitchFamily="18" charset="0"/>
                            </a:rPr>
                          </m:ctrlPr>
                        </m:accPr>
                        <m:e>
                          <m:r>
                            <a:rPr lang="en-GB" sz="2400" i="1">
                              <a:solidFill>
                                <a:schemeClr val="tx1"/>
                              </a:solidFill>
                              <a:latin typeface="Cambria Math" panose="02040503050406030204" pitchFamily="18" charset="0"/>
                            </a:rPr>
                            <m:t>𝑋</m:t>
                          </m:r>
                        </m:e>
                      </m:acc>
                      <m:r>
                        <a:rPr lang="en-GB" sz="2400" b="0" i="1" smtClean="0">
                          <a:solidFill>
                            <a:schemeClr val="tx1"/>
                          </a:solidFill>
                          <a:latin typeface="Cambria Math" panose="02040503050406030204" pitchFamily="18" charset="0"/>
                        </a:rPr>
                        <m:t>=50−3.533∗12=7.604</m:t>
                      </m:r>
                    </m:oMath>
                  </m:oMathPara>
                </a14:m>
                <a:endParaRPr lang="en-US" sz="2400" dirty="0">
                  <a:solidFill>
                    <a:schemeClr val="tx1"/>
                  </a:solidFill>
                </a:endParaRPr>
              </a:p>
              <a:p>
                <a:pPr marL="9525" indent="0">
                  <a:buNone/>
                </a:pPr>
                <a:endParaRPr lang="en-US" sz="2400" dirty="0"/>
              </a:p>
              <a:p>
                <a:pPr marL="0" lvl="0" indent="0">
                  <a:buNone/>
                </a:pPr>
                <a:r>
                  <a:rPr lang="en-GB" sz="2400" dirty="0"/>
                  <a:t> </a:t>
                </a:r>
              </a:p>
            </p:txBody>
          </p:sp>
        </mc:Choice>
        <mc:Fallback xmlns="">
          <p:sp>
            <p:nvSpPr>
              <p:cNvPr id="3" name="Text Placeholder 2">
                <a:extLst>
                  <a:ext uri="{FF2B5EF4-FFF2-40B4-BE49-F238E27FC236}">
                    <a16:creationId xmlns:a16="http://schemas.microsoft.com/office/drawing/2014/main" id="{DB4588FF-0A24-5E26-31D5-6661189E1C4A}"/>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12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C88ACA0-AC24-A4D2-14DC-13C65C1A099A}"/>
                  </a:ext>
                </a:extLst>
              </p:cNvPr>
              <p:cNvGraphicFramePr>
                <a:graphicFrameLocks noGrp="1"/>
              </p:cNvGraphicFramePr>
              <p:nvPr>
                <p:extLst>
                  <p:ext uri="{D42A27DB-BD31-4B8C-83A1-F6EECF244321}">
                    <p14:modId xmlns:p14="http://schemas.microsoft.com/office/powerpoint/2010/main" val="1365482783"/>
                  </p:ext>
                </p:extLst>
              </p:nvPr>
            </p:nvGraphicFramePr>
            <p:xfrm>
              <a:off x="914400" y="1885156"/>
              <a:ext cx="4737720" cy="3044803"/>
            </p:xfrm>
            <a:graphic>
              <a:graphicData uri="http://schemas.openxmlformats.org/drawingml/2006/table">
                <a:tbl>
                  <a:tblPr>
                    <a:tableStyleId>{5C22544A-7EE6-4342-B048-85BDC9FD1C3A}</a:tableStyleId>
                  </a:tblPr>
                  <a:tblGrid>
                    <a:gridCol w="649060">
                      <a:extLst>
                        <a:ext uri="{9D8B030D-6E8A-4147-A177-3AD203B41FA5}">
                          <a16:colId xmlns:a16="http://schemas.microsoft.com/office/drawing/2014/main" val="2496799635"/>
                        </a:ext>
                      </a:extLst>
                    </a:gridCol>
                    <a:gridCol w="649060">
                      <a:extLst>
                        <a:ext uri="{9D8B030D-6E8A-4147-A177-3AD203B41FA5}">
                          <a16:colId xmlns:a16="http://schemas.microsoft.com/office/drawing/2014/main" val="207988274"/>
                        </a:ext>
                      </a:extLst>
                    </a:gridCol>
                    <a:gridCol w="649060">
                      <a:extLst>
                        <a:ext uri="{9D8B030D-6E8A-4147-A177-3AD203B41FA5}">
                          <a16:colId xmlns:a16="http://schemas.microsoft.com/office/drawing/2014/main" val="501998694"/>
                        </a:ext>
                      </a:extLst>
                    </a:gridCol>
                    <a:gridCol w="649060">
                      <a:extLst>
                        <a:ext uri="{9D8B030D-6E8A-4147-A177-3AD203B41FA5}">
                          <a16:colId xmlns:a16="http://schemas.microsoft.com/office/drawing/2014/main" val="907491425"/>
                        </a:ext>
                      </a:extLst>
                    </a:gridCol>
                    <a:gridCol w="1451458">
                      <a:extLst>
                        <a:ext uri="{9D8B030D-6E8A-4147-A177-3AD203B41FA5}">
                          <a16:colId xmlns:a16="http://schemas.microsoft.com/office/drawing/2014/main" val="488734311"/>
                        </a:ext>
                      </a:extLst>
                    </a:gridCol>
                    <a:gridCol w="690022">
                      <a:extLst>
                        <a:ext uri="{9D8B030D-6E8A-4147-A177-3AD203B41FA5}">
                          <a16:colId xmlns:a16="http://schemas.microsoft.com/office/drawing/2014/main" val="3195882388"/>
                        </a:ext>
                      </a:extLst>
                    </a:gridCol>
                  </a:tblGrid>
                  <a:tr h="408283">
                    <a:tc>
                      <a:txBody>
                        <a:bodyPr/>
                        <a:lstStyle/>
                        <a:p>
                          <a:pPr algn="ctr" fontAlgn="b">
                            <a:buNone/>
                          </a:pPr>
                          <a:r>
                            <a:rPr lang="en-GB" sz="1400" i="1" u="none" strike="noStrike" dirty="0">
                              <a:effectLst/>
                            </a:rPr>
                            <a:t>X</a:t>
                          </a:r>
                          <a:endParaRPr lang="en-GB" sz="1400" b="0" i="1"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tc>
                      <a:txBody>
                        <a:bodyPr/>
                        <a:lstStyle/>
                        <a:p>
                          <a:pPr algn="ctr" fontAlgn="b">
                            <a:buNone/>
                          </a:pPr>
                          <a:r>
                            <a:rPr lang="en-GB" sz="1400" i="1" u="none" strike="noStrike" dirty="0">
                              <a:effectLst/>
                            </a:rPr>
                            <a:t>Y</a:t>
                          </a:r>
                          <a:endParaRPr lang="en-GB" sz="1400" b="0" i="1"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tc>
                      <a:txBody>
                        <a:bodyPr/>
                        <a:lstStyle/>
                        <a:p>
                          <a:pPr algn="ctr" fontAlgn="b">
                            <a:buNone/>
                          </a:pPr>
                          <a14:m>
                            <m:oMathPara xmlns:m="http://schemas.openxmlformats.org/officeDocument/2006/math">
                              <m:oMathParaPr>
                                <m:jc m:val="centerGroup"/>
                              </m:oMathParaPr>
                              <m:oMath xmlns:m="http://schemas.openxmlformats.org/officeDocument/2006/math">
                                <m:r>
                                  <a:rPr lang="en-GB" sz="1400" b="0" i="1" u="none" strike="noStrike" smtClean="0">
                                    <a:solidFill>
                                      <a:srgbClr val="000000"/>
                                    </a:solidFill>
                                    <a:effectLst/>
                                    <a:latin typeface="Cambria Math" panose="02040503050406030204" pitchFamily="18" charset="0"/>
                                  </a:rPr>
                                  <m:t>𝑋</m:t>
                                </m:r>
                                <m:r>
                                  <a:rPr lang="en-GB" sz="1400" b="0" i="1" u="none" strike="noStrike" smtClean="0">
                                    <a:solidFill>
                                      <a:srgbClr val="000000"/>
                                    </a:solidFill>
                                    <a:effectLst/>
                                    <a:latin typeface="Cambria Math" panose="02040503050406030204" pitchFamily="18" charset="0"/>
                                  </a:rPr>
                                  <m:t>−</m:t>
                                </m:r>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𝑋</m:t>
                                    </m:r>
                                  </m:e>
                                </m:acc>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tc>
                      <a:txBody>
                        <a:bodyPr/>
                        <a:lstStyle/>
                        <a:p>
                          <a:pPr marL="0" marR="0" lvl="0" indent="0" algn="ctr" defTabSz="609555"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u="none" strike="noStrike" smtClean="0">
                                    <a:solidFill>
                                      <a:srgbClr val="000000"/>
                                    </a:solidFill>
                                    <a:effectLst/>
                                    <a:latin typeface="Cambria Math" panose="02040503050406030204" pitchFamily="18" charset="0"/>
                                  </a:rPr>
                                  <m:t>𝑌</m:t>
                                </m:r>
                                <m:r>
                                  <a:rPr lang="en-GB" sz="1400" b="0" i="1" u="none" strike="noStrike" smtClean="0">
                                    <a:solidFill>
                                      <a:srgbClr val="000000"/>
                                    </a:solidFill>
                                    <a:effectLst/>
                                    <a:latin typeface="Cambria Math" panose="02040503050406030204" pitchFamily="18" charset="0"/>
                                  </a:rPr>
                                  <m:t>−</m:t>
                                </m:r>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𝑌</m:t>
                                    </m:r>
                                  </m:e>
                                </m:acc>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tc>
                      <a:txBody>
                        <a:bodyPr/>
                        <a:lstStyle/>
                        <a:p>
                          <a:pPr algn="ctr" fontAlgn="b">
                            <a:buNone/>
                          </a:pPr>
                          <a14:m>
                            <m:oMathPara xmlns:m="http://schemas.openxmlformats.org/officeDocument/2006/math">
                              <m:oMathParaPr>
                                <m:jc m:val="centerGroup"/>
                              </m:oMathParaPr>
                              <m:oMath xmlns:m="http://schemas.openxmlformats.org/officeDocument/2006/math">
                                <m:r>
                                  <a:rPr lang="en-GB" sz="1400" b="0" i="1" u="none" strike="noStrike" smtClean="0">
                                    <a:solidFill>
                                      <a:srgbClr val="000000"/>
                                    </a:solidFill>
                                    <a:effectLst/>
                                    <a:latin typeface="Cambria Math" panose="02040503050406030204" pitchFamily="18" charset="0"/>
                                  </a:rPr>
                                  <m:t>(</m:t>
                                </m:r>
                                <m:r>
                                  <a:rPr lang="en-GB" sz="1400" b="0" i="1" u="none" strike="noStrike" smtClean="0">
                                    <a:solidFill>
                                      <a:srgbClr val="000000"/>
                                    </a:solidFill>
                                    <a:effectLst/>
                                    <a:latin typeface="Cambria Math" panose="02040503050406030204" pitchFamily="18" charset="0"/>
                                  </a:rPr>
                                  <m:t>𝑋</m:t>
                                </m:r>
                                <m:r>
                                  <a:rPr lang="en-GB" sz="1400" b="0" i="1" u="none" strike="noStrike" smtClean="0">
                                    <a:solidFill>
                                      <a:srgbClr val="000000"/>
                                    </a:solidFill>
                                    <a:effectLst/>
                                    <a:latin typeface="Cambria Math" panose="02040503050406030204" pitchFamily="18" charset="0"/>
                                  </a:rPr>
                                  <m:t>−</m:t>
                                </m:r>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𝑋</m:t>
                                    </m:r>
                                  </m:e>
                                </m:acc>
                                <m:r>
                                  <a:rPr lang="en-GB" sz="1400" b="0" i="1" u="none" strike="noStrike" smtClean="0">
                                    <a:solidFill>
                                      <a:srgbClr val="000000"/>
                                    </a:solidFill>
                                    <a:effectLst/>
                                    <a:latin typeface="Cambria Math" panose="02040503050406030204" pitchFamily="18" charset="0"/>
                                  </a:rPr>
                                  <m:t>)(</m:t>
                                </m:r>
                                <m:r>
                                  <a:rPr lang="en-GB" sz="1400" b="0" i="1" u="none" strike="noStrike" smtClean="0">
                                    <a:solidFill>
                                      <a:srgbClr val="000000"/>
                                    </a:solidFill>
                                    <a:effectLst/>
                                    <a:latin typeface="Cambria Math" panose="02040503050406030204" pitchFamily="18" charset="0"/>
                                  </a:rPr>
                                  <m:t>𝑌</m:t>
                                </m:r>
                                <m:r>
                                  <a:rPr lang="en-GB" sz="1400" b="0" i="1" u="none" strike="noStrike" smtClean="0">
                                    <a:solidFill>
                                      <a:srgbClr val="000000"/>
                                    </a:solidFill>
                                    <a:effectLst/>
                                    <a:latin typeface="Cambria Math" panose="02040503050406030204" pitchFamily="18" charset="0"/>
                                  </a:rPr>
                                  <m:t>−</m:t>
                                </m:r>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𝑌</m:t>
                                    </m:r>
                                  </m:e>
                                </m:acc>
                                <m:r>
                                  <a:rPr lang="en-GB" sz="1400" b="0" i="1" u="none" strike="noStrike" smtClean="0">
                                    <a:solidFill>
                                      <a:srgbClr val="000000"/>
                                    </a:solidFill>
                                    <a:effectLst/>
                                    <a:latin typeface="Cambria Math" panose="02040503050406030204" pitchFamily="18" charset="0"/>
                                  </a:rPr>
                                  <m:t>)</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tc>
                      <a:txBody>
                        <a:bodyPr/>
                        <a:lstStyle/>
                        <a:p>
                          <a:pPr algn="ctr" fontAlgn="b">
                            <a:buNone/>
                          </a:pPr>
                          <a14:m>
                            <m:oMathPara xmlns:m="http://schemas.openxmlformats.org/officeDocument/2006/math">
                              <m:oMathParaPr>
                                <m:jc m:val="centerGroup"/>
                              </m:oMathParaPr>
                              <m:oMath xmlns:m="http://schemas.openxmlformats.org/officeDocument/2006/math">
                                <m:sSup>
                                  <m:sSupPr>
                                    <m:ctrlPr>
                                      <a:rPr lang="en-GB" sz="1400" b="0" i="1" u="none" strike="noStrike" smtClean="0">
                                        <a:solidFill>
                                          <a:srgbClr val="000000"/>
                                        </a:solidFill>
                                        <a:effectLst/>
                                        <a:latin typeface="Cambria Math" panose="02040503050406030204" pitchFamily="18" charset="0"/>
                                      </a:rPr>
                                    </m:ctrlPr>
                                  </m:sSupPr>
                                  <m:e>
                                    <m:r>
                                      <a:rPr lang="en-GB" sz="1400" b="0" i="1" u="none" strike="noStrike" smtClean="0">
                                        <a:solidFill>
                                          <a:srgbClr val="000000"/>
                                        </a:solidFill>
                                        <a:effectLst/>
                                        <a:latin typeface="Cambria Math" panose="02040503050406030204" pitchFamily="18" charset="0"/>
                                      </a:rPr>
                                      <m:t>(</m:t>
                                    </m:r>
                                    <m:r>
                                      <a:rPr lang="en-GB" sz="1400" b="0" i="1" u="none" strike="noStrike" smtClean="0">
                                        <a:solidFill>
                                          <a:srgbClr val="000000"/>
                                        </a:solidFill>
                                        <a:effectLst/>
                                        <a:latin typeface="Cambria Math" panose="02040503050406030204" pitchFamily="18" charset="0"/>
                                      </a:rPr>
                                      <m:t>𝑋</m:t>
                                    </m:r>
                                    <m:r>
                                      <a:rPr lang="en-GB" sz="1400" b="0" i="1" u="none" strike="noStrike" smtClean="0">
                                        <a:solidFill>
                                          <a:srgbClr val="000000"/>
                                        </a:solidFill>
                                        <a:effectLst/>
                                        <a:latin typeface="Cambria Math" panose="02040503050406030204" pitchFamily="18" charset="0"/>
                                      </a:rPr>
                                      <m:t>−</m:t>
                                    </m:r>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𝑋</m:t>
                                        </m:r>
                                      </m:e>
                                    </m:acc>
                                    <m:r>
                                      <a:rPr lang="en-GB" sz="1400" b="0" i="1" u="none" strike="noStrike" smtClean="0">
                                        <a:solidFill>
                                          <a:srgbClr val="000000"/>
                                        </a:solidFill>
                                        <a:effectLst/>
                                        <a:latin typeface="Cambria Math" panose="02040503050406030204" pitchFamily="18" charset="0"/>
                                      </a:rPr>
                                      <m:t>)</m:t>
                                    </m:r>
                                  </m:e>
                                  <m:sup>
                                    <m:r>
                                      <a:rPr lang="en-GB" sz="1400" b="0" i="1" u="none" strike="noStrike" smtClean="0">
                                        <a:solidFill>
                                          <a:srgbClr val="000000"/>
                                        </a:solidFill>
                                        <a:effectLst/>
                                        <a:latin typeface="Cambria Math" panose="02040503050406030204" pitchFamily="18" charset="0"/>
                                      </a:rPr>
                                      <m:t>2</m:t>
                                    </m:r>
                                  </m:sup>
                                </m:sSup>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extLst>
                      <a:ext uri="{0D108BD9-81ED-4DB2-BD59-A6C34878D82A}">
                        <a16:rowId xmlns:a16="http://schemas.microsoft.com/office/drawing/2014/main" val="4287297446"/>
                      </a:ext>
                    </a:extLst>
                  </a:tr>
                  <a:tr h="207135">
                    <a:tc>
                      <a:txBody>
                        <a:bodyPr/>
                        <a:lstStyle/>
                        <a:p>
                          <a:pPr algn="r" fontAlgn="b">
                            <a:buNone/>
                          </a:pPr>
                          <a:r>
                            <a:rPr lang="en-GB" sz="1400" u="none" strike="noStrike" dirty="0">
                              <a:effectLst/>
                            </a:rPr>
                            <a:t>10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-6</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12</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a:t>
                          </a:r>
                          <a:endParaRPr lang="en-GB" sz="14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91798777"/>
                      </a:ext>
                    </a:extLst>
                  </a:tr>
                  <a:tr h="207135">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73106059"/>
                      </a:ext>
                    </a:extLst>
                  </a:tr>
                  <a:tr h="207135">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68677965"/>
                      </a:ext>
                    </a:extLst>
                  </a:tr>
                  <a:tr h="207135">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70461454"/>
                      </a:ext>
                    </a:extLst>
                  </a:tr>
                  <a:tr h="207135">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965311094"/>
                      </a:ext>
                    </a:extLst>
                  </a:tr>
                  <a:tr h="207135">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46165977"/>
                      </a:ext>
                    </a:extLst>
                  </a:tr>
                  <a:tr h="207135">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010687399"/>
                      </a:ext>
                    </a:extLst>
                  </a:tr>
                  <a:tr h="207135">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8</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283920284"/>
                      </a:ext>
                    </a:extLst>
                  </a:tr>
                  <a:tr h="207135">
                    <a:tc>
                      <a:txBody>
                        <a:bodyPr/>
                        <a:lstStyle/>
                        <a:p>
                          <a:pPr algn="r" fontAlgn="b">
                            <a:buNone/>
                          </a:pPr>
                          <a:r>
                            <a:rPr lang="en-GB" sz="1400" u="none" strike="noStrike">
                              <a:effectLst/>
                            </a:rPr>
                            <a:t>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591649130"/>
                      </a:ext>
                    </a:extLst>
                  </a:tr>
                  <a:tr h="207135">
                    <a:tc>
                      <a:txBody>
                        <a:bodyPr/>
                        <a:lstStyle/>
                        <a:p>
                          <a:pPr algn="r" fontAlgn="b">
                            <a:buNone/>
                          </a:pPr>
                          <a:r>
                            <a:rPr lang="en-GB" sz="1400" u="none" strike="noStrike">
                              <a:effectLst/>
                            </a:rPr>
                            <a:t>15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034113048"/>
                      </a:ext>
                    </a:extLst>
                  </a:tr>
                  <a:tr h="207135">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Para xmlns:m="http://schemas.openxmlformats.org/officeDocument/2006/math">
                              <m:oMathParaPr>
                                <m:jc m:val="right"/>
                              </m:oMathParaPr>
                              <m:oMath xmlns:m="http://schemas.openxmlformats.org/officeDocument/2006/math">
                                <m:r>
                                  <a:rPr lang="en-GB" sz="1400" b="0" i="1" u="none" strike="noStrike" smtClean="0">
                                    <a:effectLst/>
                                    <a:latin typeface="Cambria Math" panose="02040503050406030204" pitchFamily="18" charset="0"/>
                                    <a:ea typeface="Cambria Math" panose="02040503050406030204" pitchFamily="18" charset="0"/>
                                  </a:rPr>
                                  <m:t>∑=106</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Para xmlns:m="http://schemas.openxmlformats.org/officeDocument/2006/math">
                              <m:oMathParaPr>
                                <m:jc m:val="right"/>
                              </m:oMathParaPr>
                              <m:oMath xmlns:m="http://schemas.openxmlformats.org/officeDocument/2006/math">
                                <m:r>
                                  <a:rPr lang="en-GB" sz="1400" b="0" i="1" u="none" strike="noStrike" smtClean="0">
                                    <a:effectLst/>
                                    <a:latin typeface="Cambria Math" panose="02040503050406030204" pitchFamily="18" charset="0"/>
                                    <a:ea typeface="Cambria Math" panose="02040503050406030204" pitchFamily="18" charset="0"/>
                                  </a:rPr>
                                  <m:t>∑=30</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1036431989"/>
                      </a:ext>
                    </a:extLst>
                  </a:tr>
                  <a:tr h="207135">
                    <a:tc>
                      <a:txBody>
                        <a:bodyPr/>
                        <a:lstStyle/>
                        <a:p>
                          <a:pPr algn="r" fontAlgn="b">
                            <a:buNone/>
                          </a:pPr>
                          <a14:m>
                            <m:oMathPara xmlns:m="http://schemas.openxmlformats.org/officeDocument/2006/math">
                              <m:oMathParaPr>
                                <m:jc m:val="centerGroup"/>
                              </m:oMathParaPr>
                              <m:oMath xmlns:m="http://schemas.openxmlformats.org/officeDocument/2006/math">
                                <m:acc>
                                  <m:accPr>
                                    <m:chr m:val="̅"/>
                                    <m:ctrlPr>
                                      <a:rPr lang="en-GB" sz="1400" i="1" u="none" strike="noStrike" smtClean="0">
                                        <a:effectLst/>
                                        <a:latin typeface="Cambria Math" panose="02040503050406030204" pitchFamily="18" charset="0"/>
                                      </a:rPr>
                                    </m:ctrlPr>
                                  </m:accPr>
                                  <m:e>
                                    <m:r>
                                      <a:rPr lang="en-GB" sz="1400" b="0" i="1" u="none" strike="noStrike" smtClean="0">
                                        <a:effectLst/>
                                        <a:latin typeface="Cambria Math" panose="02040503050406030204" pitchFamily="18" charset="0"/>
                                      </a:rPr>
                                      <m:t>𝑋</m:t>
                                    </m:r>
                                  </m:e>
                                </m:acc>
                                <m:r>
                                  <a:rPr lang="en-GB" sz="1400" b="0" i="1" u="none" strike="noStrike" smtClean="0">
                                    <a:effectLst/>
                                    <a:latin typeface="Cambria Math" panose="02040503050406030204" pitchFamily="18" charset="0"/>
                                  </a:rPr>
                                  <m:t>=12</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Para xmlns:m="http://schemas.openxmlformats.org/officeDocument/2006/math">
                              <m:oMathParaPr>
                                <m:jc m:val="centerGroup"/>
                              </m:oMathParaPr>
                              <m:oMath xmlns:m="http://schemas.openxmlformats.org/officeDocument/2006/math">
                                <m:acc>
                                  <m:accPr>
                                    <m:chr m:val="̅"/>
                                    <m:ctrlPr>
                                      <a:rPr lang="en-GB" sz="1400" i="1" u="none" strike="noStrike" smtClean="0">
                                        <a:effectLst/>
                                        <a:latin typeface="Cambria Math" panose="02040503050406030204" pitchFamily="18" charset="0"/>
                                      </a:rPr>
                                    </m:ctrlPr>
                                  </m:accPr>
                                  <m:e>
                                    <m:r>
                                      <a:rPr lang="en-GB" sz="1400" b="0" i="1" u="none" strike="noStrike" smtClean="0">
                                        <a:effectLst/>
                                        <a:latin typeface="Cambria Math" panose="02040503050406030204" pitchFamily="18" charset="0"/>
                                      </a:rPr>
                                      <m:t>𝑌</m:t>
                                    </m:r>
                                  </m:e>
                                </m:acc>
                                <m:r>
                                  <a:rPr lang="en-GB" sz="1400" b="0" i="1" u="none" strike="noStrike" smtClean="0">
                                    <a:effectLst/>
                                    <a:latin typeface="Cambria Math" panose="02040503050406030204" pitchFamily="18" charset="0"/>
                                  </a:rPr>
                                  <m:t>=50</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1926337278"/>
                      </a:ext>
                    </a:extLst>
                  </a:tr>
                </a:tbl>
              </a:graphicData>
            </a:graphic>
          </p:graphicFrame>
        </mc:Choice>
        <mc:Fallback xmlns="">
          <p:graphicFrame>
            <p:nvGraphicFramePr>
              <p:cNvPr id="4" name="Table 3">
                <a:extLst>
                  <a:ext uri="{FF2B5EF4-FFF2-40B4-BE49-F238E27FC236}">
                    <a16:creationId xmlns:a16="http://schemas.microsoft.com/office/drawing/2014/main" id="{5C88ACA0-AC24-A4D2-14DC-13C65C1A099A}"/>
                  </a:ext>
                </a:extLst>
              </p:cNvPr>
              <p:cNvGraphicFramePr>
                <a:graphicFrameLocks noGrp="1"/>
              </p:cNvGraphicFramePr>
              <p:nvPr>
                <p:extLst>
                  <p:ext uri="{D42A27DB-BD31-4B8C-83A1-F6EECF244321}">
                    <p14:modId xmlns:p14="http://schemas.microsoft.com/office/powerpoint/2010/main" val="1365482783"/>
                  </p:ext>
                </p:extLst>
              </p:nvPr>
            </p:nvGraphicFramePr>
            <p:xfrm>
              <a:off x="914400" y="1885156"/>
              <a:ext cx="4737720" cy="3044803"/>
            </p:xfrm>
            <a:graphic>
              <a:graphicData uri="http://schemas.openxmlformats.org/drawingml/2006/table">
                <a:tbl>
                  <a:tblPr>
                    <a:tableStyleId>{5C22544A-7EE6-4342-B048-85BDC9FD1C3A}</a:tableStyleId>
                  </a:tblPr>
                  <a:tblGrid>
                    <a:gridCol w="649060">
                      <a:extLst>
                        <a:ext uri="{9D8B030D-6E8A-4147-A177-3AD203B41FA5}">
                          <a16:colId xmlns:a16="http://schemas.microsoft.com/office/drawing/2014/main" val="2496799635"/>
                        </a:ext>
                      </a:extLst>
                    </a:gridCol>
                    <a:gridCol w="649060">
                      <a:extLst>
                        <a:ext uri="{9D8B030D-6E8A-4147-A177-3AD203B41FA5}">
                          <a16:colId xmlns:a16="http://schemas.microsoft.com/office/drawing/2014/main" val="207988274"/>
                        </a:ext>
                      </a:extLst>
                    </a:gridCol>
                    <a:gridCol w="649060">
                      <a:extLst>
                        <a:ext uri="{9D8B030D-6E8A-4147-A177-3AD203B41FA5}">
                          <a16:colId xmlns:a16="http://schemas.microsoft.com/office/drawing/2014/main" val="501998694"/>
                        </a:ext>
                      </a:extLst>
                    </a:gridCol>
                    <a:gridCol w="649060">
                      <a:extLst>
                        <a:ext uri="{9D8B030D-6E8A-4147-A177-3AD203B41FA5}">
                          <a16:colId xmlns:a16="http://schemas.microsoft.com/office/drawing/2014/main" val="907491425"/>
                        </a:ext>
                      </a:extLst>
                    </a:gridCol>
                    <a:gridCol w="1451458">
                      <a:extLst>
                        <a:ext uri="{9D8B030D-6E8A-4147-A177-3AD203B41FA5}">
                          <a16:colId xmlns:a16="http://schemas.microsoft.com/office/drawing/2014/main" val="488734311"/>
                        </a:ext>
                      </a:extLst>
                    </a:gridCol>
                    <a:gridCol w="690022">
                      <a:extLst>
                        <a:ext uri="{9D8B030D-6E8A-4147-A177-3AD203B41FA5}">
                          <a16:colId xmlns:a16="http://schemas.microsoft.com/office/drawing/2014/main" val="3195882388"/>
                        </a:ext>
                      </a:extLst>
                    </a:gridCol>
                  </a:tblGrid>
                  <a:tr h="408283">
                    <a:tc>
                      <a:txBody>
                        <a:bodyPr/>
                        <a:lstStyle/>
                        <a:p>
                          <a:pPr algn="ctr" fontAlgn="b">
                            <a:buNone/>
                          </a:pPr>
                          <a:r>
                            <a:rPr lang="en-GB" sz="1400" i="1" u="none" strike="noStrike" dirty="0">
                              <a:effectLst/>
                            </a:rPr>
                            <a:t>X</a:t>
                          </a:r>
                          <a:endParaRPr lang="en-GB" sz="1400" b="0" i="1"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tc>
                      <a:txBody>
                        <a:bodyPr/>
                        <a:lstStyle/>
                        <a:p>
                          <a:pPr algn="ctr" fontAlgn="b">
                            <a:buNone/>
                          </a:pPr>
                          <a:r>
                            <a:rPr lang="en-GB" sz="1400" i="1" u="none" strike="noStrike" dirty="0">
                              <a:effectLst/>
                            </a:rPr>
                            <a:t>Y</a:t>
                          </a:r>
                          <a:endParaRPr lang="en-GB" sz="1400" b="0" i="1" u="none" strike="noStrike" dirty="0">
                            <a:solidFill>
                              <a:srgbClr val="000000"/>
                            </a:solidFill>
                            <a:effectLst/>
                            <a:latin typeface="Aptos Narrow" panose="020B0004020202020204" pitchFamily="34" charset="0"/>
                          </a:endParaRPr>
                        </a:p>
                      </a:txBody>
                      <a:tcPr marL="6350" marR="6350" marT="6350" marB="0" anchor="b">
                        <a:solidFill>
                          <a:schemeClr val="bg2"/>
                        </a:solidFill>
                      </a:tcPr>
                    </a:tc>
                    <a:tc>
                      <a:txBody>
                        <a:bodyPr/>
                        <a:lstStyle/>
                        <a:p>
                          <a:endParaRPr lang="en-US"/>
                        </a:p>
                      </a:txBody>
                      <a:tcPr marL="6350" marR="6350" marT="6350" marB="0" anchor="b">
                        <a:blipFill>
                          <a:blip r:embed="rId3"/>
                          <a:stretch>
                            <a:fillRect l="-200935" t="-1493" r="-429907" b="-650746"/>
                          </a:stretch>
                        </a:blipFill>
                      </a:tcPr>
                    </a:tc>
                    <a:tc>
                      <a:txBody>
                        <a:bodyPr/>
                        <a:lstStyle/>
                        <a:p>
                          <a:endParaRPr lang="en-US"/>
                        </a:p>
                      </a:txBody>
                      <a:tcPr marL="6350" marR="6350" marT="6350" marB="0" anchor="b">
                        <a:blipFill>
                          <a:blip r:embed="rId3"/>
                          <a:stretch>
                            <a:fillRect l="-303774" t="-1493" r="-333962" b="-650746"/>
                          </a:stretch>
                        </a:blipFill>
                      </a:tcPr>
                    </a:tc>
                    <a:tc>
                      <a:txBody>
                        <a:bodyPr/>
                        <a:lstStyle/>
                        <a:p>
                          <a:endParaRPr lang="en-US"/>
                        </a:p>
                      </a:txBody>
                      <a:tcPr marL="6350" marR="6350" marT="6350" marB="0" anchor="b">
                        <a:blipFill>
                          <a:blip r:embed="rId3"/>
                          <a:stretch>
                            <a:fillRect l="-179079" t="-1493" r="-48117" b="-650746"/>
                          </a:stretch>
                        </a:blipFill>
                      </a:tcPr>
                    </a:tc>
                    <a:tc>
                      <a:txBody>
                        <a:bodyPr/>
                        <a:lstStyle/>
                        <a:p>
                          <a:endParaRPr lang="en-US"/>
                        </a:p>
                      </a:txBody>
                      <a:tcPr marL="6350" marR="6350" marT="6350" marB="0" anchor="b">
                        <a:blipFill>
                          <a:blip r:embed="rId3"/>
                          <a:stretch>
                            <a:fillRect l="-590265" t="-1493" r="-1770" b="-650746"/>
                          </a:stretch>
                        </a:blipFill>
                      </a:tcPr>
                    </a:tc>
                    <a:extLst>
                      <a:ext uri="{0D108BD9-81ED-4DB2-BD59-A6C34878D82A}">
                        <a16:rowId xmlns:a16="http://schemas.microsoft.com/office/drawing/2014/main" val="4287297446"/>
                      </a:ext>
                    </a:extLst>
                  </a:tr>
                  <a:tr h="219710">
                    <a:tc>
                      <a:txBody>
                        <a:bodyPr/>
                        <a:lstStyle/>
                        <a:p>
                          <a:pPr algn="r" fontAlgn="b">
                            <a:buNone/>
                          </a:pPr>
                          <a:r>
                            <a:rPr lang="en-GB" sz="1400" u="none" strike="noStrike" dirty="0">
                              <a:effectLst/>
                            </a:rPr>
                            <a:t>10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-6</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12</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a:t>
                          </a:r>
                          <a:endParaRPr lang="en-GB" sz="14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91798777"/>
                      </a:ext>
                    </a:extLst>
                  </a:tr>
                  <a:tr h="219710">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73106059"/>
                      </a:ext>
                    </a:extLst>
                  </a:tr>
                  <a:tr h="219710">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68677965"/>
                      </a:ext>
                    </a:extLst>
                  </a:tr>
                  <a:tr h="219710">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70461454"/>
                      </a:ext>
                    </a:extLst>
                  </a:tr>
                  <a:tr h="219710">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965311094"/>
                      </a:ext>
                    </a:extLst>
                  </a:tr>
                  <a:tr h="219710">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46165977"/>
                      </a:ext>
                    </a:extLst>
                  </a:tr>
                  <a:tr h="219710">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010687399"/>
                      </a:ext>
                    </a:extLst>
                  </a:tr>
                  <a:tr h="219710">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8</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283920284"/>
                      </a:ext>
                    </a:extLst>
                  </a:tr>
                  <a:tr h="219710">
                    <a:tc>
                      <a:txBody>
                        <a:bodyPr/>
                        <a:lstStyle/>
                        <a:p>
                          <a:pPr algn="r" fontAlgn="b">
                            <a:buNone/>
                          </a:pPr>
                          <a:r>
                            <a:rPr lang="en-GB" sz="1400" u="none" strike="noStrike">
                              <a:effectLst/>
                            </a:rPr>
                            <a:t>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591649130"/>
                      </a:ext>
                    </a:extLst>
                  </a:tr>
                  <a:tr h="219710">
                    <a:tc>
                      <a:txBody>
                        <a:bodyPr/>
                        <a:lstStyle/>
                        <a:p>
                          <a:pPr algn="r" fontAlgn="b">
                            <a:buNone/>
                          </a:pPr>
                          <a:r>
                            <a:rPr lang="en-GB" sz="1400" u="none" strike="noStrike">
                              <a:effectLst/>
                            </a:rPr>
                            <a:t>15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034113048"/>
                      </a:ext>
                    </a:extLst>
                  </a:tr>
                  <a:tr h="219710">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endParaRPr lang="en-US"/>
                        </a:p>
                      </a:txBody>
                      <a:tcPr marL="6350" marR="6350" marT="6350" marB="0" anchor="b">
                        <a:blipFill>
                          <a:blip r:embed="rId3"/>
                          <a:stretch>
                            <a:fillRect l="-179079" t="-1191667" r="-48117" b="-108333"/>
                          </a:stretch>
                        </a:blipFill>
                      </a:tcPr>
                    </a:tc>
                    <a:tc>
                      <a:txBody>
                        <a:bodyPr/>
                        <a:lstStyle/>
                        <a:p>
                          <a:endParaRPr lang="en-US"/>
                        </a:p>
                      </a:txBody>
                      <a:tcPr marL="6350" marR="6350" marT="6350" marB="0" anchor="b">
                        <a:blipFill>
                          <a:blip r:embed="rId3"/>
                          <a:stretch>
                            <a:fillRect l="-590265" t="-1191667" r="-1770" b="-108333"/>
                          </a:stretch>
                        </a:blipFill>
                      </a:tcPr>
                    </a:tc>
                    <a:extLst>
                      <a:ext uri="{0D108BD9-81ED-4DB2-BD59-A6C34878D82A}">
                        <a16:rowId xmlns:a16="http://schemas.microsoft.com/office/drawing/2014/main" val="1036431989"/>
                      </a:ext>
                    </a:extLst>
                  </a:tr>
                  <a:tr h="219710">
                    <a:tc>
                      <a:txBody>
                        <a:bodyPr/>
                        <a:lstStyle/>
                        <a:p>
                          <a:endParaRPr lang="en-US"/>
                        </a:p>
                      </a:txBody>
                      <a:tcPr marL="6350" marR="6350" marT="6350" marB="0" anchor="b">
                        <a:blipFill>
                          <a:blip r:embed="rId3"/>
                          <a:stretch>
                            <a:fillRect l="-1869" t="-1291667" r="-628972" b="-8333"/>
                          </a:stretch>
                        </a:blipFill>
                      </a:tcPr>
                    </a:tc>
                    <a:tc>
                      <a:txBody>
                        <a:bodyPr/>
                        <a:lstStyle/>
                        <a:p>
                          <a:endParaRPr lang="en-US"/>
                        </a:p>
                      </a:txBody>
                      <a:tcPr marL="6350" marR="6350" marT="6350" marB="0" anchor="b">
                        <a:blipFill>
                          <a:blip r:embed="rId3"/>
                          <a:stretch>
                            <a:fillRect l="-102830" t="-1291667" r="-534906" b="-8333"/>
                          </a:stretch>
                        </a:blip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1926337278"/>
                      </a:ext>
                    </a:extLst>
                  </a:tr>
                </a:tbl>
              </a:graphicData>
            </a:graphic>
          </p:graphicFrame>
        </mc:Fallback>
      </mc:AlternateContent>
    </p:spTree>
    <p:extLst>
      <p:ext uri="{BB962C8B-B14F-4D97-AF65-F5344CB8AC3E}">
        <p14:creationId xmlns:p14="http://schemas.microsoft.com/office/powerpoint/2010/main" val="2913945063"/>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E26D9-C90C-3B35-2419-1F0A51673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AE47A-0685-925F-6F15-E07A75DC6797}"/>
              </a:ext>
            </a:extLst>
          </p:cNvPr>
          <p:cNvSpPr>
            <a:spLocks noGrp="1"/>
          </p:cNvSpPr>
          <p:nvPr>
            <p:ph type="title"/>
          </p:nvPr>
        </p:nvSpPr>
        <p:spPr/>
        <p:txBody>
          <a:bodyPr>
            <a:normAutofit fontScale="90000"/>
          </a:bodyPr>
          <a:lstStyle/>
          <a:p>
            <a:r>
              <a:rPr lang="en-GB" dirty="0"/>
              <a:t>Interpretation of coefficients</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980A2E0-2FDF-FDEE-7875-777A3397E507}"/>
                  </a:ext>
                </a:extLst>
              </p:cNvPr>
              <p:cNvSpPr>
                <a:spLocks noGrp="1"/>
              </p:cNvSpPr>
              <p:nvPr>
                <p:ph type="body" sz="quarter" idx="11"/>
              </p:nvPr>
            </p:nvSpPr>
            <p:spPr>
              <a:xfrm>
                <a:off x="900112" y="1700213"/>
                <a:ext cx="7632327" cy="5157787"/>
              </a:xfrm>
            </p:spPr>
            <p:txBody>
              <a:bodyPr/>
              <a:lstStyle/>
              <a:p>
                <a:pPr marL="0" lvl="0" indent="0">
                  <a:buNone/>
                </a:pPr>
                <a:endParaRPr lang="en-GB" sz="2400" dirty="0">
                  <a:solidFill>
                    <a:schemeClr val="tx1"/>
                  </a:solidFill>
                </a:endParaRPr>
              </a:p>
              <a:p>
                <a:pPr marL="9525" indent="0">
                  <a:buNone/>
                </a:pPr>
                <a14:m>
                  <m:oMath xmlns:m="http://schemas.openxmlformats.org/officeDocument/2006/math">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𝑌</m:t>
                        </m:r>
                      </m:e>
                      <m:sub>
                        <m:r>
                          <a:rPr lang="en-GB" sz="2400" b="0" i="1" smtClean="0">
                            <a:solidFill>
                              <a:schemeClr val="tx1"/>
                            </a:solidFill>
                            <a:latin typeface="Cambria Math" panose="02040503050406030204" pitchFamily="18" charset="0"/>
                          </a:rPr>
                          <m:t>𝑡</m:t>
                        </m:r>
                      </m:sub>
                    </m:sSub>
                    <m:r>
                      <a:rPr lang="en-GB" sz="2400" i="1">
                        <a:solidFill>
                          <a:schemeClr val="tx1"/>
                        </a:solidFill>
                        <a:latin typeface="Cambria Math" panose="02040503050406030204" pitchFamily="18" charset="0"/>
                      </a:rPr>
                      <m:t>=</m:t>
                    </m:r>
                    <m:r>
                      <a:rPr lang="en-GB" sz="2400" b="0" i="1" smtClean="0">
                        <a:solidFill>
                          <a:schemeClr val="tx1"/>
                        </a:solidFill>
                        <a:latin typeface="Cambria Math" panose="02040503050406030204" pitchFamily="18" charset="0"/>
                      </a:rPr>
                      <m:t>7.604</m:t>
                    </m:r>
                    <m:r>
                      <a:rPr lang="en-GB" sz="2400" i="1">
                        <a:solidFill>
                          <a:schemeClr val="tx1"/>
                        </a:solidFill>
                        <a:latin typeface="Cambria Math" panose="02040503050406030204" pitchFamily="18" charset="0"/>
                      </a:rPr>
                      <m:t>+</m:t>
                    </m:r>
                    <m:r>
                      <a:rPr lang="en-GB" sz="2400" b="0" i="1" smtClean="0">
                        <a:solidFill>
                          <a:schemeClr val="tx1"/>
                        </a:solidFill>
                        <a:latin typeface="Cambria Math" panose="02040503050406030204" pitchFamily="18" charset="0"/>
                      </a:rPr>
                      <m:t>3.533</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𝑋</m:t>
                        </m:r>
                      </m:e>
                      <m:sub>
                        <m:r>
                          <a:rPr lang="en-GB" sz="2400" b="0" i="1" smtClean="0">
                            <a:solidFill>
                              <a:schemeClr val="tx1"/>
                            </a:solidFill>
                            <a:latin typeface="Cambria Math" panose="02040503050406030204" pitchFamily="18" charset="0"/>
                          </a:rPr>
                          <m:t>𝑡</m:t>
                        </m:r>
                      </m:sub>
                    </m:sSub>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𝑒</m:t>
                        </m:r>
                      </m:e>
                      <m:sub>
                        <m:r>
                          <a:rPr lang="en-GB" sz="2400" b="0" i="1" smtClean="0">
                            <a:solidFill>
                              <a:schemeClr val="tx1"/>
                            </a:solidFill>
                            <a:latin typeface="Cambria Math" panose="02040503050406030204" pitchFamily="18" charset="0"/>
                          </a:rPr>
                          <m:t>𝑡</m:t>
                        </m:r>
                      </m:sub>
                    </m:sSub>
                  </m:oMath>
                </a14:m>
                <a:r>
                  <a:rPr lang="en-US" sz="2400" dirty="0">
                    <a:solidFill>
                      <a:schemeClr val="tx1"/>
                    </a:solidFill>
                  </a:rPr>
                  <a:t>                                                                       </a:t>
                </a:r>
              </a:p>
              <a:p>
                <a:pPr marL="9525" indent="0">
                  <a:buNone/>
                </a:pPr>
                <a:endParaRPr lang="en-GB" sz="2400" i="1" dirty="0">
                  <a:latin typeface="Cambria Math" panose="02040503050406030204" pitchFamily="18" charset="0"/>
                </a:endParaRPr>
              </a:p>
              <a:p>
                <a:pPr marL="9525" indent="0">
                  <a:buNone/>
                </a:pPr>
                <a:r>
                  <a:rPr lang="en-US" sz="2400" dirty="0">
                    <a:solidFill>
                      <a:srgbClr val="FF0000"/>
                    </a:solidFill>
                  </a:rPr>
                  <a:t>Slope</a:t>
                </a:r>
                <a:r>
                  <a:rPr lang="en-US" sz="2400" dirty="0"/>
                  <a:t>: </a:t>
                </a:r>
                <a:r>
                  <a:rPr lang="en-GB" sz="2400" dirty="0"/>
                  <a:t>If advertising expenditure is increased by £1,000, we expect sales revenues to increase by £3,533, keeping everything else constant.</a:t>
                </a:r>
              </a:p>
              <a:p>
                <a:pPr marL="9525" indent="0">
                  <a:buNone/>
                </a:pPr>
                <a:endParaRPr lang="en-US" sz="2400" dirty="0"/>
              </a:p>
              <a:p>
                <a:pPr marL="9525" indent="0">
                  <a:buNone/>
                </a:pPr>
                <a:r>
                  <a:rPr lang="en-US" sz="2400" dirty="0">
                    <a:solidFill>
                      <a:srgbClr val="FF0000"/>
                    </a:solidFill>
                  </a:rPr>
                  <a:t>Intercept</a:t>
                </a:r>
                <a:r>
                  <a:rPr lang="en-US" sz="2400" dirty="0"/>
                  <a:t>: </a:t>
                </a:r>
                <a:r>
                  <a:rPr lang="en-GB" sz="2400" dirty="0"/>
                  <a:t>The regression estimates that if advertising expenditure is £0 (i.e.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𝑋</m:t>
                        </m:r>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=0</m:t>
                    </m:r>
                  </m:oMath>
                </a14:m>
                <a:r>
                  <a:rPr lang="en-GB" sz="2400" dirty="0"/>
                  <a:t>), we predict sales revenue to be £7,600. Note, that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𝑡</m:t>
                        </m:r>
                      </m:sub>
                    </m:sSub>
                    <m:r>
                      <a:rPr lang="en-GB" sz="2400" i="1">
                        <a:latin typeface="Cambria Math" panose="02040503050406030204" pitchFamily="18" charset="0"/>
                      </a:rPr>
                      <m:t>=0</m:t>
                    </m:r>
                  </m:oMath>
                </a14:m>
                <a:r>
                  <a:rPr lang="en-GB" sz="2400" dirty="0"/>
                  <a:t> </a:t>
                </a:r>
                <a:r>
                  <a:rPr lang="en-US" sz="2400" dirty="0"/>
                  <a:t>is far from the provided sample values. In these cases, the intercept has often no sensible economic interpretation.</a:t>
                </a:r>
                <a:r>
                  <a:rPr lang="en-GB" sz="2400" dirty="0"/>
                  <a:t> </a:t>
                </a:r>
              </a:p>
              <a:p>
                <a:pPr marL="9525" indent="0">
                  <a:buNone/>
                </a:pPr>
                <a:endParaRPr lang="en-US" sz="2400" dirty="0"/>
              </a:p>
              <a:p>
                <a:pPr marL="0" lvl="0" indent="0">
                  <a:buNone/>
                </a:pPr>
                <a:r>
                  <a:rPr lang="en-GB" sz="2400" dirty="0"/>
                  <a:t> </a:t>
                </a:r>
              </a:p>
            </p:txBody>
          </p:sp>
        </mc:Choice>
        <mc:Fallback xmlns="">
          <p:sp>
            <p:nvSpPr>
              <p:cNvPr id="3" name="Text Placeholder 2">
                <a:extLst>
                  <a:ext uri="{FF2B5EF4-FFF2-40B4-BE49-F238E27FC236}">
                    <a16:creationId xmlns:a16="http://schemas.microsoft.com/office/drawing/2014/main" id="{C980A2E0-2FDF-FDEE-7875-777A3397E507}"/>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316" r="-3195"/>
                </a:stretch>
              </a:blipFill>
            </p:spPr>
            <p:txBody>
              <a:bodyPr/>
              <a:lstStyle/>
              <a:p>
                <a:r>
                  <a:rPr lang="en-GB">
                    <a:noFill/>
                  </a:rPr>
                  <a:t> </a:t>
                </a:r>
              </a:p>
            </p:txBody>
          </p:sp>
        </mc:Fallback>
      </mc:AlternateContent>
    </p:spTree>
    <p:extLst>
      <p:ext uri="{BB962C8B-B14F-4D97-AF65-F5344CB8AC3E}">
        <p14:creationId xmlns:p14="http://schemas.microsoft.com/office/powerpoint/2010/main" val="3370639992"/>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31ACC-9DFB-2193-D9E4-0C8ECEA75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970DE-48B0-48DF-8FD5-6BD47018B21D}"/>
              </a:ext>
            </a:extLst>
          </p:cNvPr>
          <p:cNvSpPr>
            <a:spLocks noGrp="1"/>
          </p:cNvSpPr>
          <p:nvPr>
            <p:ph type="title"/>
          </p:nvPr>
        </p:nvSpPr>
        <p:spPr/>
        <p:txBody>
          <a:bodyPr>
            <a:normAutofit fontScale="90000"/>
          </a:bodyPr>
          <a:lstStyle/>
          <a:p>
            <a:r>
              <a:rPr lang="en-GB" noProof="0" dirty="0"/>
              <a:t>Pred</a:t>
            </a:r>
            <a:r>
              <a:rPr lang="en-GB" dirty="0" err="1"/>
              <a:t>iction</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DB0C0B5-E674-4EF8-EACE-7C46275D0E01}"/>
                  </a:ext>
                </a:extLst>
              </p:cNvPr>
              <p:cNvSpPr>
                <a:spLocks noGrp="1"/>
              </p:cNvSpPr>
              <p:nvPr>
                <p:ph type="body" sz="quarter" idx="11"/>
              </p:nvPr>
            </p:nvSpPr>
            <p:spPr>
              <a:xfrm>
                <a:off x="900112" y="1700213"/>
                <a:ext cx="7632327" cy="5157787"/>
              </a:xfrm>
            </p:spPr>
            <p:txBody>
              <a:bodyPr/>
              <a:lstStyle/>
              <a:p>
                <a:pPr marL="9525" indent="0">
                  <a:buNone/>
                </a:pPr>
                <a14:m>
                  <m:oMathPara xmlns:m="http://schemas.openxmlformats.org/officeDocument/2006/math">
                    <m:oMathParaPr>
                      <m:jc m:val="centerGroup"/>
                    </m:oMathParaPr>
                    <m:oMath xmlns:m="http://schemas.openxmlformats.org/officeDocument/2006/math">
                      <m:sSub>
                        <m:sSubPr>
                          <m:ctrlPr>
                            <a:rPr lang="en-GB" sz="2400" i="1">
                              <a:solidFill>
                                <a:schemeClr val="tx1"/>
                              </a:solidFill>
                              <a:latin typeface="Cambria Math" panose="02040503050406030204" pitchFamily="18" charset="0"/>
                            </a:rPr>
                          </m:ctrlPr>
                        </m:sSubPr>
                        <m:e>
                          <m:acc>
                            <m:accPr>
                              <m:chr m:val="̂"/>
                              <m:ctrlPr>
                                <a:rPr lang="en-GB" sz="2400" i="1" smtClean="0">
                                  <a:solidFill>
                                    <a:schemeClr val="tx1"/>
                                  </a:solidFill>
                                  <a:latin typeface="Cambria Math" panose="02040503050406030204" pitchFamily="18" charset="0"/>
                                </a:rPr>
                              </m:ctrlPr>
                            </m:accPr>
                            <m:e>
                              <m:r>
                                <a:rPr lang="en-GB" sz="2400" b="0" i="1" smtClean="0">
                                  <a:solidFill>
                                    <a:schemeClr val="tx1"/>
                                  </a:solidFill>
                                  <a:latin typeface="Cambria Math" panose="02040503050406030204" pitchFamily="18" charset="0"/>
                                </a:rPr>
                                <m:t>𝑌</m:t>
                              </m:r>
                            </m:e>
                          </m:acc>
                        </m:e>
                        <m:sub>
                          <m:r>
                            <a:rPr lang="en-GB" sz="2400" b="0" i="1" smtClean="0">
                              <a:solidFill>
                                <a:schemeClr val="tx1"/>
                              </a:solidFill>
                              <a:latin typeface="Cambria Math" panose="02040503050406030204" pitchFamily="18" charset="0"/>
                            </a:rPr>
                            <m:t>𝑡</m:t>
                          </m:r>
                        </m:sub>
                      </m:sSub>
                      <m:r>
                        <a:rPr lang="en-GB" sz="2400" i="1">
                          <a:solidFill>
                            <a:schemeClr val="tx1"/>
                          </a:solidFill>
                          <a:latin typeface="Cambria Math" panose="02040503050406030204" pitchFamily="18" charset="0"/>
                        </a:rPr>
                        <m:t>=</m:t>
                      </m:r>
                      <m:r>
                        <a:rPr lang="en-GB" sz="2400" b="0" i="1" smtClean="0">
                          <a:solidFill>
                            <a:schemeClr val="tx1"/>
                          </a:solidFill>
                          <a:latin typeface="Cambria Math" panose="02040503050406030204" pitchFamily="18" charset="0"/>
                        </a:rPr>
                        <m:t>7.604</m:t>
                      </m:r>
                      <m:r>
                        <a:rPr lang="en-GB" sz="2400" i="1">
                          <a:solidFill>
                            <a:schemeClr val="tx1"/>
                          </a:solidFill>
                          <a:latin typeface="Cambria Math" panose="02040503050406030204" pitchFamily="18" charset="0"/>
                        </a:rPr>
                        <m:t>+</m:t>
                      </m:r>
                      <m:r>
                        <a:rPr lang="en-GB" sz="2400" b="0" i="1" smtClean="0">
                          <a:solidFill>
                            <a:schemeClr val="tx1"/>
                          </a:solidFill>
                          <a:latin typeface="Cambria Math" panose="02040503050406030204" pitchFamily="18" charset="0"/>
                        </a:rPr>
                        <m:t>3.533</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𝑋</m:t>
                          </m:r>
                        </m:e>
                        <m:sub>
                          <m:r>
                            <a:rPr lang="en-GB" sz="2400" b="0" i="1" smtClean="0">
                              <a:solidFill>
                                <a:schemeClr val="tx1"/>
                              </a:solidFill>
                              <a:latin typeface="Cambria Math" panose="02040503050406030204" pitchFamily="18" charset="0"/>
                            </a:rPr>
                            <m:t>𝑡</m:t>
                          </m:r>
                        </m:sub>
                      </m:sSub>
                    </m:oMath>
                  </m:oMathPara>
                </a14:m>
                <a:endParaRPr lang="en-US" sz="2400" dirty="0">
                  <a:solidFill>
                    <a:schemeClr val="tx1"/>
                  </a:solidFill>
                </a:endParaRPr>
              </a:p>
              <a:p>
                <a:pPr marL="9525" indent="0">
                  <a:buNone/>
                </a:pPr>
                <a:endParaRPr lang="en-GB" sz="2400" i="1" dirty="0">
                  <a:latin typeface="Cambria Math" panose="02040503050406030204" pitchFamily="18" charset="0"/>
                </a:endParaRPr>
              </a:p>
              <a:p>
                <a:pPr marL="0" lvl="0" indent="0">
                  <a:buNone/>
                </a:pPr>
                <a:r>
                  <a:rPr lang="en-GB" sz="2400" dirty="0"/>
                  <a:t>Example for a prediction:</a:t>
                </a:r>
              </a:p>
              <a:p>
                <a:pPr marL="0" lvl="0" indent="0">
                  <a:buNone/>
                </a:pPr>
                <a:r>
                  <a:rPr lang="en-GB" sz="2400" dirty="0"/>
                  <a:t>When advertisement is £10,000, </a:t>
                </a:r>
              </a:p>
              <a:p>
                <a:pPr marL="0" lvl="0" indent="0">
                  <a:buNone/>
                </a:pPr>
                <a14:m>
                  <m:oMathPara xmlns:m="http://schemas.openxmlformats.org/officeDocument/2006/math">
                    <m:oMathParaPr>
                      <m:jc m:val="centerGroup"/>
                    </m:oMathParaPr>
                    <m:oMath xmlns:m="http://schemas.openxmlformats.org/officeDocument/2006/math">
                      <m:sSub>
                        <m:sSubPr>
                          <m:ctrlPr>
                            <a:rPr lang="en-GB" sz="2400" i="1">
                              <a:latin typeface="Cambria Math" panose="02040503050406030204" pitchFamily="18" charset="0"/>
                            </a:rPr>
                          </m:ctrlPr>
                        </m:sSubPr>
                        <m:e>
                          <m:acc>
                            <m:accPr>
                              <m:chr m:val="̂"/>
                              <m:ctrlPr>
                                <a:rPr lang="en-GB" sz="2400" i="1">
                                  <a:latin typeface="Cambria Math" panose="02040503050406030204" pitchFamily="18" charset="0"/>
                                </a:rPr>
                              </m:ctrlPr>
                            </m:accPr>
                            <m:e>
                              <m:r>
                                <a:rPr lang="en-GB" sz="2400" i="1">
                                  <a:latin typeface="Cambria Math" panose="02040503050406030204" pitchFamily="18" charset="0"/>
                                </a:rPr>
                                <m:t>𝑌</m:t>
                              </m:r>
                            </m:e>
                          </m:acc>
                        </m:e>
                        <m:sub>
                          <m:r>
                            <a:rPr lang="en-GB" sz="2400" i="1">
                              <a:latin typeface="Cambria Math" panose="02040503050406030204" pitchFamily="18" charset="0"/>
                            </a:rPr>
                            <m:t>𝑡</m:t>
                          </m:r>
                        </m:sub>
                      </m:sSub>
                      <m:r>
                        <a:rPr lang="en-GB" sz="2400" i="1">
                          <a:latin typeface="Cambria Math" panose="02040503050406030204" pitchFamily="18" charset="0"/>
                        </a:rPr>
                        <m:t>=7.604+3.533</m:t>
                      </m:r>
                      <m:r>
                        <a:rPr lang="en-GB" sz="2400" b="0" i="1" smtClean="0">
                          <a:latin typeface="Cambria Math" panose="02040503050406030204" pitchFamily="18" charset="0"/>
                        </a:rPr>
                        <m:t>∗10=42.934</m:t>
                      </m:r>
                    </m:oMath>
                  </m:oMathPara>
                </a14:m>
                <a:endParaRPr lang="en-GB" sz="2400" dirty="0"/>
              </a:p>
              <a:p>
                <a:pPr marL="0" lvl="0" indent="0">
                  <a:buNone/>
                </a:pPr>
                <a:r>
                  <a:rPr lang="en-GB" sz="2400" dirty="0"/>
                  <a:t>Expected sales revenues are £42,934.</a:t>
                </a:r>
              </a:p>
              <a:p>
                <a:pPr marL="0" lvl="0" indent="0">
                  <a:buNone/>
                </a:pPr>
                <a:endParaRPr lang="en-GB" sz="2400" dirty="0"/>
              </a:p>
              <a:p>
                <a:pPr marL="0" lvl="0" indent="0">
                  <a:buNone/>
                </a:pPr>
                <a:r>
                  <a:rPr lang="en-GB" sz="2400" dirty="0"/>
                  <a:t>Note that this is a conditional expectation: </a:t>
                </a:r>
                <a14:m>
                  <m:oMath xmlns:m="http://schemas.openxmlformats.org/officeDocument/2006/math">
                    <m:r>
                      <a:rPr lang="en-GB" sz="2400" b="0" i="1" smtClean="0">
                        <a:latin typeface="Cambria Math" panose="02040503050406030204" pitchFamily="18" charset="0"/>
                      </a:rPr>
                      <m:t>𝐸</m:t>
                    </m:r>
                    <m:d>
                      <m:dPr>
                        <m:begChr m:val="["/>
                        <m:endChr m:val="]"/>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𝑌</m:t>
                            </m:r>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𝑋</m:t>
                            </m:r>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=10</m:t>
                        </m:r>
                      </m:e>
                    </m:d>
                  </m:oMath>
                </a14:m>
                <a:r>
                  <a:rPr lang="en-GB" sz="2400" dirty="0"/>
                  <a:t>.</a:t>
                </a:r>
              </a:p>
              <a:p>
                <a:pPr marL="0" lvl="0" indent="0">
                  <a:buNone/>
                </a:pPr>
                <a:endParaRPr lang="en-GB" sz="2400" dirty="0"/>
              </a:p>
              <a:p>
                <a:pPr marL="0" indent="0">
                  <a:buNone/>
                </a:pPr>
                <a:r>
                  <a:rPr lang="en-GB" altLang="en-US" sz="2400" dirty="0"/>
                  <a:t>Care must be taken when using the regression to estimate the sales revenues for advertising expenditures outside the range of the observed values. </a:t>
                </a:r>
              </a:p>
              <a:p>
                <a:pPr marL="0" lvl="0" indent="0">
                  <a:buNone/>
                </a:pPr>
                <a:endParaRPr lang="en-GB" sz="2400" dirty="0"/>
              </a:p>
              <a:p>
                <a:pPr marL="0" lvl="0" indent="0">
                  <a:buNone/>
                </a:pPr>
                <a:endParaRPr lang="en-GB" sz="2400" dirty="0"/>
              </a:p>
            </p:txBody>
          </p:sp>
        </mc:Choice>
        <mc:Fallback xmlns="">
          <p:sp>
            <p:nvSpPr>
              <p:cNvPr id="3" name="Text Placeholder 2">
                <a:extLst>
                  <a:ext uri="{FF2B5EF4-FFF2-40B4-BE49-F238E27FC236}">
                    <a16:creationId xmlns:a16="http://schemas.microsoft.com/office/drawing/2014/main" id="{BDB0C0B5-E674-4EF8-EACE-7C46275D0E01}"/>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418" b="-355"/>
                </a:stretch>
              </a:blipFill>
            </p:spPr>
            <p:txBody>
              <a:bodyPr/>
              <a:lstStyle/>
              <a:p>
                <a:r>
                  <a:rPr lang="en-GB">
                    <a:noFill/>
                  </a:rPr>
                  <a:t> </a:t>
                </a:r>
              </a:p>
            </p:txBody>
          </p:sp>
        </mc:Fallback>
      </mc:AlternateContent>
    </p:spTree>
    <p:extLst>
      <p:ext uri="{BB962C8B-B14F-4D97-AF65-F5344CB8AC3E}">
        <p14:creationId xmlns:p14="http://schemas.microsoft.com/office/powerpoint/2010/main" val="2659128861"/>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E8B2F-715F-345A-A712-0AA23CB53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1C6CB2-036E-A6B5-26E2-2B99CB5B39C0}"/>
              </a:ext>
            </a:extLst>
          </p:cNvPr>
          <p:cNvSpPr>
            <a:spLocks noGrp="1"/>
          </p:cNvSpPr>
          <p:nvPr>
            <p:ph type="title"/>
          </p:nvPr>
        </p:nvSpPr>
        <p:spPr/>
        <p:txBody>
          <a:bodyPr>
            <a:normAutofit fontScale="90000"/>
          </a:bodyPr>
          <a:lstStyle/>
          <a:p>
            <a:r>
              <a:rPr lang="en-GB" dirty="0"/>
              <a:t>Assumptions on the error term </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3493E04-7870-4E87-20CF-6C5E87E4F01E}"/>
                  </a:ext>
                </a:extLst>
              </p:cNvPr>
              <p:cNvSpPr>
                <a:spLocks noGrp="1"/>
              </p:cNvSpPr>
              <p:nvPr>
                <p:ph type="body" sz="quarter" idx="11"/>
              </p:nvPr>
            </p:nvSpPr>
            <p:spPr>
              <a:xfrm>
                <a:off x="900112" y="1700213"/>
                <a:ext cx="7632327" cy="5157787"/>
              </a:xfrm>
            </p:spPr>
            <p:txBody>
              <a:bodyPr/>
              <a:lstStyle/>
              <a:p>
                <a:pPr marL="0" lvl="0" indent="0">
                  <a:buNone/>
                </a:pPr>
                <a:endParaRPr lang="en-GB" sz="2400" dirty="0"/>
              </a:p>
              <a:p>
                <a:pPr marL="0" lvl="0" indent="0">
                  <a:buNone/>
                </a:pPr>
                <a14:m>
                  <m:oMathPara xmlns:m="http://schemas.openxmlformats.org/officeDocument/2006/math">
                    <m:oMathParaPr>
                      <m:jc m:val="centerGroup"/>
                    </m:oMathParaPr>
                    <m:oMath xmlns:m="http://schemas.openxmlformats.org/officeDocument/2006/math">
                      <m:sSub>
                        <m:sSubPr>
                          <m:ctrlPr>
                            <a:rPr lang="en-GB" sz="2400" i="1" smtClean="0">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𝑌</m:t>
                          </m:r>
                        </m:e>
                        <m:sub>
                          <m:r>
                            <a:rPr lang="en-GB" sz="2400" i="1">
                              <a:solidFill>
                                <a:schemeClr val="tx1"/>
                              </a:solidFill>
                              <a:latin typeface="Cambria Math" panose="02040503050406030204" pitchFamily="18" charset="0"/>
                            </a:rPr>
                            <m:t>𝑖</m:t>
                          </m:r>
                        </m:sub>
                      </m:sSub>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𝑏</m:t>
                          </m:r>
                        </m:e>
                        <m:sub>
                          <m:r>
                            <a:rPr lang="en-GB" sz="2400" i="1">
                              <a:solidFill>
                                <a:schemeClr val="tx1"/>
                              </a:solidFill>
                              <a:latin typeface="Cambria Math" panose="02040503050406030204" pitchFamily="18" charset="0"/>
                            </a:rPr>
                            <m:t>0</m:t>
                          </m:r>
                        </m:sub>
                      </m:sSub>
                      <m:r>
                        <a:rPr lang="en-GB" sz="2400" i="1">
                          <a:solidFill>
                            <a:schemeClr val="tx1"/>
                          </a:solidFill>
                          <a:latin typeface="Cambria Math" panose="02040503050406030204" pitchFamily="18" charset="0"/>
                        </a:rPr>
                        <m:t>+ </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𝑏</m:t>
                          </m:r>
                        </m:e>
                        <m:sub>
                          <m:r>
                            <a:rPr lang="en-GB" sz="2400" i="1">
                              <a:solidFill>
                                <a:schemeClr val="tx1"/>
                              </a:solidFill>
                              <a:latin typeface="Cambria Math" panose="02040503050406030204" pitchFamily="18" charset="0"/>
                            </a:rPr>
                            <m:t>1</m:t>
                          </m:r>
                        </m:sub>
                      </m:sSub>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𝑋</m:t>
                          </m:r>
                        </m:e>
                        <m:sub>
                          <m:r>
                            <a:rPr lang="en-GB" sz="2400" i="1">
                              <a:solidFill>
                                <a:schemeClr val="tx1"/>
                              </a:solidFill>
                              <a:latin typeface="Cambria Math" panose="02040503050406030204" pitchFamily="18" charset="0"/>
                            </a:rPr>
                            <m:t>𝑖</m:t>
                          </m:r>
                        </m:sub>
                      </m:sSub>
                      <m:r>
                        <a:rPr lang="en-GB" sz="2400" i="1">
                          <a:solidFill>
                            <a:schemeClr val="tx1"/>
                          </a:solidFill>
                          <a:latin typeface="Cambria Math" panose="02040503050406030204" pitchFamily="18" charset="0"/>
                        </a:rPr>
                        <m:t>+</m:t>
                      </m:r>
                      <m:sSub>
                        <m:sSubPr>
                          <m:ctrlPr>
                            <a:rPr lang="en-GB" sz="2400" i="1">
                              <a:solidFill>
                                <a:srgbClr val="92D050"/>
                              </a:solidFill>
                              <a:latin typeface="Cambria Math" panose="02040503050406030204" pitchFamily="18" charset="0"/>
                            </a:rPr>
                          </m:ctrlPr>
                        </m:sSubPr>
                        <m:e>
                          <m:r>
                            <a:rPr lang="en-GB" sz="2400" i="1">
                              <a:solidFill>
                                <a:srgbClr val="92D050"/>
                              </a:solidFill>
                              <a:latin typeface="Cambria Math" panose="02040503050406030204" pitchFamily="18" charset="0"/>
                            </a:rPr>
                            <m:t>𝑒</m:t>
                          </m:r>
                        </m:e>
                        <m:sub>
                          <m:r>
                            <a:rPr lang="en-GB" sz="2400" i="1">
                              <a:solidFill>
                                <a:srgbClr val="92D050"/>
                              </a:solidFill>
                              <a:latin typeface="Cambria Math" panose="02040503050406030204" pitchFamily="18" charset="0"/>
                            </a:rPr>
                            <m:t>𝑖</m:t>
                          </m:r>
                        </m:sub>
                      </m:sSub>
                    </m:oMath>
                  </m:oMathPara>
                </a14:m>
                <a:endParaRPr lang="en-GB" sz="2400" dirty="0"/>
              </a:p>
              <a:p>
                <a:pPr marL="0" lvl="0" indent="0">
                  <a:buNone/>
                </a:pPr>
                <a:endParaRPr lang="en-GB" sz="2400" dirty="0"/>
              </a:p>
              <a:p>
                <a:r>
                  <a:rPr lang="en-GB" sz="2400" dirty="0"/>
                  <a:t>The error term is a random variable with a mean value of zero: </a:t>
                </a:r>
                <a14:m>
                  <m:oMath xmlns:m="http://schemas.openxmlformats.org/officeDocument/2006/math">
                    <m:r>
                      <a:rPr lang="en-GB" sz="2400" b="0" i="1" smtClean="0">
                        <a:latin typeface="Cambria Math" panose="02040503050406030204" pitchFamily="18" charset="0"/>
                      </a:rPr>
                      <m:t>𝐸</m:t>
                    </m:r>
                    <m:d>
                      <m:dPr>
                        <m:begChr m:val="["/>
                        <m:endChr m:val="]"/>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𝑒</m:t>
                            </m:r>
                          </m:e>
                          <m:sub>
                            <m:r>
                              <a:rPr lang="en-GB" sz="2400" b="0" i="1" smtClean="0">
                                <a:latin typeface="Cambria Math" panose="02040503050406030204" pitchFamily="18" charset="0"/>
                              </a:rPr>
                              <m:t>𝑖</m:t>
                            </m:r>
                          </m:sub>
                        </m:sSub>
                      </m:e>
                    </m:d>
                    <m:r>
                      <a:rPr lang="en-GB" sz="2400" b="0" i="1" smtClean="0">
                        <a:latin typeface="Cambria Math" panose="02040503050406030204" pitchFamily="18" charset="0"/>
                      </a:rPr>
                      <m:t>=0.</m:t>
                    </m:r>
                  </m:oMath>
                </a14:m>
                <a:endParaRPr lang="en-GB" sz="2400" dirty="0"/>
              </a:p>
              <a:p>
                <a:r>
                  <a:rPr lang="en-GB" sz="2400" dirty="0"/>
                  <a:t>The variance of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𝑒</m:t>
                        </m:r>
                      </m:e>
                      <m:sub>
                        <m:r>
                          <a:rPr lang="en-GB" sz="2400" b="0" i="1" smtClean="0">
                            <a:latin typeface="Cambria Math" panose="02040503050406030204" pitchFamily="18" charset="0"/>
                          </a:rPr>
                          <m:t>𝑖</m:t>
                        </m:r>
                      </m:sub>
                    </m:sSub>
                  </m:oMath>
                </a14:m>
                <a:r>
                  <a:rPr lang="en-GB" sz="2400" dirty="0"/>
                  <a:t> denoted by </a:t>
                </a:r>
                <a14:m>
                  <m:oMath xmlns:m="http://schemas.openxmlformats.org/officeDocument/2006/math">
                    <m:sSup>
                      <m:sSupPr>
                        <m:ctrlPr>
                          <a:rPr lang="en-GB" sz="2400" i="1" smtClean="0">
                            <a:latin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𝜎</m:t>
                        </m:r>
                      </m:e>
                      <m:sup>
                        <m:r>
                          <a:rPr lang="en-GB" sz="2400" b="0" i="1" smtClean="0">
                            <a:latin typeface="Cambria Math" panose="02040503050406030204" pitchFamily="18" charset="0"/>
                          </a:rPr>
                          <m:t>2</m:t>
                        </m:r>
                      </m:sup>
                    </m:sSup>
                  </m:oMath>
                </a14:m>
                <a:r>
                  <a:rPr lang="en-GB" sz="2400" dirty="0"/>
                  <a:t>, is the same for all values of X.</a:t>
                </a:r>
              </a:p>
              <a:p>
                <a:r>
                  <a:rPr lang="en-GB" sz="2400" dirty="0"/>
                  <a:t>The values of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𝑒</m:t>
                        </m:r>
                      </m:e>
                      <m:sub>
                        <m:r>
                          <a:rPr lang="en-GB" sz="2400" i="1">
                            <a:latin typeface="Cambria Math" panose="02040503050406030204" pitchFamily="18" charset="0"/>
                          </a:rPr>
                          <m:t>𝑖</m:t>
                        </m:r>
                      </m:sub>
                    </m:sSub>
                  </m:oMath>
                </a14:m>
                <a:r>
                  <a:rPr lang="en-GB" sz="2400" dirty="0"/>
                  <a:t> are independent, hence </a:t>
                </a:r>
                <a14:m>
                  <m:oMath xmlns:m="http://schemas.openxmlformats.org/officeDocument/2006/math">
                    <m:r>
                      <a:rPr lang="en-GB" sz="2400" b="0" i="1" smtClean="0">
                        <a:latin typeface="Cambria Math" panose="02040503050406030204" pitchFamily="18" charset="0"/>
                      </a:rPr>
                      <m:t>𝑐𝑜𝑟</m:t>
                    </m:r>
                    <m:d>
                      <m:dPr>
                        <m:ctrlPr>
                          <a:rPr lang="en-GB" sz="2400" b="0" i="1" smtClean="0">
                            <a:latin typeface="Cambria Math" panose="02040503050406030204" pitchFamily="18" charset="0"/>
                          </a:rPr>
                        </m:ctrlPr>
                      </m:dPr>
                      <m:e>
                        <m:sSub>
                          <m:sSubPr>
                            <m:ctrlPr>
                              <a:rPr lang="en-GB" sz="2400" i="1">
                                <a:latin typeface="Cambria Math" panose="02040503050406030204" pitchFamily="18" charset="0"/>
                              </a:rPr>
                            </m:ctrlPr>
                          </m:sSubPr>
                          <m:e>
                            <m:r>
                              <a:rPr lang="en-GB" sz="2400" i="1">
                                <a:latin typeface="Cambria Math" panose="02040503050406030204" pitchFamily="18" charset="0"/>
                              </a:rPr>
                              <m:t>𝑒</m:t>
                            </m:r>
                          </m:e>
                          <m:sub>
                            <m:r>
                              <a:rPr lang="en-GB" sz="2400" i="1">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𝑒</m:t>
                            </m:r>
                          </m:e>
                          <m:sub>
                            <m:r>
                              <a:rPr lang="en-GB" sz="2400" b="0" i="1" smtClean="0">
                                <a:latin typeface="Cambria Math" panose="02040503050406030204" pitchFamily="18" charset="0"/>
                              </a:rPr>
                              <m:t>𝑗</m:t>
                            </m:r>
                          </m:sub>
                        </m:sSub>
                      </m:e>
                    </m:d>
                    <m:r>
                      <a:rPr lang="en-GB" sz="2400" b="0" i="1" smtClean="0">
                        <a:latin typeface="Cambria Math" panose="02040503050406030204" pitchFamily="18" charset="0"/>
                      </a:rPr>
                      <m:t>=0</m:t>
                    </m:r>
                  </m:oMath>
                </a14:m>
                <a:r>
                  <a:rPr lang="en-GB" sz="2400" dirty="0"/>
                  <a:t>.</a:t>
                </a:r>
              </a:p>
              <a:p>
                <a:r>
                  <a:rPr lang="en-GB" sz="2400" dirty="0"/>
                  <a:t>The error term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𝑒</m:t>
                        </m:r>
                      </m:e>
                      <m:sub>
                        <m:r>
                          <a:rPr lang="en-GB" sz="2400" i="1">
                            <a:latin typeface="Cambria Math" panose="02040503050406030204" pitchFamily="18" charset="0"/>
                          </a:rPr>
                          <m:t>𝑖</m:t>
                        </m:r>
                      </m:sub>
                    </m:sSub>
                  </m:oMath>
                </a14:m>
                <a:r>
                  <a:rPr lang="en-GB" sz="2400" dirty="0"/>
                  <a:t> is approximately normally distributed.</a:t>
                </a:r>
              </a:p>
              <a:p>
                <a:endParaRPr lang="en-GB" sz="2400" dirty="0"/>
              </a:p>
            </p:txBody>
          </p:sp>
        </mc:Choice>
        <mc:Fallback xmlns="">
          <p:sp>
            <p:nvSpPr>
              <p:cNvPr id="3" name="Text Placeholder 2">
                <a:extLst>
                  <a:ext uri="{FF2B5EF4-FFF2-40B4-BE49-F238E27FC236}">
                    <a16:creationId xmlns:a16="http://schemas.microsoft.com/office/drawing/2014/main" id="{B3493E04-7870-4E87-20CF-6C5E87E4F01E}"/>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r="-1837"/>
                </a:stretch>
              </a:blipFill>
            </p:spPr>
            <p:txBody>
              <a:bodyPr/>
              <a:lstStyle/>
              <a:p>
                <a:r>
                  <a:rPr lang="en-GB">
                    <a:noFill/>
                  </a:rPr>
                  <a:t> </a:t>
                </a:r>
              </a:p>
            </p:txBody>
          </p:sp>
        </mc:Fallback>
      </mc:AlternateContent>
    </p:spTree>
    <p:extLst>
      <p:ext uri="{BB962C8B-B14F-4D97-AF65-F5344CB8AC3E}">
        <p14:creationId xmlns:p14="http://schemas.microsoft.com/office/powerpoint/2010/main" val="1998749007"/>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CE13-887D-424D-9C90-08C9AE0EA795}"/>
              </a:ext>
            </a:extLst>
          </p:cNvPr>
          <p:cNvSpPr>
            <a:spLocks noGrp="1"/>
          </p:cNvSpPr>
          <p:nvPr>
            <p:ph type="title"/>
          </p:nvPr>
        </p:nvSpPr>
        <p:spPr/>
        <p:txBody>
          <a:bodyPr>
            <a:normAutofit/>
          </a:bodyPr>
          <a:lstStyle/>
          <a:p>
            <a:r>
              <a:rPr lang="en-GB" sz="3200" noProof="0" dirty="0"/>
              <a:t>Next Lecture</a:t>
            </a:r>
          </a:p>
        </p:txBody>
      </p:sp>
      <p:sp>
        <p:nvSpPr>
          <p:cNvPr id="3" name="Text Placeholder 2">
            <a:extLst>
              <a:ext uri="{FF2B5EF4-FFF2-40B4-BE49-F238E27FC236}">
                <a16:creationId xmlns:a16="http://schemas.microsoft.com/office/drawing/2014/main" id="{ADEBF03B-6FBE-4B0C-93A0-8DB46AC1EDBD}"/>
              </a:ext>
            </a:extLst>
          </p:cNvPr>
          <p:cNvSpPr>
            <a:spLocks noGrp="1"/>
          </p:cNvSpPr>
          <p:nvPr>
            <p:ph type="body" sz="quarter" idx="11"/>
          </p:nvPr>
        </p:nvSpPr>
        <p:spPr>
          <a:xfrm>
            <a:off x="899591" y="1412776"/>
            <a:ext cx="6551612" cy="2880320"/>
          </a:xfrm>
        </p:spPr>
        <p:txBody>
          <a:bodyPr/>
          <a:lstStyle/>
          <a:p>
            <a:r>
              <a:rPr lang="en-GB" sz="2400" dirty="0"/>
              <a:t>Regression inference</a:t>
            </a:r>
          </a:p>
          <a:p>
            <a:r>
              <a:rPr lang="en-GB" sz="2400" noProof="0" dirty="0"/>
              <a:t>Standard err</a:t>
            </a:r>
            <a:r>
              <a:rPr lang="en-GB" sz="2400" dirty="0" err="1"/>
              <a:t>ors</a:t>
            </a:r>
            <a:endParaRPr lang="en-GB" sz="2400" dirty="0"/>
          </a:p>
          <a:p>
            <a:r>
              <a:rPr lang="en-GB" sz="2400" dirty="0"/>
              <a:t>Significance test for regression coefficients (</a:t>
            </a:r>
            <a:r>
              <a:rPr lang="en-GB" sz="2400" i="1" dirty="0"/>
              <a:t>t</a:t>
            </a:r>
            <a:r>
              <a:rPr lang="en-GB" sz="2400" dirty="0"/>
              <a:t> test)</a:t>
            </a:r>
          </a:p>
          <a:p>
            <a:endParaRPr lang="en-GB" sz="2400" dirty="0"/>
          </a:p>
          <a:p>
            <a:endParaRPr lang="en-GB" sz="2400" noProof="0" dirty="0"/>
          </a:p>
          <a:p>
            <a:pPr marL="9525" indent="0">
              <a:buNone/>
            </a:pPr>
            <a:endParaRPr lang="en-GB" noProof="0" dirty="0"/>
          </a:p>
        </p:txBody>
      </p:sp>
    </p:spTree>
    <p:extLst>
      <p:ext uri="{BB962C8B-B14F-4D97-AF65-F5344CB8AC3E}">
        <p14:creationId xmlns:p14="http://schemas.microsoft.com/office/powerpoint/2010/main" val="1363191569"/>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Lilac standard" id="{B50C80D3-D9F5-4009-9938-F1B85FF744A3}" vid="{FD532FFD-1352-4344-A026-1EC031F17F7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8489C2B03CC9B4B848357AD3FCA0F8D" ma:contentTypeVersion="18" ma:contentTypeDescription="Create a new document." ma:contentTypeScope="" ma:versionID="9c70d1b8ff5784da77d5e8ac5f5ee068">
  <xsd:schema xmlns:xsd="http://www.w3.org/2001/XMLSchema" xmlns:xs="http://www.w3.org/2001/XMLSchema" xmlns:p="http://schemas.microsoft.com/office/2006/metadata/properties" xmlns:ns3="0a63ec7c-6655-44e7-8cc1-d1896a7f84b6" xmlns:ns4="eaad8dcd-1243-433a-a0b1-5eb79d1ccaf5" targetNamespace="http://schemas.microsoft.com/office/2006/metadata/properties" ma:root="true" ma:fieldsID="c3c62d2be93880894511948f698c4aa4" ns3:_="" ns4:_="">
    <xsd:import namespace="0a63ec7c-6655-44e7-8cc1-d1896a7f84b6"/>
    <xsd:import namespace="eaad8dcd-1243-433a-a0b1-5eb79d1cca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63ec7c-6655-44e7-8cc1-d1896a7f84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ad8dcd-1243-433a-a0b1-5eb79d1cca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a63ec7c-6655-44e7-8cc1-d1896a7f84b6" xsi:nil="true"/>
  </documentManagement>
</p:properties>
</file>

<file path=customXml/itemProps1.xml><?xml version="1.0" encoding="utf-8"?>
<ds:datastoreItem xmlns:ds="http://schemas.openxmlformats.org/officeDocument/2006/customXml" ds:itemID="{AC5552B4-89B5-4F8D-B1E4-E0A34EA58D51}">
  <ds:schemaRefs>
    <ds:schemaRef ds:uri="http://schemas.microsoft.com/sharepoint/v3/contenttype/forms"/>
  </ds:schemaRefs>
</ds:datastoreItem>
</file>

<file path=customXml/itemProps2.xml><?xml version="1.0" encoding="utf-8"?>
<ds:datastoreItem xmlns:ds="http://schemas.openxmlformats.org/officeDocument/2006/customXml" ds:itemID="{AFDFFD38-5222-4053-9C14-8FD6BB649E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63ec7c-6655-44e7-8cc1-d1896a7f84b6"/>
    <ds:schemaRef ds:uri="eaad8dcd-1243-433a-a0b1-5eb79d1cca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D2D201-97C8-4E70-BF77-76D11DC8600F}">
  <ds:schemaRef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www.w3.org/XML/1998/namespace"/>
    <ds:schemaRef ds:uri="http://purl.org/dc/elements/1.1/"/>
    <ds:schemaRef ds:uri="eaad8dcd-1243-433a-a0b1-5eb79d1ccaf5"/>
    <ds:schemaRef ds:uri="0a63ec7c-6655-44e7-8cc1-d1896a7f84b6"/>
    <ds:schemaRef ds:uri="http://schemas.microsoft.com/office/infopath/2007/PartnerControls"/>
    <ds:schemaRef ds:uri="http://purl.org/dc/terms/"/>
  </ds:schemaRefs>
</ds:datastoreItem>
</file>

<file path=docMetadata/LabelInfo.xml><?xml version="1.0" encoding="utf-8"?>
<clbl:labelList xmlns:clbl="http://schemas.microsoft.com/office/2020/mipLabelMetadata">
  <clbl:label id="{fc0de803-e079-4d4f-96bc-6f3b3b6923e3}"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UWE Lilac standard</Template>
  <TotalTime>6631</TotalTime>
  <Words>849</Words>
  <Application>Microsoft Office PowerPoint</Application>
  <PresentationFormat>On-screen Show (4:3)</PresentationFormat>
  <Paragraphs>249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 Narrow</vt:lpstr>
      <vt:lpstr>Arial</vt:lpstr>
      <vt:lpstr>Calibri</vt:lpstr>
      <vt:lpstr>Cambria Math</vt:lpstr>
      <vt:lpstr>Courier New</vt:lpstr>
      <vt:lpstr>Georgia</vt:lpstr>
      <vt:lpstr>Tahoma</vt:lpstr>
      <vt:lpstr>Wingdings</vt:lpstr>
      <vt:lpstr>Custom Design</vt:lpstr>
      <vt:lpstr>UMET9U-30-1- Professional Skills for Banking and Finance   Lecture 21</vt:lpstr>
      <vt:lpstr>Lecture content</vt:lpstr>
      <vt:lpstr>Regression analysis  </vt:lpstr>
      <vt:lpstr>Example  </vt:lpstr>
      <vt:lpstr>Scatter graph  </vt:lpstr>
      <vt:lpstr>Correlation coefficient  </vt:lpstr>
      <vt:lpstr>Fitted line  </vt:lpstr>
      <vt:lpstr>Least square criterion  </vt:lpstr>
      <vt:lpstr>The regression equation  </vt:lpstr>
      <vt:lpstr>How to compute the coefficients  </vt:lpstr>
      <vt:lpstr>Estimated coefficients for the advertisement example  </vt:lpstr>
      <vt:lpstr>Interpretation of coefficients  </vt:lpstr>
      <vt:lpstr>Prediction  </vt:lpstr>
      <vt:lpstr>Assumptions on the error term   </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UMED8M-15-2 - Introductory econometrics   Lecture 1</dc:title>
  <dc:creator>Reinhold Heinlein</dc:creator>
  <cp:lastModifiedBy>Reinhold Heinlein</cp:lastModifiedBy>
  <cp:revision>23</cp:revision>
  <cp:lastPrinted>2016-09-22T10:08:48Z</cp:lastPrinted>
  <dcterms:created xsi:type="dcterms:W3CDTF">2021-06-15T10:15:29Z</dcterms:created>
  <dcterms:modified xsi:type="dcterms:W3CDTF">2026-02-16T11:14:52Z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0x01010078489C2B03CC9B4B848357AD3FCA0F8D</vt:lpwstr>
  </property>
</Properties>
</file>