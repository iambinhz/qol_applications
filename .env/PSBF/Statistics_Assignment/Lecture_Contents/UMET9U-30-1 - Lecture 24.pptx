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19"/>
  </p:notesMasterIdLst>
  <p:handoutMasterIdLst>
    <p:handoutMasterId r:id="rId20"/>
  </p:handoutMasterIdLst>
  <p:sldIdLst>
    <p:sldId id="256" r:id="rId5"/>
    <p:sldId id="258" r:id="rId6"/>
    <p:sldId id="282" r:id="rId7"/>
    <p:sldId id="283" r:id="rId8"/>
    <p:sldId id="285" r:id="rId9"/>
    <p:sldId id="281" r:id="rId10"/>
    <p:sldId id="284" r:id="rId11"/>
    <p:sldId id="286" r:id="rId12"/>
    <p:sldId id="287" r:id="rId13"/>
    <p:sldId id="288" r:id="rId14"/>
    <p:sldId id="289" r:id="rId15"/>
    <p:sldId id="290" r:id="rId16"/>
    <p:sldId id="291" r:id="rId17"/>
    <p:sldId id="292" r:id="rId18"/>
  </p:sldIdLst>
  <p:sldSz cx="9144000" cy="6858000" type="screen4x3"/>
  <p:notesSz cx="9144000" cy="6858000"/>
  <p:custDataLst>
    <p:tags r:id="rId21"/>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E30613"/>
    <a:srgbClr val="7A7392"/>
    <a:srgbClr val="16818D"/>
    <a:srgbClr val="1A9DAC"/>
    <a:srgbClr val="1C9DAC"/>
    <a:srgbClr val="598752"/>
    <a:srgbClr val="6DA463"/>
    <a:srgbClr val="A65C45"/>
    <a:srgbClr val="CC70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9E49C1-4EA8-4948-AB0E-A501497659F4}" v="392" dt="2026-02-17T10:29:17.7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1" autoAdjust="0"/>
    <p:restoredTop sz="86410"/>
  </p:normalViewPr>
  <p:slideViewPr>
    <p:cSldViewPr showGuides="1">
      <p:cViewPr varScale="1">
        <p:scale>
          <a:sx n="111" d="100"/>
          <a:sy n="111" d="100"/>
        </p:scale>
        <p:origin x="1482" y="96"/>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06" d="100"/>
          <a:sy n="106"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nhold Heinlein" userId="c5e5d61b-3817-4f51-a712-dcf8bfbff443" providerId="ADAL" clId="{49431ECB-42D2-48D6-9016-5889F3B84DB9}"/>
    <pc:docChg chg="undo custSel addSld delSld modSld sldOrd">
      <pc:chgData name="Reinhold Heinlein" userId="c5e5d61b-3817-4f51-a712-dcf8bfbff443" providerId="ADAL" clId="{49431ECB-42D2-48D6-9016-5889F3B84DB9}" dt="2026-02-17T10:31:36.888" v="1934" actId="20577"/>
      <pc:docMkLst>
        <pc:docMk/>
      </pc:docMkLst>
      <pc:sldChg chg="modSp mod">
        <pc:chgData name="Reinhold Heinlein" userId="c5e5d61b-3817-4f51-a712-dcf8bfbff443" providerId="ADAL" clId="{49431ECB-42D2-48D6-9016-5889F3B84DB9}" dt="2026-02-06T09:04:11.087" v="1" actId="20577"/>
        <pc:sldMkLst>
          <pc:docMk/>
          <pc:sldMk cId="371339850" sldId="256"/>
        </pc:sldMkLst>
        <pc:spChg chg="mod">
          <ac:chgData name="Reinhold Heinlein" userId="c5e5d61b-3817-4f51-a712-dcf8bfbff443" providerId="ADAL" clId="{49431ECB-42D2-48D6-9016-5889F3B84DB9}" dt="2026-02-06T09:04:11.087" v="1" actId="20577"/>
          <ac:spMkLst>
            <pc:docMk/>
            <pc:sldMk cId="371339850" sldId="256"/>
            <ac:spMk id="2" creationId="{27F129AE-110C-40B7-9DF3-A4A07ADFD71E}"/>
          </ac:spMkLst>
        </pc:spChg>
      </pc:sldChg>
      <pc:sldChg chg="modSp mod">
        <pc:chgData name="Reinhold Heinlein" userId="c5e5d61b-3817-4f51-a712-dcf8bfbff443" providerId="ADAL" clId="{49431ECB-42D2-48D6-9016-5889F3B84DB9}" dt="2026-02-16T14:32:59.999" v="635" actId="20577"/>
        <pc:sldMkLst>
          <pc:docMk/>
          <pc:sldMk cId="2884623810" sldId="258"/>
        </pc:sldMkLst>
        <pc:spChg chg="mod">
          <ac:chgData name="Reinhold Heinlein" userId="c5e5d61b-3817-4f51-a712-dcf8bfbff443" providerId="ADAL" clId="{49431ECB-42D2-48D6-9016-5889F3B84DB9}" dt="2026-02-16T14:32:59.999" v="635" actId="20577"/>
          <ac:spMkLst>
            <pc:docMk/>
            <pc:sldMk cId="2884623810" sldId="258"/>
            <ac:spMk id="3" creationId="{67A63DF7-30A5-4CDB-B2AD-10BDF696FBA6}"/>
          </ac:spMkLst>
        </pc:spChg>
      </pc:sldChg>
      <pc:sldChg chg="addSp delSp modSp mod ord">
        <pc:chgData name="Reinhold Heinlein" userId="c5e5d61b-3817-4f51-a712-dcf8bfbff443" providerId="ADAL" clId="{49431ECB-42D2-48D6-9016-5889F3B84DB9}" dt="2026-02-16T14:11:04.189" v="199"/>
        <pc:sldMkLst>
          <pc:docMk/>
          <pc:sldMk cId="2343749125" sldId="281"/>
        </pc:sldMkLst>
        <pc:spChg chg="mod">
          <ac:chgData name="Reinhold Heinlein" userId="c5e5d61b-3817-4f51-a712-dcf8bfbff443" providerId="ADAL" clId="{49431ECB-42D2-48D6-9016-5889F3B84DB9}" dt="2026-02-16T13:04:45.887" v="26"/>
          <ac:spMkLst>
            <pc:docMk/>
            <pc:sldMk cId="2343749125" sldId="281"/>
            <ac:spMk id="2" creationId="{4DE834CB-FF37-D2CB-E643-50383052CED1}"/>
          </ac:spMkLst>
        </pc:spChg>
        <pc:spChg chg="mod">
          <ac:chgData name="Reinhold Heinlein" userId="c5e5d61b-3817-4f51-a712-dcf8bfbff443" providerId="ADAL" clId="{49431ECB-42D2-48D6-9016-5889F3B84DB9}" dt="2026-02-16T13:41:35.237" v="154" actId="120"/>
          <ac:spMkLst>
            <pc:docMk/>
            <pc:sldMk cId="2343749125" sldId="281"/>
            <ac:spMk id="3" creationId="{1A1408DA-D5EC-BFA0-F7BD-694F45DB2788}"/>
          </ac:spMkLst>
        </pc:spChg>
        <pc:graphicFrameChg chg="add del mod">
          <ac:chgData name="Reinhold Heinlein" userId="c5e5d61b-3817-4f51-a712-dcf8bfbff443" providerId="ADAL" clId="{49431ECB-42D2-48D6-9016-5889F3B84DB9}" dt="2026-02-16T13:46:22.985" v="158" actId="478"/>
          <ac:graphicFrameMkLst>
            <pc:docMk/>
            <pc:sldMk cId="2343749125" sldId="281"/>
            <ac:graphicFrameMk id="4" creationId="{34F6A7A8-2BEA-A0CC-DE49-B5FF46E10EBE}"/>
          </ac:graphicFrameMkLst>
        </pc:graphicFrameChg>
        <pc:graphicFrameChg chg="add mod">
          <ac:chgData name="Reinhold Heinlein" userId="c5e5d61b-3817-4f51-a712-dcf8bfbff443" providerId="ADAL" clId="{49431ECB-42D2-48D6-9016-5889F3B84DB9}" dt="2026-02-16T13:46:45.853" v="163" actId="14100"/>
          <ac:graphicFrameMkLst>
            <pc:docMk/>
            <pc:sldMk cId="2343749125" sldId="281"/>
            <ac:graphicFrameMk id="5" creationId="{2B2305FC-1343-F9CE-6D02-57E5EEB93B1F}"/>
          </ac:graphicFrameMkLst>
        </pc:graphicFrameChg>
      </pc:sldChg>
      <pc:sldChg chg="delSp modSp add mod">
        <pc:chgData name="Reinhold Heinlein" userId="c5e5d61b-3817-4f51-a712-dcf8bfbff443" providerId="ADAL" clId="{49431ECB-42D2-48D6-9016-5889F3B84DB9}" dt="2026-02-16T13:48:04.675" v="179"/>
        <pc:sldMkLst>
          <pc:docMk/>
          <pc:sldMk cId="1883286419" sldId="282"/>
        </pc:sldMkLst>
        <pc:spChg chg="mod">
          <ac:chgData name="Reinhold Heinlein" userId="c5e5d61b-3817-4f51-a712-dcf8bfbff443" providerId="ADAL" clId="{49431ECB-42D2-48D6-9016-5889F3B84DB9}" dt="2026-02-16T13:48:04.675" v="179"/>
          <ac:spMkLst>
            <pc:docMk/>
            <pc:sldMk cId="1883286419" sldId="282"/>
            <ac:spMk id="3" creationId="{7125F311-C513-EFCF-30C1-9CA9A5067B0F}"/>
          </ac:spMkLst>
        </pc:spChg>
        <pc:graphicFrameChg chg="del">
          <ac:chgData name="Reinhold Heinlein" userId="c5e5d61b-3817-4f51-a712-dcf8bfbff443" providerId="ADAL" clId="{49431ECB-42D2-48D6-9016-5889F3B84DB9}" dt="2026-02-16T13:42:17.879" v="156" actId="478"/>
          <ac:graphicFrameMkLst>
            <pc:docMk/>
            <pc:sldMk cId="1883286419" sldId="282"/>
            <ac:graphicFrameMk id="4" creationId="{72FEC94C-7B12-C3A7-0915-DE8ED5080E84}"/>
          </ac:graphicFrameMkLst>
        </pc:graphicFrameChg>
      </pc:sldChg>
      <pc:sldChg chg="modSp add mod">
        <pc:chgData name="Reinhold Heinlein" userId="c5e5d61b-3817-4f51-a712-dcf8bfbff443" providerId="ADAL" clId="{49431ECB-42D2-48D6-9016-5889F3B84DB9}" dt="2026-02-16T13:50:16.201" v="186" actId="20577"/>
        <pc:sldMkLst>
          <pc:docMk/>
          <pc:sldMk cId="2247959419" sldId="283"/>
        </pc:sldMkLst>
        <pc:spChg chg="mod">
          <ac:chgData name="Reinhold Heinlein" userId="c5e5d61b-3817-4f51-a712-dcf8bfbff443" providerId="ADAL" clId="{49431ECB-42D2-48D6-9016-5889F3B84DB9}" dt="2026-02-16T13:50:16.201" v="186" actId="20577"/>
          <ac:spMkLst>
            <pc:docMk/>
            <pc:sldMk cId="2247959419" sldId="283"/>
            <ac:spMk id="3" creationId="{1B3CB418-37B8-5846-E8D3-765424C0C9FD}"/>
          </ac:spMkLst>
        </pc:spChg>
      </pc:sldChg>
      <pc:sldChg chg="addSp modSp add mod">
        <pc:chgData name="Reinhold Heinlein" userId="c5e5d61b-3817-4f51-a712-dcf8bfbff443" providerId="ADAL" clId="{49431ECB-42D2-48D6-9016-5889F3B84DB9}" dt="2026-02-16T14:28:22.766" v="552" actId="20577"/>
        <pc:sldMkLst>
          <pc:docMk/>
          <pc:sldMk cId="3946654442" sldId="284"/>
        </pc:sldMkLst>
        <pc:spChg chg="mod">
          <ac:chgData name="Reinhold Heinlein" userId="c5e5d61b-3817-4f51-a712-dcf8bfbff443" providerId="ADAL" clId="{49431ECB-42D2-48D6-9016-5889F3B84DB9}" dt="2026-02-16T14:28:22.766" v="552" actId="20577"/>
          <ac:spMkLst>
            <pc:docMk/>
            <pc:sldMk cId="3946654442" sldId="284"/>
            <ac:spMk id="2" creationId="{DDE4E3FB-A01C-1861-6A2D-9937C3A6FC0A}"/>
          </ac:spMkLst>
        </pc:spChg>
        <pc:spChg chg="mod">
          <ac:chgData name="Reinhold Heinlein" userId="c5e5d61b-3817-4f51-a712-dcf8bfbff443" providerId="ADAL" clId="{49431ECB-42D2-48D6-9016-5889F3B84DB9}" dt="2026-02-16T14:18:19.775" v="297" actId="20577"/>
          <ac:spMkLst>
            <pc:docMk/>
            <pc:sldMk cId="3946654442" sldId="284"/>
            <ac:spMk id="3" creationId="{1B18D9E8-A014-D2A5-C7CD-8660994057EC}"/>
          </ac:spMkLst>
        </pc:spChg>
        <pc:graphicFrameChg chg="add mod modGraphic">
          <ac:chgData name="Reinhold Heinlein" userId="c5e5d61b-3817-4f51-a712-dcf8bfbff443" providerId="ADAL" clId="{49431ECB-42D2-48D6-9016-5889F3B84DB9}" dt="2026-02-16T14:22:00.415" v="337" actId="121"/>
          <ac:graphicFrameMkLst>
            <pc:docMk/>
            <pc:sldMk cId="3946654442" sldId="284"/>
            <ac:graphicFrameMk id="4" creationId="{0A033EEA-F714-4E6C-2FB5-8095A0536D35}"/>
          </ac:graphicFrameMkLst>
        </pc:graphicFrameChg>
      </pc:sldChg>
      <pc:sldChg chg="addSp modSp add mod">
        <pc:chgData name="Reinhold Heinlein" userId="c5e5d61b-3817-4f51-a712-dcf8bfbff443" providerId="ADAL" clId="{49431ECB-42D2-48D6-9016-5889F3B84DB9}" dt="2026-02-16T13:55:49.374" v="195" actId="1076"/>
        <pc:sldMkLst>
          <pc:docMk/>
          <pc:sldMk cId="50435836" sldId="285"/>
        </pc:sldMkLst>
        <pc:spChg chg="mod">
          <ac:chgData name="Reinhold Heinlein" userId="c5e5d61b-3817-4f51-a712-dcf8bfbff443" providerId="ADAL" clId="{49431ECB-42D2-48D6-9016-5889F3B84DB9}" dt="2026-02-16T13:54:05.206" v="193" actId="20577"/>
          <ac:spMkLst>
            <pc:docMk/>
            <pc:sldMk cId="50435836" sldId="285"/>
            <ac:spMk id="3" creationId="{A1803BD8-FCDF-8697-0002-7B8DA4E19941}"/>
          </ac:spMkLst>
        </pc:spChg>
        <pc:picChg chg="add mod">
          <ac:chgData name="Reinhold Heinlein" userId="c5e5d61b-3817-4f51-a712-dcf8bfbff443" providerId="ADAL" clId="{49431ECB-42D2-48D6-9016-5889F3B84DB9}" dt="2026-02-16T13:55:49.374" v="195" actId="1076"/>
          <ac:picMkLst>
            <pc:docMk/>
            <pc:sldMk cId="50435836" sldId="285"/>
            <ac:picMk id="5" creationId="{1C4BF5EB-99EE-6BC4-AEE4-71CC1B193B66}"/>
          </ac:picMkLst>
        </pc:picChg>
      </pc:sldChg>
      <pc:sldChg chg="delSp modSp add mod">
        <pc:chgData name="Reinhold Heinlein" userId="c5e5d61b-3817-4f51-a712-dcf8bfbff443" providerId="ADAL" clId="{49431ECB-42D2-48D6-9016-5889F3B84DB9}" dt="2026-02-16T14:29:51.983" v="563" actId="20577"/>
        <pc:sldMkLst>
          <pc:docMk/>
          <pc:sldMk cId="3498616844" sldId="286"/>
        </pc:sldMkLst>
        <pc:spChg chg="mod">
          <ac:chgData name="Reinhold Heinlein" userId="c5e5d61b-3817-4f51-a712-dcf8bfbff443" providerId="ADAL" clId="{49431ECB-42D2-48D6-9016-5889F3B84DB9}" dt="2026-02-16T14:29:51.983" v="563" actId="20577"/>
          <ac:spMkLst>
            <pc:docMk/>
            <pc:sldMk cId="3498616844" sldId="286"/>
            <ac:spMk id="3" creationId="{53C36A88-D1B0-2DAC-DD29-FBBCBBDBEF68}"/>
          </ac:spMkLst>
        </pc:spChg>
        <pc:graphicFrameChg chg="del">
          <ac:chgData name="Reinhold Heinlein" userId="c5e5d61b-3817-4f51-a712-dcf8bfbff443" providerId="ADAL" clId="{49431ECB-42D2-48D6-9016-5889F3B84DB9}" dt="2026-02-16T14:22:32.382" v="339" actId="478"/>
          <ac:graphicFrameMkLst>
            <pc:docMk/>
            <pc:sldMk cId="3498616844" sldId="286"/>
            <ac:graphicFrameMk id="4" creationId="{E48FF10C-E4C9-70CA-4085-5CCFCD77522B}"/>
          </ac:graphicFrameMkLst>
        </pc:graphicFrameChg>
      </pc:sldChg>
      <pc:sldChg chg="modSp add mod">
        <pc:chgData name="Reinhold Heinlein" userId="c5e5d61b-3817-4f51-a712-dcf8bfbff443" providerId="ADAL" clId="{49431ECB-42D2-48D6-9016-5889F3B84DB9}" dt="2026-02-17T10:21:52.768" v="1846" actId="20577"/>
        <pc:sldMkLst>
          <pc:docMk/>
          <pc:sldMk cId="13805572" sldId="287"/>
        </pc:sldMkLst>
        <pc:spChg chg="mod">
          <ac:chgData name="Reinhold Heinlein" userId="c5e5d61b-3817-4f51-a712-dcf8bfbff443" providerId="ADAL" clId="{49431ECB-42D2-48D6-9016-5889F3B84DB9}" dt="2026-02-16T14:32:25.603" v="607" actId="114"/>
          <ac:spMkLst>
            <pc:docMk/>
            <pc:sldMk cId="13805572" sldId="287"/>
            <ac:spMk id="2" creationId="{9382D6DF-90CF-DD83-CEF5-A14D56525062}"/>
          </ac:spMkLst>
        </pc:spChg>
        <pc:spChg chg="mod">
          <ac:chgData name="Reinhold Heinlein" userId="c5e5d61b-3817-4f51-a712-dcf8bfbff443" providerId="ADAL" clId="{49431ECB-42D2-48D6-9016-5889F3B84DB9}" dt="2026-02-17T10:21:52.768" v="1846" actId="20577"/>
          <ac:spMkLst>
            <pc:docMk/>
            <pc:sldMk cId="13805572" sldId="287"/>
            <ac:spMk id="3" creationId="{4279786C-B472-7779-96DC-58D8747B68B8}"/>
          </ac:spMkLst>
        </pc:spChg>
      </pc:sldChg>
      <pc:sldChg chg="modSp add mod">
        <pc:chgData name="Reinhold Heinlein" userId="c5e5d61b-3817-4f51-a712-dcf8bfbff443" providerId="ADAL" clId="{49431ECB-42D2-48D6-9016-5889F3B84DB9}" dt="2026-02-17T08:32:25.023" v="1160" actId="20577"/>
        <pc:sldMkLst>
          <pc:docMk/>
          <pc:sldMk cId="3246232534" sldId="288"/>
        </pc:sldMkLst>
        <pc:spChg chg="mod">
          <ac:chgData name="Reinhold Heinlein" userId="c5e5d61b-3817-4f51-a712-dcf8bfbff443" providerId="ADAL" clId="{49431ECB-42D2-48D6-9016-5889F3B84DB9}" dt="2026-02-17T08:32:25.023" v="1160" actId="20577"/>
          <ac:spMkLst>
            <pc:docMk/>
            <pc:sldMk cId="3246232534" sldId="288"/>
            <ac:spMk id="3" creationId="{11AE3749-C193-AFFB-7425-2CE757DF7B40}"/>
          </ac:spMkLst>
        </pc:spChg>
      </pc:sldChg>
      <pc:sldChg chg="modSp add mod">
        <pc:chgData name="Reinhold Heinlein" userId="c5e5d61b-3817-4f51-a712-dcf8bfbff443" providerId="ADAL" clId="{49431ECB-42D2-48D6-9016-5889F3B84DB9}" dt="2026-02-17T08:45:16.901" v="1364" actId="114"/>
        <pc:sldMkLst>
          <pc:docMk/>
          <pc:sldMk cId="3870569693" sldId="289"/>
        </pc:sldMkLst>
        <pc:spChg chg="mod">
          <ac:chgData name="Reinhold Heinlein" userId="c5e5d61b-3817-4f51-a712-dcf8bfbff443" providerId="ADAL" clId="{49431ECB-42D2-48D6-9016-5889F3B84DB9}" dt="2026-02-17T08:45:16.901" v="1364" actId="114"/>
          <ac:spMkLst>
            <pc:docMk/>
            <pc:sldMk cId="3870569693" sldId="289"/>
            <ac:spMk id="3" creationId="{55A5E573-B575-62A7-25DB-4A20CB96293C}"/>
          </ac:spMkLst>
        </pc:spChg>
      </pc:sldChg>
      <pc:sldChg chg="modSp add mod">
        <pc:chgData name="Reinhold Heinlein" userId="c5e5d61b-3817-4f51-a712-dcf8bfbff443" providerId="ADAL" clId="{49431ECB-42D2-48D6-9016-5889F3B84DB9}" dt="2026-02-17T10:23:56.124" v="1854" actId="20577"/>
        <pc:sldMkLst>
          <pc:docMk/>
          <pc:sldMk cId="4027146981" sldId="290"/>
        </pc:sldMkLst>
        <pc:spChg chg="mod">
          <ac:chgData name="Reinhold Heinlein" userId="c5e5d61b-3817-4f51-a712-dcf8bfbff443" providerId="ADAL" clId="{49431ECB-42D2-48D6-9016-5889F3B84DB9}" dt="2026-02-17T10:23:56.124" v="1854" actId="20577"/>
          <ac:spMkLst>
            <pc:docMk/>
            <pc:sldMk cId="4027146981" sldId="290"/>
            <ac:spMk id="3" creationId="{137396BE-2BB4-8CB7-4F19-FD51BA230DE7}"/>
          </ac:spMkLst>
        </pc:spChg>
      </pc:sldChg>
      <pc:sldChg chg="modSp add mod">
        <pc:chgData name="Reinhold Heinlein" userId="c5e5d61b-3817-4f51-a712-dcf8bfbff443" providerId="ADAL" clId="{49431ECB-42D2-48D6-9016-5889F3B84DB9}" dt="2026-02-17T10:19:17.652" v="1840" actId="20577"/>
        <pc:sldMkLst>
          <pc:docMk/>
          <pc:sldMk cId="161212559" sldId="291"/>
        </pc:sldMkLst>
        <pc:spChg chg="mod">
          <ac:chgData name="Reinhold Heinlein" userId="c5e5d61b-3817-4f51-a712-dcf8bfbff443" providerId="ADAL" clId="{49431ECB-42D2-48D6-9016-5889F3B84DB9}" dt="2026-02-17T10:19:17.652" v="1840" actId="20577"/>
          <ac:spMkLst>
            <pc:docMk/>
            <pc:sldMk cId="161212559" sldId="291"/>
            <ac:spMk id="3" creationId="{5489D520-7F2D-8277-06C4-73224BA3378C}"/>
          </ac:spMkLst>
        </pc:spChg>
      </pc:sldChg>
      <pc:sldChg chg="modSp add mod">
        <pc:chgData name="Reinhold Heinlein" userId="c5e5d61b-3817-4f51-a712-dcf8bfbff443" providerId="ADAL" clId="{49431ECB-42D2-48D6-9016-5889F3B84DB9}" dt="2026-02-17T10:31:36.888" v="1934" actId="20577"/>
        <pc:sldMkLst>
          <pc:docMk/>
          <pc:sldMk cId="3807477308" sldId="292"/>
        </pc:sldMkLst>
        <pc:spChg chg="mod">
          <ac:chgData name="Reinhold Heinlein" userId="c5e5d61b-3817-4f51-a712-dcf8bfbff443" providerId="ADAL" clId="{49431ECB-42D2-48D6-9016-5889F3B84DB9}" dt="2026-02-17T10:25:50.639" v="1865" actId="20577"/>
          <ac:spMkLst>
            <pc:docMk/>
            <pc:sldMk cId="3807477308" sldId="292"/>
            <ac:spMk id="2" creationId="{7E954F04-DF0F-8DEC-FA2E-230F8E8D66B1}"/>
          </ac:spMkLst>
        </pc:spChg>
        <pc:spChg chg="mod">
          <ac:chgData name="Reinhold Heinlein" userId="c5e5d61b-3817-4f51-a712-dcf8bfbff443" providerId="ADAL" clId="{49431ECB-42D2-48D6-9016-5889F3B84DB9}" dt="2026-02-17T10:31:36.888" v="1934" actId="20577"/>
          <ac:spMkLst>
            <pc:docMk/>
            <pc:sldMk cId="3807477308" sldId="292"/>
            <ac:spMk id="3" creationId="{8B115356-29DE-1DE6-6D68-FBF7C333307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weacuk-my.sharepoint.com/personal/reinhold_heinlein_uwe_ac_uk/Documents/PSBF25/Lectures/Advertisement%20Sales%20data%20-%20lecture%202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Sheet1!$A$3</c:f>
              <c:strCache>
                <c:ptCount val="1"/>
                <c:pt idx="0">
                  <c:v>Sales Revenue(Y)</c:v>
                </c:pt>
              </c:strCache>
            </c:strRef>
          </c:tx>
          <c:spPr>
            <a:ln w="38100" cap="rnd">
              <a:noFill/>
              <a:round/>
            </a:ln>
            <a:effectLst/>
          </c:spPr>
          <c:marker>
            <c:symbol val="circle"/>
            <c:size val="5"/>
            <c:spPr>
              <a:solidFill>
                <a:schemeClr val="accent1"/>
              </a:solidFill>
              <a:ln w="9525">
                <a:solidFill>
                  <a:schemeClr val="accent1"/>
                </a:solidFill>
              </a:ln>
              <a:effectLst/>
            </c:spPr>
          </c:marker>
          <c:trendline>
            <c:spPr>
              <a:ln w="19050" cap="rnd">
                <a:solidFill>
                  <a:srgbClr val="FF0000"/>
                </a:solidFill>
                <a:prstDash val="solid"/>
              </a:ln>
              <a:effectLst/>
            </c:spPr>
            <c:trendlineType val="linear"/>
            <c:dispRSqr val="0"/>
            <c:dispEq val="0"/>
          </c:trendline>
          <c:xVal>
            <c:numRef>
              <c:f>Sheet1!$B$2:$K$2</c:f>
              <c:numCache>
                <c:formatCode>General</c:formatCode>
                <c:ptCount val="10"/>
                <c:pt idx="0">
                  <c:v>10</c:v>
                </c:pt>
                <c:pt idx="1">
                  <c:v>9</c:v>
                </c:pt>
                <c:pt idx="2">
                  <c:v>11</c:v>
                </c:pt>
                <c:pt idx="3">
                  <c:v>12</c:v>
                </c:pt>
                <c:pt idx="4">
                  <c:v>11</c:v>
                </c:pt>
                <c:pt idx="5">
                  <c:v>12</c:v>
                </c:pt>
                <c:pt idx="6">
                  <c:v>13</c:v>
                </c:pt>
                <c:pt idx="7">
                  <c:v>13</c:v>
                </c:pt>
                <c:pt idx="8">
                  <c:v>14</c:v>
                </c:pt>
                <c:pt idx="9">
                  <c:v>15</c:v>
                </c:pt>
              </c:numCache>
            </c:numRef>
          </c:xVal>
          <c:yVal>
            <c:numRef>
              <c:f>Sheet1!$B$3:$K$3</c:f>
              <c:numCache>
                <c:formatCode>General</c:formatCode>
                <c:ptCount val="10"/>
                <c:pt idx="0">
                  <c:v>44</c:v>
                </c:pt>
                <c:pt idx="1">
                  <c:v>40</c:v>
                </c:pt>
                <c:pt idx="2">
                  <c:v>42</c:v>
                </c:pt>
                <c:pt idx="3">
                  <c:v>46</c:v>
                </c:pt>
                <c:pt idx="4">
                  <c:v>48</c:v>
                </c:pt>
                <c:pt idx="5">
                  <c:v>52</c:v>
                </c:pt>
                <c:pt idx="6">
                  <c:v>54</c:v>
                </c:pt>
                <c:pt idx="7">
                  <c:v>58</c:v>
                </c:pt>
                <c:pt idx="8">
                  <c:v>56</c:v>
                </c:pt>
                <c:pt idx="9">
                  <c:v>60</c:v>
                </c:pt>
              </c:numCache>
            </c:numRef>
          </c:yVal>
          <c:smooth val="0"/>
          <c:extLst>
            <c:ext xmlns:c16="http://schemas.microsoft.com/office/drawing/2014/chart" uri="{C3380CC4-5D6E-409C-BE32-E72D297353CC}">
              <c16:uniqueId val="{00000001-51F8-45FF-BCBF-AB3C3E5200FB}"/>
            </c:ext>
          </c:extLst>
        </c:ser>
        <c:dLbls>
          <c:showLegendKey val="0"/>
          <c:showVal val="0"/>
          <c:showCatName val="0"/>
          <c:showSerName val="0"/>
          <c:showPercent val="0"/>
          <c:showBubbleSize val="0"/>
        </c:dLbls>
        <c:axId val="1395678992"/>
        <c:axId val="1395680432"/>
      </c:scatterChart>
      <c:valAx>
        <c:axId val="1395678992"/>
        <c:scaling>
          <c:orientation val="minMax"/>
          <c:min val="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Advertisement</a:t>
                </a:r>
                <a:r>
                  <a:rPr lang="en-GB" sz="1200" baseline="0"/>
                  <a:t> expenditures</a:t>
                </a:r>
                <a:endParaRPr lang="en-GB" sz="120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80432"/>
        <c:crosses val="autoZero"/>
        <c:crossBetween val="midCat"/>
      </c:valAx>
      <c:valAx>
        <c:axId val="1395680432"/>
        <c:scaling>
          <c:orientation val="minMax"/>
          <c:min val="3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Sales</a:t>
                </a:r>
                <a:r>
                  <a:rPr lang="en-GB" sz="1200" baseline="0"/>
                  <a:t> revenues </a:t>
                </a:r>
                <a:endParaRPr lang="en-GB" sz="120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7899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gn="l">
              <a:lnSpc>
                <a:spcPts val="1300"/>
              </a:lnSpc>
              <a:spcBef>
                <a:spcPts val="0"/>
              </a:spcBef>
              <a:buFontTx/>
              <a:buNone/>
              <a:defRPr sz="18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6"/>
            <a:ext cx="1219139" cy="673215"/>
          </a:xfrm>
          <a:prstGeom prst="rect">
            <a:avLst/>
          </a:prstGeom>
        </p:spPr>
        <p:txBody>
          <a:bodyPr lIns="0" tIns="0" rIns="0" bIns="0"/>
          <a:lstStyle>
            <a:lvl1pPr marL="0" indent="0" algn="l">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4" y="3057655"/>
            <a:ext cx="1219139" cy="673215"/>
          </a:xfrm>
          <a:prstGeom prst="rect">
            <a:avLst/>
          </a:prstGeom>
        </p:spPr>
        <p:txBody>
          <a:bodyPr lIns="0" tIns="0" rIns="0" bIns="0"/>
          <a:lstStyle>
            <a:lvl1pPr marL="0" indent="0" algn="l">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576064"/>
          </a:xfrm>
          <a:prstGeom prst="rect">
            <a:avLst/>
          </a:prstGeom>
        </p:spPr>
        <p:txBody>
          <a:bodyPr lIns="0" tIns="0" rIns="0" bIns="0"/>
          <a:lstStyle>
            <a:lvl1pPr marL="0" indent="0" algn="l">
              <a:lnSpc>
                <a:spcPct val="100000"/>
              </a:lnSpc>
              <a:spcBef>
                <a:spcPts val="0"/>
              </a:spcBef>
              <a:buFontTx/>
              <a:buNone/>
              <a:defRPr sz="1800" b="0" i="0">
                <a:solidFill>
                  <a:schemeClr val="bg1"/>
                </a:solidFill>
                <a:latin typeface="+mn-lt"/>
                <a:ea typeface="Tahoma"/>
                <a:cs typeface="Tahoma"/>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7A7392"/>
              </a:buClr>
              <a:tabLst/>
              <a:defRPr sz="2000">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700213"/>
            <a:ext cx="6551612" cy="4465637"/>
          </a:xfrm>
          <a:prstGeom prst="rect">
            <a:avLst/>
          </a:prstGeom>
        </p:spPr>
        <p:txBody>
          <a:bodyPr lIns="0" tIns="0" rIns="0" bIns="0"/>
          <a:lstStyle>
            <a:lvl1pPr marL="266700" indent="-266700">
              <a:buClr>
                <a:srgbClr val="7A7392"/>
              </a:buClr>
              <a:buFont typeface="+mj-lt"/>
              <a:buAutoNum type="arabicPeriod"/>
              <a:defRPr sz="2000">
                <a:latin typeface="+mn-lt"/>
                <a:ea typeface="Tahoma" panose="020B0604030504040204" pitchFamily="34" charset="0"/>
                <a:cs typeface="Tahoma" panose="020B0604030504040204" pitchFamily="34" charset="0"/>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7"/>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19697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7A7392"/>
                </a:solidFill>
                <a:latin typeface="+mj-lt"/>
              </a:defRPr>
            </a:lvl1pPr>
            <a:lvl2pPr marL="609600" indent="0">
              <a:lnSpc>
                <a:spcPts val="3600"/>
              </a:lnSpc>
              <a:buNone/>
              <a:defRPr sz="2800" b="0" i="1" baseline="0">
                <a:solidFill>
                  <a:srgbClr val="7A7392"/>
                </a:solidFill>
                <a:latin typeface="+mj-lt"/>
              </a:defRPr>
            </a:lvl2pPr>
            <a:lvl3pPr marL="1219200" indent="0">
              <a:lnSpc>
                <a:spcPts val="3600"/>
              </a:lnSpc>
              <a:buNone/>
              <a:defRPr sz="2800" b="0" i="1" baseline="0">
                <a:solidFill>
                  <a:srgbClr val="7A7392"/>
                </a:solidFill>
                <a:latin typeface="+mj-lt"/>
              </a:defRPr>
            </a:lvl3pPr>
            <a:lvl4pPr marL="1828800" indent="0">
              <a:lnSpc>
                <a:spcPts val="3600"/>
              </a:lnSpc>
              <a:buNone/>
              <a:defRPr sz="2800" b="0" i="1" baseline="0">
                <a:solidFill>
                  <a:srgbClr val="7A7392"/>
                </a:solidFill>
                <a:latin typeface="+mj-lt"/>
              </a:defRPr>
            </a:lvl4pPr>
            <a:lvl5pPr marL="2438400" indent="0">
              <a:lnSpc>
                <a:spcPts val="3600"/>
              </a:lnSpc>
              <a:buNone/>
              <a:defRPr sz="2800" b="0" i="1" baseline="0">
                <a:solidFill>
                  <a:srgbClr val="7A7392"/>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7A7392"/>
                </a:solidFill>
                <a:latin typeface="+mj-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852738"/>
            <a:ext cx="3656012" cy="2592387"/>
          </a:xfrm>
          <a:prstGeom prst="rect">
            <a:avLst/>
          </a:prstGeom>
        </p:spPr>
        <p:txBody>
          <a:bodyPr/>
          <a:lstStyle>
            <a:lvl1pPr>
              <a:defRPr sz="2000">
                <a:solidFill>
                  <a:srgbClr val="7A7392"/>
                </a:solidFill>
              </a:defRPr>
            </a:lvl1pPr>
            <a:lvl2pPr marL="609600" indent="0">
              <a:buNone/>
              <a:defRPr sz="2000">
                <a:solidFill>
                  <a:srgbClr val="7A7392"/>
                </a:solidFill>
              </a:defRPr>
            </a:lvl2pPr>
            <a:lvl3pPr marL="1219200" indent="0">
              <a:buNone/>
              <a:defRPr sz="2000">
                <a:solidFill>
                  <a:srgbClr val="7A7392"/>
                </a:solidFill>
              </a:defRPr>
            </a:lvl3pPr>
            <a:lvl4pPr marL="1828800" indent="0">
              <a:buNone/>
              <a:defRPr sz="2000">
                <a:solidFill>
                  <a:srgbClr val="7A7392"/>
                </a:solidFill>
              </a:defRPr>
            </a:lvl4pPr>
            <a:lvl5pPr marL="2438400" indent="0">
              <a:buNone/>
              <a:defRPr sz="2000">
                <a:solidFill>
                  <a:srgbClr val="7A739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800" baseline="0">
                <a:solidFill>
                  <a:schemeClr val="tx1"/>
                </a:solidFill>
                <a:latin typeface="Tahoma" charset="0"/>
              </a:defRPr>
            </a:lvl1pPr>
            <a:lvl2pPr marL="609600" indent="0" algn="r">
              <a:lnSpc>
                <a:spcPts val="1400"/>
              </a:lnSpc>
              <a:buNone/>
              <a:defRPr sz="1800" baseline="0">
                <a:solidFill>
                  <a:schemeClr val="tx1"/>
                </a:solidFill>
                <a:latin typeface="Tahoma" charset="0"/>
              </a:defRPr>
            </a:lvl2pPr>
            <a:lvl3pPr marL="1219200" indent="0" algn="r">
              <a:lnSpc>
                <a:spcPts val="1400"/>
              </a:lnSpc>
              <a:buNone/>
              <a:defRPr sz="1800" baseline="0">
                <a:solidFill>
                  <a:schemeClr val="tx1"/>
                </a:solidFill>
                <a:latin typeface="Tahoma" charset="0"/>
              </a:defRPr>
            </a:lvl3pPr>
            <a:lvl4pPr marL="1828800" indent="0" algn="r">
              <a:lnSpc>
                <a:spcPts val="1400"/>
              </a:lnSpc>
              <a:buNone/>
              <a:defRPr sz="1800" baseline="0">
                <a:solidFill>
                  <a:schemeClr val="tx1"/>
                </a:solidFill>
                <a:latin typeface="Tahoma" charset="0"/>
              </a:defRPr>
            </a:lvl4pPr>
            <a:lvl5pPr marL="2438400" indent="0" algn="r">
              <a:lnSpc>
                <a:spcPts val="1400"/>
              </a:lnSpc>
              <a:buNone/>
              <a:defRPr sz="1800" baseline="0">
                <a:solidFill>
                  <a:schemeClr val="tx1"/>
                </a:solidFill>
                <a:latin typeface="Tahoma"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6497342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184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20079"/>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Lst>
  <p:transition spd="slow">
    <p:fade/>
  </p:transition>
  <p:hf hdr="0" ftr="0" dt="0"/>
  <p:txStyles>
    <p:titleStyle>
      <a:lvl1pPr algn="l" defTabSz="606425" rtl="0" eaLnBrk="1" fontAlgn="base" hangingPunct="1">
        <a:spcBef>
          <a:spcPct val="0"/>
        </a:spcBef>
        <a:spcAft>
          <a:spcPct val="0"/>
        </a:spcAft>
        <a:defRPr sz="3600" kern="1200">
          <a:solidFill>
            <a:srgbClr val="7A7392"/>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29AE-110C-40B7-9DF3-A4A07ADFD71E}"/>
              </a:ext>
            </a:extLst>
          </p:cNvPr>
          <p:cNvSpPr>
            <a:spLocks noGrp="1"/>
          </p:cNvSpPr>
          <p:nvPr>
            <p:ph type="title"/>
          </p:nvPr>
        </p:nvSpPr>
        <p:spPr>
          <a:xfrm>
            <a:off x="2050826" y="1915479"/>
            <a:ext cx="5689524" cy="3745769"/>
          </a:xfrm>
        </p:spPr>
        <p:txBody>
          <a:bodyPr/>
          <a:lstStyle/>
          <a:p>
            <a:r>
              <a:rPr lang="en-GB" noProof="0" dirty="0"/>
              <a:t>UMET9U-30-1- Professional Skills for Banking and Finance</a:t>
            </a:r>
            <a:br>
              <a:rPr lang="en-GB" noProof="0" dirty="0"/>
            </a:br>
            <a:br>
              <a:rPr lang="en-GB" noProof="0" dirty="0"/>
            </a:br>
            <a:br>
              <a:rPr lang="en-GB" noProof="0" dirty="0"/>
            </a:br>
            <a:r>
              <a:rPr lang="en-GB" noProof="0" dirty="0"/>
              <a:t>Lecture </a:t>
            </a:r>
            <a:r>
              <a:rPr lang="en-GB" dirty="0"/>
              <a:t>24</a:t>
            </a:r>
            <a:endParaRPr lang="en-GB" noProof="0" dirty="0"/>
          </a:p>
        </p:txBody>
      </p:sp>
      <p:sp>
        <p:nvSpPr>
          <p:cNvPr id="3" name="Text Placeholder 2">
            <a:extLst>
              <a:ext uri="{FF2B5EF4-FFF2-40B4-BE49-F238E27FC236}">
                <a16:creationId xmlns:a16="http://schemas.microsoft.com/office/drawing/2014/main" id="{78DD6D5A-6272-44C9-9121-5A48D169B9A6}"/>
              </a:ext>
            </a:extLst>
          </p:cNvPr>
          <p:cNvSpPr>
            <a:spLocks noGrp="1"/>
          </p:cNvSpPr>
          <p:nvPr>
            <p:ph type="body" sz="quarter" idx="15"/>
          </p:nvPr>
        </p:nvSpPr>
        <p:spPr/>
        <p:txBody>
          <a:bodyPr/>
          <a:lstStyle/>
          <a:p>
            <a:r>
              <a:rPr lang="en-GB" sz="2000" noProof="0" dirty="0"/>
              <a:t>Presented by</a:t>
            </a:r>
          </a:p>
        </p:txBody>
      </p:sp>
      <p:sp>
        <p:nvSpPr>
          <p:cNvPr id="4" name="Text Placeholder 3">
            <a:extLst>
              <a:ext uri="{FF2B5EF4-FFF2-40B4-BE49-F238E27FC236}">
                <a16:creationId xmlns:a16="http://schemas.microsoft.com/office/drawing/2014/main" id="{CE307F5E-61FF-45D2-B0E6-0386A93DB487}"/>
              </a:ext>
            </a:extLst>
          </p:cNvPr>
          <p:cNvSpPr>
            <a:spLocks noGrp="1"/>
          </p:cNvSpPr>
          <p:nvPr>
            <p:ph type="body" sz="quarter" idx="16"/>
          </p:nvPr>
        </p:nvSpPr>
        <p:spPr>
          <a:xfrm>
            <a:off x="586420" y="2323736"/>
            <a:ext cx="1219139" cy="601207"/>
          </a:xfrm>
        </p:spPr>
        <p:txBody>
          <a:bodyPr/>
          <a:lstStyle/>
          <a:p>
            <a:r>
              <a:rPr lang="en-GB" sz="2000" noProof="0" dirty="0"/>
              <a:t>Reinhold Heinlein</a:t>
            </a:r>
            <a:endParaRPr lang="en-GB" noProof="0" dirty="0"/>
          </a:p>
        </p:txBody>
      </p:sp>
      <p:sp>
        <p:nvSpPr>
          <p:cNvPr id="6" name="Text Placeholder 5">
            <a:extLst>
              <a:ext uri="{FF2B5EF4-FFF2-40B4-BE49-F238E27FC236}">
                <a16:creationId xmlns:a16="http://schemas.microsoft.com/office/drawing/2014/main" id="{8261A58E-4331-43B5-A70A-203EF9F254A4}"/>
              </a:ext>
            </a:extLst>
          </p:cNvPr>
          <p:cNvSpPr>
            <a:spLocks noGrp="1"/>
          </p:cNvSpPr>
          <p:nvPr>
            <p:ph type="body" sz="quarter" idx="18"/>
          </p:nvPr>
        </p:nvSpPr>
        <p:spPr/>
        <p:txBody>
          <a:bodyPr/>
          <a:lstStyle/>
          <a:p>
            <a:r>
              <a:rPr lang="en-GB" dirty="0"/>
              <a:t>April</a:t>
            </a:r>
            <a:r>
              <a:rPr lang="en-GB" noProof="0" dirty="0"/>
              <a:t> 2026</a:t>
            </a:r>
          </a:p>
        </p:txBody>
      </p:sp>
    </p:spTree>
    <p:extLst>
      <p:ext uri="{BB962C8B-B14F-4D97-AF65-F5344CB8AC3E}">
        <p14:creationId xmlns:p14="http://schemas.microsoft.com/office/powerpoint/2010/main" val="37133985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2C33-84D3-4C74-9F36-3265F3BE99AD}"/>
              </a:ext>
            </a:extLst>
          </p:cNvPr>
          <p:cNvSpPr>
            <a:spLocks noGrp="1"/>
          </p:cNvSpPr>
          <p:nvPr>
            <p:ph type="title"/>
          </p:nvPr>
        </p:nvSpPr>
        <p:spPr>
          <a:xfrm>
            <a:off x="872168" y="764704"/>
            <a:ext cx="6515620" cy="2952328"/>
          </a:xfrm>
        </p:spPr>
        <p:txBody>
          <a:bodyPr>
            <a:normAutofit/>
          </a:bodyPr>
          <a:lstStyle/>
          <a:p>
            <a:r>
              <a:rPr lang="en-GB" sz="3200" noProof="0" dirty="0">
                <a:solidFill>
                  <a:schemeClr val="accent4"/>
                </a:solidFill>
              </a:rPr>
              <a:t>Lecture content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7A63DF7-30A5-4CDB-B2AD-10BDF696FBA6}"/>
                  </a:ext>
                </a:extLst>
              </p:cNvPr>
              <p:cNvSpPr>
                <a:spLocks noGrp="1"/>
              </p:cNvSpPr>
              <p:nvPr>
                <p:ph type="body" sz="quarter" idx="11"/>
              </p:nvPr>
            </p:nvSpPr>
            <p:spPr>
              <a:xfrm>
                <a:off x="886474" y="1772816"/>
                <a:ext cx="6515620" cy="3384376"/>
              </a:xfrm>
            </p:spPr>
            <p:txBody>
              <a:bodyPr/>
              <a:lstStyle/>
              <a:p>
                <a:pPr marL="342900" indent="-342900">
                  <a:buFont typeface="Arial" panose="020B0604020202020204" pitchFamily="34" charset="0"/>
                  <a:buChar char="•"/>
                </a:pPr>
                <a:r>
                  <a:rPr lang="en-GB" sz="2400" dirty="0"/>
                  <a:t>Regression inference – learning from the sample</a:t>
                </a:r>
              </a:p>
              <a:p>
                <a:pPr marL="342900" indent="-342900">
                  <a:buFont typeface="Arial" panose="020B0604020202020204" pitchFamily="34" charset="0"/>
                  <a:buChar char="•"/>
                </a:pPr>
                <a:r>
                  <a:rPr lang="en-GB" sz="2400" dirty="0"/>
                  <a:t>Coefficient of determination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oMath>
                </a14:m>
                <a:endParaRPr lang="en-GB" sz="2400" dirty="0"/>
              </a:p>
              <a:p>
                <a:pPr marL="342900" indent="-342900">
                  <a:buFont typeface="Arial" panose="020B0604020202020204" pitchFamily="34" charset="0"/>
                  <a:buChar char="•"/>
                </a:pPr>
                <a:r>
                  <a:rPr lang="en-GB" sz="2400" dirty="0"/>
                  <a:t>Overall significance of a model: </a:t>
                </a:r>
                <a:r>
                  <a:rPr lang="en-GB" sz="2400" i="1" dirty="0"/>
                  <a:t>F</a:t>
                </a:r>
                <a:r>
                  <a:rPr lang="en-GB" sz="2400" dirty="0"/>
                  <a:t> test</a:t>
                </a: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9525">
                  <a:buClr>
                    <a:srgbClr val="7A7392"/>
                  </a:buClr>
                  <a:defRPr/>
                </a:pPr>
                <a:endParaRPr lang="en-GB" sz="2400" noProof="0" dirty="0">
                  <a:solidFill>
                    <a:prstClr val="black"/>
                  </a:solidFill>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85750" indent="-285750">
                  <a:buFont typeface="Arial" panose="020B0604020202020204" pitchFamily="34" charset="0"/>
                  <a:buChar char="•"/>
                </a:pPr>
                <a:endParaRPr lang="en-GB" sz="2400" noProof="0" dirty="0"/>
              </a:p>
            </p:txBody>
          </p:sp>
        </mc:Choice>
        <mc:Fallback xmlns="">
          <p:sp>
            <p:nvSpPr>
              <p:cNvPr id="3" name="Text Placeholder 2">
                <a:extLst>
                  <a:ext uri="{FF2B5EF4-FFF2-40B4-BE49-F238E27FC236}">
                    <a16:creationId xmlns:a16="http://schemas.microsoft.com/office/drawing/2014/main" id="{67A63DF7-30A5-4CDB-B2AD-10BDF696FBA6}"/>
                  </a:ext>
                </a:extLst>
              </p:cNvPr>
              <p:cNvSpPr>
                <a:spLocks noGrp="1" noRot="1" noChangeAspect="1" noMove="1" noResize="1" noEditPoints="1" noAdjustHandles="1" noChangeArrowheads="1" noChangeShapeType="1" noTextEdit="1"/>
              </p:cNvSpPr>
              <p:nvPr>
                <p:ph type="body" sz="quarter" idx="11"/>
              </p:nvPr>
            </p:nvSpPr>
            <p:spPr>
              <a:xfrm>
                <a:off x="886474" y="1772816"/>
                <a:ext cx="6515620" cy="3384376"/>
              </a:xfrm>
              <a:blipFill>
                <a:blip r:embed="rId2"/>
                <a:stretch>
                  <a:fillRect l="-2619" t="-2883"/>
                </a:stretch>
              </a:blipFill>
            </p:spPr>
            <p:txBody>
              <a:bodyPr/>
              <a:lstStyle/>
              <a:p>
                <a:r>
                  <a:rPr lang="en-GB">
                    <a:noFill/>
                  </a:rPr>
                  <a:t> </a:t>
                </a:r>
              </a:p>
            </p:txBody>
          </p:sp>
        </mc:Fallback>
      </mc:AlternateContent>
    </p:spTree>
    <p:extLst>
      <p:ext uri="{BB962C8B-B14F-4D97-AF65-F5344CB8AC3E}">
        <p14:creationId xmlns:p14="http://schemas.microsoft.com/office/powerpoint/2010/main" val="2884623810"/>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D7D76-0E3D-183D-27D4-42089DBC6BF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B8BDC44-14CA-5E70-53AE-2B997D45193C}"/>
                  </a:ext>
                </a:extLst>
              </p:cNvPr>
              <p:cNvSpPr>
                <a:spLocks noGrp="1"/>
              </p:cNvSpPr>
              <p:nvPr>
                <p:ph type="title"/>
              </p:nvPr>
            </p:nvSpPr>
            <p:spPr/>
            <p:txBody>
              <a:bodyPr>
                <a:normAutofit fontScale="90000"/>
              </a:bodyPr>
              <a:lstStyle/>
              <a:p>
                <a:r>
                  <a:rPr lang="en-GB" dirty="0"/>
                  <a:t>Coefficient of determination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𝑅</m:t>
                        </m:r>
                      </m:e>
                      <m:sup>
                        <m:r>
                          <a:rPr lang="en-GB" i="1">
                            <a:latin typeface="Cambria Math" panose="02040503050406030204" pitchFamily="18" charset="0"/>
                          </a:rPr>
                          <m:t>2</m:t>
                        </m:r>
                      </m:sup>
                    </m:sSup>
                  </m:oMath>
                </a14:m>
                <a:br>
                  <a:rPr lang="en-GB" noProof="0" dirty="0"/>
                </a:br>
                <a:br>
                  <a:rPr lang="en-GB" noProof="0" dirty="0"/>
                </a:br>
                <a:endParaRPr lang="en-GB" noProof="0" dirty="0"/>
              </a:p>
            </p:txBody>
          </p:sp>
        </mc:Choice>
        <mc:Fallback xmlns="">
          <p:sp>
            <p:nvSpPr>
              <p:cNvPr id="2" name="Title 1">
                <a:extLst>
                  <a:ext uri="{FF2B5EF4-FFF2-40B4-BE49-F238E27FC236}">
                    <a16:creationId xmlns:a16="http://schemas.microsoft.com/office/drawing/2014/main" id="{4B8BDC44-14CA-5E70-53AE-2B997D45193C}"/>
                  </a:ext>
                </a:extLst>
              </p:cNvPr>
              <p:cNvSpPr>
                <a:spLocks noGrp="1" noRot="1" noChangeAspect="1" noMove="1" noResize="1" noEditPoints="1" noAdjustHandles="1" noChangeArrowheads="1" noChangeShapeType="1" noTextEdit="1"/>
              </p:cNvSpPr>
              <p:nvPr>
                <p:ph type="title"/>
              </p:nvPr>
            </p:nvSpPr>
            <p:spPr>
              <a:blipFill>
                <a:blip r:embed="rId2"/>
                <a:stretch>
                  <a:fillRect l="-3171" t="-12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25F311-C513-EFCF-30C1-9CA9A5067B0F}"/>
                  </a:ext>
                </a:extLst>
              </p:cNvPr>
              <p:cNvSpPr>
                <a:spLocks noGrp="1"/>
              </p:cNvSpPr>
              <p:nvPr>
                <p:ph type="body" sz="quarter" idx="11"/>
              </p:nvPr>
            </p:nvSpPr>
            <p:spPr>
              <a:xfrm>
                <a:off x="900112" y="1700213"/>
                <a:ext cx="7632327" cy="5157787"/>
              </a:xfrm>
            </p:spPr>
            <p:txBody>
              <a:bodyPr/>
              <a:lstStyle/>
              <a:p>
                <a:pPr marL="0" lvl="0" indent="0">
                  <a:buNone/>
                </a:pPr>
                <a:r>
                  <a:rPr lang="en-GB" sz="2400" dirty="0"/>
                  <a:t>How good is the fitted regression line overall? </a:t>
                </a:r>
              </a:p>
              <a:p>
                <a:pPr marL="0" lvl="0" indent="0">
                  <a:buNone/>
                </a:pPr>
                <a:endParaRPr lang="en-GB" sz="2400" dirty="0"/>
              </a:p>
              <a:p>
                <a:pPr marL="9525" indent="0">
                  <a:buNone/>
                </a:pPr>
                <a:r>
                  <a:rPr lang="en-GB" sz="2400" dirty="0"/>
                  <a:t>It can be shown:</a:t>
                </a:r>
              </a:p>
              <a:p>
                <a:pPr marL="9525" indent="0">
                  <a:buNone/>
                </a:pPr>
                <a14:m>
                  <m:oMathPara xmlns:m="http://schemas.openxmlformats.org/officeDocument/2006/math">
                    <m:oMathParaPr>
                      <m:jc m:val="centerGroup"/>
                    </m:oMathParaPr>
                    <m:oMath xmlns:m="http://schemas.openxmlformats.org/officeDocument/2006/math">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m:rPr>
                                  <m:brk m:alnAt="23"/>
                                </m:rPr>
                                <a:rPr lang="en-GB" sz="2400" i="1">
                                  <a:latin typeface="Cambria Math" panose="02040503050406030204" pitchFamily="18" charset="0"/>
                                </a:rPr>
                                <m:t>)</m:t>
                              </m:r>
                            </m:e>
                            <m:sup>
                              <m:r>
                                <a:rPr lang="en-GB" sz="2400" i="1">
                                  <a:latin typeface="Cambria Math" panose="02040503050406030204" pitchFamily="18" charset="0"/>
                                </a:rPr>
                                <m:t>2</m:t>
                              </m:r>
                            </m:sup>
                          </m:sSup>
                          <m:r>
                            <a:rPr lang="en-GB" sz="2400" i="1">
                              <a:latin typeface="Cambria Math" panose="02040503050406030204" pitchFamily="18" charset="0"/>
                            </a:rPr>
                            <m:t>=</m:t>
                          </m:r>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m:rPr>
                                      <m:brk m:alnAt="23"/>
                                    </m:rPr>
                                    <a:rPr lang="en-GB" sz="2400" i="1">
                                      <a:latin typeface="Cambria Math" panose="02040503050406030204" pitchFamily="18" charset="0"/>
                                    </a:rPr>
                                    <m:t>)</m:t>
                                  </m:r>
                                </m:e>
                                <m:sup>
                                  <m:r>
                                    <a:rPr lang="en-GB" sz="2400" i="1">
                                      <a:latin typeface="Cambria Math" panose="02040503050406030204" pitchFamily="18" charset="0"/>
                                    </a:rPr>
                                    <m:t>2</m:t>
                                  </m:r>
                                </m:sup>
                              </m:sSup>
                              <m:r>
                                <a:rPr lang="en-GB" sz="2400" i="1">
                                  <a:latin typeface="Cambria Math" panose="02040503050406030204" pitchFamily="18" charset="0"/>
                                </a:rPr>
                                <m:t>+</m:t>
                              </m:r>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bSup>
                                    <m:sSubSupPr>
                                      <m:ctrlPr>
                                        <a:rPr lang="en-GB" sz="2400" i="1">
                                          <a:latin typeface="Cambria Math" panose="02040503050406030204" pitchFamily="18" charset="0"/>
                                        </a:rPr>
                                      </m:ctrlPr>
                                    </m:sSubSupPr>
                                    <m:e>
                                      <m:r>
                                        <a:rPr lang="en-GB" sz="2400" i="1">
                                          <a:latin typeface="Cambria Math" panose="02040503050406030204" pitchFamily="18" charset="0"/>
                                        </a:rPr>
                                        <m:t>𝑒</m:t>
                                      </m:r>
                                    </m:e>
                                    <m:sub>
                                      <m:r>
                                        <a:rPr lang="en-GB" sz="2400" i="1">
                                          <a:latin typeface="Cambria Math" panose="02040503050406030204" pitchFamily="18" charset="0"/>
                                        </a:rPr>
                                        <m:t>𝑖</m:t>
                                      </m:r>
                                    </m:sub>
                                    <m:sup>
                                      <m:r>
                                        <a:rPr lang="en-GB" sz="2400" i="1">
                                          <a:latin typeface="Cambria Math" panose="02040503050406030204" pitchFamily="18" charset="0"/>
                                        </a:rPr>
                                        <m:t>2</m:t>
                                      </m:r>
                                    </m:sup>
                                  </m:sSubSup>
                                </m:e>
                              </m:nary>
                            </m:e>
                          </m:nary>
                        </m:e>
                      </m:nary>
                    </m:oMath>
                  </m:oMathPara>
                </a14:m>
                <a:endParaRPr lang="en-GB" sz="2400" dirty="0"/>
              </a:p>
              <a:p>
                <a:pPr marL="9525" indent="0">
                  <a:buNone/>
                </a:pPr>
                <a:endParaRPr lang="en-GB" sz="2400" dirty="0"/>
              </a:p>
              <a:p>
                <a:pPr marL="9525" indent="0">
                  <a:buNone/>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𝑇𝑆𝑆</m:t>
                      </m:r>
                      <m:r>
                        <a:rPr lang="en-GB" sz="2400" i="1">
                          <a:latin typeface="Cambria Math" panose="02040503050406030204" pitchFamily="18" charset="0"/>
                        </a:rPr>
                        <m:t>=</m:t>
                      </m:r>
                      <m:r>
                        <a:rPr lang="en-GB" sz="2400" i="1">
                          <a:latin typeface="Cambria Math" panose="02040503050406030204" pitchFamily="18" charset="0"/>
                        </a:rPr>
                        <m:t>𝐸𝑆𝑆</m:t>
                      </m:r>
                      <m:r>
                        <a:rPr lang="en-GB" sz="2400" i="1">
                          <a:latin typeface="Cambria Math" panose="02040503050406030204" pitchFamily="18" charset="0"/>
                        </a:rPr>
                        <m:t>+</m:t>
                      </m:r>
                      <m:r>
                        <a:rPr lang="en-GB" sz="2400" i="1">
                          <a:latin typeface="Cambria Math" panose="02040503050406030204" pitchFamily="18" charset="0"/>
                        </a:rPr>
                        <m:t>𝑅𝑆𝑆</m:t>
                      </m:r>
                    </m:oMath>
                  </m:oMathPara>
                </a14:m>
                <a:endParaRPr lang="en-GB" sz="2400" dirty="0"/>
              </a:p>
              <a:p>
                <a:pPr marL="9525" indent="0">
                  <a:buNone/>
                </a:pPr>
                <a:r>
                  <a:rPr lang="en-GB" sz="2400" dirty="0"/>
                  <a:t>TSS: total sum of squares</a:t>
                </a:r>
              </a:p>
              <a:p>
                <a:pPr marL="9525" indent="0">
                  <a:buNone/>
                </a:pPr>
                <a:r>
                  <a:rPr lang="en-GB" sz="2400" dirty="0"/>
                  <a:t>ESS: explained sum of squares</a:t>
                </a:r>
              </a:p>
              <a:p>
                <a:pPr marL="9525" indent="0">
                  <a:buNone/>
                </a:pPr>
                <a:r>
                  <a:rPr lang="en-GB" sz="2400" dirty="0"/>
                  <a:t>RSS: residual sum of squares</a:t>
                </a:r>
              </a:p>
              <a:p>
                <a:pPr marL="0" lvl="0" indent="0">
                  <a:buNone/>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7125F311-C513-EFCF-30C1-9CA9A5067B0F}"/>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3"/>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1883286419"/>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442F-720E-5DC4-9058-1183FA4FB66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8A1AAA-E474-1224-9E45-31F067512FD5}"/>
                  </a:ext>
                </a:extLst>
              </p:cNvPr>
              <p:cNvSpPr>
                <a:spLocks noGrp="1"/>
              </p:cNvSpPr>
              <p:nvPr>
                <p:ph type="title"/>
              </p:nvPr>
            </p:nvSpPr>
            <p:spPr/>
            <p:txBody>
              <a:bodyPr>
                <a:normAutofit fontScale="90000"/>
              </a:bodyPr>
              <a:lstStyle/>
              <a:p>
                <a:r>
                  <a:rPr lang="en-GB" dirty="0"/>
                  <a:t>Coefficient of determination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𝑅</m:t>
                        </m:r>
                      </m:e>
                      <m:sup>
                        <m:r>
                          <a:rPr lang="en-GB" i="1">
                            <a:latin typeface="Cambria Math" panose="02040503050406030204" pitchFamily="18" charset="0"/>
                          </a:rPr>
                          <m:t>2</m:t>
                        </m:r>
                      </m:sup>
                    </m:sSup>
                  </m:oMath>
                </a14:m>
                <a:br>
                  <a:rPr lang="en-GB" noProof="0" dirty="0"/>
                </a:br>
                <a:br>
                  <a:rPr lang="en-GB" noProof="0" dirty="0"/>
                </a:br>
                <a:endParaRPr lang="en-GB" noProof="0" dirty="0"/>
              </a:p>
            </p:txBody>
          </p:sp>
        </mc:Choice>
        <mc:Fallback xmlns="">
          <p:sp>
            <p:nvSpPr>
              <p:cNvPr id="2" name="Title 1">
                <a:extLst>
                  <a:ext uri="{FF2B5EF4-FFF2-40B4-BE49-F238E27FC236}">
                    <a16:creationId xmlns:a16="http://schemas.microsoft.com/office/drawing/2014/main" id="{488A1AAA-E474-1224-9E45-31F067512FD5}"/>
                  </a:ext>
                </a:extLst>
              </p:cNvPr>
              <p:cNvSpPr>
                <a:spLocks noGrp="1" noRot="1" noChangeAspect="1" noMove="1" noResize="1" noEditPoints="1" noAdjustHandles="1" noChangeArrowheads="1" noChangeShapeType="1" noTextEdit="1"/>
              </p:cNvSpPr>
              <p:nvPr>
                <p:ph type="title"/>
              </p:nvPr>
            </p:nvSpPr>
            <p:spPr>
              <a:blipFill>
                <a:blip r:embed="rId2"/>
                <a:stretch>
                  <a:fillRect l="-3171" t="-12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B3CB418-37B8-5846-E8D3-765424C0C9FD}"/>
                  </a:ext>
                </a:extLst>
              </p:cNvPr>
              <p:cNvSpPr>
                <a:spLocks noGrp="1"/>
              </p:cNvSpPr>
              <p:nvPr>
                <p:ph type="body" sz="quarter" idx="11"/>
              </p:nvPr>
            </p:nvSpPr>
            <p:spPr>
              <a:xfrm>
                <a:off x="900112" y="1700213"/>
                <a:ext cx="7632327" cy="5157787"/>
              </a:xfrm>
            </p:spPr>
            <p:txBody>
              <a:bodyPr/>
              <a:lstStyle/>
              <a:p>
                <a:pPr marL="0" lvl="0" indent="0">
                  <a:buNone/>
                </a:pPr>
                <a:r>
                  <a:rPr lang="en-GB" sz="2400" dirty="0"/>
                  <a:t>How good is the fitted regression line overall? </a:t>
                </a:r>
              </a:p>
              <a:p>
                <a:pPr marL="9525" indent="0">
                  <a:buNone/>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𝐸𝑆𝑆</m:t>
                          </m:r>
                        </m:num>
                        <m:den>
                          <m:r>
                            <a:rPr lang="en-GB" sz="2400" i="1">
                              <a:latin typeface="Cambria Math" panose="02040503050406030204" pitchFamily="18" charset="0"/>
                            </a:rPr>
                            <m:t>𝑇𝑆𝑆</m:t>
                          </m:r>
                        </m:den>
                      </m:f>
                      <m:r>
                        <a:rPr lang="en-GB" sz="2400" i="1">
                          <a:latin typeface="Cambria Math" panose="02040503050406030204" pitchFamily="18" charset="0"/>
                        </a:rPr>
                        <m:t>=</m:t>
                      </m:r>
                      <m:f>
                        <m:fPr>
                          <m:ctrlPr>
                            <a:rPr lang="en-GB" sz="2400" i="1">
                              <a:latin typeface="Cambria Math" panose="02040503050406030204" pitchFamily="18" charset="0"/>
                            </a:rPr>
                          </m:ctrlPr>
                        </m:fPr>
                        <m:num>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m:rPr>
                                      <m:brk m:alnAt="23"/>
                                    </m:rPr>
                                    <a:rPr lang="en-GB" sz="2400" i="1">
                                      <a:latin typeface="Cambria Math" panose="02040503050406030204" pitchFamily="18" charset="0"/>
                                    </a:rPr>
                                    <m:t>)</m:t>
                                  </m:r>
                                </m:e>
                                <m:sup>
                                  <m:r>
                                    <a:rPr lang="en-GB" sz="2400" i="1">
                                      <a:latin typeface="Cambria Math" panose="02040503050406030204" pitchFamily="18" charset="0"/>
                                    </a:rPr>
                                    <m:t>2</m:t>
                                  </m:r>
                                </m:sup>
                              </m:sSup>
                            </m:e>
                          </m:nary>
                        </m:num>
                        <m:den>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m:rPr>
                                      <m:brk m:alnAt="23"/>
                                    </m:rPr>
                                    <a:rPr lang="en-GB" sz="2400" i="1">
                                      <a:latin typeface="Cambria Math" panose="02040503050406030204" pitchFamily="18" charset="0"/>
                                    </a:rPr>
                                    <m:t>)</m:t>
                                  </m:r>
                                </m:e>
                                <m:sup>
                                  <m:r>
                                    <a:rPr lang="en-GB" sz="2400" i="1">
                                      <a:latin typeface="Cambria Math" panose="02040503050406030204" pitchFamily="18" charset="0"/>
                                    </a:rPr>
                                    <m:t>2</m:t>
                                  </m:r>
                                </m:sup>
                              </m:sSup>
                            </m:e>
                          </m:nary>
                        </m:den>
                      </m:f>
                    </m:oMath>
                  </m:oMathPara>
                </a14:m>
                <a:endParaRPr lang="en-GB" sz="2400" dirty="0"/>
              </a:p>
              <a:p>
                <a:pPr marL="9525" indent="0">
                  <a:buNone/>
                </a:pPr>
                <a:endParaRPr lang="en-GB" sz="2400" dirty="0"/>
              </a:p>
              <a:p>
                <a:pPr marL="9525" indent="0">
                  <a:buNone/>
                </a:pPr>
                <a:r>
                  <a:rPr lang="en-GB" sz="2400" dirty="0"/>
                  <a:t>The </a:t>
                </a:r>
                <a:r>
                  <a:rPr lang="en-US" sz="2400" dirty="0"/>
                  <a:t>R</a:t>
                </a:r>
                <a:r>
                  <a:rPr lang="en-US" sz="2400" baseline="30000" dirty="0"/>
                  <a:t>2 </a:t>
                </a:r>
                <a:r>
                  <a:rPr lang="en-US" sz="2400" dirty="0"/>
                  <a:t>value is always between 0 and 1:</a:t>
                </a:r>
              </a:p>
              <a:p>
                <a:pPr marL="9525" indent="0" algn="ctr">
                  <a:buNone/>
                </a:pPr>
                <a:r>
                  <a:rPr lang="en-GB" sz="2400" dirty="0"/>
                  <a:t>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a:latin typeface="Cambria Math" panose="02040503050406030204" pitchFamily="18" charset="0"/>
                        <a:ea typeface="Cambria Math" panose="02040503050406030204" pitchFamily="18" charset="0"/>
                      </a:rPr>
                      <m:t>∈[0, 1]</m:t>
                    </m:r>
                  </m:oMath>
                </a14:m>
                <a:endParaRPr lang="en-US" sz="2400" dirty="0"/>
              </a:p>
              <a:p>
                <a:pPr marL="9525" indent="0" algn="ctr">
                  <a:buNone/>
                </a:pPr>
                <a:endParaRPr lang="en-US" sz="2400" dirty="0"/>
              </a:p>
              <a:p>
                <a:pPr marL="9525" indent="0">
                  <a:buNone/>
                </a:pPr>
                <a:r>
                  <a:rPr lang="en-GB" sz="2400" dirty="0"/>
                  <a:t>As   </a:t>
                </a:r>
                <a14:m>
                  <m:oMath xmlns:m="http://schemas.openxmlformats.org/officeDocument/2006/math">
                    <m:r>
                      <a:rPr lang="en-GB" sz="2400" i="1">
                        <a:latin typeface="Cambria Math" panose="02040503050406030204" pitchFamily="18" charset="0"/>
                      </a:rPr>
                      <m:t>𝐸𝑆𝑆</m:t>
                    </m:r>
                    <m:r>
                      <a:rPr lang="en-GB" sz="2400" i="1">
                        <a:latin typeface="Cambria Math" panose="02040503050406030204" pitchFamily="18" charset="0"/>
                      </a:rPr>
                      <m:t>=</m:t>
                    </m:r>
                    <m:r>
                      <a:rPr lang="en-GB" sz="2400" i="1">
                        <a:latin typeface="Cambria Math" panose="02040503050406030204" pitchFamily="18" charset="0"/>
                      </a:rPr>
                      <m:t>𝑇𝑆𝑆</m:t>
                    </m:r>
                    <m:r>
                      <a:rPr lang="en-GB" sz="2400" i="1">
                        <a:latin typeface="Cambria Math" panose="02040503050406030204" pitchFamily="18" charset="0"/>
                      </a:rPr>
                      <m:t>−</m:t>
                    </m:r>
                    <m:r>
                      <a:rPr lang="en-GB" sz="2400" i="1">
                        <a:latin typeface="Cambria Math" panose="02040503050406030204" pitchFamily="18" charset="0"/>
                      </a:rPr>
                      <m:t>𝑅𝑆𝑆</m:t>
                    </m:r>
                  </m:oMath>
                </a14:m>
                <a:endParaRPr lang="en-GB" sz="2400" dirty="0"/>
              </a:p>
              <a:p>
                <a:pPr marL="9525" indent="0">
                  <a:buNone/>
                </a:pPr>
                <a:r>
                  <a:rPr lang="en-GB" sz="2400" dirty="0"/>
                  <a:t>The </a:t>
                </a:r>
                <a:r>
                  <a:rPr lang="en-US" sz="2400" dirty="0"/>
                  <a:t>R</a:t>
                </a:r>
                <a:r>
                  <a:rPr lang="en-US" sz="2400" baseline="30000" dirty="0"/>
                  <a:t>2 </a:t>
                </a:r>
                <a:r>
                  <a:rPr lang="en-US" sz="2400" dirty="0"/>
                  <a:t>can also be computed as: </a:t>
                </a:r>
              </a:p>
              <a:p>
                <a:pPr marL="9525" indent="0">
                  <a:buNone/>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𝐸𝑆𝑆</m:t>
                          </m:r>
                        </m:num>
                        <m:den>
                          <m:r>
                            <a:rPr lang="en-GB" sz="2400" i="1">
                              <a:latin typeface="Cambria Math" panose="02040503050406030204" pitchFamily="18" charset="0"/>
                            </a:rPr>
                            <m:t>𝑇𝑆𝑆</m:t>
                          </m:r>
                        </m:den>
                      </m:f>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𝑇𝑆𝑆</m:t>
                          </m:r>
                          <m:r>
                            <a:rPr lang="en-GB" sz="2400" i="1">
                              <a:latin typeface="Cambria Math" panose="02040503050406030204" pitchFamily="18" charset="0"/>
                            </a:rPr>
                            <m:t>−</m:t>
                          </m:r>
                          <m:r>
                            <a:rPr lang="en-GB" sz="2400" i="1">
                              <a:latin typeface="Cambria Math" panose="02040503050406030204" pitchFamily="18" charset="0"/>
                            </a:rPr>
                            <m:t>𝑅𝑆𝑆</m:t>
                          </m:r>
                        </m:num>
                        <m:den>
                          <m:r>
                            <a:rPr lang="en-GB" sz="2400" i="1">
                              <a:latin typeface="Cambria Math" panose="02040503050406030204" pitchFamily="18" charset="0"/>
                            </a:rPr>
                            <m:t>𝑇𝑆𝑆</m:t>
                          </m:r>
                        </m:den>
                      </m:f>
                      <m:r>
                        <a:rPr lang="en-GB" sz="2400" i="1">
                          <a:latin typeface="Cambria Math" panose="02040503050406030204" pitchFamily="18" charset="0"/>
                        </a:rPr>
                        <m:t>=1−</m:t>
                      </m:r>
                      <m:f>
                        <m:fPr>
                          <m:ctrlPr>
                            <a:rPr lang="en-GB" sz="2400" i="1">
                              <a:latin typeface="Cambria Math" panose="02040503050406030204" pitchFamily="18" charset="0"/>
                            </a:rPr>
                          </m:ctrlPr>
                        </m:fPr>
                        <m:num>
                          <m:r>
                            <a:rPr lang="en-GB" sz="2400" i="1">
                              <a:latin typeface="Cambria Math" panose="02040503050406030204" pitchFamily="18" charset="0"/>
                            </a:rPr>
                            <m:t>𝑅𝑆𝑆</m:t>
                          </m:r>
                        </m:num>
                        <m:den>
                          <m:r>
                            <a:rPr lang="en-GB" sz="2400" i="1">
                              <a:latin typeface="Cambria Math" panose="02040503050406030204" pitchFamily="18" charset="0"/>
                            </a:rPr>
                            <m:t>𝑇𝑆𝑆</m:t>
                          </m:r>
                        </m:den>
                      </m:f>
                      <m:r>
                        <a:rPr lang="en-GB" sz="2400" i="1">
                          <a:latin typeface="Cambria Math" panose="02040503050406030204" pitchFamily="18" charset="0"/>
                        </a:rPr>
                        <m:t>=1−</m:t>
                      </m:r>
                      <m:f>
                        <m:fPr>
                          <m:ctrlPr>
                            <a:rPr lang="en-GB" sz="2400" i="1">
                              <a:latin typeface="Cambria Math" panose="02040503050406030204" pitchFamily="18" charset="0"/>
                            </a:rPr>
                          </m:ctrlPr>
                        </m:fPr>
                        <m:num>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𝑒</m:t>
                                  </m:r>
                                </m:e>
                                <m:sup>
                                  <m:r>
                                    <a:rPr lang="en-GB" sz="2400" i="1">
                                      <a:latin typeface="Cambria Math" panose="02040503050406030204" pitchFamily="18" charset="0"/>
                                    </a:rPr>
                                    <m:t>2</m:t>
                                  </m:r>
                                </m:sup>
                              </m:sSup>
                            </m:e>
                          </m:nary>
                        </m:num>
                        <m:den>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bSup>
                                <m:sSubSupPr>
                                  <m:ctrlPr>
                                    <a:rPr lang="en-GB" sz="2400" i="1">
                                      <a:latin typeface="Cambria Math" panose="02040503050406030204" pitchFamily="18" charset="0"/>
                                    </a:rPr>
                                  </m:ctrlPr>
                                </m:sSubSupPr>
                                <m:e>
                                  <m:r>
                                    <a:rPr lang="en-GB" sz="2400" i="1">
                                      <a:latin typeface="Cambria Math" panose="02040503050406030204" pitchFamily="18" charset="0"/>
                                    </a:rPr>
                                    <m:t>𝑦</m:t>
                                  </m:r>
                                </m:e>
                                <m:sub>
                                  <m:r>
                                    <a:rPr lang="en-GB" sz="2400" i="1">
                                      <a:latin typeface="Cambria Math" panose="02040503050406030204" pitchFamily="18" charset="0"/>
                                    </a:rPr>
                                    <m:t>𝑖</m:t>
                                  </m:r>
                                </m:sub>
                                <m:sup>
                                  <m:r>
                                    <a:rPr lang="en-GB" sz="2400" i="1">
                                      <a:latin typeface="Cambria Math" panose="02040503050406030204" pitchFamily="18" charset="0"/>
                                    </a:rPr>
                                    <m:t>2</m:t>
                                  </m:r>
                                </m:sup>
                              </m:sSubSup>
                            </m:e>
                          </m:nary>
                        </m:den>
                      </m:f>
                    </m:oMath>
                  </m:oMathPara>
                </a14:m>
                <a:endParaRPr lang="en-GB" sz="2400" dirty="0"/>
              </a:p>
              <a:p>
                <a:pPr marL="9525"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1B3CB418-37B8-5846-E8D3-765424C0C9FD}"/>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3"/>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224795941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99CA9-7FD0-84A5-E6A0-5D7D787A1AF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935342-AFD1-44AF-6F7C-E0FBFD384BB2}"/>
                  </a:ext>
                </a:extLst>
              </p:cNvPr>
              <p:cNvSpPr>
                <a:spLocks noGrp="1"/>
              </p:cNvSpPr>
              <p:nvPr>
                <p:ph type="title"/>
              </p:nvPr>
            </p:nvSpPr>
            <p:spPr/>
            <p:txBody>
              <a:bodyPr>
                <a:normAutofit fontScale="90000"/>
              </a:bodyPr>
              <a:lstStyle/>
              <a:p>
                <a:r>
                  <a:rPr lang="en-GB" dirty="0"/>
                  <a:t>Coefficient of determination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𝑅</m:t>
                        </m:r>
                      </m:e>
                      <m:sup>
                        <m:r>
                          <a:rPr lang="en-GB" i="1">
                            <a:latin typeface="Cambria Math" panose="02040503050406030204" pitchFamily="18" charset="0"/>
                          </a:rPr>
                          <m:t>2</m:t>
                        </m:r>
                      </m:sup>
                    </m:sSup>
                  </m:oMath>
                </a14:m>
                <a:br>
                  <a:rPr lang="en-GB" noProof="0" dirty="0"/>
                </a:br>
                <a:br>
                  <a:rPr lang="en-GB" noProof="0" dirty="0"/>
                </a:br>
                <a:endParaRPr lang="en-GB" noProof="0" dirty="0"/>
              </a:p>
            </p:txBody>
          </p:sp>
        </mc:Choice>
        <mc:Fallback xmlns="">
          <p:sp>
            <p:nvSpPr>
              <p:cNvPr id="2" name="Title 1">
                <a:extLst>
                  <a:ext uri="{FF2B5EF4-FFF2-40B4-BE49-F238E27FC236}">
                    <a16:creationId xmlns:a16="http://schemas.microsoft.com/office/drawing/2014/main" id="{D9935342-AFD1-44AF-6F7C-E0FBFD384BB2}"/>
                  </a:ext>
                </a:extLst>
              </p:cNvPr>
              <p:cNvSpPr>
                <a:spLocks noGrp="1" noRot="1" noChangeAspect="1" noMove="1" noResize="1" noEditPoints="1" noAdjustHandles="1" noChangeArrowheads="1" noChangeShapeType="1" noTextEdit="1"/>
              </p:cNvSpPr>
              <p:nvPr>
                <p:ph type="title"/>
              </p:nvPr>
            </p:nvSpPr>
            <p:spPr>
              <a:blipFill>
                <a:blip r:embed="rId2"/>
                <a:stretch>
                  <a:fillRect l="-3171" t="-12048"/>
                </a:stretch>
              </a:blipFill>
            </p:spPr>
            <p:txBody>
              <a:bodyPr/>
              <a:lstStyle/>
              <a:p>
                <a:r>
                  <a:rPr lang="en-GB">
                    <a:noFill/>
                  </a:rPr>
                  <a:t> </a:t>
                </a:r>
              </a:p>
            </p:txBody>
          </p:sp>
        </mc:Fallback>
      </mc:AlternateContent>
      <p:sp>
        <p:nvSpPr>
          <p:cNvPr id="3" name="Text Placeholder 2">
            <a:extLst>
              <a:ext uri="{FF2B5EF4-FFF2-40B4-BE49-F238E27FC236}">
                <a16:creationId xmlns:a16="http://schemas.microsoft.com/office/drawing/2014/main" id="{A1803BD8-FCDF-8697-0002-7B8DA4E19941}"/>
              </a:ext>
            </a:extLst>
          </p:cNvPr>
          <p:cNvSpPr>
            <a:spLocks noGrp="1"/>
          </p:cNvSpPr>
          <p:nvPr>
            <p:ph type="body" sz="quarter" idx="11"/>
          </p:nvPr>
        </p:nvSpPr>
        <p:spPr>
          <a:xfrm>
            <a:off x="900112" y="1700213"/>
            <a:ext cx="7632327" cy="5157787"/>
          </a:xfrm>
        </p:spPr>
        <p:txBody>
          <a:bodyPr/>
          <a:lstStyle/>
          <a:p>
            <a:pPr marL="0" lvl="0" indent="0">
              <a:buNone/>
            </a:pPr>
            <a:endParaRPr lang="en-GB" sz="2400" dirty="0"/>
          </a:p>
          <a:p>
            <a:pPr marL="9525"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pic>
        <p:nvPicPr>
          <p:cNvPr id="5" name="Picture 4">
            <a:extLst>
              <a:ext uri="{FF2B5EF4-FFF2-40B4-BE49-F238E27FC236}">
                <a16:creationId xmlns:a16="http://schemas.microsoft.com/office/drawing/2014/main" id="{1C4BF5EB-99EE-6BC4-AEE4-71CC1B193B66}"/>
              </a:ext>
            </a:extLst>
          </p:cNvPr>
          <p:cNvPicPr>
            <a:picLocks noChangeAspect="1"/>
          </p:cNvPicPr>
          <p:nvPr/>
        </p:nvPicPr>
        <p:blipFill>
          <a:blip r:embed="rId3"/>
          <a:stretch>
            <a:fillRect/>
          </a:stretch>
        </p:blipFill>
        <p:spPr>
          <a:xfrm>
            <a:off x="917088" y="1564216"/>
            <a:ext cx="6468378" cy="4601217"/>
          </a:xfrm>
          <a:prstGeom prst="rect">
            <a:avLst/>
          </a:prstGeom>
        </p:spPr>
      </p:pic>
    </p:spTree>
    <p:extLst>
      <p:ext uri="{BB962C8B-B14F-4D97-AF65-F5344CB8AC3E}">
        <p14:creationId xmlns:p14="http://schemas.microsoft.com/office/powerpoint/2010/main" val="5043583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5F2D-9D15-3BE6-90B7-55BEF6EDDEE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DE834CB-FF37-D2CB-E643-50383052CED1}"/>
                  </a:ext>
                </a:extLst>
              </p:cNvPr>
              <p:cNvSpPr>
                <a:spLocks noGrp="1"/>
              </p:cNvSpPr>
              <p:nvPr>
                <p:ph type="title"/>
              </p:nvPr>
            </p:nvSpPr>
            <p:spPr/>
            <p:txBody>
              <a:bodyPr>
                <a:normAutofit fontScale="90000"/>
              </a:bodyPr>
              <a:lstStyle/>
              <a:p>
                <a:r>
                  <a:rPr lang="en-GB" dirty="0"/>
                  <a:t>Coefficient of determination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𝑅</m:t>
                        </m:r>
                      </m:e>
                      <m:sup>
                        <m:r>
                          <a:rPr lang="en-GB" i="1">
                            <a:latin typeface="Cambria Math" panose="02040503050406030204" pitchFamily="18" charset="0"/>
                          </a:rPr>
                          <m:t>2</m:t>
                        </m:r>
                      </m:sup>
                    </m:sSup>
                  </m:oMath>
                </a14:m>
                <a:br>
                  <a:rPr lang="en-GB" noProof="0" dirty="0"/>
                </a:br>
                <a:br>
                  <a:rPr lang="en-GB" noProof="0" dirty="0"/>
                </a:br>
                <a:endParaRPr lang="en-GB" noProof="0" dirty="0"/>
              </a:p>
            </p:txBody>
          </p:sp>
        </mc:Choice>
        <mc:Fallback xmlns="">
          <p:sp>
            <p:nvSpPr>
              <p:cNvPr id="2" name="Title 1">
                <a:extLst>
                  <a:ext uri="{FF2B5EF4-FFF2-40B4-BE49-F238E27FC236}">
                    <a16:creationId xmlns:a16="http://schemas.microsoft.com/office/drawing/2014/main" id="{4DE834CB-FF37-D2CB-E643-50383052CED1}"/>
                  </a:ext>
                </a:extLst>
              </p:cNvPr>
              <p:cNvSpPr>
                <a:spLocks noGrp="1" noRot="1" noChangeAspect="1" noMove="1" noResize="1" noEditPoints="1" noAdjustHandles="1" noChangeArrowheads="1" noChangeShapeType="1" noTextEdit="1"/>
              </p:cNvSpPr>
              <p:nvPr>
                <p:ph type="title"/>
              </p:nvPr>
            </p:nvSpPr>
            <p:spPr>
              <a:blipFill>
                <a:blip r:embed="rId2"/>
                <a:stretch>
                  <a:fillRect l="-3171" t="-120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A1408DA-D5EC-BFA0-F7BD-694F45DB2788}"/>
                  </a:ext>
                </a:extLst>
              </p:cNvPr>
              <p:cNvSpPr>
                <a:spLocks noGrp="1"/>
              </p:cNvSpPr>
              <p:nvPr>
                <p:ph type="body" sz="quarter" idx="11"/>
              </p:nvPr>
            </p:nvSpPr>
            <p:spPr>
              <a:xfrm>
                <a:off x="900112" y="1700213"/>
                <a:ext cx="7632327" cy="5157787"/>
              </a:xfrm>
            </p:spPr>
            <p:txBody>
              <a:bodyPr/>
              <a:lstStyle/>
              <a:p>
                <a:pPr marL="0" lvl="0" indent="0">
                  <a:buNone/>
                </a:pPr>
                <a:r>
                  <a:rPr lang="en-GB" sz="2400" dirty="0"/>
                  <a:t>Remember the previous example of the effects of advertisement on sales revenues.</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0" lvl="0" indent="0">
                  <a:buNone/>
                </a:pPr>
                <a:r>
                  <a:rPr lang="en-GB" sz="2400" dirty="0"/>
                  <a:t>The estimated regression equation:</a:t>
                </a:r>
              </a:p>
              <a:p>
                <a:pPr marL="0" lv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𝑡</m:t>
                          </m:r>
                        </m:sub>
                      </m:sSub>
                      <m:r>
                        <a:rPr lang="en-GB" sz="2400" i="1">
                          <a:latin typeface="Cambria Math" panose="02040503050406030204" pitchFamily="18" charset="0"/>
                        </a:rPr>
                        <m:t>=7.604+3.533</m:t>
                      </m:r>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𝑡</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𝑒</m:t>
                          </m:r>
                        </m:e>
                        <m:sub>
                          <m:r>
                            <a:rPr lang="en-GB" sz="2400" i="1">
                              <a:latin typeface="Cambria Math" panose="02040503050406030204" pitchFamily="18" charset="0"/>
                            </a:rPr>
                            <m:t>𝑡</m:t>
                          </m:r>
                        </m:sub>
                      </m:sSub>
                    </m:oMath>
                  </m:oMathPara>
                </a14:m>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1A1408DA-D5EC-BFA0-F7BD-694F45DB2788}"/>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3"/>
                <a:stretch>
                  <a:fillRect l="-2476" t="-1891"/>
                </a:stretch>
              </a:blipFill>
            </p:spPr>
            <p:txBody>
              <a:bodyPr/>
              <a:lstStyle/>
              <a:p>
                <a:r>
                  <a:rPr lang="en-GB">
                    <a:noFill/>
                  </a:rPr>
                  <a:t> </a:t>
                </a:r>
              </a:p>
            </p:txBody>
          </p:sp>
        </mc:Fallback>
      </mc:AlternateContent>
      <p:graphicFrame>
        <p:nvGraphicFramePr>
          <p:cNvPr id="5" name="Chart 4">
            <a:extLst>
              <a:ext uri="{FF2B5EF4-FFF2-40B4-BE49-F238E27FC236}">
                <a16:creationId xmlns:a16="http://schemas.microsoft.com/office/drawing/2014/main" id="{2B2305FC-1343-F9CE-6D02-57E5EEB93B1F}"/>
              </a:ext>
            </a:extLst>
          </p:cNvPr>
          <p:cNvGraphicFramePr>
            <a:graphicFrameLocks/>
          </p:cNvGraphicFramePr>
          <p:nvPr>
            <p:extLst>
              <p:ext uri="{D42A27DB-BD31-4B8C-83A1-F6EECF244321}">
                <p14:modId xmlns:p14="http://schemas.microsoft.com/office/powerpoint/2010/main" val="3516215398"/>
              </p:ext>
            </p:extLst>
          </p:nvPr>
        </p:nvGraphicFramePr>
        <p:xfrm>
          <a:off x="955161" y="2564904"/>
          <a:ext cx="4480935" cy="25202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4374912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4687-49F5-C67E-125E-1668B10AE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4E3FB-A01C-1861-6A2D-9937C3A6FC0A}"/>
              </a:ext>
            </a:extLst>
          </p:cNvPr>
          <p:cNvSpPr>
            <a:spLocks noGrp="1"/>
          </p:cNvSpPr>
          <p:nvPr>
            <p:ph type="title"/>
          </p:nvPr>
        </p:nvSpPr>
        <p:spPr/>
        <p:txBody>
          <a:bodyPr>
            <a:normAutofit fontScale="90000"/>
          </a:bodyPr>
          <a:lstStyle/>
          <a:p>
            <a:r>
              <a:rPr lang="en-GB" dirty="0"/>
              <a:t>Computation of the</a:t>
            </a:r>
            <a:r>
              <a:rPr lang="en-US" dirty="0"/>
              <a:t> R</a:t>
            </a:r>
            <a:r>
              <a:rPr lang="en-US" baseline="30000" dirty="0"/>
              <a:t>2 </a:t>
            </a:r>
            <a:r>
              <a:rPr lang="en-US" dirty="0"/>
              <a:t>value.</a:t>
            </a:r>
            <a:r>
              <a:rPr lang="en-GB" dirty="0"/>
              <a:t> </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B18D9E8-A014-D2A5-C7CD-8660994057EC}"/>
                  </a:ext>
                </a:extLst>
              </p:cNvPr>
              <p:cNvSpPr>
                <a:spLocks noGrp="1"/>
              </p:cNvSpPr>
              <p:nvPr>
                <p:ph type="body" sz="quarter" idx="11"/>
              </p:nvPr>
            </p:nvSpPr>
            <p:spPr>
              <a:xfrm>
                <a:off x="900112" y="1700213"/>
                <a:ext cx="7632327" cy="5157787"/>
              </a:xfrm>
            </p:spPr>
            <p:txBody>
              <a:bodyPr/>
              <a:lstStyle/>
              <a:p>
                <a:pPr marL="9525" indent="0">
                  <a:buNone/>
                </a:pPr>
                <a:endParaRPr lang="en-GB" sz="2400" dirty="0"/>
              </a:p>
              <a:p>
                <a:pPr marL="9525" indent="0">
                  <a:buNone/>
                </a:pPr>
                <a:endParaRPr lang="en-GB" sz="2400" dirty="0"/>
              </a:p>
              <a:p>
                <a:pPr marL="9525" indent="0">
                  <a:buNone/>
                </a:pPr>
                <a:endParaRPr lang="en-GB" sz="2400" dirty="0"/>
              </a:p>
              <a:p>
                <a:pPr marL="9525" indent="0">
                  <a:buNone/>
                </a:pPr>
                <a:endParaRPr lang="en-GB" sz="2400" dirty="0"/>
              </a:p>
              <a:p>
                <a:pPr marL="9525" indent="0">
                  <a:buNone/>
                </a:pPr>
                <a:endParaRPr lang="en-GB" sz="2400" dirty="0"/>
              </a:p>
              <a:p>
                <a:pPr marL="9525" indent="0">
                  <a:buNone/>
                </a:pPr>
                <a:endParaRPr lang="en-GB" sz="2400" dirty="0"/>
              </a:p>
              <a:p>
                <a:pPr marL="9525" indent="0">
                  <a:buNone/>
                </a:pPr>
                <a:endParaRPr lang="en-GB" sz="2400" dirty="0"/>
              </a:p>
              <a:p>
                <a:pPr marL="9525" indent="0">
                  <a:buNone/>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𝐸𝑆𝑆</m:t>
                          </m:r>
                        </m:num>
                        <m:den>
                          <m:r>
                            <a:rPr lang="en-GB" sz="2400" i="1">
                              <a:latin typeface="Cambria Math" panose="02040503050406030204" pitchFamily="18" charset="0"/>
                            </a:rPr>
                            <m:t>𝑇𝑆𝑆</m:t>
                          </m:r>
                        </m:den>
                      </m:f>
                      <m:r>
                        <a:rPr lang="en-GB" sz="2400" i="1">
                          <a:latin typeface="Cambria Math" panose="02040503050406030204" pitchFamily="18" charset="0"/>
                        </a:rPr>
                        <m:t>=</m:t>
                      </m:r>
                      <m:f>
                        <m:fPr>
                          <m:ctrlPr>
                            <a:rPr lang="en-GB" sz="2400" i="1">
                              <a:latin typeface="Cambria Math" panose="02040503050406030204" pitchFamily="18" charset="0"/>
                            </a:rPr>
                          </m:ctrlPr>
                        </m:fPr>
                        <m:num>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m:rPr>
                                      <m:brk m:alnAt="23"/>
                                    </m:rPr>
                                    <a:rPr lang="en-GB" sz="2400" i="1">
                                      <a:latin typeface="Cambria Math" panose="02040503050406030204" pitchFamily="18" charset="0"/>
                                    </a:rPr>
                                    <m:t>)</m:t>
                                  </m:r>
                                </m:e>
                                <m:sup>
                                  <m:r>
                                    <a:rPr lang="en-GB" sz="2400" i="1">
                                      <a:latin typeface="Cambria Math" panose="02040503050406030204" pitchFamily="18" charset="0"/>
                                    </a:rPr>
                                    <m:t>2</m:t>
                                  </m:r>
                                </m:sup>
                              </m:sSup>
                            </m:e>
                          </m:nary>
                        </m:num>
                        <m:den>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m:rPr>
                                      <m:brk m:alnAt="23"/>
                                    </m:rPr>
                                    <a:rPr lang="en-GB" sz="2400" i="1">
                                      <a:latin typeface="Cambria Math" panose="02040503050406030204" pitchFamily="18" charset="0"/>
                                    </a:rPr>
                                    <m:t>)</m:t>
                                  </m:r>
                                </m:e>
                                <m:sup>
                                  <m:r>
                                    <a:rPr lang="en-GB" sz="2400" i="1">
                                      <a:latin typeface="Cambria Math" panose="02040503050406030204" pitchFamily="18" charset="0"/>
                                    </a:rPr>
                                    <m:t>2</m:t>
                                  </m:r>
                                </m:sup>
                              </m:sSup>
                            </m:e>
                          </m:nary>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374.46</m:t>
                          </m:r>
                        </m:num>
                        <m:den>
                          <m:r>
                            <a:rPr lang="en-GB" sz="2400" b="0" i="1" smtClean="0">
                              <a:latin typeface="Cambria Math" panose="02040503050406030204" pitchFamily="18" charset="0"/>
                            </a:rPr>
                            <m:t>440</m:t>
                          </m:r>
                        </m:den>
                      </m:f>
                      <m:r>
                        <a:rPr lang="en-GB" sz="2400" b="0" i="1" smtClean="0">
                          <a:latin typeface="Cambria Math" panose="02040503050406030204" pitchFamily="18" charset="0"/>
                        </a:rPr>
                        <m:t>=0.851</m:t>
                      </m:r>
                    </m:oMath>
                  </m:oMathPara>
                </a14:m>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1B18D9E8-A014-D2A5-C7CD-8660994057EC}"/>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A033EEA-F714-4E6C-2FB5-8095A0536D35}"/>
                  </a:ext>
                </a:extLst>
              </p:cNvPr>
              <p:cNvGraphicFramePr>
                <a:graphicFrameLocks noGrp="1"/>
              </p:cNvGraphicFramePr>
              <p:nvPr>
                <p:extLst>
                  <p:ext uri="{D42A27DB-BD31-4B8C-83A1-F6EECF244321}">
                    <p14:modId xmlns:p14="http://schemas.microsoft.com/office/powerpoint/2010/main" val="422207962"/>
                  </p:ext>
                </p:extLst>
              </p:nvPr>
            </p:nvGraphicFramePr>
            <p:xfrm>
              <a:off x="902713" y="1556792"/>
              <a:ext cx="5256067" cy="2880324"/>
            </p:xfrm>
            <a:graphic>
              <a:graphicData uri="http://schemas.openxmlformats.org/drawingml/2006/table">
                <a:tbl>
                  <a:tblPr>
                    <a:tableStyleId>{5C22544A-7EE6-4342-B048-85BDC9FD1C3A}</a:tableStyleId>
                  </a:tblPr>
                  <a:tblGrid>
                    <a:gridCol w="811226">
                      <a:extLst>
                        <a:ext uri="{9D8B030D-6E8A-4147-A177-3AD203B41FA5}">
                          <a16:colId xmlns:a16="http://schemas.microsoft.com/office/drawing/2014/main" val="2942797236"/>
                        </a:ext>
                      </a:extLst>
                    </a:gridCol>
                    <a:gridCol w="811226">
                      <a:extLst>
                        <a:ext uri="{9D8B030D-6E8A-4147-A177-3AD203B41FA5}">
                          <a16:colId xmlns:a16="http://schemas.microsoft.com/office/drawing/2014/main" val="1421338248"/>
                        </a:ext>
                      </a:extLst>
                    </a:gridCol>
                    <a:gridCol w="811226">
                      <a:extLst>
                        <a:ext uri="{9D8B030D-6E8A-4147-A177-3AD203B41FA5}">
                          <a16:colId xmlns:a16="http://schemas.microsoft.com/office/drawing/2014/main" val="4159144316"/>
                        </a:ext>
                      </a:extLst>
                    </a:gridCol>
                    <a:gridCol w="963330">
                      <a:extLst>
                        <a:ext uri="{9D8B030D-6E8A-4147-A177-3AD203B41FA5}">
                          <a16:colId xmlns:a16="http://schemas.microsoft.com/office/drawing/2014/main" val="2403812649"/>
                        </a:ext>
                      </a:extLst>
                    </a:gridCol>
                    <a:gridCol w="811226">
                      <a:extLst>
                        <a:ext uri="{9D8B030D-6E8A-4147-A177-3AD203B41FA5}">
                          <a16:colId xmlns:a16="http://schemas.microsoft.com/office/drawing/2014/main" val="4036565430"/>
                        </a:ext>
                      </a:extLst>
                    </a:gridCol>
                    <a:gridCol w="1047833">
                      <a:extLst>
                        <a:ext uri="{9D8B030D-6E8A-4147-A177-3AD203B41FA5}">
                          <a16:colId xmlns:a16="http://schemas.microsoft.com/office/drawing/2014/main" val="3629595045"/>
                        </a:ext>
                      </a:extLst>
                    </a:gridCol>
                  </a:tblGrid>
                  <a:tr h="385668">
                    <a:tc>
                      <a:txBody>
                        <a:bodyPr/>
                        <a:lstStyle/>
                        <a:p>
                          <a:pPr algn="l" fontAlgn="b">
                            <a:buNone/>
                          </a:pPr>
                          <a14:m>
                            <m:oMathPara xmlns:m="http://schemas.openxmlformats.org/officeDocument/2006/math">
                              <m:oMathParaPr>
                                <m:jc m:val="centerGroup"/>
                              </m:oMathParaPr>
                              <m:oMath xmlns:m="http://schemas.openxmlformats.org/officeDocument/2006/math">
                                <m:r>
                                  <a:rPr lang="en-GB" sz="1100" b="0" i="1" u="none" strike="noStrike" smtClean="0">
                                    <a:solidFill>
                                      <a:srgbClr val="000000"/>
                                    </a:solidFill>
                                    <a:effectLst/>
                                    <a:latin typeface="Cambria Math" panose="02040503050406030204" pitchFamily="18" charset="0"/>
                                  </a:rPr>
                                  <m:t>𝑋</m:t>
                                </m:r>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r>
                                  <a:rPr lang="en-GB" sz="1100" b="0" i="1" u="none" strike="noStrike" smtClean="0">
                                    <a:solidFill>
                                      <a:srgbClr val="000000"/>
                                    </a:solidFill>
                                    <a:effectLst/>
                                    <a:latin typeface="Cambria Math" panose="02040503050406030204" pitchFamily="18" charset="0"/>
                                  </a:rPr>
                                  <m:t>𝑌</m:t>
                                </m:r>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r>
                                  <a:rPr lang="en-GB" sz="1100" b="0" i="1" u="none" strike="noStrike" smtClean="0">
                                    <a:solidFill>
                                      <a:srgbClr val="000000"/>
                                    </a:solidFill>
                                    <a:effectLst/>
                                    <a:latin typeface="Cambria Math" panose="02040503050406030204" pitchFamily="18" charset="0"/>
                                  </a:rPr>
                                  <m:t>𝑌</m:t>
                                </m:r>
                                <m:r>
                                  <a:rPr lang="en-GB" sz="1100" b="0" i="1" u="none" strike="noStrike" smtClean="0">
                                    <a:solidFill>
                                      <a:srgbClr val="000000"/>
                                    </a:solidFill>
                                    <a:effectLst/>
                                    <a:latin typeface="Cambria Math" panose="02040503050406030204" pitchFamily="18" charset="0"/>
                                  </a:rPr>
                                  <m:t>−</m:t>
                                </m:r>
                                <m:acc>
                                  <m:accPr>
                                    <m:chr m:val="̅"/>
                                    <m:ctrlPr>
                                      <a:rPr lang="en-GB" sz="1100" b="0" i="1" u="none" strike="noStrike" smtClean="0">
                                        <a:solidFill>
                                          <a:srgbClr val="000000"/>
                                        </a:solidFill>
                                        <a:effectLst/>
                                        <a:latin typeface="Cambria Math" panose="02040503050406030204" pitchFamily="18" charset="0"/>
                                      </a:rPr>
                                    </m:ctrlPr>
                                  </m:accPr>
                                  <m:e>
                                    <m:r>
                                      <a:rPr lang="en-GB" sz="1100" b="0" i="1" u="none" strike="noStrike" smtClean="0">
                                        <a:solidFill>
                                          <a:srgbClr val="000000"/>
                                        </a:solidFill>
                                        <a:effectLst/>
                                        <a:latin typeface="Cambria Math" panose="02040503050406030204" pitchFamily="18" charset="0"/>
                                      </a:rPr>
                                      <m:t>𝑌</m:t>
                                    </m:r>
                                  </m:e>
                                </m:acc>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sSup>
                                  <m:sSupPr>
                                    <m:ctrlPr>
                                      <a:rPr lang="en-GB" sz="1100" b="0" i="1" u="none" strike="noStrike" smtClean="0">
                                        <a:solidFill>
                                          <a:srgbClr val="000000"/>
                                        </a:solidFill>
                                        <a:effectLst/>
                                        <a:latin typeface="Cambria Math" panose="02040503050406030204" pitchFamily="18" charset="0"/>
                                      </a:rPr>
                                    </m:ctrlPr>
                                  </m:sSupPr>
                                  <m:e>
                                    <m:d>
                                      <m:dPr>
                                        <m:ctrlPr>
                                          <a:rPr lang="en-GB" sz="1100" b="0" i="1" u="none" strike="noStrike" smtClean="0">
                                            <a:solidFill>
                                              <a:srgbClr val="000000"/>
                                            </a:solidFill>
                                            <a:effectLst/>
                                            <a:latin typeface="Cambria Math" panose="02040503050406030204" pitchFamily="18" charset="0"/>
                                          </a:rPr>
                                        </m:ctrlPr>
                                      </m:dPr>
                                      <m:e>
                                        <m:r>
                                          <a:rPr lang="en-GB" sz="1100" b="0" i="1" u="none" strike="noStrike" smtClean="0">
                                            <a:solidFill>
                                              <a:srgbClr val="000000"/>
                                            </a:solidFill>
                                            <a:effectLst/>
                                            <a:latin typeface="Cambria Math" panose="02040503050406030204" pitchFamily="18" charset="0"/>
                                          </a:rPr>
                                          <m:t>𝑌</m:t>
                                        </m:r>
                                        <m:r>
                                          <a:rPr lang="en-GB" sz="1100" b="0" i="1" u="none" strike="noStrike" smtClean="0">
                                            <a:solidFill>
                                              <a:srgbClr val="000000"/>
                                            </a:solidFill>
                                            <a:effectLst/>
                                            <a:latin typeface="Cambria Math" panose="02040503050406030204" pitchFamily="18" charset="0"/>
                                          </a:rPr>
                                          <m:t>−</m:t>
                                        </m:r>
                                        <m:acc>
                                          <m:accPr>
                                            <m:chr m:val="̅"/>
                                            <m:ctrlPr>
                                              <a:rPr lang="en-GB" sz="1100" b="0" i="1" u="none" strike="noStrike" smtClean="0">
                                                <a:solidFill>
                                                  <a:srgbClr val="000000"/>
                                                </a:solidFill>
                                                <a:effectLst/>
                                                <a:latin typeface="Cambria Math" panose="02040503050406030204" pitchFamily="18" charset="0"/>
                                              </a:rPr>
                                            </m:ctrlPr>
                                          </m:accPr>
                                          <m:e>
                                            <m:r>
                                              <a:rPr lang="en-GB" sz="1100" b="0" i="1" u="none" strike="noStrike" smtClean="0">
                                                <a:solidFill>
                                                  <a:srgbClr val="000000"/>
                                                </a:solidFill>
                                                <a:effectLst/>
                                                <a:latin typeface="Cambria Math" panose="02040503050406030204" pitchFamily="18" charset="0"/>
                                              </a:rPr>
                                              <m:t>𝑌</m:t>
                                            </m:r>
                                          </m:e>
                                        </m:acc>
                                      </m:e>
                                    </m:d>
                                  </m:e>
                                  <m:sup>
                                    <m:r>
                                      <a:rPr lang="en-GB" sz="1100" b="0" i="1" u="none" strike="noStrike" smtClean="0">
                                        <a:solidFill>
                                          <a:srgbClr val="000000"/>
                                        </a:solidFill>
                                        <a:effectLst/>
                                        <a:latin typeface="Cambria Math" panose="02040503050406030204" pitchFamily="18" charset="0"/>
                                      </a:rPr>
                                      <m:t>2</m:t>
                                    </m:r>
                                  </m:sup>
                                </m:sSup>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acc>
                                  <m:accPr>
                                    <m:chr m:val="̂"/>
                                    <m:ctrlPr>
                                      <a:rPr lang="en-GB" sz="1100" b="0" i="1" u="none" strike="noStrike" smtClean="0">
                                        <a:solidFill>
                                          <a:srgbClr val="000000"/>
                                        </a:solidFill>
                                        <a:effectLst/>
                                        <a:latin typeface="Cambria Math" panose="02040503050406030204" pitchFamily="18" charset="0"/>
                                      </a:rPr>
                                    </m:ctrlPr>
                                  </m:accPr>
                                  <m:e>
                                    <m:r>
                                      <a:rPr lang="en-GB" sz="1100" b="0" i="1" u="none" strike="noStrike" smtClean="0">
                                        <a:solidFill>
                                          <a:srgbClr val="000000"/>
                                        </a:solidFill>
                                        <a:effectLst/>
                                        <a:latin typeface="Cambria Math" panose="02040503050406030204" pitchFamily="18" charset="0"/>
                                      </a:rPr>
                                      <m:t>𝑌</m:t>
                                    </m:r>
                                  </m:e>
                                </m:acc>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sSup>
                                  <m:sSupPr>
                                    <m:ctrlPr>
                                      <a:rPr lang="en-GB" sz="1100" b="0" i="1" u="none" strike="noStrike" smtClean="0">
                                        <a:solidFill>
                                          <a:srgbClr val="000000"/>
                                        </a:solidFill>
                                        <a:effectLst/>
                                        <a:latin typeface="Cambria Math" panose="02040503050406030204" pitchFamily="18" charset="0"/>
                                      </a:rPr>
                                    </m:ctrlPr>
                                  </m:sSupPr>
                                  <m:e>
                                    <m:d>
                                      <m:dPr>
                                        <m:ctrlPr>
                                          <a:rPr lang="en-GB" sz="1100" b="0" i="1" u="none" strike="noStrike" smtClean="0">
                                            <a:solidFill>
                                              <a:srgbClr val="000000"/>
                                            </a:solidFill>
                                            <a:effectLst/>
                                            <a:latin typeface="Cambria Math" panose="02040503050406030204" pitchFamily="18" charset="0"/>
                                          </a:rPr>
                                        </m:ctrlPr>
                                      </m:dPr>
                                      <m:e>
                                        <m:acc>
                                          <m:accPr>
                                            <m:chr m:val="̂"/>
                                            <m:ctrlPr>
                                              <a:rPr lang="en-GB" sz="1100" b="0" i="1" u="none" strike="noStrike" smtClean="0">
                                                <a:solidFill>
                                                  <a:srgbClr val="000000"/>
                                                </a:solidFill>
                                                <a:effectLst/>
                                                <a:latin typeface="Cambria Math" panose="02040503050406030204" pitchFamily="18" charset="0"/>
                                              </a:rPr>
                                            </m:ctrlPr>
                                          </m:accPr>
                                          <m:e>
                                            <m:r>
                                              <a:rPr lang="en-GB" sz="1100" b="0" i="1" u="none" strike="noStrike" smtClean="0">
                                                <a:solidFill>
                                                  <a:srgbClr val="000000"/>
                                                </a:solidFill>
                                                <a:effectLst/>
                                                <a:latin typeface="Cambria Math" panose="02040503050406030204" pitchFamily="18" charset="0"/>
                                              </a:rPr>
                                              <m:t>𝑌</m:t>
                                            </m:r>
                                          </m:e>
                                        </m:acc>
                                        <m:r>
                                          <a:rPr lang="en-GB" sz="1100" b="0" i="1" u="none" strike="noStrike" smtClean="0">
                                            <a:solidFill>
                                              <a:srgbClr val="000000"/>
                                            </a:solidFill>
                                            <a:effectLst/>
                                            <a:latin typeface="Cambria Math" panose="02040503050406030204" pitchFamily="18" charset="0"/>
                                          </a:rPr>
                                          <m:t>−</m:t>
                                        </m:r>
                                        <m:acc>
                                          <m:accPr>
                                            <m:chr m:val="̅"/>
                                            <m:ctrlPr>
                                              <a:rPr lang="en-GB" sz="1100" b="0" i="1" u="none" strike="noStrike" smtClean="0">
                                                <a:solidFill>
                                                  <a:srgbClr val="000000"/>
                                                </a:solidFill>
                                                <a:effectLst/>
                                                <a:latin typeface="Cambria Math" panose="02040503050406030204" pitchFamily="18" charset="0"/>
                                              </a:rPr>
                                            </m:ctrlPr>
                                          </m:accPr>
                                          <m:e>
                                            <m:r>
                                              <a:rPr lang="en-GB" sz="1100" b="0" i="1" u="none" strike="noStrike" smtClean="0">
                                                <a:solidFill>
                                                  <a:srgbClr val="000000"/>
                                                </a:solidFill>
                                                <a:effectLst/>
                                                <a:latin typeface="Cambria Math" panose="02040503050406030204" pitchFamily="18" charset="0"/>
                                              </a:rPr>
                                              <m:t>𝑌</m:t>
                                            </m:r>
                                          </m:e>
                                        </m:acc>
                                      </m:e>
                                    </m:d>
                                  </m:e>
                                  <m:sup>
                                    <m:r>
                                      <a:rPr lang="en-GB" sz="1100" b="0" i="1" u="none" strike="noStrike" smtClean="0">
                                        <a:solidFill>
                                          <a:srgbClr val="000000"/>
                                        </a:solidFill>
                                        <a:effectLst/>
                                        <a:latin typeface="Cambria Math" panose="02040503050406030204" pitchFamily="18" charset="0"/>
                                      </a:rPr>
                                      <m:t>2</m:t>
                                    </m:r>
                                  </m:sup>
                                </m:sSup>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extLst>
                      <a:ext uri="{0D108BD9-81ED-4DB2-BD59-A6C34878D82A}">
                        <a16:rowId xmlns:a16="http://schemas.microsoft.com/office/drawing/2014/main" val="842989282"/>
                      </a:ext>
                    </a:extLst>
                  </a:tr>
                  <a:tr h="207888">
                    <a:tc>
                      <a:txBody>
                        <a:bodyPr/>
                        <a:lstStyle/>
                        <a:p>
                          <a:pPr algn="r" fontAlgn="b">
                            <a:buNone/>
                          </a:pPr>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36.00</a:t>
                          </a:r>
                          <a:endParaRPr lang="en-GB"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42.93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49.93</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43348610"/>
                      </a:ext>
                    </a:extLst>
                  </a:tr>
                  <a:tr h="207888">
                    <a:tc>
                      <a:txBody>
                        <a:bodyPr/>
                        <a:lstStyle/>
                        <a:p>
                          <a:pPr algn="r" fontAlgn="b">
                            <a:buNone/>
                          </a:pPr>
                          <a:r>
                            <a:rPr lang="en-GB" sz="1100" u="none" strike="noStrike">
                              <a:effectLst/>
                            </a:rPr>
                            <a:t>9</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100.00</a:t>
                          </a:r>
                          <a:endParaRPr lang="en-GB"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39.40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112.34</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447916780"/>
                      </a:ext>
                    </a:extLst>
                  </a:tr>
                  <a:tr h="207888">
                    <a:tc>
                      <a:txBody>
                        <a:bodyPr/>
                        <a:lstStyle/>
                        <a:p>
                          <a:pPr algn="r" fontAlgn="b">
                            <a:buNone/>
                          </a:pPr>
                          <a:r>
                            <a:rPr lang="en-GB" sz="1100" u="none" strike="noStrike">
                              <a:effectLst/>
                            </a:rPr>
                            <a:t>11</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46.47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12.48</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41792921"/>
                      </a:ext>
                    </a:extLst>
                  </a:tr>
                  <a:tr h="207888">
                    <a:tc>
                      <a:txBody>
                        <a:bodyPr/>
                        <a:lstStyle/>
                        <a:p>
                          <a:pPr algn="r" fontAlgn="b">
                            <a:buNone/>
                          </a:pPr>
                          <a:r>
                            <a:rPr lang="en-GB" sz="1100" u="none" strike="noStrike">
                              <a:effectLst/>
                            </a:rPr>
                            <a:t>12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16.00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50.00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0.00</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661902009"/>
                      </a:ext>
                    </a:extLst>
                  </a:tr>
                  <a:tr h="207888">
                    <a:tc>
                      <a:txBody>
                        <a:bodyPr/>
                        <a:lstStyle/>
                        <a:p>
                          <a:pPr algn="r" fontAlgn="b">
                            <a:buNone/>
                          </a:pPr>
                          <a:r>
                            <a:rPr lang="en-GB" sz="1100" u="none" strike="noStrike">
                              <a:effectLst/>
                            </a:rPr>
                            <a:t>11</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46.47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12.48</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279408760"/>
                      </a:ext>
                    </a:extLst>
                  </a:tr>
                  <a:tr h="207888">
                    <a:tc>
                      <a:txBody>
                        <a:bodyPr/>
                        <a:lstStyle/>
                        <a:p>
                          <a:pPr algn="r" fontAlgn="b">
                            <a:buNone/>
                          </a:pPr>
                          <a:r>
                            <a:rPr lang="en-GB" sz="1100" u="none" strike="noStrike">
                              <a:effectLst/>
                            </a:rPr>
                            <a:t>12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50.00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0.00</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37423520"/>
                      </a:ext>
                    </a:extLst>
                  </a:tr>
                  <a:tr h="207888">
                    <a:tc>
                      <a:txBody>
                        <a:bodyPr/>
                        <a:lstStyle/>
                        <a:p>
                          <a:pPr algn="r" fontAlgn="b">
                            <a:buNone/>
                          </a:pPr>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16.00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53.53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12.48</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63690567"/>
                      </a:ext>
                    </a:extLst>
                  </a:tr>
                  <a:tr h="207888">
                    <a:tc>
                      <a:txBody>
                        <a:bodyPr/>
                        <a:lstStyle/>
                        <a:p>
                          <a:pPr algn="r" fontAlgn="b">
                            <a:buNone/>
                          </a:pPr>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53.53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12.48</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126134782"/>
                      </a:ext>
                    </a:extLst>
                  </a:tr>
                  <a:tr h="207888">
                    <a:tc>
                      <a:txBody>
                        <a:bodyPr/>
                        <a:lstStyle/>
                        <a:p>
                          <a:pPr algn="r" fontAlgn="b">
                            <a:buNone/>
                          </a:pPr>
                          <a:r>
                            <a:rPr lang="en-GB" sz="1100" u="none" strike="noStrike">
                              <a:effectLst/>
                            </a:rPr>
                            <a:t>14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36.00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57.07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49.93</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790096377"/>
                      </a:ext>
                    </a:extLst>
                  </a:tr>
                  <a:tr h="207888">
                    <a:tc>
                      <a:txBody>
                        <a:bodyPr/>
                        <a:lstStyle/>
                        <a:p>
                          <a:pPr algn="r" fontAlgn="b">
                            <a:buNone/>
                          </a:pPr>
                          <a:r>
                            <a:rPr lang="en-GB" sz="1100" u="none" strike="noStrike">
                              <a:effectLst/>
                            </a:rPr>
                            <a:t>15</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100.00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60.60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112.34</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44456466"/>
                      </a:ext>
                    </a:extLst>
                  </a:tr>
                  <a:tr h="207888">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right"/>
                              </m:oMathParaPr>
                              <m:oMath xmlns:m="http://schemas.openxmlformats.org/officeDocument/2006/math">
                                <m:r>
                                  <a:rPr lang="en-GB" sz="1100" b="0" i="1" u="none" strike="noStrike" smtClean="0">
                                    <a:effectLst/>
                                    <a:latin typeface="Cambria Math" panose="02040503050406030204" pitchFamily="18" charset="0"/>
                                    <a:ea typeface="Cambria Math" panose="02040503050406030204" pitchFamily="18" charset="0"/>
                                  </a:rPr>
                                  <m:t>∑=440</m:t>
                                </m:r>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right"/>
                              </m:oMathParaPr>
                              <m:oMath xmlns:m="http://schemas.openxmlformats.org/officeDocument/2006/math">
                                <m:r>
                                  <a:rPr lang="en-GB" sz="1100" b="0" i="1" u="none" strike="noStrike" smtClean="0">
                                    <a:effectLst/>
                                    <a:latin typeface="Cambria Math" panose="02040503050406030204" pitchFamily="18" charset="0"/>
                                    <a:ea typeface="Cambria Math" panose="02040503050406030204" pitchFamily="18" charset="0"/>
                                  </a:rPr>
                                  <m:t>∑=374.46</m:t>
                                </m:r>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3332890436"/>
                      </a:ext>
                    </a:extLst>
                  </a:tr>
                  <a:tr h="207888">
                    <a:tc>
                      <a:txBody>
                        <a:bodyPr/>
                        <a:lstStyle/>
                        <a:p>
                          <a:pPr algn="r" fontAlgn="b">
                            <a:buNone/>
                          </a:pPr>
                          <a14:m>
                            <m:oMathPara xmlns:m="http://schemas.openxmlformats.org/officeDocument/2006/math">
                              <m:oMathParaPr>
                                <m:jc m:val="right"/>
                              </m:oMathParaPr>
                              <m:oMath xmlns:m="http://schemas.openxmlformats.org/officeDocument/2006/math">
                                <m:acc>
                                  <m:accPr>
                                    <m:chr m:val="̅"/>
                                    <m:ctrlPr>
                                      <a:rPr lang="en-GB" sz="1100" i="1" u="none" strike="noStrike" smtClean="0">
                                        <a:effectLst/>
                                        <a:latin typeface="Cambria Math" panose="02040503050406030204" pitchFamily="18" charset="0"/>
                                      </a:rPr>
                                    </m:ctrlPr>
                                  </m:accPr>
                                  <m:e>
                                    <m:r>
                                      <a:rPr lang="en-GB" sz="1100" b="0" i="1" u="none" strike="noStrike" smtClean="0">
                                        <a:effectLst/>
                                        <a:latin typeface="Cambria Math" panose="02040503050406030204" pitchFamily="18" charset="0"/>
                                      </a:rPr>
                                      <m:t>𝑋</m:t>
                                    </m:r>
                                  </m:e>
                                </m:acc>
                                <m:r>
                                  <a:rPr lang="en-GB" sz="1100" b="0" i="1" u="none" strike="noStrike" smtClean="0">
                                    <a:effectLst/>
                                    <a:latin typeface="Cambria Math" panose="02040503050406030204" pitchFamily="18" charset="0"/>
                                  </a:rPr>
                                  <m:t>=12</m:t>
                                </m:r>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right"/>
                              </m:oMathParaPr>
                              <m:oMath xmlns:m="http://schemas.openxmlformats.org/officeDocument/2006/math">
                                <m:acc>
                                  <m:accPr>
                                    <m:chr m:val="̅"/>
                                    <m:ctrlPr>
                                      <a:rPr lang="en-GB" sz="1100" i="1" u="none" strike="noStrike" smtClean="0">
                                        <a:effectLst/>
                                        <a:latin typeface="Cambria Math" panose="02040503050406030204" pitchFamily="18" charset="0"/>
                                      </a:rPr>
                                    </m:ctrlPr>
                                  </m:accPr>
                                  <m:e>
                                    <m:r>
                                      <a:rPr lang="en-GB" sz="1100" b="0" i="1" u="none" strike="noStrike" smtClean="0">
                                        <a:effectLst/>
                                        <a:latin typeface="Cambria Math" panose="02040503050406030204" pitchFamily="18" charset="0"/>
                                      </a:rPr>
                                      <m:t>𝑌</m:t>
                                    </m:r>
                                  </m:e>
                                </m:acc>
                                <m:r>
                                  <a:rPr lang="en-GB" sz="1100" b="0" i="1" u="none" strike="noStrike" smtClean="0">
                                    <a:effectLst/>
                                    <a:latin typeface="Cambria Math" panose="02040503050406030204" pitchFamily="18" charset="0"/>
                                  </a:rPr>
                                  <m:t>=50</m:t>
                                </m:r>
                              </m:oMath>
                            </m:oMathPara>
                          </a14:m>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1642986269"/>
                      </a:ext>
                    </a:extLst>
                  </a:tr>
                </a:tbl>
              </a:graphicData>
            </a:graphic>
          </p:graphicFrame>
        </mc:Choice>
        <mc:Fallback xmlns="">
          <p:graphicFrame>
            <p:nvGraphicFramePr>
              <p:cNvPr id="4" name="Table 3">
                <a:extLst>
                  <a:ext uri="{FF2B5EF4-FFF2-40B4-BE49-F238E27FC236}">
                    <a16:creationId xmlns:a16="http://schemas.microsoft.com/office/drawing/2014/main" id="{0A033EEA-F714-4E6C-2FB5-8095A0536D35}"/>
                  </a:ext>
                </a:extLst>
              </p:cNvPr>
              <p:cNvGraphicFramePr>
                <a:graphicFrameLocks noGrp="1"/>
              </p:cNvGraphicFramePr>
              <p:nvPr>
                <p:extLst>
                  <p:ext uri="{D42A27DB-BD31-4B8C-83A1-F6EECF244321}">
                    <p14:modId xmlns:p14="http://schemas.microsoft.com/office/powerpoint/2010/main" val="422207962"/>
                  </p:ext>
                </p:extLst>
              </p:nvPr>
            </p:nvGraphicFramePr>
            <p:xfrm>
              <a:off x="902713" y="1556792"/>
              <a:ext cx="5256067" cy="2880324"/>
            </p:xfrm>
            <a:graphic>
              <a:graphicData uri="http://schemas.openxmlformats.org/drawingml/2006/table">
                <a:tbl>
                  <a:tblPr>
                    <a:tableStyleId>{5C22544A-7EE6-4342-B048-85BDC9FD1C3A}</a:tableStyleId>
                  </a:tblPr>
                  <a:tblGrid>
                    <a:gridCol w="811226">
                      <a:extLst>
                        <a:ext uri="{9D8B030D-6E8A-4147-A177-3AD203B41FA5}">
                          <a16:colId xmlns:a16="http://schemas.microsoft.com/office/drawing/2014/main" val="2942797236"/>
                        </a:ext>
                      </a:extLst>
                    </a:gridCol>
                    <a:gridCol w="811226">
                      <a:extLst>
                        <a:ext uri="{9D8B030D-6E8A-4147-A177-3AD203B41FA5}">
                          <a16:colId xmlns:a16="http://schemas.microsoft.com/office/drawing/2014/main" val="1421338248"/>
                        </a:ext>
                      </a:extLst>
                    </a:gridCol>
                    <a:gridCol w="811226">
                      <a:extLst>
                        <a:ext uri="{9D8B030D-6E8A-4147-A177-3AD203B41FA5}">
                          <a16:colId xmlns:a16="http://schemas.microsoft.com/office/drawing/2014/main" val="4159144316"/>
                        </a:ext>
                      </a:extLst>
                    </a:gridCol>
                    <a:gridCol w="963330">
                      <a:extLst>
                        <a:ext uri="{9D8B030D-6E8A-4147-A177-3AD203B41FA5}">
                          <a16:colId xmlns:a16="http://schemas.microsoft.com/office/drawing/2014/main" val="2403812649"/>
                        </a:ext>
                      </a:extLst>
                    </a:gridCol>
                    <a:gridCol w="811226">
                      <a:extLst>
                        <a:ext uri="{9D8B030D-6E8A-4147-A177-3AD203B41FA5}">
                          <a16:colId xmlns:a16="http://schemas.microsoft.com/office/drawing/2014/main" val="4036565430"/>
                        </a:ext>
                      </a:extLst>
                    </a:gridCol>
                    <a:gridCol w="1047833">
                      <a:extLst>
                        <a:ext uri="{9D8B030D-6E8A-4147-A177-3AD203B41FA5}">
                          <a16:colId xmlns:a16="http://schemas.microsoft.com/office/drawing/2014/main" val="3629595045"/>
                        </a:ext>
                      </a:extLst>
                    </a:gridCol>
                  </a:tblGrid>
                  <a:tr h="385668">
                    <a:tc>
                      <a:txBody>
                        <a:bodyPr/>
                        <a:lstStyle/>
                        <a:p>
                          <a:endParaRPr lang="en-US"/>
                        </a:p>
                      </a:txBody>
                      <a:tcPr marL="6350" marR="6350" marT="6350" marB="0" anchor="b">
                        <a:blipFill>
                          <a:blip r:embed="rId3"/>
                          <a:stretch>
                            <a:fillRect l="-752" t="-1587" r="-550376" b="-655556"/>
                          </a:stretch>
                        </a:blipFill>
                      </a:tcPr>
                    </a:tc>
                    <a:tc>
                      <a:txBody>
                        <a:bodyPr/>
                        <a:lstStyle/>
                        <a:p>
                          <a:endParaRPr lang="en-US"/>
                        </a:p>
                      </a:txBody>
                      <a:tcPr marL="6350" marR="6350" marT="6350" marB="0" anchor="b">
                        <a:blipFill>
                          <a:blip r:embed="rId3"/>
                          <a:stretch>
                            <a:fillRect l="-100752" t="-1587" r="-450376" b="-655556"/>
                          </a:stretch>
                        </a:blipFill>
                      </a:tcPr>
                    </a:tc>
                    <a:tc>
                      <a:txBody>
                        <a:bodyPr/>
                        <a:lstStyle/>
                        <a:p>
                          <a:endParaRPr lang="en-US"/>
                        </a:p>
                      </a:txBody>
                      <a:tcPr marL="6350" marR="6350" marT="6350" marB="0" anchor="b">
                        <a:blipFill>
                          <a:blip r:embed="rId3"/>
                          <a:stretch>
                            <a:fillRect l="-199254" t="-1587" r="-347015" b="-655556"/>
                          </a:stretch>
                        </a:blipFill>
                      </a:tcPr>
                    </a:tc>
                    <a:tc>
                      <a:txBody>
                        <a:bodyPr/>
                        <a:lstStyle/>
                        <a:p>
                          <a:endParaRPr lang="en-US"/>
                        </a:p>
                      </a:txBody>
                      <a:tcPr marL="6350" marR="6350" marT="6350" marB="0" anchor="b">
                        <a:blipFill>
                          <a:blip r:embed="rId3"/>
                          <a:stretch>
                            <a:fillRect l="-253797" t="-1587" r="-194304" b="-655556"/>
                          </a:stretch>
                        </a:blipFill>
                      </a:tcPr>
                    </a:tc>
                    <a:tc>
                      <a:txBody>
                        <a:bodyPr/>
                        <a:lstStyle/>
                        <a:p>
                          <a:endParaRPr lang="en-US"/>
                        </a:p>
                      </a:txBody>
                      <a:tcPr marL="6350" marR="6350" marT="6350" marB="0" anchor="b">
                        <a:blipFill>
                          <a:blip r:embed="rId3"/>
                          <a:stretch>
                            <a:fillRect l="-420301" t="-1587" r="-130827" b="-655556"/>
                          </a:stretch>
                        </a:blipFill>
                      </a:tcPr>
                    </a:tc>
                    <a:tc>
                      <a:txBody>
                        <a:bodyPr/>
                        <a:lstStyle/>
                        <a:p>
                          <a:endParaRPr lang="en-US"/>
                        </a:p>
                      </a:txBody>
                      <a:tcPr marL="6350" marR="6350" marT="6350" marB="0" anchor="b">
                        <a:blipFill>
                          <a:blip r:embed="rId3"/>
                          <a:stretch>
                            <a:fillRect l="-402326" t="-1587" r="-1163" b="-655556"/>
                          </a:stretch>
                        </a:blipFill>
                      </a:tcPr>
                    </a:tc>
                    <a:extLst>
                      <a:ext uri="{0D108BD9-81ED-4DB2-BD59-A6C34878D82A}">
                        <a16:rowId xmlns:a16="http://schemas.microsoft.com/office/drawing/2014/main" val="842989282"/>
                      </a:ext>
                    </a:extLst>
                  </a:tr>
                  <a:tr h="207888">
                    <a:tc>
                      <a:txBody>
                        <a:bodyPr/>
                        <a:lstStyle/>
                        <a:p>
                          <a:pPr algn="r" fontAlgn="b">
                            <a:buNone/>
                          </a:pPr>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36.00</a:t>
                          </a:r>
                          <a:endParaRPr lang="en-GB"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42.93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49.93</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43348610"/>
                      </a:ext>
                    </a:extLst>
                  </a:tr>
                  <a:tr h="207888">
                    <a:tc>
                      <a:txBody>
                        <a:bodyPr/>
                        <a:lstStyle/>
                        <a:p>
                          <a:pPr algn="r" fontAlgn="b">
                            <a:buNone/>
                          </a:pPr>
                          <a:r>
                            <a:rPr lang="en-GB" sz="1100" u="none" strike="noStrike">
                              <a:effectLst/>
                            </a:rPr>
                            <a:t>9</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100.00</a:t>
                          </a:r>
                          <a:endParaRPr lang="en-GB"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39.40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112.34</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447916780"/>
                      </a:ext>
                    </a:extLst>
                  </a:tr>
                  <a:tr h="207888">
                    <a:tc>
                      <a:txBody>
                        <a:bodyPr/>
                        <a:lstStyle/>
                        <a:p>
                          <a:pPr algn="r" fontAlgn="b">
                            <a:buNone/>
                          </a:pPr>
                          <a:r>
                            <a:rPr lang="en-GB" sz="1100" u="none" strike="noStrike">
                              <a:effectLst/>
                            </a:rPr>
                            <a:t>11</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46.47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12.48</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41792921"/>
                      </a:ext>
                    </a:extLst>
                  </a:tr>
                  <a:tr h="207888">
                    <a:tc>
                      <a:txBody>
                        <a:bodyPr/>
                        <a:lstStyle/>
                        <a:p>
                          <a:pPr algn="r" fontAlgn="b">
                            <a:buNone/>
                          </a:pPr>
                          <a:r>
                            <a:rPr lang="en-GB" sz="1100" u="none" strike="noStrike">
                              <a:effectLst/>
                            </a:rPr>
                            <a:t>12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16.00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50.00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0.00</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661902009"/>
                      </a:ext>
                    </a:extLst>
                  </a:tr>
                  <a:tr h="207888">
                    <a:tc>
                      <a:txBody>
                        <a:bodyPr/>
                        <a:lstStyle/>
                        <a:p>
                          <a:pPr algn="r" fontAlgn="b">
                            <a:buNone/>
                          </a:pPr>
                          <a:r>
                            <a:rPr lang="en-GB" sz="1100" u="none" strike="noStrike">
                              <a:effectLst/>
                            </a:rPr>
                            <a:t>11</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46.47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12.48</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279408760"/>
                      </a:ext>
                    </a:extLst>
                  </a:tr>
                  <a:tr h="207888">
                    <a:tc>
                      <a:txBody>
                        <a:bodyPr/>
                        <a:lstStyle/>
                        <a:p>
                          <a:pPr algn="r" fontAlgn="b">
                            <a:buNone/>
                          </a:pPr>
                          <a:r>
                            <a:rPr lang="en-GB" sz="1100" u="none" strike="noStrike">
                              <a:effectLst/>
                            </a:rPr>
                            <a:t>12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50.00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0.00</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37423520"/>
                      </a:ext>
                    </a:extLst>
                  </a:tr>
                  <a:tr h="207888">
                    <a:tc>
                      <a:txBody>
                        <a:bodyPr/>
                        <a:lstStyle/>
                        <a:p>
                          <a:pPr algn="r" fontAlgn="b">
                            <a:buNone/>
                          </a:pPr>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16.00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53.53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12.48</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63690567"/>
                      </a:ext>
                    </a:extLst>
                  </a:tr>
                  <a:tr h="207888">
                    <a:tc>
                      <a:txBody>
                        <a:bodyPr/>
                        <a:lstStyle/>
                        <a:p>
                          <a:pPr algn="r" fontAlgn="b">
                            <a:buNone/>
                          </a:pPr>
                          <a:r>
                            <a:rPr lang="en-GB" sz="1100" u="none" strike="noStrike">
                              <a:effectLst/>
                            </a:rPr>
                            <a:t>13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64.00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53.53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12.48</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126134782"/>
                      </a:ext>
                    </a:extLst>
                  </a:tr>
                  <a:tr h="207888">
                    <a:tc>
                      <a:txBody>
                        <a:bodyPr/>
                        <a:lstStyle/>
                        <a:p>
                          <a:pPr algn="r" fontAlgn="b">
                            <a:buNone/>
                          </a:pPr>
                          <a:r>
                            <a:rPr lang="en-GB" sz="1100" u="none" strike="noStrike">
                              <a:effectLst/>
                            </a:rPr>
                            <a:t>14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36.00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57.07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dirty="0">
                              <a:effectLst/>
                            </a:rPr>
                            <a:t>49.93</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790096377"/>
                      </a:ext>
                    </a:extLst>
                  </a:tr>
                  <a:tr h="207888">
                    <a:tc>
                      <a:txBody>
                        <a:bodyPr/>
                        <a:lstStyle/>
                        <a:p>
                          <a:pPr algn="r" fontAlgn="b">
                            <a:buNone/>
                          </a:pPr>
                          <a:r>
                            <a:rPr lang="en-GB" sz="1100" u="none" strike="noStrike">
                              <a:effectLst/>
                            </a:rPr>
                            <a:t>15</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100.00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60.60</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100" u="none" strike="noStrike">
                              <a:effectLst/>
                            </a:rPr>
                            <a:t>112.34</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44456466"/>
                      </a:ext>
                    </a:extLst>
                  </a:tr>
                  <a:tr h="207888">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endParaRPr lang="en-US"/>
                        </a:p>
                      </a:txBody>
                      <a:tcPr marL="6350" marR="6350" marT="6350" marB="0" anchor="b">
                        <a:blipFill>
                          <a:blip r:embed="rId3"/>
                          <a:stretch>
                            <a:fillRect l="-253797" t="-1194118" r="-194304" b="-108824"/>
                          </a:stretch>
                        </a:blip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endParaRPr lang="en-US"/>
                        </a:p>
                      </a:txBody>
                      <a:tcPr marL="6350" marR="6350" marT="6350" marB="0" anchor="b">
                        <a:blipFill>
                          <a:blip r:embed="rId3"/>
                          <a:stretch>
                            <a:fillRect l="-402326" t="-1194118" r="-1163" b="-108824"/>
                          </a:stretch>
                        </a:blipFill>
                      </a:tcPr>
                    </a:tc>
                    <a:extLst>
                      <a:ext uri="{0D108BD9-81ED-4DB2-BD59-A6C34878D82A}">
                        <a16:rowId xmlns:a16="http://schemas.microsoft.com/office/drawing/2014/main" val="3332890436"/>
                      </a:ext>
                    </a:extLst>
                  </a:tr>
                  <a:tr h="207888">
                    <a:tc>
                      <a:txBody>
                        <a:bodyPr/>
                        <a:lstStyle/>
                        <a:p>
                          <a:endParaRPr lang="en-US"/>
                        </a:p>
                      </a:txBody>
                      <a:tcPr marL="6350" marR="6350" marT="6350" marB="0" anchor="b">
                        <a:blipFill>
                          <a:blip r:embed="rId3"/>
                          <a:stretch>
                            <a:fillRect l="-752" t="-1294118" r="-550376" b="-8824"/>
                          </a:stretch>
                        </a:blipFill>
                      </a:tcPr>
                    </a:tc>
                    <a:tc>
                      <a:txBody>
                        <a:bodyPr/>
                        <a:lstStyle/>
                        <a:p>
                          <a:endParaRPr lang="en-US"/>
                        </a:p>
                      </a:txBody>
                      <a:tcPr marL="6350" marR="6350" marT="6350" marB="0" anchor="b">
                        <a:blipFill>
                          <a:blip r:embed="rId3"/>
                          <a:stretch>
                            <a:fillRect l="-100752" t="-1294118" r="-450376" b="-8824"/>
                          </a:stretch>
                        </a:blip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1642986269"/>
                      </a:ext>
                    </a:extLst>
                  </a:tr>
                </a:tbl>
              </a:graphicData>
            </a:graphic>
          </p:graphicFrame>
        </mc:Fallback>
      </mc:AlternateContent>
    </p:spTree>
    <p:extLst>
      <p:ext uri="{BB962C8B-B14F-4D97-AF65-F5344CB8AC3E}">
        <p14:creationId xmlns:p14="http://schemas.microsoft.com/office/powerpoint/2010/main" val="3946654442"/>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7D1D-410E-590F-AF20-FA6FBB185A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793D4-0D23-7DEB-B6A4-44359CF86600}"/>
              </a:ext>
            </a:extLst>
          </p:cNvPr>
          <p:cNvSpPr>
            <a:spLocks noGrp="1"/>
          </p:cNvSpPr>
          <p:nvPr>
            <p:ph type="title"/>
          </p:nvPr>
        </p:nvSpPr>
        <p:spPr/>
        <p:txBody>
          <a:bodyPr>
            <a:normAutofit fontScale="90000"/>
          </a:bodyPr>
          <a:lstStyle/>
          <a:p>
            <a:r>
              <a:rPr lang="en-GB" dirty="0"/>
              <a:t>Interpretation of the</a:t>
            </a:r>
            <a:r>
              <a:rPr lang="en-US" dirty="0"/>
              <a:t> R</a:t>
            </a:r>
            <a:r>
              <a:rPr lang="en-US" baseline="30000" dirty="0"/>
              <a:t>2 </a:t>
            </a:r>
            <a:r>
              <a:rPr lang="en-US" dirty="0"/>
              <a:t>value.</a:t>
            </a:r>
            <a:r>
              <a:rPr lang="en-GB" dirty="0"/>
              <a:t> </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3C36A88-D1B0-2DAC-DD29-FBBCBBDBEF68}"/>
                  </a:ext>
                </a:extLst>
              </p:cNvPr>
              <p:cNvSpPr>
                <a:spLocks noGrp="1"/>
              </p:cNvSpPr>
              <p:nvPr>
                <p:ph type="body" sz="quarter" idx="11"/>
              </p:nvPr>
            </p:nvSpPr>
            <p:spPr>
              <a:xfrm>
                <a:off x="900112" y="1700213"/>
                <a:ext cx="7632327" cy="5157787"/>
              </a:xfrm>
            </p:spPr>
            <p:txBody>
              <a:bodyPr/>
              <a:lstStyle/>
              <a:p>
                <a:pPr marL="9525" indent="0">
                  <a:buNone/>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b="0" i="1" smtClean="0">
                          <a:latin typeface="Cambria Math" panose="02040503050406030204" pitchFamily="18" charset="0"/>
                        </a:rPr>
                        <m:t>=0.851</m:t>
                      </m:r>
                    </m:oMath>
                  </m:oMathPara>
                </a14:m>
                <a:endParaRPr lang="en-GB" sz="2400" dirty="0"/>
              </a:p>
              <a:p>
                <a:pPr marL="342900" lvl="0" indent="-342900">
                  <a:buFont typeface="Arial" panose="020B0604020202020204" pitchFamily="34" charset="0"/>
                  <a:buChar char="•"/>
                </a:pPr>
                <a:endParaRPr lang="en-GB" sz="2400" noProof="0" dirty="0"/>
              </a:p>
              <a:p>
                <a:pPr marL="0" lvl="0" indent="0">
                  <a:buNone/>
                </a:pPr>
                <a:r>
                  <a:rPr lang="en-GB" sz="2400" noProof="0" dirty="0"/>
                  <a:t>85.1% of the </a:t>
                </a:r>
                <a:r>
                  <a:rPr lang="en-GB" sz="2400" noProof="0" dirty="0">
                    <a:solidFill>
                      <a:srgbClr val="FF0000"/>
                    </a:solidFill>
                  </a:rPr>
                  <a:t>variation in sales revenues </a:t>
                </a:r>
                <a:r>
                  <a:rPr lang="en-GB" sz="2400" noProof="0" dirty="0"/>
                  <a:t>can be explained with the variation in advertisement expenditures.</a:t>
                </a:r>
              </a:p>
              <a:p>
                <a:pPr marL="0" lvl="0" indent="0">
                  <a:buNone/>
                </a:pPr>
                <a:r>
                  <a:rPr lang="en-GB" sz="2400" dirty="0"/>
                  <a:t>This is a high explanatory power.</a:t>
                </a:r>
                <a:endParaRPr lang="en-GB" sz="2400" noProof="0" dirty="0"/>
              </a:p>
              <a:p>
                <a:pPr marL="0" lvl="0" indent="0">
                  <a:buNone/>
                </a:pPr>
                <a:endParaRPr lang="en-GB" sz="2400" noProof="0" dirty="0"/>
              </a:p>
              <a:p>
                <a:pPr marL="342900" lvl="0" indent="-342900">
                  <a:buFont typeface="Arial" panose="020B0604020202020204" pitchFamily="34" charset="0"/>
                  <a:buChar char="•"/>
                </a:pPr>
                <a:r>
                  <a:rPr lang="en-GB" sz="2400" noProof="0" dirty="0"/>
                  <a:t>If all the data points were to fall on the regression line all the variations in the dependent variable </a:t>
                </a:r>
                <a:r>
                  <a:rPr lang="en-GB" sz="2400" i="1" noProof="0" dirty="0"/>
                  <a:t>Y</a:t>
                </a:r>
                <a:r>
                  <a:rPr lang="en-GB" sz="2400" noProof="0" dirty="0"/>
                  <a:t> would be explained by the variation in the independent or explanatory variable </a:t>
                </a:r>
                <a:r>
                  <a:rPr lang="en-GB" sz="2400" i="1" noProof="0" dirty="0"/>
                  <a:t>X</a:t>
                </a:r>
                <a:r>
                  <a:rPr lang="en-GB" sz="2400" noProof="0" dirty="0"/>
                  <a:t> and </a:t>
                </a:r>
                <a:r>
                  <a:rPr lang="en-US" sz="2400" i="1" dirty="0"/>
                  <a:t>R</a:t>
                </a:r>
                <a:r>
                  <a:rPr lang="en-US" sz="2400" i="1" baseline="30000" dirty="0"/>
                  <a:t>2</a:t>
                </a:r>
                <a:r>
                  <a:rPr lang="en-GB" sz="2400" noProof="0" dirty="0"/>
                  <a:t> would equal 1 or 100%.</a:t>
                </a:r>
              </a:p>
              <a:p>
                <a:pPr marL="342900" lvl="0" indent="-342900">
                  <a:buFont typeface="Arial" panose="020B0604020202020204" pitchFamily="34" charset="0"/>
                  <a:buChar char="•"/>
                </a:pPr>
                <a:r>
                  <a:rPr lang="en-GB" sz="2400" noProof="0" dirty="0"/>
                  <a:t>If none of the variation in </a:t>
                </a:r>
                <a:r>
                  <a:rPr lang="en-GB" sz="2400" i="1" noProof="0" dirty="0"/>
                  <a:t>Y</a:t>
                </a:r>
                <a:r>
                  <a:rPr lang="en-GB" sz="2400" noProof="0" dirty="0"/>
                  <a:t> were explained by the variation in </a:t>
                </a:r>
                <a:r>
                  <a:rPr lang="en-GB" sz="2400" i="1" noProof="0" dirty="0"/>
                  <a:t>X</a:t>
                </a:r>
                <a:r>
                  <a:rPr lang="en-GB" sz="2400" noProof="0" dirty="0"/>
                  <a:t>, </a:t>
                </a:r>
                <a:r>
                  <a:rPr lang="en-US" sz="2400" i="1" dirty="0"/>
                  <a:t>R</a:t>
                </a:r>
                <a:r>
                  <a:rPr lang="en-US" sz="2400" i="1" baseline="30000" dirty="0"/>
                  <a:t>2</a:t>
                </a:r>
                <a:r>
                  <a:rPr lang="en-GB" sz="2400" noProof="0" dirty="0"/>
                  <a:t> would be equal to 0.</a:t>
                </a:r>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53C36A88-D1B0-2DAC-DD29-FBBCBBDBEF68}"/>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a:stretch>
              </a:blipFill>
            </p:spPr>
            <p:txBody>
              <a:bodyPr/>
              <a:lstStyle/>
              <a:p>
                <a:r>
                  <a:rPr lang="en-GB">
                    <a:noFill/>
                  </a:rPr>
                  <a:t> </a:t>
                </a:r>
              </a:p>
            </p:txBody>
          </p:sp>
        </mc:Fallback>
      </mc:AlternateContent>
    </p:spTree>
    <p:extLst>
      <p:ext uri="{BB962C8B-B14F-4D97-AF65-F5344CB8AC3E}">
        <p14:creationId xmlns:p14="http://schemas.microsoft.com/office/powerpoint/2010/main" val="3498616844"/>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4EB37-8505-9995-5976-E3620F78F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2D6DF-90CF-DD83-CEF5-A14D56525062}"/>
              </a:ext>
            </a:extLst>
          </p:cNvPr>
          <p:cNvSpPr>
            <a:spLocks noGrp="1"/>
          </p:cNvSpPr>
          <p:nvPr>
            <p:ph type="title"/>
          </p:nvPr>
        </p:nvSpPr>
        <p:spPr/>
        <p:txBody>
          <a:bodyPr>
            <a:normAutofit fontScale="90000"/>
          </a:bodyPr>
          <a:lstStyle/>
          <a:p>
            <a:r>
              <a:rPr lang="en-GB" altLang="en-US" dirty="0"/>
              <a:t>Testing the overall model significance: </a:t>
            </a:r>
            <a:r>
              <a:rPr lang="en-GB" altLang="en-US" i="1" dirty="0"/>
              <a:t>F</a:t>
            </a:r>
            <a:r>
              <a:rPr lang="en-GB" altLang="en-US" dirty="0"/>
              <a:t> test</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4279786C-B472-7779-96DC-58D8747B68B8}"/>
              </a:ext>
            </a:extLst>
          </p:cNvPr>
          <p:cNvSpPr>
            <a:spLocks noGrp="1"/>
          </p:cNvSpPr>
          <p:nvPr>
            <p:ph type="body" sz="quarter" idx="11"/>
          </p:nvPr>
        </p:nvSpPr>
        <p:spPr>
          <a:xfrm>
            <a:off x="900112" y="1700213"/>
            <a:ext cx="7632327" cy="5157787"/>
          </a:xfrm>
        </p:spPr>
        <p:txBody>
          <a:bodyPr/>
          <a:lstStyle/>
          <a:p>
            <a:pPr marL="352425" indent="-342900">
              <a:buFont typeface="Arial" panose="020B0604020202020204" pitchFamily="34" charset="0"/>
              <a:buChar char="•"/>
            </a:pPr>
            <a:r>
              <a:rPr lang="en-GB" sz="2400" dirty="0"/>
              <a:t>The </a:t>
            </a:r>
            <a:r>
              <a:rPr lang="en-GB" sz="2400" i="1" dirty="0"/>
              <a:t>F</a:t>
            </a:r>
            <a:r>
              <a:rPr lang="en-GB" sz="2400" dirty="0"/>
              <a:t> test is a </a:t>
            </a:r>
            <a:r>
              <a:rPr lang="en-GB" sz="2400" dirty="0">
                <a:solidFill>
                  <a:srgbClr val="FF0000"/>
                </a:solidFill>
              </a:rPr>
              <a:t>joint test </a:t>
            </a:r>
            <a:r>
              <a:rPr lang="en-GB" sz="2400" dirty="0"/>
              <a:t>on all the slope coefficients jointly.</a:t>
            </a:r>
          </a:p>
          <a:p>
            <a:pPr marL="352425" indent="-342900">
              <a:buFont typeface="Arial" panose="020B0604020202020204" pitchFamily="34" charset="0"/>
              <a:buChar char="•"/>
            </a:pPr>
            <a:r>
              <a:rPr lang="en-GB" sz="2400" dirty="0"/>
              <a:t>The test tries to answer whether the regression model has predictive power or not.</a:t>
            </a:r>
          </a:p>
          <a:p>
            <a:pPr marL="352425" indent="-342900">
              <a:buFont typeface="Arial" panose="020B0604020202020204" pitchFamily="34" charset="0"/>
              <a:buChar char="•"/>
            </a:pPr>
            <a:r>
              <a:rPr lang="en-GB" sz="2400" dirty="0"/>
              <a:t>When we are working with a bi-variate regression, the </a:t>
            </a:r>
            <a:r>
              <a:rPr lang="en-GB" sz="2400" i="1" dirty="0"/>
              <a:t>F</a:t>
            </a:r>
            <a:r>
              <a:rPr lang="en-GB" sz="2400" dirty="0"/>
              <a:t> test will provide the same conclusion as the </a:t>
            </a:r>
            <a:r>
              <a:rPr lang="en-GB" sz="2400" i="1" dirty="0"/>
              <a:t>t </a:t>
            </a:r>
            <a:r>
              <a:rPr lang="en-GB" sz="2400" dirty="0"/>
              <a:t>test.</a:t>
            </a:r>
          </a:p>
          <a:p>
            <a:pPr marL="352425" indent="-342900">
              <a:buFont typeface="Arial" panose="020B0604020202020204" pitchFamily="34" charset="0"/>
              <a:buChar char="•"/>
            </a:pPr>
            <a:r>
              <a:rPr lang="en-GB" sz="2400" dirty="0"/>
              <a:t>As the F test is a hypothesis test, we follow the same steps as in previous tests.</a:t>
            </a:r>
          </a:p>
          <a:p>
            <a:pPr marL="342900" lvl="0" indent="-342900">
              <a:buFont typeface="Arial" panose="020B0604020202020204" pitchFamily="34" charset="0"/>
              <a:buChar char="•"/>
            </a:pPr>
            <a:endParaRPr lang="en-GB" sz="2400" noProof="0" dirty="0"/>
          </a:p>
          <a:p>
            <a:pPr marL="0" lvl="0" indent="0">
              <a:buNone/>
            </a:pPr>
            <a:endParaRPr lang="en-GB" sz="2400" noProof="0" dirty="0"/>
          </a:p>
        </p:txBody>
      </p:sp>
    </p:spTree>
    <p:extLst>
      <p:ext uri="{BB962C8B-B14F-4D97-AF65-F5344CB8AC3E}">
        <p14:creationId xmlns:p14="http://schemas.microsoft.com/office/powerpoint/2010/main" val="1380557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385C1-4847-64DF-4BC8-A0943B2C8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CA165-F28B-5379-D9FE-B4B2BDFADAC1}"/>
              </a:ext>
            </a:extLst>
          </p:cNvPr>
          <p:cNvSpPr>
            <a:spLocks noGrp="1"/>
          </p:cNvSpPr>
          <p:nvPr>
            <p:ph type="title"/>
          </p:nvPr>
        </p:nvSpPr>
        <p:spPr/>
        <p:txBody>
          <a:bodyPr>
            <a:normAutofit fontScale="90000"/>
          </a:bodyPr>
          <a:lstStyle/>
          <a:p>
            <a:r>
              <a:rPr lang="en-GB" altLang="en-US" dirty="0"/>
              <a:t>Testing the overall model significance: </a:t>
            </a:r>
            <a:r>
              <a:rPr lang="en-GB" altLang="en-US" i="1" dirty="0"/>
              <a:t>F</a:t>
            </a:r>
            <a:r>
              <a:rPr lang="en-GB" altLang="en-US" dirty="0"/>
              <a:t> test</a:t>
            </a:r>
            <a:br>
              <a:rPr lang="en-GB" noProof="0" dirty="0"/>
            </a:b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1AE3749-C193-AFFB-7425-2CE757DF7B40}"/>
                  </a:ext>
                </a:extLst>
              </p:cNvPr>
              <p:cNvSpPr>
                <a:spLocks noGrp="1"/>
              </p:cNvSpPr>
              <p:nvPr>
                <p:ph type="body" sz="quarter" idx="11"/>
              </p:nvPr>
            </p:nvSpPr>
            <p:spPr>
              <a:xfrm>
                <a:off x="900112" y="1700213"/>
                <a:ext cx="7632327" cy="5157787"/>
              </a:xfrm>
            </p:spPr>
            <p:txBody>
              <a:bodyPr/>
              <a:lstStyle/>
              <a:p>
                <a:r>
                  <a:rPr lang="en-GB" sz="2400" dirty="0"/>
                  <a:t>Write down what you are testing: Null and alternative hypothesis.</a:t>
                </a:r>
              </a:p>
              <a:p>
                <a:pPr marL="0" lvl="0" indent="0">
                  <a:buNone/>
                </a:pPr>
                <a:endParaRPr lang="en-GB" sz="2400" dirty="0"/>
              </a:p>
              <a:p>
                <a:pPr marL="0" lv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0</m:t>
                          </m:r>
                        </m:sub>
                      </m:sSub>
                      <m:r>
                        <a:rPr lang="en-GB" sz="2400" i="1">
                          <a:latin typeface="Cambria Math" panose="02040503050406030204" pitchFamily="18" charset="0"/>
                        </a:rPr>
                        <m:t>:</m:t>
                      </m:r>
                      <m:r>
                        <a:rPr lang="en-GB" sz="2400" b="0" i="1" smtClean="0">
                          <a:latin typeface="Cambria Math" panose="02040503050406030204" pitchFamily="18" charset="0"/>
                        </a:rPr>
                        <m:t> </m:t>
                      </m:r>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𝑅</m:t>
                          </m:r>
                        </m:e>
                        <m:sup>
                          <m:r>
                            <a:rPr lang="en-GB" sz="2400" b="0" i="1" smtClean="0">
                              <a:latin typeface="Cambria Math" panose="02040503050406030204" pitchFamily="18" charset="0"/>
                            </a:rPr>
                            <m:t>2</m:t>
                          </m:r>
                        </m:sup>
                      </m:sSup>
                      <m:r>
                        <a:rPr lang="en-GB" sz="2400" i="1">
                          <a:latin typeface="Cambria Math" panose="02040503050406030204" pitchFamily="18" charset="0"/>
                        </a:rPr>
                        <m:t>=0</m:t>
                      </m:r>
                    </m:oMath>
                  </m:oMathPara>
                </a14:m>
                <a:endParaRPr lang="en-GB" sz="2400" dirty="0"/>
              </a:p>
              <a:p>
                <a:pPr mar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1</m:t>
                          </m:r>
                        </m:sub>
                      </m:sSub>
                      <m:r>
                        <a:rPr lang="en-GB" sz="2400" i="1">
                          <a:latin typeface="Cambria Math" panose="02040503050406030204" pitchFamily="18" charset="0"/>
                        </a:rPr>
                        <m:t>: </m:t>
                      </m:r>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𝑅</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&gt;</m:t>
                      </m:r>
                      <m:r>
                        <a:rPr lang="en-GB" sz="2400" i="1">
                          <a:latin typeface="Cambria Math" panose="02040503050406030204" pitchFamily="18" charset="0"/>
                        </a:rPr>
                        <m:t>0</m:t>
                      </m:r>
                    </m:oMath>
                  </m:oMathPara>
                </a14:m>
                <a:endParaRPr lang="en-GB" sz="2400" dirty="0"/>
              </a:p>
              <a:p>
                <a:pPr marL="0" lvl="0" indent="0">
                  <a:buNone/>
                </a:pPr>
                <a:endParaRPr lang="en-GB" sz="2400" noProof="0" dirty="0"/>
              </a:p>
              <a:p>
                <a:pPr marL="0" lvl="0" indent="0">
                  <a:buNone/>
                </a:pPr>
                <a:endParaRPr lang="en-GB" sz="2400" noProof="0" dirty="0"/>
              </a:p>
              <a:p>
                <a:pPr marL="0" indent="0">
                  <a:buNone/>
                </a:pPr>
                <a:r>
                  <a:rPr lang="en-GB" sz="2400" dirty="0"/>
                  <a:t>Note, that the alternative hypothesis is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a:latin typeface="Cambria Math" panose="02040503050406030204" pitchFamily="18" charset="0"/>
                      </a:rPr>
                      <m:t>&gt;</m:t>
                    </m:r>
                    <m:r>
                      <a:rPr lang="en-GB" sz="2400" i="1">
                        <a:latin typeface="Cambria Math" panose="02040503050406030204" pitchFamily="18" charset="0"/>
                      </a:rPr>
                      <m:t>0</m:t>
                    </m:r>
                  </m:oMath>
                </a14:m>
                <a:r>
                  <a:rPr lang="en-GB" sz="2400" dirty="0"/>
                  <a:t> not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smtClean="0">
                        <a:latin typeface="Cambria Math" panose="02040503050406030204" pitchFamily="18" charset="0"/>
                        <a:ea typeface="Cambria Math" panose="02040503050406030204" pitchFamily="18" charset="0"/>
                      </a:rPr>
                      <m:t>≠</m:t>
                    </m:r>
                    <m:r>
                      <a:rPr lang="en-GB" sz="2400" i="1">
                        <a:latin typeface="Cambria Math" panose="02040503050406030204" pitchFamily="18" charset="0"/>
                      </a:rPr>
                      <m:t>0</m:t>
                    </m:r>
                  </m:oMath>
                </a14:m>
                <a:r>
                  <a:rPr lang="en-GB" sz="2400" dirty="0"/>
                  <a:t>, because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oMath>
                </a14:m>
                <a:r>
                  <a:rPr lang="en-GB" sz="2400" dirty="0"/>
                  <a:t> cannot be negative.</a:t>
                </a:r>
              </a:p>
              <a:p>
                <a:pPr marL="0" indent="0">
                  <a:buNone/>
                </a:pPr>
                <a:r>
                  <a:rPr lang="en-GB" sz="2400" dirty="0"/>
                  <a:t> </a:t>
                </a:r>
              </a:p>
              <a:p>
                <a:pPr marL="0" indent="0">
                  <a:buNone/>
                </a:pPr>
                <a:endParaRPr lang="en-GB" sz="2400" dirty="0"/>
              </a:p>
              <a:p>
                <a:pPr marL="0" lvl="0" indent="0">
                  <a:buNone/>
                </a:pPr>
                <a:endParaRPr lang="en-GB" sz="2400" noProof="0" dirty="0"/>
              </a:p>
            </p:txBody>
          </p:sp>
        </mc:Choice>
        <mc:Fallback>
          <p:sp>
            <p:nvSpPr>
              <p:cNvPr id="3" name="Text Placeholder 2">
                <a:extLst>
                  <a:ext uri="{FF2B5EF4-FFF2-40B4-BE49-F238E27FC236}">
                    <a16:creationId xmlns:a16="http://schemas.microsoft.com/office/drawing/2014/main" id="{11AE3749-C193-AFFB-7425-2CE757DF7B40}"/>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a:stretch>
              </a:blipFill>
            </p:spPr>
            <p:txBody>
              <a:bodyPr/>
              <a:lstStyle/>
              <a:p>
                <a:r>
                  <a:rPr lang="en-GB">
                    <a:noFill/>
                  </a:rPr>
                  <a:t> </a:t>
                </a:r>
              </a:p>
            </p:txBody>
          </p:sp>
        </mc:Fallback>
      </mc:AlternateContent>
    </p:spTree>
    <p:extLst>
      <p:ext uri="{BB962C8B-B14F-4D97-AF65-F5344CB8AC3E}">
        <p14:creationId xmlns:p14="http://schemas.microsoft.com/office/powerpoint/2010/main" val="3246232534"/>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EAAE-1B9D-CD84-D1C2-DCA1F3360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6174B-2BB0-8AEF-7E5F-3D8161F18552}"/>
              </a:ext>
            </a:extLst>
          </p:cNvPr>
          <p:cNvSpPr>
            <a:spLocks noGrp="1"/>
          </p:cNvSpPr>
          <p:nvPr>
            <p:ph type="title"/>
          </p:nvPr>
        </p:nvSpPr>
        <p:spPr/>
        <p:txBody>
          <a:bodyPr>
            <a:normAutofit fontScale="90000"/>
          </a:bodyPr>
          <a:lstStyle/>
          <a:p>
            <a:r>
              <a:rPr lang="en-GB" altLang="en-US" dirty="0"/>
              <a:t>Testing the overall model significance: </a:t>
            </a:r>
            <a:r>
              <a:rPr lang="en-GB" altLang="en-US" i="1" dirty="0"/>
              <a:t>F</a:t>
            </a:r>
            <a:r>
              <a:rPr lang="en-GB" altLang="en-US" dirty="0"/>
              <a:t> test</a:t>
            </a:r>
            <a:br>
              <a:rPr lang="en-GB" noProof="0" dirty="0"/>
            </a:b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5A5E573-B575-62A7-25DB-4A20CB96293C}"/>
                  </a:ext>
                </a:extLst>
              </p:cNvPr>
              <p:cNvSpPr>
                <a:spLocks noGrp="1"/>
              </p:cNvSpPr>
              <p:nvPr>
                <p:ph type="body" sz="quarter" idx="11"/>
              </p:nvPr>
            </p:nvSpPr>
            <p:spPr>
              <a:xfrm>
                <a:off x="900112" y="1700213"/>
                <a:ext cx="7632327" cy="5157787"/>
              </a:xfrm>
            </p:spPr>
            <p:txBody>
              <a:bodyPr/>
              <a:lstStyle/>
              <a:p>
                <a:pPr>
                  <a:buFont typeface="+mj-lt"/>
                  <a:buAutoNum type="arabicPeriod" startAt="2"/>
                </a:pPr>
                <a:r>
                  <a:rPr lang="en-GB" sz="2400" dirty="0"/>
                  <a:t> Compute a </a:t>
                </a:r>
                <a:r>
                  <a:rPr lang="en-GB" sz="2400" dirty="0">
                    <a:solidFill>
                      <a:srgbClr val="FF0000"/>
                    </a:solidFill>
                  </a:rPr>
                  <a:t>test statistic </a:t>
                </a:r>
                <a:r>
                  <a:rPr lang="en-GB" sz="2400" dirty="0"/>
                  <a:t>from the sample data:</a:t>
                </a:r>
              </a:p>
              <a:p>
                <a:pPr>
                  <a:buFont typeface="+mj-lt"/>
                  <a:buAutoNum type="arabicPeriod" startAt="2"/>
                </a:pPr>
                <a:endParaRPr lang="en-GB" sz="2400" dirty="0"/>
              </a:p>
              <a:p>
                <a:pPr marL="0" indent="0">
                  <a:buNone/>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rPr>
                        <m:t>𝐹</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f>
                            <m:fPr>
                              <m:type m:val="lin"/>
                              <m:ctrlPr>
                                <a:rPr lang="en-GB" sz="2400" b="0" i="1" smtClean="0">
                                  <a:latin typeface="Cambria Math" panose="02040503050406030204" pitchFamily="18" charset="0"/>
                                </a:rPr>
                              </m:ctrlPr>
                            </m:fPr>
                            <m:num>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𝑅</m:t>
                                  </m:r>
                                </m:e>
                                <m:sup>
                                  <m:r>
                                    <a:rPr lang="en-GB" sz="2400" b="0" i="1" smtClean="0">
                                      <a:latin typeface="Cambria Math" panose="02040503050406030204" pitchFamily="18" charset="0"/>
                                    </a:rPr>
                                    <m:t>2</m:t>
                                  </m:r>
                                </m:sup>
                              </m:sSup>
                            </m:num>
                            <m:den>
                              <m:r>
                                <a:rPr lang="en-GB" sz="2400" b="0" i="1" smtClean="0">
                                  <a:latin typeface="Cambria Math" panose="02040503050406030204" pitchFamily="18" charset="0"/>
                                </a:rPr>
                                <m:t>(</m:t>
                              </m:r>
                              <m:r>
                                <a:rPr lang="en-GB" sz="2400" b="0" i="1" smtClean="0">
                                  <a:latin typeface="Cambria Math" panose="02040503050406030204" pitchFamily="18" charset="0"/>
                                </a:rPr>
                                <m:t>𝑘</m:t>
                              </m:r>
                              <m:r>
                                <a:rPr lang="en-GB" sz="2400" b="0" i="1" smtClean="0">
                                  <a:latin typeface="Cambria Math" panose="02040503050406030204" pitchFamily="18" charset="0"/>
                                </a:rPr>
                                <m:t>−1)</m:t>
                              </m:r>
                            </m:den>
                          </m:f>
                        </m:num>
                        <m:den>
                          <m:f>
                            <m:fPr>
                              <m:type m:val="lin"/>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𝑅</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num>
                            <m:den>
                              <m:r>
                                <a:rPr lang="en-GB" sz="2400" b="0" i="1" smtClean="0">
                                  <a:latin typeface="Cambria Math" panose="02040503050406030204" pitchFamily="18" charset="0"/>
                                </a:rPr>
                                <m:t>(</m:t>
                              </m:r>
                              <m:r>
                                <a:rPr lang="en-GB" sz="2400" b="0" i="1" smtClean="0">
                                  <a:latin typeface="Cambria Math" panose="02040503050406030204" pitchFamily="18" charset="0"/>
                                </a:rPr>
                                <m:t>𝑛</m:t>
                              </m:r>
                              <m:r>
                                <a:rPr lang="en-GB" sz="2400" b="0" i="1" smtClean="0">
                                  <a:latin typeface="Cambria Math" panose="02040503050406030204" pitchFamily="18" charset="0"/>
                                </a:rPr>
                                <m:t>−</m:t>
                              </m:r>
                              <m:r>
                                <a:rPr lang="en-GB" sz="2400" b="0" i="1" smtClean="0">
                                  <a:latin typeface="Cambria Math" panose="02040503050406030204" pitchFamily="18" charset="0"/>
                                </a:rPr>
                                <m:t>𝑘</m:t>
                              </m:r>
                              <m:r>
                                <a:rPr lang="en-GB" sz="2400" b="0" i="1" smtClean="0">
                                  <a:latin typeface="Cambria Math" panose="02040503050406030204" pitchFamily="18" charset="0"/>
                                </a:rPr>
                                <m:t>)</m:t>
                              </m:r>
                            </m:den>
                          </m:f>
                        </m:den>
                      </m:f>
                    </m:oMath>
                  </m:oMathPara>
                </a14:m>
                <a:endParaRPr lang="en-GB" sz="2400" dirty="0"/>
              </a:p>
              <a:p>
                <a:pPr marL="0" indent="0">
                  <a:buNone/>
                </a:pPr>
                <a:endParaRPr lang="en-GB" sz="2400" dirty="0"/>
              </a:p>
              <a:p>
                <a:pPr marL="0" indent="0">
                  <a:buNone/>
                </a:pPr>
                <a:r>
                  <a:rPr lang="en-GB" sz="2400" dirty="0"/>
                  <a:t>where </a:t>
                </a:r>
                <a:r>
                  <a:rPr lang="en-GB" sz="2400" i="1" dirty="0"/>
                  <a:t>n</a:t>
                </a:r>
                <a:r>
                  <a:rPr lang="en-GB" sz="2400" dirty="0"/>
                  <a:t> is the sample size and </a:t>
                </a:r>
                <a:r>
                  <a:rPr lang="en-GB" sz="2400" i="1" dirty="0"/>
                  <a:t>k</a:t>
                </a:r>
                <a:r>
                  <a:rPr lang="en-GB" sz="2400" dirty="0"/>
                  <a:t> the number of coefficients in the model.</a:t>
                </a:r>
              </a:p>
              <a:p>
                <a:pPr marL="0" indent="0">
                  <a:buNone/>
                </a:pPr>
                <a:endParaRPr lang="en-GB" sz="2400" dirty="0"/>
              </a:p>
              <a:p>
                <a:pPr marL="0" indent="0">
                  <a:buNone/>
                </a:pPr>
                <a:r>
                  <a:rPr lang="en-GB" sz="2400" dirty="0"/>
                  <a:t>For the advertisement-sales example:</a:t>
                </a:r>
              </a:p>
              <a:p>
                <a:pPr marL="0" indent="0">
                  <a:buNone/>
                </a:pPr>
                <a14:m>
                  <m:oMathPara xmlns:m="http://schemas.openxmlformats.org/officeDocument/2006/math">
                    <m:oMathParaPr>
                      <m:jc m:val="left"/>
                    </m:oMathParaPr>
                    <m:oMath xmlns:m="http://schemas.openxmlformats.org/officeDocument/2006/math">
                      <m:r>
                        <a:rPr lang="en-GB" sz="2400" i="1">
                          <a:latin typeface="Cambria Math" panose="02040503050406030204" pitchFamily="18" charset="0"/>
                        </a:rPr>
                        <m:t>𝐹</m:t>
                      </m:r>
                      <m:r>
                        <a:rPr lang="en-GB" sz="2400" i="1">
                          <a:latin typeface="Cambria Math" panose="02040503050406030204" pitchFamily="18" charset="0"/>
                        </a:rPr>
                        <m:t>=</m:t>
                      </m:r>
                      <m:f>
                        <m:fPr>
                          <m:ctrlPr>
                            <a:rPr lang="en-GB" sz="2400" i="1">
                              <a:latin typeface="Cambria Math" panose="02040503050406030204" pitchFamily="18" charset="0"/>
                            </a:rPr>
                          </m:ctrlPr>
                        </m:fPr>
                        <m:num>
                          <m:f>
                            <m:fPr>
                              <m:type m:val="lin"/>
                              <m:ctrlPr>
                                <a:rPr lang="en-GB" sz="2400" i="1">
                                  <a:latin typeface="Cambria Math" panose="02040503050406030204" pitchFamily="18" charset="0"/>
                                </a:rPr>
                              </m:ctrlPr>
                            </m:fPr>
                            <m:num>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num>
                            <m:den>
                              <m:r>
                                <a:rPr lang="en-GB" sz="2400" i="1">
                                  <a:latin typeface="Cambria Math" panose="02040503050406030204" pitchFamily="18" charset="0"/>
                                </a:rPr>
                                <m:t>(</m:t>
                              </m:r>
                              <m:r>
                                <a:rPr lang="en-GB" sz="2400" i="1">
                                  <a:latin typeface="Cambria Math" panose="02040503050406030204" pitchFamily="18" charset="0"/>
                                </a:rPr>
                                <m:t>𝑘</m:t>
                              </m:r>
                              <m:r>
                                <a:rPr lang="en-GB" sz="2400" i="1">
                                  <a:latin typeface="Cambria Math" panose="02040503050406030204" pitchFamily="18" charset="0"/>
                                </a:rPr>
                                <m:t>−1)</m:t>
                              </m:r>
                            </m:den>
                          </m:f>
                        </m:num>
                        <m:den>
                          <m:f>
                            <m:fPr>
                              <m:type m:val="lin"/>
                              <m:ctrlPr>
                                <a:rPr lang="en-GB" sz="2400" i="1">
                                  <a:latin typeface="Cambria Math" panose="02040503050406030204" pitchFamily="18" charset="0"/>
                                </a:rPr>
                              </m:ctrlPr>
                            </m:fPr>
                            <m:num>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𝑅</m:t>
                                  </m:r>
                                </m:e>
                                <m:sup>
                                  <m:r>
                                    <a:rPr lang="en-GB" sz="2400" i="1">
                                      <a:latin typeface="Cambria Math" panose="02040503050406030204" pitchFamily="18" charset="0"/>
                                    </a:rPr>
                                    <m:t>2</m:t>
                                  </m:r>
                                </m:sup>
                              </m:sSup>
                              <m:r>
                                <a:rPr lang="en-GB" sz="2400" i="1">
                                  <a:latin typeface="Cambria Math" panose="02040503050406030204" pitchFamily="18" charset="0"/>
                                </a:rPr>
                                <m:t>)</m:t>
                              </m:r>
                            </m:num>
                            <m:den>
                              <m:r>
                                <a:rPr lang="en-GB" sz="2400" i="1">
                                  <a:latin typeface="Cambria Math" panose="02040503050406030204" pitchFamily="18" charset="0"/>
                                </a:rPr>
                                <m:t>(</m:t>
                              </m:r>
                              <m:r>
                                <a:rPr lang="en-GB" sz="2400" i="1">
                                  <a:latin typeface="Cambria Math" panose="02040503050406030204" pitchFamily="18" charset="0"/>
                                </a:rPr>
                                <m:t>𝑛</m:t>
                              </m:r>
                              <m:r>
                                <a:rPr lang="en-GB" sz="2400" i="1">
                                  <a:latin typeface="Cambria Math" panose="02040503050406030204" pitchFamily="18" charset="0"/>
                                </a:rPr>
                                <m:t>−</m:t>
                              </m:r>
                              <m:r>
                                <a:rPr lang="en-GB" sz="2400" i="1">
                                  <a:latin typeface="Cambria Math" panose="02040503050406030204" pitchFamily="18" charset="0"/>
                                </a:rPr>
                                <m:t>𝑘</m:t>
                              </m:r>
                              <m:r>
                                <a:rPr lang="en-GB" sz="2400" i="1">
                                  <a:latin typeface="Cambria Math" panose="02040503050406030204" pitchFamily="18" charset="0"/>
                                </a:rPr>
                                <m:t>)</m:t>
                              </m:r>
                            </m:den>
                          </m:f>
                        </m:den>
                      </m:f>
                      <m:r>
                        <a:rPr lang="en-GB" sz="2400" b="0" i="1" smtClean="0">
                          <a:latin typeface="Cambria Math" panose="02040503050406030204" pitchFamily="18" charset="0"/>
                        </a:rPr>
                        <m:t>=</m:t>
                      </m:r>
                      <m:f>
                        <m:fPr>
                          <m:ctrlPr>
                            <a:rPr lang="en-GB" sz="2400" i="1">
                              <a:latin typeface="Cambria Math" panose="02040503050406030204" pitchFamily="18" charset="0"/>
                            </a:rPr>
                          </m:ctrlPr>
                        </m:fPr>
                        <m:num>
                          <m:f>
                            <m:fPr>
                              <m:type m:val="lin"/>
                              <m:ctrlPr>
                                <a:rPr lang="en-GB" sz="2400" i="1">
                                  <a:latin typeface="Cambria Math" panose="02040503050406030204" pitchFamily="18" charset="0"/>
                                </a:rPr>
                              </m:ctrlPr>
                            </m:fPr>
                            <m:num>
                              <m:r>
                                <a:rPr lang="en-GB" sz="2400" b="0" i="1" smtClean="0">
                                  <a:latin typeface="Cambria Math" panose="02040503050406030204" pitchFamily="18" charset="0"/>
                                </a:rPr>
                                <m:t>0.851</m:t>
                              </m:r>
                            </m:num>
                            <m:den>
                              <m:r>
                                <a:rPr lang="en-GB" sz="2400" i="1">
                                  <a:latin typeface="Cambria Math" panose="02040503050406030204" pitchFamily="18" charset="0"/>
                                </a:rPr>
                                <m:t>(</m:t>
                              </m:r>
                              <m:r>
                                <a:rPr lang="en-GB" sz="2400" b="0" i="1" smtClean="0">
                                  <a:latin typeface="Cambria Math" panose="02040503050406030204" pitchFamily="18" charset="0"/>
                                </a:rPr>
                                <m:t>2</m:t>
                              </m:r>
                              <m:r>
                                <a:rPr lang="en-GB" sz="2400" i="1">
                                  <a:latin typeface="Cambria Math" panose="02040503050406030204" pitchFamily="18" charset="0"/>
                                </a:rPr>
                                <m:t>−1)</m:t>
                              </m:r>
                            </m:den>
                          </m:f>
                        </m:num>
                        <m:den>
                          <m:f>
                            <m:fPr>
                              <m:type m:val="lin"/>
                              <m:ctrlPr>
                                <a:rPr lang="en-GB" sz="2400" i="1">
                                  <a:latin typeface="Cambria Math" panose="02040503050406030204" pitchFamily="18" charset="0"/>
                                </a:rPr>
                              </m:ctrlPr>
                            </m:fPr>
                            <m:num>
                              <m:r>
                                <a:rPr lang="en-GB" sz="2400" i="1">
                                  <a:latin typeface="Cambria Math" panose="02040503050406030204" pitchFamily="18" charset="0"/>
                                </a:rPr>
                                <m:t>(1−</m:t>
                              </m:r>
                              <m:r>
                                <a:rPr lang="en-GB" sz="2400" b="0" i="1" smtClean="0">
                                  <a:latin typeface="Cambria Math" panose="02040503050406030204" pitchFamily="18" charset="0"/>
                                </a:rPr>
                                <m:t>0.851</m:t>
                              </m:r>
                              <m:r>
                                <a:rPr lang="en-GB" sz="2400" i="1">
                                  <a:latin typeface="Cambria Math" panose="02040503050406030204" pitchFamily="18" charset="0"/>
                                </a:rPr>
                                <m:t>)</m:t>
                              </m:r>
                            </m:num>
                            <m:den>
                              <m:r>
                                <a:rPr lang="en-GB" sz="2400" i="1">
                                  <a:latin typeface="Cambria Math" panose="02040503050406030204" pitchFamily="18" charset="0"/>
                                </a:rPr>
                                <m:t>(</m:t>
                              </m:r>
                              <m:r>
                                <a:rPr lang="en-GB" sz="2400" b="0" i="1" smtClean="0">
                                  <a:latin typeface="Cambria Math" panose="02040503050406030204" pitchFamily="18" charset="0"/>
                                </a:rPr>
                                <m:t>10</m:t>
                              </m:r>
                              <m:r>
                                <a:rPr lang="en-GB" sz="2400" i="1">
                                  <a:latin typeface="Cambria Math" panose="02040503050406030204" pitchFamily="18" charset="0"/>
                                </a:rPr>
                                <m:t>−</m:t>
                              </m:r>
                              <m:r>
                                <a:rPr lang="en-GB" sz="2400" b="0" i="1" smtClean="0">
                                  <a:latin typeface="Cambria Math" panose="02040503050406030204" pitchFamily="18" charset="0"/>
                                </a:rPr>
                                <m:t>2</m:t>
                              </m:r>
                              <m:r>
                                <a:rPr lang="en-GB" sz="2400" i="1">
                                  <a:latin typeface="Cambria Math" panose="02040503050406030204" pitchFamily="18" charset="0"/>
                                </a:rPr>
                                <m:t>)</m:t>
                              </m:r>
                            </m:den>
                          </m:f>
                        </m:den>
                      </m:f>
                      <m:r>
                        <a:rPr lang="en-GB" sz="2400" b="0" i="1" smtClean="0">
                          <a:latin typeface="Cambria Math" panose="02040503050406030204" pitchFamily="18" charset="0"/>
                        </a:rPr>
                        <m:t>=45.69</m:t>
                      </m:r>
                    </m:oMath>
                  </m:oMathPara>
                </a14:m>
                <a:endParaRPr lang="en-GB" sz="2400" dirty="0"/>
              </a:p>
              <a:p>
                <a:pPr marL="0" lvl="0" indent="0">
                  <a:buNone/>
                </a:pPr>
                <a:endParaRPr lang="en-GB" sz="2400" noProof="0" dirty="0"/>
              </a:p>
            </p:txBody>
          </p:sp>
        </mc:Choice>
        <mc:Fallback>
          <p:sp>
            <p:nvSpPr>
              <p:cNvPr id="3" name="Text Placeholder 2">
                <a:extLst>
                  <a:ext uri="{FF2B5EF4-FFF2-40B4-BE49-F238E27FC236}">
                    <a16:creationId xmlns:a16="http://schemas.microsoft.com/office/drawing/2014/main" id="{55A5E573-B575-62A7-25DB-4A20CB96293C}"/>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r="-2157"/>
                </a:stretch>
              </a:blipFill>
            </p:spPr>
            <p:txBody>
              <a:bodyPr/>
              <a:lstStyle/>
              <a:p>
                <a:r>
                  <a:rPr lang="en-GB">
                    <a:noFill/>
                  </a:rPr>
                  <a:t> </a:t>
                </a:r>
              </a:p>
            </p:txBody>
          </p:sp>
        </mc:Fallback>
      </mc:AlternateContent>
    </p:spTree>
    <p:extLst>
      <p:ext uri="{BB962C8B-B14F-4D97-AF65-F5344CB8AC3E}">
        <p14:creationId xmlns:p14="http://schemas.microsoft.com/office/powerpoint/2010/main" val="3870569693"/>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8BD81-29F3-3A60-202A-06A9F9E4E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FF0B9-D77E-A62B-AB2D-02638C21C63E}"/>
              </a:ext>
            </a:extLst>
          </p:cNvPr>
          <p:cNvSpPr>
            <a:spLocks noGrp="1"/>
          </p:cNvSpPr>
          <p:nvPr>
            <p:ph type="title"/>
          </p:nvPr>
        </p:nvSpPr>
        <p:spPr/>
        <p:txBody>
          <a:bodyPr>
            <a:normAutofit fontScale="90000"/>
          </a:bodyPr>
          <a:lstStyle/>
          <a:p>
            <a:r>
              <a:rPr lang="en-GB" altLang="en-US" dirty="0"/>
              <a:t>Testing the overall model significance: </a:t>
            </a:r>
            <a:r>
              <a:rPr lang="en-GB" altLang="en-US" i="1" dirty="0"/>
              <a:t>F</a:t>
            </a:r>
            <a:r>
              <a:rPr lang="en-GB" altLang="en-US" dirty="0"/>
              <a:t> test</a:t>
            </a:r>
            <a:br>
              <a:rPr lang="en-GB" noProof="0" dirty="0"/>
            </a:b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37396BE-2BB4-8CB7-4F19-FD51BA230DE7}"/>
                  </a:ext>
                </a:extLst>
              </p:cNvPr>
              <p:cNvSpPr>
                <a:spLocks noGrp="1"/>
              </p:cNvSpPr>
              <p:nvPr>
                <p:ph type="body" sz="quarter" idx="11"/>
              </p:nvPr>
            </p:nvSpPr>
            <p:spPr>
              <a:xfrm>
                <a:off x="900112" y="1700213"/>
                <a:ext cx="7632327" cy="5157787"/>
              </a:xfrm>
            </p:spPr>
            <p:txBody>
              <a:bodyPr/>
              <a:lstStyle/>
              <a:p>
                <a:pPr>
                  <a:buFont typeface="+mj-lt"/>
                  <a:buAutoNum type="arabicPeriod" startAt="3"/>
                </a:pPr>
                <a:r>
                  <a:rPr lang="en-GB" sz="2400" dirty="0"/>
                  <a:t>Look up a </a:t>
                </a:r>
                <a:r>
                  <a:rPr lang="en-GB" sz="2400" dirty="0">
                    <a:solidFill>
                      <a:srgbClr val="FF0000"/>
                    </a:solidFill>
                  </a:rPr>
                  <a:t>critical value </a:t>
                </a:r>
                <a14:m>
                  <m:oMath xmlns:m="http://schemas.openxmlformats.org/officeDocument/2006/math">
                    <m:sSup>
                      <m:sSupPr>
                        <m:ctrlPr>
                          <a:rPr lang="en-GB" sz="2400" i="1">
                            <a:latin typeface="Cambria Math" panose="02040503050406030204" pitchFamily="18" charset="0"/>
                          </a:rPr>
                        </m:ctrlPr>
                      </m:sSupPr>
                      <m:e>
                        <m:r>
                          <a:rPr lang="en-GB" sz="2400" b="0" i="1" smtClean="0">
                            <a:latin typeface="Cambria Math" panose="02040503050406030204" pitchFamily="18" charset="0"/>
                          </a:rPr>
                          <m:t>𝐹</m:t>
                        </m:r>
                      </m:e>
                      <m:sup>
                        <m:r>
                          <a:rPr lang="en-GB" sz="2400" i="1">
                            <a:latin typeface="Cambria Math" panose="02040503050406030204" pitchFamily="18" charset="0"/>
                          </a:rPr>
                          <m:t>∗</m:t>
                        </m:r>
                      </m:sup>
                    </m:sSup>
                  </m:oMath>
                </a14:m>
                <a:r>
                  <a:rPr lang="en-GB" sz="2400" dirty="0"/>
                  <a:t> in a statistical table.</a:t>
                </a:r>
              </a:p>
              <a:p>
                <a:pPr marL="0" indent="0">
                  <a:buNone/>
                </a:pPr>
                <a:endParaRPr lang="en-GB" sz="2400" dirty="0"/>
              </a:p>
              <a:p>
                <a:pPr marL="342900" indent="-342900">
                  <a:buFont typeface="Arial" panose="020B0604020202020204" pitchFamily="34" charset="0"/>
                  <a:buChar char="•"/>
                </a:pPr>
                <a:r>
                  <a:rPr lang="en-GB" sz="2400" dirty="0"/>
                  <a:t>The test statistic follows  </a:t>
                </a:r>
                <a14:m>
                  <m:oMath xmlns:m="http://schemas.openxmlformats.org/officeDocument/2006/math">
                    <m:r>
                      <a:rPr lang="en-GB" sz="2400" b="0" i="1" smtClean="0">
                        <a:latin typeface="Cambria Math" panose="02040503050406030204" pitchFamily="18" charset="0"/>
                      </a:rPr>
                      <m:t>𝐹</m:t>
                    </m:r>
                    <m:r>
                      <a:rPr lang="en-GB" sz="2400" b="0" i="1" smtClean="0">
                        <a:latin typeface="Cambria Math" panose="02040503050406030204" pitchFamily="18" charset="0"/>
                      </a:rPr>
                      <m:t>(</m:t>
                    </m:r>
                    <m:r>
                      <a:rPr lang="en-GB" sz="2400" b="0" i="1" smtClean="0">
                        <a:solidFill>
                          <a:srgbClr val="00B050"/>
                        </a:solidFill>
                        <a:latin typeface="Cambria Math" panose="02040503050406030204" pitchFamily="18" charset="0"/>
                      </a:rPr>
                      <m:t>𝑘</m:t>
                    </m:r>
                    <m:r>
                      <a:rPr lang="en-GB" sz="2400" b="0" i="1" smtClean="0">
                        <a:solidFill>
                          <a:srgbClr val="00B050"/>
                        </a:solidFill>
                        <a:latin typeface="Cambria Math" panose="02040503050406030204" pitchFamily="18" charset="0"/>
                      </a:rPr>
                      <m:t>−1, </m:t>
                    </m:r>
                    <m:r>
                      <a:rPr lang="en-GB" sz="2400" b="0" i="1" smtClean="0">
                        <a:solidFill>
                          <a:schemeClr val="accent5">
                            <a:lumMod val="75000"/>
                          </a:schemeClr>
                        </a:solidFill>
                        <a:latin typeface="Cambria Math" panose="02040503050406030204" pitchFamily="18" charset="0"/>
                      </a:rPr>
                      <m:t>𝑛</m:t>
                    </m:r>
                    <m:r>
                      <a:rPr lang="en-GB" sz="2400" b="0" i="1" smtClean="0">
                        <a:solidFill>
                          <a:schemeClr val="accent5">
                            <a:lumMod val="75000"/>
                          </a:schemeClr>
                        </a:solidFill>
                        <a:latin typeface="Cambria Math" panose="02040503050406030204" pitchFamily="18" charset="0"/>
                      </a:rPr>
                      <m:t>−</m:t>
                    </m:r>
                    <m:r>
                      <a:rPr lang="en-GB" sz="2400" b="0" i="1" smtClean="0">
                        <a:solidFill>
                          <a:schemeClr val="accent5">
                            <a:lumMod val="75000"/>
                          </a:schemeClr>
                        </a:solidFill>
                        <a:latin typeface="Cambria Math" panose="02040503050406030204" pitchFamily="18" charset="0"/>
                      </a:rPr>
                      <m:t>𝑘</m:t>
                    </m:r>
                    <m:r>
                      <a:rPr lang="en-GB" sz="2400" b="0" i="1" smtClean="0">
                        <a:latin typeface="Cambria Math" panose="02040503050406030204" pitchFamily="18" charset="0"/>
                      </a:rPr>
                      <m:t>)</m:t>
                    </m:r>
                  </m:oMath>
                </a14:m>
                <a:r>
                  <a:rPr lang="en-GB" sz="2400" dirty="0"/>
                  <a:t>.</a:t>
                </a:r>
              </a:p>
              <a:p>
                <a:pPr marL="342900" indent="-342900">
                  <a:buFont typeface="Arial" panose="020B0604020202020204" pitchFamily="34" charset="0"/>
                  <a:buChar char="•"/>
                </a:pPr>
                <a:r>
                  <a:rPr lang="en-GB" sz="2400" dirty="0"/>
                  <a:t>In the </a:t>
                </a:r>
                <a:r>
                  <a:rPr lang="en-GB" sz="2400" i="1" dirty="0"/>
                  <a:t>F-</a:t>
                </a:r>
                <a:r>
                  <a:rPr lang="en-GB" sz="2400" dirty="0"/>
                  <a:t>distribution table we need </a:t>
                </a:r>
                <a:r>
                  <a:rPr lang="en-GB" sz="2400" dirty="0">
                    <a:solidFill>
                      <a:srgbClr val="00B050"/>
                    </a:solidFill>
                  </a:rPr>
                  <a:t>degree of freedom numerator</a:t>
                </a:r>
                <a:r>
                  <a:rPr lang="en-GB" sz="2400" dirty="0"/>
                  <a:t> and </a:t>
                </a:r>
                <a:r>
                  <a:rPr lang="en-GB" sz="2400" dirty="0">
                    <a:solidFill>
                      <a:schemeClr val="accent5">
                        <a:lumMod val="75000"/>
                      </a:schemeClr>
                    </a:solidFill>
                  </a:rPr>
                  <a:t>degree of freedom denominator</a:t>
                </a:r>
                <a:r>
                  <a:rPr lang="en-GB" sz="2400" dirty="0"/>
                  <a:t>.</a:t>
                </a:r>
              </a:p>
              <a:p>
                <a:pPr marL="342900" indent="-342900">
                  <a:buFont typeface="Arial" panose="020B0604020202020204" pitchFamily="34" charset="0"/>
                  <a:buChar char="•"/>
                </a:pPr>
                <a:r>
                  <a:rPr lang="en-GB" sz="2400" dirty="0"/>
                  <a:t>The rejection area is always one-sided and in the right tail.</a:t>
                </a:r>
              </a:p>
              <a:p>
                <a:pPr marL="342900" lvl="0" indent="-342900">
                  <a:buFont typeface="Arial" panose="020B0604020202020204" pitchFamily="34" charset="0"/>
                  <a:buChar char="•"/>
                </a:pPr>
                <a:r>
                  <a:rPr lang="en-GB" sz="2400" dirty="0"/>
                  <a:t>A usual significance level is 5%. </a:t>
                </a:r>
              </a:p>
              <a:p>
                <a:pPr marL="0" indent="0">
                  <a:buNone/>
                </a:pPr>
                <a:endParaRPr lang="en-GB" sz="2400" dirty="0"/>
              </a:p>
              <a:p>
                <a:pPr marL="0" indent="0">
                  <a:buNone/>
                </a:pPr>
                <a:r>
                  <a:rPr lang="en-GB" sz="2400" dirty="0"/>
                  <a:t>For the advertisement-sales example:</a:t>
                </a:r>
              </a:p>
              <a:p>
                <a:pPr marL="0" indent="0">
                  <a:buNone/>
                </a:pPr>
                <a14:m>
                  <m:oMathPara xmlns:m="http://schemas.openxmlformats.org/officeDocument/2006/math">
                    <m:oMathParaPr>
                      <m:jc m:val="left"/>
                    </m:oMathParaPr>
                    <m:oMath xmlns:m="http://schemas.openxmlformats.org/officeDocument/2006/math">
                      <m:r>
                        <a:rPr lang="en-GB" sz="2400" i="1">
                          <a:latin typeface="Cambria Math" panose="02040503050406030204" pitchFamily="18" charset="0"/>
                        </a:rPr>
                        <m:t>𝐹</m:t>
                      </m:r>
                      <m:d>
                        <m:dPr>
                          <m:ctrlPr>
                            <a:rPr lang="en-GB" sz="2400" i="1">
                              <a:latin typeface="Cambria Math" panose="02040503050406030204" pitchFamily="18" charset="0"/>
                            </a:rPr>
                          </m:ctrlPr>
                        </m:dPr>
                        <m:e>
                          <m:r>
                            <a:rPr lang="en-GB" sz="2400" b="0" i="1" smtClean="0">
                              <a:latin typeface="Cambria Math" panose="02040503050406030204" pitchFamily="18" charset="0"/>
                            </a:rPr>
                            <m:t>2−1, 10−2</m:t>
                          </m:r>
                        </m:e>
                      </m:d>
                      <m:r>
                        <a:rPr lang="en-GB" sz="2400" b="0" i="1" smtClean="0">
                          <a:latin typeface="Cambria Math" panose="02040503050406030204" pitchFamily="18" charset="0"/>
                        </a:rPr>
                        <m:t>=</m:t>
                      </m:r>
                      <m:r>
                        <a:rPr lang="en-GB" sz="2400" i="1">
                          <a:latin typeface="Cambria Math" panose="02040503050406030204" pitchFamily="18" charset="0"/>
                        </a:rPr>
                        <m:t>𝐹</m:t>
                      </m:r>
                      <m:d>
                        <m:dPr>
                          <m:ctrlPr>
                            <a:rPr lang="en-GB" sz="2400" i="1">
                              <a:latin typeface="Cambria Math" panose="02040503050406030204" pitchFamily="18" charset="0"/>
                            </a:rPr>
                          </m:ctrlPr>
                        </m:dPr>
                        <m:e>
                          <m:r>
                            <a:rPr lang="en-GB" sz="2400" b="0" i="1" smtClean="0">
                              <a:latin typeface="Cambria Math" panose="02040503050406030204" pitchFamily="18" charset="0"/>
                            </a:rPr>
                            <m:t>1, 8</m:t>
                          </m:r>
                        </m:e>
                      </m:d>
                      <m:r>
                        <a:rPr lang="en-GB" sz="2400" b="0" i="1" smtClean="0">
                          <a:latin typeface="Cambria Math" panose="02040503050406030204" pitchFamily="18" charset="0"/>
                        </a:rPr>
                        <m:t>=5.32</m:t>
                      </m:r>
                    </m:oMath>
                  </m:oMathPara>
                </a14:m>
                <a:endParaRPr lang="en-GB" sz="2400" dirty="0"/>
              </a:p>
              <a:p>
                <a:pPr marL="0" indent="0">
                  <a:buNone/>
                </a:pPr>
                <a:endParaRPr lang="en-GB" sz="2400" dirty="0"/>
              </a:p>
              <a:p>
                <a:pPr marL="0" indent="0">
                  <a:buNone/>
                </a:pPr>
                <a:endParaRPr lang="en-GB" sz="2400" noProof="0" dirty="0"/>
              </a:p>
            </p:txBody>
          </p:sp>
        </mc:Choice>
        <mc:Fallback>
          <p:sp>
            <p:nvSpPr>
              <p:cNvPr id="3" name="Text Placeholder 2">
                <a:extLst>
                  <a:ext uri="{FF2B5EF4-FFF2-40B4-BE49-F238E27FC236}">
                    <a16:creationId xmlns:a16="http://schemas.microsoft.com/office/drawing/2014/main" id="{137396BE-2BB4-8CB7-4F19-FD51BA230DE7}"/>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r="-958"/>
                </a:stretch>
              </a:blipFill>
            </p:spPr>
            <p:txBody>
              <a:bodyPr/>
              <a:lstStyle/>
              <a:p>
                <a:r>
                  <a:rPr lang="en-GB">
                    <a:noFill/>
                  </a:rPr>
                  <a:t> </a:t>
                </a:r>
              </a:p>
            </p:txBody>
          </p:sp>
        </mc:Fallback>
      </mc:AlternateContent>
    </p:spTree>
    <p:extLst>
      <p:ext uri="{BB962C8B-B14F-4D97-AF65-F5344CB8AC3E}">
        <p14:creationId xmlns:p14="http://schemas.microsoft.com/office/powerpoint/2010/main" val="4027146981"/>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B0ECF-048E-E7F9-B522-C7905CC55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28C5E-F2FE-EA93-4B52-8A5D20D3C967}"/>
              </a:ext>
            </a:extLst>
          </p:cNvPr>
          <p:cNvSpPr>
            <a:spLocks noGrp="1"/>
          </p:cNvSpPr>
          <p:nvPr>
            <p:ph type="title"/>
          </p:nvPr>
        </p:nvSpPr>
        <p:spPr/>
        <p:txBody>
          <a:bodyPr>
            <a:normAutofit fontScale="90000"/>
          </a:bodyPr>
          <a:lstStyle/>
          <a:p>
            <a:r>
              <a:rPr lang="en-GB" altLang="en-US" dirty="0"/>
              <a:t>Testing the overall model significance: </a:t>
            </a:r>
            <a:r>
              <a:rPr lang="en-GB" altLang="en-US" i="1" dirty="0"/>
              <a:t>F</a:t>
            </a:r>
            <a:r>
              <a:rPr lang="en-GB" altLang="en-US" dirty="0"/>
              <a:t> test</a:t>
            </a:r>
            <a:br>
              <a:rPr lang="en-GB" noProof="0" dirty="0"/>
            </a:b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489D520-7F2D-8277-06C4-73224BA3378C}"/>
                  </a:ext>
                </a:extLst>
              </p:cNvPr>
              <p:cNvSpPr>
                <a:spLocks noGrp="1"/>
              </p:cNvSpPr>
              <p:nvPr>
                <p:ph type="body" sz="quarter" idx="11"/>
              </p:nvPr>
            </p:nvSpPr>
            <p:spPr>
              <a:xfrm>
                <a:off x="900112" y="1700213"/>
                <a:ext cx="7632327" cy="5157787"/>
              </a:xfrm>
            </p:spPr>
            <p:txBody>
              <a:bodyPr/>
              <a:lstStyle/>
              <a:p>
                <a:pPr>
                  <a:buFont typeface="+mj-lt"/>
                  <a:buAutoNum type="arabicPeriod" startAt="4"/>
                </a:pPr>
                <a:r>
                  <a:rPr lang="en-GB" sz="2400" dirty="0">
                    <a:solidFill>
                      <a:srgbClr val="FF0000"/>
                    </a:solidFill>
                  </a:rPr>
                  <a:t>Decision</a:t>
                </a:r>
                <a:r>
                  <a:rPr lang="en-GB" sz="2400" dirty="0"/>
                  <a:t>: Reject the null hypothesis.</a:t>
                </a:r>
              </a:p>
              <a:p>
                <a:pPr marL="0" indent="0">
                  <a:buNone/>
                </a:pPr>
                <a:r>
                  <a:rPr lang="en-GB" sz="2400" dirty="0"/>
                  <a:t>As </a:t>
                </a:r>
                <a14:m>
                  <m:oMath xmlns:m="http://schemas.openxmlformats.org/officeDocument/2006/math">
                    <m:r>
                      <a:rPr lang="en-GB" sz="2400" b="0" i="1" smtClean="0">
                        <a:latin typeface="Cambria Math" panose="02040503050406030204" pitchFamily="18" charset="0"/>
                      </a:rPr>
                      <m:t>𝐹</m:t>
                    </m:r>
                    <m:r>
                      <a:rPr lang="en-GB" sz="2400" i="1">
                        <a:latin typeface="Cambria Math" panose="02040503050406030204" pitchFamily="18" charset="0"/>
                      </a:rPr>
                      <m:t>&gt;</m:t>
                    </m:r>
                    <m:sSup>
                      <m:sSupPr>
                        <m:ctrlPr>
                          <a:rPr lang="en-GB" sz="2400" i="1">
                            <a:latin typeface="Cambria Math" panose="02040503050406030204" pitchFamily="18" charset="0"/>
                          </a:rPr>
                        </m:ctrlPr>
                      </m:sSupPr>
                      <m:e>
                        <m:r>
                          <a:rPr lang="en-GB" sz="2400" b="0" i="1" smtClean="0">
                            <a:latin typeface="Cambria Math" panose="02040503050406030204" pitchFamily="18" charset="0"/>
                          </a:rPr>
                          <m:t>𝐹</m:t>
                        </m:r>
                      </m:e>
                      <m:sup>
                        <m:r>
                          <a:rPr lang="en-GB" sz="2400" i="1">
                            <a:latin typeface="Cambria Math" panose="02040503050406030204" pitchFamily="18" charset="0"/>
                          </a:rPr>
                          <m:t>∗</m:t>
                        </m:r>
                      </m:sup>
                    </m:sSup>
                  </m:oMath>
                </a14:m>
                <a:r>
                  <a:rPr lang="en-GB" sz="2400" dirty="0"/>
                  <a:t> with </a:t>
                </a:r>
                <a14:m>
                  <m:oMath xmlns:m="http://schemas.openxmlformats.org/officeDocument/2006/math">
                    <m:r>
                      <a:rPr lang="en-GB" sz="2400" b="0" i="0" smtClean="0">
                        <a:latin typeface="Cambria Math" panose="02040503050406030204" pitchFamily="18" charset="0"/>
                      </a:rPr>
                      <m:t>45.69</m:t>
                    </m:r>
                    <m:r>
                      <a:rPr lang="en-GB" sz="2400" i="1">
                        <a:latin typeface="Cambria Math" panose="02040503050406030204" pitchFamily="18" charset="0"/>
                      </a:rPr>
                      <m:t>&gt;</m:t>
                    </m:r>
                    <m:r>
                      <a:rPr lang="en-GB" sz="2400" b="0" i="1" smtClean="0">
                        <a:latin typeface="Cambria Math" panose="02040503050406030204" pitchFamily="18" charset="0"/>
                      </a:rPr>
                      <m:t>5.32</m:t>
                    </m:r>
                  </m:oMath>
                </a14:m>
                <a:r>
                  <a:rPr lang="en-GB" sz="2400" dirty="0"/>
                  <a:t> we reject the null hypothesis. The test statistics is larger than the critical value. Hence, the test statistics is in the rejection area. The null is rejected the alternative seems to be true.</a:t>
                </a:r>
              </a:p>
              <a:p>
                <a:pPr marL="0" indent="0">
                  <a:buNone/>
                </a:pPr>
                <a:endParaRPr lang="en-GB" sz="2400" dirty="0"/>
              </a:p>
              <a:p>
                <a:pPr>
                  <a:buFont typeface="+mj-lt"/>
                  <a:buAutoNum type="arabicPeriod" startAt="5"/>
                </a:pPr>
                <a:r>
                  <a:rPr lang="en-GB" sz="2400" dirty="0">
                    <a:solidFill>
                      <a:srgbClr val="FF0000"/>
                    </a:solidFill>
                  </a:rPr>
                  <a:t>Conclusion</a:t>
                </a:r>
              </a:p>
              <a:p>
                <a:pPr marL="0" indent="0">
                  <a:buNone/>
                </a:pPr>
                <a:r>
                  <a:rPr lang="en-GB" sz="2400" dirty="0"/>
                  <a:t>As we reject the null, the model is overall significant, and advertisement can be used to predict sales revenues.</a:t>
                </a:r>
              </a:p>
              <a:p>
                <a:pPr marL="0" indent="0">
                  <a:buNone/>
                </a:pPr>
                <a:endParaRPr lang="en-GB" sz="2400" noProof="0" dirty="0"/>
              </a:p>
            </p:txBody>
          </p:sp>
        </mc:Choice>
        <mc:Fallback>
          <p:sp>
            <p:nvSpPr>
              <p:cNvPr id="3" name="Text Placeholder 2">
                <a:extLst>
                  <a:ext uri="{FF2B5EF4-FFF2-40B4-BE49-F238E27FC236}">
                    <a16:creationId xmlns:a16="http://schemas.microsoft.com/office/drawing/2014/main" id="{5489D520-7F2D-8277-06C4-73224BA3378C}"/>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r="-160"/>
                </a:stretch>
              </a:blipFill>
            </p:spPr>
            <p:txBody>
              <a:bodyPr/>
              <a:lstStyle/>
              <a:p>
                <a:r>
                  <a:rPr lang="en-GB">
                    <a:noFill/>
                  </a:rPr>
                  <a:t> </a:t>
                </a:r>
              </a:p>
            </p:txBody>
          </p:sp>
        </mc:Fallback>
      </mc:AlternateContent>
    </p:spTree>
    <p:extLst>
      <p:ext uri="{BB962C8B-B14F-4D97-AF65-F5344CB8AC3E}">
        <p14:creationId xmlns:p14="http://schemas.microsoft.com/office/powerpoint/2010/main" val="161212559"/>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A002-FBD2-9BE2-5C96-5B493DF87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54F04-DF0F-8DEC-FA2E-230F8E8D66B1}"/>
              </a:ext>
            </a:extLst>
          </p:cNvPr>
          <p:cNvSpPr>
            <a:spLocks noGrp="1"/>
          </p:cNvSpPr>
          <p:nvPr>
            <p:ph type="title"/>
          </p:nvPr>
        </p:nvSpPr>
        <p:spPr/>
        <p:txBody>
          <a:bodyPr>
            <a:normAutofit fontScale="90000"/>
          </a:bodyPr>
          <a:lstStyle/>
          <a:p>
            <a:r>
              <a:rPr lang="en-GB" altLang="en-US" dirty="0"/>
              <a:t>Outlook</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8B115356-29DE-1DE6-6D68-FBF7C333307D}"/>
              </a:ext>
            </a:extLst>
          </p:cNvPr>
          <p:cNvSpPr>
            <a:spLocks noGrp="1"/>
          </p:cNvSpPr>
          <p:nvPr>
            <p:ph type="body" sz="quarter" idx="11"/>
          </p:nvPr>
        </p:nvSpPr>
        <p:spPr>
          <a:xfrm>
            <a:off x="900112" y="1700213"/>
            <a:ext cx="7632327" cy="5157787"/>
          </a:xfrm>
        </p:spPr>
        <p:txBody>
          <a:bodyPr/>
          <a:lstStyle/>
          <a:p>
            <a:pPr marL="342900" indent="-342900">
              <a:buFont typeface="Arial" panose="020B0604020202020204" pitchFamily="34" charset="0"/>
              <a:buChar char="•"/>
            </a:pPr>
            <a:r>
              <a:rPr lang="en-GB" sz="2400" noProof="0" dirty="0"/>
              <a:t>In study year 2, we will do more regression analysis in UMET9W-30-2- Econometric Analysis and Professional Advancement.</a:t>
            </a:r>
          </a:p>
        </p:txBody>
      </p:sp>
    </p:spTree>
    <p:extLst>
      <p:ext uri="{BB962C8B-B14F-4D97-AF65-F5344CB8AC3E}">
        <p14:creationId xmlns:p14="http://schemas.microsoft.com/office/powerpoint/2010/main" val="3807477308"/>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B50C80D3-D9F5-4009-9938-F1B85FF744A3}" vid="{FD532FFD-1352-4344-A026-1EC031F17F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a63ec7c-6655-44e7-8cc1-d1896a7f84b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489C2B03CC9B4B848357AD3FCA0F8D" ma:contentTypeVersion="18" ma:contentTypeDescription="Create a new document." ma:contentTypeScope="" ma:versionID="9c70d1b8ff5784da77d5e8ac5f5ee068">
  <xsd:schema xmlns:xsd="http://www.w3.org/2001/XMLSchema" xmlns:xs="http://www.w3.org/2001/XMLSchema" xmlns:p="http://schemas.microsoft.com/office/2006/metadata/properties" xmlns:ns3="0a63ec7c-6655-44e7-8cc1-d1896a7f84b6" xmlns:ns4="eaad8dcd-1243-433a-a0b1-5eb79d1ccaf5" targetNamespace="http://schemas.microsoft.com/office/2006/metadata/properties" ma:root="true" ma:fieldsID="c3c62d2be93880894511948f698c4aa4" ns3:_="" ns4:_="">
    <xsd:import namespace="0a63ec7c-6655-44e7-8cc1-d1896a7f84b6"/>
    <xsd:import namespace="eaad8dcd-1243-433a-a0b1-5eb79d1cca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3ec7c-6655-44e7-8cc1-d1896a7f84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ad8dcd-1243-433a-a0b1-5eb79d1cca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D2D201-97C8-4E70-BF77-76D11DC8600F}">
  <ds:schemaRef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www.w3.org/XML/1998/namespace"/>
    <ds:schemaRef ds:uri="http://purl.org/dc/elements/1.1/"/>
    <ds:schemaRef ds:uri="eaad8dcd-1243-433a-a0b1-5eb79d1ccaf5"/>
    <ds:schemaRef ds:uri="0a63ec7c-6655-44e7-8cc1-d1896a7f84b6"/>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AFDFFD38-5222-4053-9C14-8FD6BB649E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3ec7c-6655-44e7-8cc1-d1896a7f84b6"/>
    <ds:schemaRef ds:uri="eaad8dcd-1243-433a-a0b1-5eb79d1cca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5552B4-89B5-4F8D-B1E4-E0A34EA58D51}">
  <ds:schemaRefs>
    <ds:schemaRef ds:uri="http://schemas.microsoft.com/sharepoint/v3/contenttype/forms"/>
  </ds:schemaRefs>
</ds:datastoreItem>
</file>

<file path=docMetadata/LabelInfo.xml><?xml version="1.0" encoding="utf-8"?>
<clbl:labelList xmlns:clbl="http://schemas.microsoft.com/office/2020/mipLabelMetadata">
  <clbl:label id="{fc0de803-e079-4d4f-96bc-6f3b3b6923e3}"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UWE Lilac standard</Template>
  <TotalTime>6964</TotalTime>
  <Words>762</Words>
  <Application>Microsoft Office PowerPoint</Application>
  <PresentationFormat>On-screen Show (4:3)</PresentationFormat>
  <Paragraphs>190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 Narrow</vt:lpstr>
      <vt:lpstr>Arial</vt:lpstr>
      <vt:lpstr>Calibri</vt:lpstr>
      <vt:lpstr>Cambria Math</vt:lpstr>
      <vt:lpstr>Courier New</vt:lpstr>
      <vt:lpstr>Georgia</vt:lpstr>
      <vt:lpstr>Tahoma</vt:lpstr>
      <vt:lpstr>Custom Design</vt:lpstr>
      <vt:lpstr>UMET9U-30-1- Professional Skills for Banking and Finance   Lecture 24</vt:lpstr>
      <vt:lpstr>Lecture content</vt:lpstr>
      <vt:lpstr>Coefficient of determination R^2  </vt:lpstr>
      <vt:lpstr>Coefficient of determination R^2  </vt:lpstr>
      <vt:lpstr>Coefficient of determination R^2  </vt:lpstr>
      <vt:lpstr>Coefficient of determination R^2  </vt:lpstr>
      <vt:lpstr>Computation of the R2 value.   </vt:lpstr>
      <vt:lpstr>Interpretation of the R2 value.   </vt:lpstr>
      <vt:lpstr>Testing the overall model significance: F test  </vt:lpstr>
      <vt:lpstr>Testing the overall model significance: F test  </vt:lpstr>
      <vt:lpstr>Testing the overall model significance: F test  </vt:lpstr>
      <vt:lpstr>Testing the overall model significance: F test  </vt:lpstr>
      <vt:lpstr>Testing the overall model significance: F test  </vt:lpstr>
      <vt:lpstr>Outlook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UMED8M-15-2 - Introductory econometrics   Lecture 1</dc:title>
  <dc:creator>Reinhold Heinlein</dc:creator>
  <cp:lastModifiedBy>Reinhold Heinlein</cp:lastModifiedBy>
  <cp:revision>25</cp:revision>
  <cp:lastPrinted>2016-09-22T10:08:48Z</cp:lastPrinted>
  <dcterms:created xsi:type="dcterms:W3CDTF">2021-06-15T10:15:29Z</dcterms:created>
  <dcterms:modified xsi:type="dcterms:W3CDTF">2026-02-17T10:31:44Z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0x01010078489C2B03CC9B4B848357AD3FCA0F8D</vt:lpwstr>
  </property>
</Properties>
</file>