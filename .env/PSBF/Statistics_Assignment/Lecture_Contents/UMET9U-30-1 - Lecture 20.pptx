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21"/>
  </p:notesMasterIdLst>
  <p:handoutMasterIdLst>
    <p:handoutMasterId r:id="rId22"/>
  </p:handoutMasterIdLst>
  <p:sldIdLst>
    <p:sldId id="256" r:id="rId5"/>
    <p:sldId id="258"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71" r:id="rId20"/>
  </p:sldIdLst>
  <p:sldSz cx="9144000" cy="6858000" type="screen4x3"/>
  <p:notesSz cx="9144000" cy="6858000"/>
  <p:custDataLst>
    <p:tags r:id="rId23"/>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4" orient="horz" pos="3838">
          <p15:clr>
            <a:srgbClr val="A4A3A4"/>
          </p15:clr>
        </p15:guide>
        <p15:guide id="5" pos="2880">
          <p15:clr>
            <a:srgbClr val="A4A3A4"/>
          </p15:clr>
        </p15:guide>
        <p15:guide id="7" pos="5103">
          <p15:clr>
            <a:srgbClr val="A4A3A4"/>
          </p15:clr>
        </p15:guide>
        <p15:guide id="12" pos="6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00FF"/>
    <a:srgbClr val="E30613"/>
    <a:srgbClr val="7A7392"/>
    <a:srgbClr val="16818D"/>
    <a:srgbClr val="1A9DAC"/>
    <a:srgbClr val="1C9DAC"/>
    <a:srgbClr val="598752"/>
    <a:srgbClr val="6DA463"/>
    <a:srgbClr val="A65C45"/>
    <a:srgbClr val="CC70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9D9CE9-91AE-4195-9051-D13C2AD923EE}" v="1203" dt="2026-02-06T07:49:49.3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21" autoAdjust="0"/>
    <p:restoredTop sz="86410"/>
  </p:normalViewPr>
  <p:slideViewPr>
    <p:cSldViewPr showGuides="1">
      <p:cViewPr varScale="1">
        <p:scale>
          <a:sx n="111" d="100"/>
          <a:sy n="111" d="100"/>
        </p:scale>
        <p:origin x="1482" y="96"/>
      </p:cViewPr>
      <p:guideLst>
        <p:guide orient="horz" pos="3838"/>
        <p:guide pos="2880"/>
        <p:guide pos="5103"/>
        <p:guide pos="657"/>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106" d="100"/>
          <a:sy n="106" d="100"/>
        </p:scale>
        <p:origin x="196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gs" Target="tags/tag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inhold Heinlein" userId="c5e5d61b-3817-4f51-a712-dcf8bfbff443" providerId="ADAL" clId="{49431ECB-42D2-48D6-9016-5889F3B84DB9}"/>
    <pc:docChg chg="undo custSel addSld delSld modSld">
      <pc:chgData name="Reinhold Heinlein" userId="c5e5d61b-3817-4f51-a712-dcf8bfbff443" providerId="ADAL" clId="{49431ECB-42D2-48D6-9016-5889F3B84DB9}" dt="2026-02-06T07:50:05.726" v="5669" actId="6549"/>
      <pc:docMkLst>
        <pc:docMk/>
      </pc:docMkLst>
      <pc:sldChg chg="modSp mod">
        <pc:chgData name="Reinhold Heinlein" userId="c5e5d61b-3817-4f51-a712-dcf8bfbff443" providerId="ADAL" clId="{49431ECB-42D2-48D6-9016-5889F3B84DB9}" dt="2026-02-02T10:11:13.771" v="3" actId="20577"/>
        <pc:sldMkLst>
          <pc:docMk/>
          <pc:sldMk cId="371339850" sldId="256"/>
        </pc:sldMkLst>
        <pc:spChg chg="mod">
          <ac:chgData name="Reinhold Heinlein" userId="c5e5d61b-3817-4f51-a712-dcf8bfbff443" providerId="ADAL" clId="{49431ECB-42D2-48D6-9016-5889F3B84DB9}" dt="2026-02-02T10:11:13.771" v="3" actId="20577"/>
          <ac:spMkLst>
            <pc:docMk/>
            <pc:sldMk cId="371339850" sldId="256"/>
            <ac:spMk id="2" creationId="{27F129AE-110C-40B7-9DF3-A4A07ADFD71E}"/>
          </ac:spMkLst>
        </pc:spChg>
      </pc:sldChg>
      <pc:sldChg chg="modSp mod">
        <pc:chgData name="Reinhold Heinlein" userId="c5e5d61b-3817-4f51-a712-dcf8bfbff443" providerId="ADAL" clId="{49431ECB-42D2-48D6-9016-5889F3B84DB9}" dt="2026-02-02T10:13:12.249" v="30" actId="20577"/>
        <pc:sldMkLst>
          <pc:docMk/>
          <pc:sldMk cId="2884623810" sldId="258"/>
        </pc:sldMkLst>
        <pc:spChg chg="mod">
          <ac:chgData name="Reinhold Heinlein" userId="c5e5d61b-3817-4f51-a712-dcf8bfbff443" providerId="ADAL" clId="{49431ECB-42D2-48D6-9016-5889F3B84DB9}" dt="2026-02-02T10:13:12.249" v="30" actId="20577"/>
          <ac:spMkLst>
            <pc:docMk/>
            <pc:sldMk cId="2884623810" sldId="258"/>
            <ac:spMk id="3" creationId="{67A63DF7-30A5-4CDB-B2AD-10BDF696FBA6}"/>
          </ac:spMkLst>
        </pc:spChg>
      </pc:sldChg>
      <pc:sldChg chg="modSp add del mod">
        <pc:chgData name="Reinhold Heinlein" userId="c5e5d61b-3817-4f51-a712-dcf8bfbff443" providerId="ADAL" clId="{49431ECB-42D2-48D6-9016-5889F3B84DB9}" dt="2026-02-02T10:13:51.767" v="70" actId="47"/>
        <pc:sldMkLst>
          <pc:docMk/>
          <pc:sldMk cId="1363191569" sldId="271"/>
        </pc:sldMkLst>
        <pc:spChg chg="mod">
          <ac:chgData name="Reinhold Heinlein" userId="c5e5d61b-3817-4f51-a712-dcf8bfbff443" providerId="ADAL" clId="{49431ECB-42D2-48D6-9016-5889F3B84DB9}" dt="2026-02-02T10:13:37.753" v="67" actId="20577"/>
          <ac:spMkLst>
            <pc:docMk/>
            <pc:sldMk cId="1363191569" sldId="271"/>
            <ac:spMk id="3" creationId="{ADEBF03B-6FBE-4B0C-93A0-8DB46AC1EDBD}"/>
          </ac:spMkLst>
        </pc:spChg>
      </pc:sldChg>
      <pc:sldChg chg="modSp add del mod">
        <pc:chgData name="Reinhold Heinlein" userId="c5e5d61b-3817-4f51-a712-dcf8bfbff443" providerId="ADAL" clId="{49431ECB-42D2-48D6-9016-5889F3B84DB9}" dt="2026-02-02T10:22:51.193" v="444" actId="20577"/>
        <pc:sldMkLst>
          <pc:docMk/>
          <pc:sldMk cId="2343749125" sldId="281"/>
        </pc:sldMkLst>
        <pc:spChg chg="mod">
          <ac:chgData name="Reinhold Heinlein" userId="c5e5d61b-3817-4f51-a712-dcf8bfbff443" providerId="ADAL" clId="{49431ECB-42D2-48D6-9016-5889F3B84DB9}" dt="2026-02-02T10:16:06.124" v="124" actId="20577"/>
          <ac:spMkLst>
            <pc:docMk/>
            <pc:sldMk cId="2343749125" sldId="281"/>
            <ac:spMk id="2" creationId="{4DE834CB-FF37-D2CB-E643-50383052CED1}"/>
          </ac:spMkLst>
        </pc:spChg>
        <pc:spChg chg="mod">
          <ac:chgData name="Reinhold Heinlein" userId="c5e5d61b-3817-4f51-a712-dcf8bfbff443" providerId="ADAL" clId="{49431ECB-42D2-48D6-9016-5889F3B84DB9}" dt="2026-02-02T10:22:51.193" v="444" actId="20577"/>
          <ac:spMkLst>
            <pc:docMk/>
            <pc:sldMk cId="2343749125" sldId="281"/>
            <ac:spMk id="3" creationId="{1A1408DA-D5EC-BFA0-F7BD-694F45DB2788}"/>
          </ac:spMkLst>
        </pc:spChg>
      </pc:sldChg>
      <pc:sldChg chg="modSp add mod">
        <pc:chgData name="Reinhold Heinlein" userId="c5e5d61b-3817-4f51-a712-dcf8bfbff443" providerId="ADAL" clId="{49431ECB-42D2-48D6-9016-5889F3B84DB9}" dt="2026-02-02T11:59:40.678" v="2322" actId="20577"/>
        <pc:sldMkLst>
          <pc:docMk/>
          <pc:sldMk cId="2020906701" sldId="282"/>
        </pc:sldMkLst>
        <pc:spChg chg="mod">
          <ac:chgData name="Reinhold Heinlein" userId="c5e5d61b-3817-4f51-a712-dcf8bfbff443" providerId="ADAL" clId="{49431ECB-42D2-48D6-9016-5889F3B84DB9}" dt="2026-02-02T11:59:40.678" v="2322" actId="20577"/>
          <ac:spMkLst>
            <pc:docMk/>
            <pc:sldMk cId="2020906701" sldId="282"/>
            <ac:spMk id="2" creationId="{5F938B2C-308A-1B28-E236-C1F640C64201}"/>
          </ac:spMkLst>
        </pc:spChg>
        <pc:spChg chg="mod">
          <ac:chgData name="Reinhold Heinlein" userId="c5e5d61b-3817-4f51-a712-dcf8bfbff443" providerId="ADAL" clId="{49431ECB-42D2-48D6-9016-5889F3B84DB9}" dt="2026-02-02T10:32:02.502" v="825" actId="20577"/>
          <ac:spMkLst>
            <pc:docMk/>
            <pc:sldMk cId="2020906701" sldId="282"/>
            <ac:spMk id="3" creationId="{31D0183B-5BFB-A70D-3F44-2BA5CDEE1CB5}"/>
          </ac:spMkLst>
        </pc:spChg>
      </pc:sldChg>
      <pc:sldChg chg="modSp add mod">
        <pc:chgData name="Reinhold Heinlein" userId="c5e5d61b-3817-4f51-a712-dcf8bfbff443" providerId="ADAL" clId="{49431ECB-42D2-48D6-9016-5889F3B84DB9}" dt="2026-02-02T11:15:59.501" v="1730" actId="207"/>
        <pc:sldMkLst>
          <pc:docMk/>
          <pc:sldMk cId="3250932784" sldId="283"/>
        </pc:sldMkLst>
        <pc:spChg chg="mod">
          <ac:chgData name="Reinhold Heinlein" userId="c5e5d61b-3817-4f51-a712-dcf8bfbff443" providerId="ADAL" clId="{49431ECB-42D2-48D6-9016-5889F3B84DB9}" dt="2026-02-02T10:54:27.732" v="1267" actId="20577"/>
          <ac:spMkLst>
            <pc:docMk/>
            <pc:sldMk cId="3250932784" sldId="283"/>
            <ac:spMk id="2" creationId="{5D1B8C26-588D-7474-C756-E0505AA3CE5B}"/>
          </ac:spMkLst>
        </pc:spChg>
        <pc:spChg chg="mod">
          <ac:chgData name="Reinhold Heinlein" userId="c5e5d61b-3817-4f51-a712-dcf8bfbff443" providerId="ADAL" clId="{49431ECB-42D2-48D6-9016-5889F3B84DB9}" dt="2026-02-02T11:15:59.501" v="1730" actId="207"/>
          <ac:spMkLst>
            <pc:docMk/>
            <pc:sldMk cId="3250932784" sldId="283"/>
            <ac:spMk id="3" creationId="{0C97652F-B8E4-BBCC-4325-54BF2D0F773F}"/>
          </ac:spMkLst>
        </pc:spChg>
      </pc:sldChg>
      <pc:sldChg chg="modSp add mod">
        <pc:chgData name="Reinhold Heinlein" userId="c5e5d61b-3817-4f51-a712-dcf8bfbff443" providerId="ADAL" clId="{49431ECB-42D2-48D6-9016-5889F3B84DB9}" dt="2026-02-02T13:52:30.928" v="4464" actId="20577"/>
        <pc:sldMkLst>
          <pc:docMk/>
          <pc:sldMk cId="1126221551" sldId="284"/>
        </pc:sldMkLst>
        <pc:spChg chg="mod">
          <ac:chgData name="Reinhold Heinlein" userId="c5e5d61b-3817-4f51-a712-dcf8bfbff443" providerId="ADAL" clId="{49431ECB-42D2-48D6-9016-5889F3B84DB9}" dt="2026-02-02T10:54:32.073" v="1268" actId="20577"/>
          <ac:spMkLst>
            <pc:docMk/>
            <pc:sldMk cId="1126221551" sldId="284"/>
            <ac:spMk id="2" creationId="{40830839-C959-B2D2-0547-13E747B6A45B}"/>
          </ac:spMkLst>
        </pc:spChg>
        <pc:spChg chg="mod">
          <ac:chgData name="Reinhold Heinlein" userId="c5e5d61b-3817-4f51-a712-dcf8bfbff443" providerId="ADAL" clId="{49431ECB-42D2-48D6-9016-5889F3B84DB9}" dt="2026-02-02T13:52:30.928" v="4464" actId="20577"/>
          <ac:spMkLst>
            <pc:docMk/>
            <pc:sldMk cId="1126221551" sldId="284"/>
            <ac:spMk id="3" creationId="{B12CABEA-D5D2-15C3-B2DD-1CF623AF62C1}"/>
          </ac:spMkLst>
        </pc:spChg>
      </pc:sldChg>
      <pc:sldChg chg="addSp modSp add mod">
        <pc:chgData name="Reinhold Heinlein" userId="c5e5d61b-3817-4f51-a712-dcf8bfbff443" providerId="ADAL" clId="{49431ECB-42D2-48D6-9016-5889F3B84DB9}" dt="2026-02-02T11:23:31.379" v="1943" actId="1076"/>
        <pc:sldMkLst>
          <pc:docMk/>
          <pc:sldMk cId="3904573691" sldId="285"/>
        </pc:sldMkLst>
        <pc:spChg chg="mod">
          <ac:chgData name="Reinhold Heinlein" userId="c5e5d61b-3817-4f51-a712-dcf8bfbff443" providerId="ADAL" clId="{49431ECB-42D2-48D6-9016-5889F3B84DB9}" dt="2026-02-02T11:19:22.374" v="1749"/>
          <ac:spMkLst>
            <pc:docMk/>
            <pc:sldMk cId="3904573691" sldId="285"/>
            <ac:spMk id="2" creationId="{646745DE-854E-9BAF-930A-A6313DBEDACD}"/>
          </ac:spMkLst>
        </pc:spChg>
        <pc:spChg chg="mod">
          <ac:chgData name="Reinhold Heinlein" userId="c5e5d61b-3817-4f51-a712-dcf8bfbff443" providerId="ADAL" clId="{49431ECB-42D2-48D6-9016-5889F3B84DB9}" dt="2026-02-02T11:23:21.433" v="1940" actId="20577"/>
          <ac:spMkLst>
            <pc:docMk/>
            <pc:sldMk cId="3904573691" sldId="285"/>
            <ac:spMk id="3" creationId="{C13B3C94-FD9D-BC99-C3D7-9B637E91B672}"/>
          </ac:spMkLst>
        </pc:spChg>
        <pc:picChg chg="add mod">
          <ac:chgData name="Reinhold Heinlein" userId="c5e5d61b-3817-4f51-a712-dcf8bfbff443" providerId="ADAL" clId="{49431ECB-42D2-48D6-9016-5889F3B84DB9}" dt="2026-02-02T11:23:31.379" v="1943" actId="1076"/>
          <ac:picMkLst>
            <pc:docMk/>
            <pc:sldMk cId="3904573691" sldId="285"/>
            <ac:picMk id="5" creationId="{04DC2CDE-D68C-E167-BE5E-58FC4C4FA45D}"/>
          </ac:picMkLst>
        </pc:picChg>
      </pc:sldChg>
      <pc:sldChg chg="delSp modSp add mod">
        <pc:chgData name="Reinhold Heinlein" userId="c5e5d61b-3817-4f51-a712-dcf8bfbff443" providerId="ADAL" clId="{49431ECB-42D2-48D6-9016-5889F3B84DB9}" dt="2026-02-06T07:50:05.726" v="5669" actId="6549"/>
        <pc:sldMkLst>
          <pc:docMk/>
          <pc:sldMk cId="1093350303" sldId="286"/>
        </pc:sldMkLst>
        <pc:spChg chg="mod">
          <ac:chgData name="Reinhold Heinlein" userId="c5e5d61b-3817-4f51-a712-dcf8bfbff443" providerId="ADAL" clId="{49431ECB-42D2-48D6-9016-5889F3B84DB9}" dt="2026-02-02T11:25:42.258" v="1956" actId="20577"/>
          <ac:spMkLst>
            <pc:docMk/>
            <pc:sldMk cId="1093350303" sldId="286"/>
            <ac:spMk id="2" creationId="{7C24B1CC-A8EB-C8CF-1FB5-8284CB75E354}"/>
          </ac:spMkLst>
        </pc:spChg>
        <pc:spChg chg="mod">
          <ac:chgData name="Reinhold Heinlein" userId="c5e5d61b-3817-4f51-a712-dcf8bfbff443" providerId="ADAL" clId="{49431ECB-42D2-48D6-9016-5889F3B84DB9}" dt="2026-02-06T07:50:05.726" v="5669" actId="6549"/>
          <ac:spMkLst>
            <pc:docMk/>
            <pc:sldMk cId="1093350303" sldId="286"/>
            <ac:spMk id="3" creationId="{D6B40B3F-F9CC-1332-BBC8-E6ACFFD0A543}"/>
          </ac:spMkLst>
        </pc:spChg>
      </pc:sldChg>
      <pc:sldChg chg="addSp delSp modSp add mod">
        <pc:chgData name="Reinhold Heinlein" userId="c5e5d61b-3817-4f51-a712-dcf8bfbff443" providerId="ADAL" clId="{49431ECB-42D2-48D6-9016-5889F3B84DB9}" dt="2026-02-02T13:38:29.636" v="4126" actId="207"/>
        <pc:sldMkLst>
          <pc:docMk/>
          <pc:sldMk cId="285806920" sldId="287"/>
        </pc:sldMkLst>
        <pc:spChg chg="mod">
          <ac:chgData name="Reinhold Heinlein" userId="c5e5d61b-3817-4f51-a712-dcf8bfbff443" providerId="ADAL" clId="{49431ECB-42D2-48D6-9016-5889F3B84DB9}" dt="2026-02-02T12:04:39.746" v="2341" actId="20577"/>
          <ac:spMkLst>
            <pc:docMk/>
            <pc:sldMk cId="285806920" sldId="287"/>
            <ac:spMk id="2" creationId="{9BF87C66-05BC-8422-7DE8-A5215DD6A1FF}"/>
          </ac:spMkLst>
        </pc:spChg>
        <pc:spChg chg="mod">
          <ac:chgData name="Reinhold Heinlein" userId="c5e5d61b-3817-4f51-a712-dcf8bfbff443" providerId="ADAL" clId="{49431ECB-42D2-48D6-9016-5889F3B84DB9}" dt="2026-02-02T13:38:29.636" v="4126" actId="207"/>
          <ac:spMkLst>
            <pc:docMk/>
            <pc:sldMk cId="285806920" sldId="287"/>
            <ac:spMk id="3" creationId="{CDAFDA7D-E9CE-ADFD-35C1-C713B443A1D6}"/>
          </ac:spMkLst>
        </pc:spChg>
        <pc:grpChg chg="mod">
          <ac:chgData name="Reinhold Heinlein" userId="c5e5d61b-3817-4f51-a712-dcf8bfbff443" providerId="ADAL" clId="{49431ECB-42D2-48D6-9016-5889F3B84DB9}" dt="2026-02-02T12:14:28.226" v="2613"/>
          <ac:grpSpMkLst>
            <pc:docMk/>
            <pc:sldMk cId="285806920" sldId="287"/>
            <ac:grpSpMk id="9" creationId="{9B815A15-C31B-540E-AD5A-B3489519E82F}"/>
          </ac:grpSpMkLst>
        </pc:grpChg>
        <pc:picChg chg="add mod">
          <ac:chgData name="Reinhold Heinlein" userId="c5e5d61b-3817-4f51-a712-dcf8bfbff443" providerId="ADAL" clId="{49431ECB-42D2-48D6-9016-5889F3B84DB9}" dt="2026-02-02T12:13:41.202" v="2608" actId="14100"/>
          <ac:picMkLst>
            <pc:docMk/>
            <pc:sldMk cId="285806920" sldId="287"/>
            <ac:picMk id="4" creationId="{7EE332CA-97DB-8B74-F728-B6924331B963}"/>
          </ac:picMkLst>
        </pc:picChg>
        <pc:inkChg chg="add">
          <ac:chgData name="Reinhold Heinlein" userId="c5e5d61b-3817-4f51-a712-dcf8bfbff443" providerId="ADAL" clId="{49431ECB-42D2-48D6-9016-5889F3B84DB9}" dt="2026-02-02T12:14:21.045" v="2610"/>
          <ac:inkMkLst>
            <pc:docMk/>
            <pc:sldMk cId="285806920" sldId="287"/>
            <ac:inkMk id="6" creationId="{4929476F-9662-347D-BC34-2E0C3EF4F7B7}"/>
          </ac:inkMkLst>
        </pc:inkChg>
        <pc:inkChg chg="add mod">
          <ac:chgData name="Reinhold Heinlein" userId="c5e5d61b-3817-4f51-a712-dcf8bfbff443" providerId="ADAL" clId="{49431ECB-42D2-48D6-9016-5889F3B84DB9}" dt="2026-02-02T12:14:28.226" v="2613"/>
          <ac:inkMkLst>
            <pc:docMk/>
            <pc:sldMk cId="285806920" sldId="287"/>
            <ac:inkMk id="7" creationId="{324D0572-A7D9-9F46-8A1C-93AD44B13969}"/>
          </ac:inkMkLst>
        </pc:inkChg>
        <pc:inkChg chg="add mod">
          <ac:chgData name="Reinhold Heinlein" userId="c5e5d61b-3817-4f51-a712-dcf8bfbff443" providerId="ADAL" clId="{49431ECB-42D2-48D6-9016-5889F3B84DB9}" dt="2026-02-02T12:14:28.226" v="2613"/>
          <ac:inkMkLst>
            <pc:docMk/>
            <pc:sldMk cId="285806920" sldId="287"/>
            <ac:inkMk id="8" creationId="{BFD2CA36-86B7-A2AD-1DE7-6CBFEA6F403B}"/>
          </ac:inkMkLst>
        </pc:inkChg>
      </pc:sldChg>
      <pc:sldChg chg="delSp modSp add mod">
        <pc:chgData name="Reinhold Heinlein" userId="c5e5d61b-3817-4f51-a712-dcf8bfbff443" providerId="ADAL" clId="{49431ECB-42D2-48D6-9016-5889F3B84DB9}" dt="2026-02-02T13:38:44.014" v="4127" actId="207"/>
        <pc:sldMkLst>
          <pc:docMk/>
          <pc:sldMk cId="4025262175" sldId="288"/>
        </pc:sldMkLst>
        <pc:spChg chg="mod">
          <ac:chgData name="Reinhold Heinlein" userId="c5e5d61b-3817-4f51-a712-dcf8bfbff443" providerId="ADAL" clId="{49431ECB-42D2-48D6-9016-5889F3B84DB9}" dt="2026-02-02T12:18:53.824" v="2663" actId="6549"/>
          <ac:spMkLst>
            <pc:docMk/>
            <pc:sldMk cId="4025262175" sldId="288"/>
            <ac:spMk id="2" creationId="{C9692327-4430-3BA0-81C2-82826361B614}"/>
          </ac:spMkLst>
        </pc:spChg>
        <pc:spChg chg="mod">
          <ac:chgData name="Reinhold Heinlein" userId="c5e5d61b-3817-4f51-a712-dcf8bfbff443" providerId="ADAL" clId="{49431ECB-42D2-48D6-9016-5889F3B84DB9}" dt="2026-02-02T13:38:44.014" v="4127" actId="207"/>
          <ac:spMkLst>
            <pc:docMk/>
            <pc:sldMk cId="4025262175" sldId="288"/>
            <ac:spMk id="3" creationId="{F752396F-1372-CC2F-90E1-FDC66923A092}"/>
          </ac:spMkLst>
        </pc:spChg>
      </pc:sldChg>
      <pc:sldChg chg="addSp modSp add mod">
        <pc:chgData name="Reinhold Heinlein" userId="c5e5d61b-3817-4f51-a712-dcf8bfbff443" providerId="ADAL" clId="{49431ECB-42D2-48D6-9016-5889F3B84DB9}" dt="2026-02-04T08:36:46.721" v="5525" actId="20577"/>
        <pc:sldMkLst>
          <pc:docMk/>
          <pc:sldMk cId="1411951191" sldId="289"/>
        </pc:sldMkLst>
        <pc:spChg chg="mod">
          <ac:chgData name="Reinhold Heinlein" userId="c5e5d61b-3817-4f51-a712-dcf8bfbff443" providerId="ADAL" clId="{49431ECB-42D2-48D6-9016-5889F3B84DB9}" dt="2026-02-02T12:33:56.673" v="3184" actId="20577"/>
          <ac:spMkLst>
            <pc:docMk/>
            <pc:sldMk cId="1411951191" sldId="289"/>
            <ac:spMk id="2" creationId="{1F655FFD-2F31-12B9-9B79-23681D2B408F}"/>
          </ac:spMkLst>
        </pc:spChg>
        <pc:spChg chg="mod">
          <ac:chgData name="Reinhold Heinlein" userId="c5e5d61b-3817-4f51-a712-dcf8bfbff443" providerId="ADAL" clId="{49431ECB-42D2-48D6-9016-5889F3B84DB9}" dt="2026-02-02T12:41:54.495" v="3461" actId="20577"/>
          <ac:spMkLst>
            <pc:docMk/>
            <pc:sldMk cId="1411951191" sldId="289"/>
            <ac:spMk id="3" creationId="{5CABF80F-3830-6B2D-DD5F-7CE51FE57678}"/>
          </ac:spMkLst>
        </pc:spChg>
        <pc:graphicFrameChg chg="add mod modGraphic">
          <ac:chgData name="Reinhold Heinlein" userId="c5e5d61b-3817-4f51-a712-dcf8bfbff443" providerId="ADAL" clId="{49431ECB-42D2-48D6-9016-5889F3B84DB9}" dt="2026-02-04T08:36:46.721" v="5525" actId="20577"/>
          <ac:graphicFrameMkLst>
            <pc:docMk/>
            <pc:sldMk cId="1411951191" sldId="289"/>
            <ac:graphicFrameMk id="4" creationId="{FD5AD6B8-D601-3ECE-E208-13E00B89B9CE}"/>
          </ac:graphicFrameMkLst>
        </pc:graphicFrameChg>
      </pc:sldChg>
      <pc:sldChg chg="delSp modSp add mod">
        <pc:chgData name="Reinhold Heinlein" userId="c5e5d61b-3817-4f51-a712-dcf8bfbff443" providerId="ADAL" clId="{49431ECB-42D2-48D6-9016-5889F3B84DB9}" dt="2026-02-02T13:36:49.483" v="4123" actId="20577"/>
        <pc:sldMkLst>
          <pc:docMk/>
          <pc:sldMk cId="1862892358" sldId="290"/>
        </pc:sldMkLst>
        <pc:spChg chg="mod">
          <ac:chgData name="Reinhold Heinlein" userId="c5e5d61b-3817-4f51-a712-dcf8bfbff443" providerId="ADAL" clId="{49431ECB-42D2-48D6-9016-5889F3B84DB9}" dt="2026-02-02T12:54:33.279" v="3538" actId="114"/>
          <ac:spMkLst>
            <pc:docMk/>
            <pc:sldMk cId="1862892358" sldId="290"/>
            <ac:spMk id="2" creationId="{53F030C3-AE74-38CC-7B0B-41831E858E3E}"/>
          </ac:spMkLst>
        </pc:spChg>
        <pc:spChg chg="mod">
          <ac:chgData name="Reinhold Heinlein" userId="c5e5d61b-3817-4f51-a712-dcf8bfbff443" providerId="ADAL" clId="{49431ECB-42D2-48D6-9016-5889F3B84DB9}" dt="2026-02-02T13:36:49.483" v="4123" actId="20577"/>
          <ac:spMkLst>
            <pc:docMk/>
            <pc:sldMk cId="1862892358" sldId="290"/>
            <ac:spMk id="3" creationId="{1D8DDA62-E3E8-392E-21A0-50BD8653E26F}"/>
          </ac:spMkLst>
        </pc:spChg>
      </pc:sldChg>
      <pc:sldChg chg="modSp add mod">
        <pc:chgData name="Reinhold Heinlein" userId="c5e5d61b-3817-4f51-a712-dcf8bfbff443" providerId="ADAL" clId="{49431ECB-42D2-48D6-9016-5889F3B84DB9}" dt="2026-02-02T13:57:18.781" v="4494" actId="20577"/>
        <pc:sldMkLst>
          <pc:docMk/>
          <pc:sldMk cId="849432136" sldId="291"/>
        </pc:sldMkLst>
        <pc:spChg chg="mod">
          <ac:chgData name="Reinhold Heinlein" userId="c5e5d61b-3817-4f51-a712-dcf8bfbff443" providerId="ADAL" clId="{49431ECB-42D2-48D6-9016-5889F3B84DB9}" dt="2026-02-02T12:52:48.265" v="3537" actId="20577"/>
          <ac:spMkLst>
            <pc:docMk/>
            <pc:sldMk cId="849432136" sldId="291"/>
            <ac:spMk id="2" creationId="{BF78EE54-D946-BCAD-17F1-65746CF5A388}"/>
          </ac:spMkLst>
        </pc:spChg>
        <pc:spChg chg="mod">
          <ac:chgData name="Reinhold Heinlein" userId="c5e5d61b-3817-4f51-a712-dcf8bfbff443" providerId="ADAL" clId="{49431ECB-42D2-48D6-9016-5889F3B84DB9}" dt="2026-02-02T13:57:18.781" v="4494" actId="20577"/>
          <ac:spMkLst>
            <pc:docMk/>
            <pc:sldMk cId="849432136" sldId="291"/>
            <ac:spMk id="3" creationId="{CC18F9FC-5D34-2E0A-3543-7D332DF09092}"/>
          </ac:spMkLst>
        </pc:spChg>
      </pc:sldChg>
      <pc:sldChg chg="modSp add mod">
        <pc:chgData name="Reinhold Heinlein" userId="c5e5d61b-3817-4f51-a712-dcf8bfbff443" providerId="ADAL" clId="{49431ECB-42D2-48D6-9016-5889F3B84DB9}" dt="2026-02-02T14:46:11.446" v="5511" actId="20577"/>
        <pc:sldMkLst>
          <pc:docMk/>
          <pc:sldMk cId="1420100446" sldId="292"/>
        </pc:sldMkLst>
        <pc:spChg chg="mod">
          <ac:chgData name="Reinhold Heinlein" userId="c5e5d61b-3817-4f51-a712-dcf8bfbff443" providerId="ADAL" clId="{49431ECB-42D2-48D6-9016-5889F3B84DB9}" dt="2026-02-02T14:46:11.446" v="5511" actId="20577"/>
          <ac:spMkLst>
            <pc:docMk/>
            <pc:sldMk cId="1420100446" sldId="292"/>
            <ac:spMk id="2" creationId="{15CAC95F-3F9C-DCFC-C986-07AF81D93990}"/>
          </ac:spMkLst>
        </pc:spChg>
        <pc:spChg chg="mod">
          <ac:chgData name="Reinhold Heinlein" userId="c5e5d61b-3817-4f51-a712-dcf8bfbff443" providerId="ADAL" clId="{49431ECB-42D2-48D6-9016-5889F3B84DB9}" dt="2026-02-02T14:35:42.561" v="5319" actId="114"/>
          <ac:spMkLst>
            <pc:docMk/>
            <pc:sldMk cId="1420100446" sldId="292"/>
            <ac:spMk id="3" creationId="{0E7E1B25-1B47-CA8B-BC22-838566BCF127}"/>
          </ac:spMkLst>
        </pc:spChg>
      </pc:sldChg>
      <pc:sldChg chg="modSp add mod">
        <pc:chgData name="Reinhold Heinlein" userId="c5e5d61b-3817-4f51-a712-dcf8bfbff443" providerId="ADAL" clId="{49431ECB-42D2-48D6-9016-5889F3B84DB9}" dt="2026-02-02T14:46:06.844" v="5509" actId="20577"/>
        <pc:sldMkLst>
          <pc:docMk/>
          <pc:sldMk cId="863786274" sldId="293"/>
        </pc:sldMkLst>
        <pc:spChg chg="mod">
          <ac:chgData name="Reinhold Heinlein" userId="c5e5d61b-3817-4f51-a712-dcf8bfbff443" providerId="ADAL" clId="{49431ECB-42D2-48D6-9016-5889F3B84DB9}" dt="2026-02-02T14:46:06.844" v="5509" actId="20577"/>
          <ac:spMkLst>
            <pc:docMk/>
            <pc:sldMk cId="863786274" sldId="293"/>
            <ac:spMk id="2" creationId="{1C25C7BE-8F0E-BD94-75C8-EDC184C01136}"/>
          </ac:spMkLst>
        </pc:spChg>
        <pc:spChg chg="mod">
          <ac:chgData name="Reinhold Heinlein" userId="c5e5d61b-3817-4f51-a712-dcf8bfbff443" providerId="ADAL" clId="{49431ECB-42D2-48D6-9016-5889F3B84DB9}" dt="2026-02-02T14:44:11.255" v="5507" actId="14100"/>
          <ac:spMkLst>
            <pc:docMk/>
            <pc:sldMk cId="863786274" sldId="293"/>
            <ac:spMk id="3" creationId="{8CD34BC1-08BA-DC00-6E7D-120157C387F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43CF07-9307-6C48-9A7D-CFB6D27789B3}"/>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3757DB75-BAF4-B743-9A92-74B92A91E0A3}"/>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22C6B3-A39F-7849-8137-15C55F281F8E}"/>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A11F245-9DFC-A14D-946D-EB14F66A9135}" type="slidenum">
              <a:rPr lang="en-US" smtClean="0"/>
              <a:t>‹#›</a:t>
            </a:fld>
            <a:endParaRPr lang="en-US"/>
          </a:p>
        </p:txBody>
      </p:sp>
    </p:spTree>
    <p:extLst>
      <p:ext uri="{BB962C8B-B14F-4D97-AF65-F5344CB8AC3E}">
        <p14:creationId xmlns:p14="http://schemas.microsoft.com/office/powerpoint/2010/main" val="128790257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12:14:21.045"/>
    </inkml:context>
    <inkml:brush xml:id="br0">
      <inkml:brushProperty name="width" value="0.1" units="cm"/>
      <inkml:brushProperty name="height" value="0.1" units="cm"/>
      <inkml:brushProperty name="color" value="#FF0066"/>
    </inkml:brush>
  </inkml:definitions>
  <inkml:trace contextRef="#ctx0" brushRef="#br0">100 0 23513,'-100'160'0,"157"-124"0,43-197 0,-157 126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12:14:24.912"/>
    </inkml:context>
    <inkml:brush xml:id="br0">
      <inkml:brushProperty name="width" value="0.1" units="cm"/>
      <inkml:brushProperty name="height" value="0.1" units="cm"/>
      <inkml:brushProperty name="color" value="#FF0066"/>
    </inkml:brush>
  </inkml:definitions>
  <inkml:trace contextRef="#ctx0" brushRef="#br0">1 0 24575,'0'4'0,"3"2"0,7 3 0,5 5 0,3 3 0,4 4 0,-2 2 0,-1 1 0,0-3 0,2-2 0,1-4 0,1-4 0,0 0 0,-3-2-8191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12:14:27.272"/>
    </inkml:context>
    <inkml:brush xml:id="br0">
      <inkml:brushProperty name="width" value="0.1" units="cm"/>
      <inkml:brushProperty name="height" value="0.1" units="cm"/>
      <inkml:brushProperty name="color" value="#FF0066"/>
    </inkml:brush>
  </inkml:definitions>
  <inkml:trace contextRef="#ctx0" brushRef="#br0">1 89 24575,'3'-4'0,"7"-5"0,5-6 0,-1-4 0,3-3 0,-3 3-8191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1269"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7A739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gn="l">
              <a:lnSpc>
                <a:spcPts val="1300"/>
              </a:lnSpc>
              <a:spcBef>
                <a:spcPts val="0"/>
              </a:spcBef>
              <a:buFontTx/>
              <a:buNone/>
              <a:defRPr sz="18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6"/>
            <a:ext cx="1219139" cy="673215"/>
          </a:xfrm>
          <a:prstGeom prst="rect">
            <a:avLst/>
          </a:prstGeom>
        </p:spPr>
        <p:txBody>
          <a:bodyPr lIns="0" tIns="0" rIns="0" bIns="0"/>
          <a:lstStyle>
            <a:lvl1pPr marL="0" indent="0" algn="l">
              <a:lnSpc>
                <a:spcPct val="1000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67834" y="3057655"/>
            <a:ext cx="1219139" cy="673215"/>
          </a:xfrm>
          <a:prstGeom prst="rect">
            <a:avLst/>
          </a:prstGeom>
        </p:spPr>
        <p:txBody>
          <a:bodyPr lIns="0" tIns="0" rIns="0" bIns="0"/>
          <a:lstStyle>
            <a:lvl1pPr marL="0" indent="0" algn="l">
              <a:lnSpc>
                <a:spcPct val="100000"/>
              </a:lnSpc>
              <a:spcBef>
                <a:spcPts val="0"/>
              </a:spcBef>
              <a:buFontTx/>
              <a:buNone/>
              <a:defRPr sz="2000" b="1" i="0">
                <a:solidFill>
                  <a:schemeClr val="bg1"/>
                </a:solidFill>
                <a:latin typeface="+mj-lt"/>
                <a:ea typeface="Tahoma" charset="0"/>
                <a:cs typeface="Tahoma" charset="0"/>
              </a:defRPr>
            </a:lvl1pPr>
          </a:lstStyle>
          <a:p>
            <a:pPr lvl="0"/>
            <a:r>
              <a:rPr lang="en-US"/>
              <a:t>Edit Master text styles</a:t>
            </a:r>
          </a:p>
        </p:txBody>
      </p: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576064"/>
          </a:xfrm>
          <a:prstGeom prst="rect">
            <a:avLst/>
          </a:prstGeom>
        </p:spPr>
        <p:txBody>
          <a:bodyPr lIns="0" tIns="0" rIns="0" bIns="0"/>
          <a:lstStyle>
            <a:lvl1pPr marL="0" indent="0" algn="l">
              <a:lnSpc>
                <a:spcPct val="100000"/>
              </a:lnSpc>
              <a:spcBef>
                <a:spcPts val="0"/>
              </a:spcBef>
              <a:buFontTx/>
              <a:buNone/>
              <a:defRPr sz="1800" b="0" i="0">
                <a:solidFill>
                  <a:schemeClr val="bg1"/>
                </a:solidFill>
                <a:latin typeface="+mn-lt"/>
                <a:ea typeface="Tahoma"/>
                <a:cs typeface="Tahoma"/>
              </a:defRPr>
            </a:lvl1pPr>
          </a:lstStyle>
          <a:p>
            <a:pPr lvl="0"/>
            <a:r>
              <a:rPr lang="en-US" dirty="0"/>
              <a:t>Presentation date</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7226853"/>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2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7A7392"/>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24506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7A7392"/>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7A7392"/>
              </a:buClr>
              <a:tabLst/>
              <a:defRPr sz="2000">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36" userDrawn="1">
          <p15:clr>
            <a:srgbClr val="FBAE40"/>
          </p15:clr>
        </p15:guide>
        <p15:guide id="2"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p>
            <a:r>
              <a:rPr lang="en-US"/>
              <a:t>Click to edit Master title style</a:t>
            </a:r>
            <a:endParaRPr lang="en-US" dirty="0"/>
          </a:p>
        </p:txBody>
      </p:sp>
      <p:sp>
        <p:nvSpPr>
          <p:cNvPr id="3" name="Text Placeholder 2"/>
          <p:cNvSpPr>
            <a:spLocks noGrp="1"/>
          </p:cNvSpPr>
          <p:nvPr>
            <p:ph type="body" sz="quarter" idx="11" hasCustomPrompt="1"/>
          </p:nvPr>
        </p:nvSpPr>
        <p:spPr>
          <a:xfrm>
            <a:off x="900113" y="1700213"/>
            <a:ext cx="6551612" cy="4465637"/>
          </a:xfrm>
          <a:prstGeom prst="rect">
            <a:avLst/>
          </a:prstGeom>
        </p:spPr>
        <p:txBody>
          <a:bodyPr lIns="0" tIns="0" rIns="0" bIns="0"/>
          <a:lstStyle>
            <a:lvl1pPr marL="266700" indent="-266700">
              <a:buClr>
                <a:srgbClr val="7A7392"/>
              </a:buClr>
              <a:buFont typeface="+mj-lt"/>
              <a:buAutoNum type="arabicPeriod"/>
              <a:defRPr sz="2000">
                <a:latin typeface="+mn-lt"/>
                <a:ea typeface="Tahoma" panose="020B0604030504040204" pitchFamily="34" charset="0"/>
                <a:cs typeface="Tahoma" panose="020B0604030504040204" pitchFamily="34" charset="0"/>
              </a:defRPr>
            </a:lvl1pPr>
            <a:lvl2pPr marL="541338" indent="-274638">
              <a:buClr>
                <a:srgbClr val="7A7392"/>
              </a:buClr>
              <a:buFont typeface="+mj-lt"/>
              <a:buAutoNum type="romanLcPeriod"/>
              <a:defRPr sz="200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8606882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0362276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p>
            <a:r>
              <a:rPr lang="en-US"/>
              <a:t>Click to edit Master title style</a:t>
            </a:r>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7A7392"/>
              </a:buClr>
              <a:buSzTx/>
              <a:buFont typeface="+mj-lt"/>
              <a:buAutoNum type="arabicPeriod"/>
              <a:tabLst/>
              <a:defRPr sz="2000" b="0" i="0" baseline="0">
                <a:solidFill>
                  <a:schemeClr val="tx1"/>
                </a:solidFill>
                <a:latin typeface="+mn-lt"/>
                <a:ea typeface="Tahoma"/>
                <a:cs typeface="Tahoma"/>
              </a:defRPr>
            </a:lvl1pPr>
            <a:lvl2pPr marL="541338" indent="-274638">
              <a:buClr>
                <a:srgbClr val="7A7392"/>
              </a:buClr>
              <a:buFont typeface="+mj-lt"/>
              <a:buAutoNum type="romanLcPeriod"/>
              <a:defRPr sz="2000" baseline="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7A7392"/>
              </a:buClr>
              <a:buSzTx/>
              <a:buFont typeface="+mj-lt"/>
              <a:buAutoNum type="arabicPeriod"/>
              <a:tabLst/>
              <a:defRPr sz="2000" b="0" i="0" baseline="0">
                <a:solidFill>
                  <a:schemeClr val="tx1"/>
                </a:solidFill>
                <a:latin typeface="+mn-lt"/>
                <a:ea typeface="Tahoma"/>
                <a:cs typeface="Tahoma"/>
              </a:defRPr>
            </a:lvl1pPr>
            <a:lvl2pPr marL="541338" indent="-274638">
              <a:buClr>
                <a:srgbClr val="7A7392"/>
              </a:buClr>
              <a:buFont typeface="+mj-lt"/>
              <a:buAutoNum type="romanLcPeriod"/>
              <a:defRPr sz="200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p>
            <a:r>
              <a:rPr lang="en-US"/>
              <a:t>Click to edit Master title style</a:t>
            </a:r>
            <a:endParaRPr lang="en-US" dirty="0"/>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94753494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162861172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US"/>
              <a:t>Click icon to add picture</a:t>
            </a:r>
            <a:endParaRPr lang="en-US" dirty="0"/>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US"/>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US"/>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1974219801"/>
      </p:ext>
    </p:extLst>
  </p:cSld>
  <p:clrMapOvr>
    <a:masterClrMapping/>
  </p:clrMapOvr>
  <p:transition spd="slow">
    <p:fade/>
  </p:transition>
  <p:extLst>
    <p:ext uri="{DCECCB84-F9BA-43D5-87BE-67443E8EF086}">
      <p15:sldGuideLst xmlns:p15="http://schemas.microsoft.com/office/powerpoint/2012/main">
        <p15:guide id="1" orient="horz" pos="332" userDrawn="1">
          <p15:clr>
            <a:srgbClr val="FBAE40"/>
          </p15:clr>
        </p15:guide>
        <p15:guide id="2" pos="2880" userDrawn="1">
          <p15:clr>
            <a:srgbClr val="FBAE40"/>
          </p15:clr>
        </p15:guide>
        <p15:guide id="4" pos="3833" userDrawn="1">
          <p15:clr>
            <a:srgbClr val="FBAE40"/>
          </p15:clr>
        </p15:guide>
        <p15:guide id="5" orient="horz" pos="2614" userDrawn="1">
          <p15:clr>
            <a:srgbClr val="FBAE40"/>
          </p15:clr>
        </p15:guide>
        <p15:guide id="6" pos="567" userDrawn="1">
          <p15:clr>
            <a:srgbClr val="FBAE40"/>
          </p15:clr>
        </p15:guide>
        <p15:guide id="8" pos="1927" userDrawn="1">
          <p15:clr>
            <a:srgbClr val="FBAE40"/>
          </p15:clr>
        </p15:guide>
        <p15:guide id="9" pos="3854" userDrawn="1">
          <p15:clr>
            <a:srgbClr val="FBAE40"/>
          </p15:clr>
        </p15:guide>
        <p15:guide id="10" orient="horz" pos="25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7"/>
            <a:ext cx="7886700" cy="768356"/>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US"/>
              <a:t>Click icon to add picture</a:t>
            </a:r>
            <a:endParaRPr lang="en-US" dirty="0"/>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US"/>
              <a:t>Click icon to add picture</a:t>
            </a:r>
            <a:endParaRPr lang="en-US" dirty="0"/>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761453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3856" userDrawn="1">
          <p15:clr>
            <a:srgbClr val="FBAE40"/>
          </p15:clr>
        </p15:guide>
        <p15:guide id="4" pos="3833" userDrawn="1">
          <p15:clr>
            <a:srgbClr val="FBAE40"/>
          </p15:clr>
        </p15:guide>
        <p15:guide id="6" orient="horz" pos="2590" userDrawn="1">
          <p15:clr>
            <a:srgbClr val="FBAE40"/>
          </p15:clr>
        </p15:guide>
        <p15:guide id="7" orient="horz" pos="261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196976"/>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7A7392"/>
                </a:solidFill>
                <a:latin typeface="+mj-lt"/>
              </a:defRPr>
            </a:lvl1pPr>
            <a:lvl2pPr marL="609600" indent="0">
              <a:lnSpc>
                <a:spcPts val="3600"/>
              </a:lnSpc>
              <a:buNone/>
              <a:defRPr sz="2800" b="0" i="1" baseline="0">
                <a:solidFill>
                  <a:srgbClr val="7A7392"/>
                </a:solidFill>
                <a:latin typeface="+mj-lt"/>
              </a:defRPr>
            </a:lvl2pPr>
            <a:lvl3pPr marL="1219200" indent="0">
              <a:lnSpc>
                <a:spcPts val="3600"/>
              </a:lnSpc>
              <a:buNone/>
              <a:defRPr sz="2800" b="0" i="1" baseline="0">
                <a:solidFill>
                  <a:srgbClr val="7A7392"/>
                </a:solidFill>
                <a:latin typeface="+mj-lt"/>
              </a:defRPr>
            </a:lvl3pPr>
            <a:lvl4pPr marL="1828800" indent="0">
              <a:lnSpc>
                <a:spcPts val="3600"/>
              </a:lnSpc>
              <a:buNone/>
              <a:defRPr sz="2800" b="0" i="1" baseline="0">
                <a:solidFill>
                  <a:srgbClr val="7A7392"/>
                </a:solidFill>
                <a:latin typeface="+mj-lt"/>
              </a:defRPr>
            </a:lvl4pPr>
            <a:lvl5pPr marL="2438400" indent="0">
              <a:lnSpc>
                <a:spcPts val="3600"/>
              </a:lnSpc>
              <a:buNone/>
              <a:defRPr sz="2800" b="0" i="1" baseline="0">
                <a:solidFill>
                  <a:srgbClr val="7A7392"/>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120694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5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91BB70-497C-4277-BE10-470B42F44DE5}"/>
              </a:ext>
            </a:extLst>
          </p:cNvPr>
          <p:cNvSpPr>
            <a:spLocks noGrp="1"/>
          </p:cNvSpPr>
          <p:nvPr>
            <p:ph type="title"/>
          </p:nvPr>
        </p:nvSpPr>
        <p:spPr/>
        <p:txBody>
          <a:bodyPr/>
          <a:lstStyle/>
          <a:p>
            <a:r>
              <a:rPr lang="en-US"/>
              <a:t>Click to edit Master title style</a:t>
            </a:r>
            <a:endParaRPr lang="en-GB"/>
          </a:p>
        </p:txBody>
      </p:sp>
      <p:sp>
        <p:nvSpPr>
          <p:cNvPr id="9" name="Text Placeholder 12"/>
          <p:cNvSpPr>
            <a:spLocks noGrp="1"/>
          </p:cNvSpPr>
          <p:nvPr>
            <p:ph type="body" sz="quarter" idx="12" hasCustomPrompt="1"/>
          </p:nvPr>
        </p:nvSpPr>
        <p:spPr>
          <a:xfrm>
            <a:off x="215403" y="2852936"/>
            <a:ext cx="4283969" cy="2592288"/>
          </a:xfrm>
          <a:prstGeom prst="rect">
            <a:avLst/>
          </a:prstGeom>
        </p:spPr>
        <p:txBody>
          <a:bodyPr/>
          <a:lstStyle>
            <a:lvl1pPr marL="0" indent="0" algn="r">
              <a:lnSpc>
                <a:spcPts val="9600"/>
              </a:lnSpc>
              <a:buNone/>
              <a:defRPr sz="13000" b="0" i="0" baseline="0">
                <a:solidFill>
                  <a:srgbClr val="7A7392"/>
                </a:solidFill>
                <a:latin typeface="+mj-lt"/>
                <a:ea typeface="Georgia" charset="0"/>
                <a:cs typeface="Georgia" charset="0"/>
              </a:defRPr>
            </a:lvl1pPr>
            <a:lvl2pPr marL="609600" indent="0" algn="r">
              <a:lnSpc>
                <a:spcPts val="3600"/>
              </a:lnSpc>
              <a:buNone/>
              <a:defRPr sz="9600" b="0" i="0" baseline="0">
                <a:solidFill>
                  <a:schemeClr val="bg1"/>
                </a:solidFill>
                <a:latin typeface="Georgia" charset="0"/>
                <a:ea typeface="Georgia" charset="0"/>
                <a:cs typeface="Georgia" charset="0"/>
              </a:defRPr>
            </a:lvl2pPr>
            <a:lvl3pPr marL="1219200" indent="0" algn="r">
              <a:lnSpc>
                <a:spcPts val="3600"/>
              </a:lnSpc>
              <a:buNone/>
              <a:defRPr sz="9600" b="0" i="0" baseline="0">
                <a:solidFill>
                  <a:schemeClr val="bg1"/>
                </a:solidFill>
                <a:latin typeface="Georgia" charset="0"/>
                <a:ea typeface="Georgia" charset="0"/>
                <a:cs typeface="Georgia" charset="0"/>
              </a:defRPr>
            </a:lvl3pPr>
            <a:lvl4pPr marL="1828800" indent="0" algn="r">
              <a:lnSpc>
                <a:spcPts val="3600"/>
              </a:lnSpc>
              <a:buNone/>
              <a:defRPr sz="9600" b="0" i="0" baseline="0">
                <a:solidFill>
                  <a:schemeClr val="bg1"/>
                </a:solidFill>
                <a:latin typeface="Georgia" charset="0"/>
                <a:ea typeface="Georgia" charset="0"/>
                <a:cs typeface="Georgia" charset="0"/>
              </a:defRPr>
            </a:lvl4pPr>
            <a:lvl5pPr marL="2438400" indent="0" algn="r">
              <a:lnSpc>
                <a:spcPts val="3600"/>
              </a:lnSpc>
              <a:buNone/>
              <a:defRPr sz="9600" b="0" i="0" baseline="0">
                <a:solidFill>
                  <a:schemeClr val="bg1"/>
                </a:solidFill>
                <a:latin typeface="Georgia" charset="0"/>
                <a:ea typeface="Georgia" charset="0"/>
                <a:cs typeface="Georgia" charset="0"/>
              </a:defRPr>
            </a:lvl5pPr>
          </a:lstStyle>
          <a:p>
            <a:pPr lvl="0"/>
            <a:r>
              <a:rPr lang="en-GB" dirty="0"/>
              <a:t>100%</a:t>
            </a:r>
          </a:p>
        </p:txBody>
      </p:sp>
      <p:sp>
        <p:nvSpPr>
          <p:cNvPr id="5" name="Text Placeholder 4">
            <a:extLst>
              <a:ext uri="{FF2B5EF4-FFF2-40B4-BE49-F238E27FC236}">
                <a16:creationId xmlns:a16="http://schemas.microsoft.com/office/drawing/2014/main" id="{7219D4CE-1D53-486E-821D-6DD3FBD41AD9}"/>
              </a:ext>
            </a:extLst>
          </p:cNvPr>
          <p:cNvSpPr>
            <a:spLocks noGrp="1"/>
          </p:cNvSpPr>
          <p:nvPr>
            <p:ph type="body" sz="quarter" idx="15"/>
          </p:nvPr>
        </p:nvSpPr>
        <p:spPr>
          <a:xfrm>
            <a:off x="4859338" y="2852738"/>
            <a:ext cx="3656012" cy="2592387"/>
          </a:xfrm>
          <a:prstGeom prst="rect">
            <a:avLst/>
          </a:prstGeom>
        </p:spPr>
        <p:txBody>
          <a:bodyPr/>
          <a:lstStyle>
            <a:lvl1pPr>
              <a:defRPr sz="2000">
                <a:solidFill>
                  <a:srgbClr val="7A7392"/>
                </a:solidFill>
              </a:defRPr>
            </a:lvl1pPr>
            <a:lvl2pPr marL="609600" indent="0">
              <a:buNone/>
              <a:defRPr sz="2000">
                <a:solidFill>
                  <a:srgbClr val="7A7392"/>
                </a:solidFill>
              </a:defRPr>
            </a:lvl2pPr>
            <a:lvl3pPr marL="1219200" indent="0">
              <a:buNone/>
              <a:defRPr sz="2000">
                <a:solidFill>
                  <a:srgbClr val="7A7392"/>
                </a:solidFill>
              </a:defRPr>
            </a:lvl3pPr>
            <a:lvl4pPr marL="1828800" indent="0">
              <a:buNone/>
              <a:defRPr sz="2000">
                <a:solidFill>
                  <a:srgbClr val="7A7392"/>
                </a:solidFill>
              </a:defRPr>
            </a:lvl4pPr>
            <a:lvl5pPr marL="2438400" indent="0">
              <a:buNone/>
              <a:defRPr sz="2000">
                <a:solidFill>
                  <a:srgbClr val="7A739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14"/>
          <p:cNvSpPr>
            <a:spLocks noGrp="1"/>
          </p:cNvSpPr>
          <p:nvPr>
            <p:ph type="body" sz="quarter" idx="14"/>
          </p:nvPr>
        </p:nvSpPr>
        <p:spPr>
          <a:xfrm>
            <a:off x="970980" y="5661025"/>
            <a:ext cx="7129412" cy="648295"/>
          </a:xfrm>
          <a:prstGeom prst="rect">
            <a:avLst/>
          </a:prstGeom>
        </p:spPr>
        <p:txBody>
          <a:bodyPr/>
          <a:lstStyle>
            <a:lvl1pPr marL="0" indent="0" algn="r">
              <a:lnSpc>
                <a:spcPts val="1400"/>
              </a:lnSpc>
              <a:buNone/>
              <a:defRPr sz="1800" baseline="0">
                <a:solidFill>
                  <a:schemeClr val="tx1"/>
                </a:solidFill>
                <a:latin typeface="Tahoma" charset="0"/>
              </a:defRPr>
            </a:lvl1pPr>
            <a:lvl2pPr marL="609600" indent="0" algn="r">
              <a:lnSpc>
                <a:spcPts val="1400"/>
              </a:lnSpc>
              <a:buNone/>
              <a:defRPr sz="1800" baseline="0">
                <a:solidFill>
                  <a:schemeClr val="tx1"/>
                </a:solidFill>
                <a:latin typeface="Tahoma" charset="0"/>
              </a:defRPr>
            </a:lvl2pPr>
            <a:lvl3pPr marL="1219200" indent="0" algn="r">
              <a:lnSpc>
                <a:spcPts val="1400"/>
              </a:lnSpc>
              <a:buNone/>
              <a:defRPr sz="1800" baseline="0">
                <a:solidFill>
                  <a:schemeClr val="tx1"/>
                </a:solidFill>
                <a:latin typeface="Tahoma" charset="0"/>
              </a:defRPr>
            </a:lvl3pPr>
            <a:lvl4pPr marL="1828800" indent="0" algn="r">
              <a:lnSpc>
                <a:spcPts val="1400"/>
              </a:lnSpc>
              <a:buNone/>
              <a:defRPr sz="1800" baseline="0">
                <a:solidFill>
                  <a:schemeClr val="tx1"/>
                </a:solidFill>
                <a:latin typeface="Tahoma" charset="0"/>
              </a:defRPr>
            </a:lvl4pPr>
            <a:lvl5pPr marL="2438400" indent="0" algn="r">
              <a:lnSpc>
                <a:spcPts val="1400"/>
              </a:lnSpc>
              <a:buNone/>
              <a:defRPr sz="1800" baseline="0">
                <a:solidFill>
                  <a:schemeClr val="tx1"/>
                </a:solidFill>
                <a:latin typeface="Tahoma"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64973426"/>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184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7"/>
            <a:ext cx="7886700" cy="720079"/>
          </a:xfrm>
          <a:prstGeom prst="rect">
            <a:avLst/>
          </a:prstGeom>
        </p:spPr>
        <p:txBody>
          <a:bodyPr vert="horz" lIns="0" tIns="0" rIns="0" bIns="0" rtlCol="0" anchor="t" anchorCtr="0">
            <a:normAutofit/>
          </a:bodyPr>
          <a:lstStyle/>
          <a:p>
            <a:r>
              <a:rPr lang="en-US"/>
              <a:t>Click to edit Master title style</a:t>
            </a:r>
            <a:endParaRPr lang="en-US" dirty="0"/>
          </a:p>
        </p:txBody>
      </p:sp>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Lst>
  <p:transition spd="slow">
    <p:fade/>
  </p:transition>
  <p:hf hdr="0" ftr="0" dt="0"/>
  <p:txStyles>
    <p:titleStyle>
      <a:lvl1pPr algn="l" defTabSz="606425" rtl="0" eaLnBrk="1" fontAlgn="base" hangingPunct="1">
        <a:spcBef>
          <a:spcPct val="0"/>
        </a:spcBef>
        <a:spcAft>
          <a:spcPct val="0"/>
        </a:spcAft>
        <a:defRPr sz="3600" kern="1200">
          <a:solidFill>
            <a:srgbClr val="7A7392"/>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customXml" Target="../ink/ink2.xml"/><Relationship Id="rId5" Type="http://schemas.openxmlformats.org/officeDocument/2006/relationships/image" Target="../media/image8.png"/><Relationship Id="rId4" Type="http://schemas.openxmlformats.org/officeDocument/2006/relationships/customXml" Target="../ink/ink1.xml"/><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129AE-110C-40B7-9DF3-A4A07ADFD71E}"/>
              </a:ext>
            </a:extLst>
          </p:cNvPr>
          <p:cNvSpPr>
            <a:spLocks noGrp="1"/>
          </p:cNvSpPr>
          <p:nvPr>
            <p:ph type="title"/>
          </p:nvPr>
        </p:nvSpPr>
        <p:spPr>
          <a:xfrm>
            <a:off x="2050826" y="1915479"/>
            <a:ext cx="5689524" cy="3745769"/>
          </a:xfrm>
        </p:spPr>
        <p:txBody>
          <a:bodyPr/>
          <a:lstStyle/>
          <a:p>
            <a:r>
              <a:rPr lang="en-GB" noProof="0" dirty="0"/>
              <a:t>UMET9U-30-1- Professional Skills for Banking and Finance</a:t>
            </a:r>
            <a:br>
              <a:rPr lang="en-GB" noProof="0" dirty="0"/>
            </a:br>
            <a:br>
              <a:rPr lang="en-GB" noProof="0" dirty="0"/>
            </a:br>
            <a:br>
              <a:rPr lang="en-GB" noProof="0" dirty="0"/>
            </a:br>
            <a:r>
              <a:rPr lang="en-GB" noProof="0" dirty="0"/>
              <a:t>Lecture </a:t>
            </a:r>
            <a:r>
              <a:rPr lang="en-GB" dirty="0"/>
              <a:t>20</a:t>
            </a:r>
            <a:endParaRPr lang="en-GB" noProof="0" dirty="0"/>
          </a:p>
        </p:txBody>
      </p:sp>
      <p:sp>
        <p:nvSpPr>
          <p:cNvPr id="3" name="Text Placeholder 2">
            <a:extLst>
              <a:ext uri="{FF2B5EF4-FFF2-40B4-BE49-F238E27FC236}">
                <a16:creationId xmlns:a16="http://schemas.microsoft.com/office/drawing/2014/main" id="{78DD6D5A-6272-44C9-9121-5A48D169B9A6}"/>
              </a:ext>
            </a:extLst>
          </p:cNvPr>
          <p:cNvSpPr>
            <a:spLocks noGrp="1"/>
          </p:cNvSpPr>
          <p:nvPr>
            <p:ph type="body" sz="quarter" idx="15"/>
          </p:nvPr>
        </p:nvSpPr>
        <p:spPr/>
        <p:txBody>
          <a:bodyPr/>
          <a:lstStyle/>
          <a:p>
            <a:r>
              <a:rPr lang="en-GB" sz="2000" noProof="0" dirty="0"/>
              <a:t>Presented by</a:t>
            </a:r>
          </a:p>
        </p:txBody>
      </p:sp>
      <p:sp>
        <p:nvSpPr>
          <p:cNvPr id="4" name="Text Placeholder 3">
            <a:extLst>
              <a:ext uri="{FF2B5EF4-FFF2-40B4-BE49-F238E27FC236}">
                <a16:creationId xmlns:a16="http://schemas.microsoft.com/office/drawing/2014/main" id="{CE307F5E-61FF-45D2-B0E6-0386A93DB487}"/>
              </a:ext>
            </a:extLst>
          </p:cNvPr>
          <p:cNvSpPr>
            <a:spLocks noGrp="1"/>
          </p:cNvSpPr>
          <p:nvPr>
            <p:ph type="body" sz="quarter" idx="16"/>
          </p:nvPr>
        </p:nvSpPr>
        <p:spPr>
          <a:xfrm>
            <a:off x="586420" y="2323736"/>
            <a:ext cx="1219139" cy="601207"/>
          </a:xfrm>
        </p:spPr>
        <p:txBody>
          <a:bodyPr/>
          <a:lstStyle/>
          <a:p>
            <a:r>
              <a:rPr lang="en-GB" sz="2000" noProof="0" dirty="0"/>
              <a:t>Reinhold Heinlein</a:t>
            </a:r>
            <a:endParaRPr lang="en-GB" noProof="0" dirty="0"/>
          </a:p>
        </p:txBody>
      </p:sp>
      <p:sp>
        <p:nvSpPr>
          <p:cNvPr id="6" name="Text Placeholder 5">
            <a:extLst>
              <a:ext uri="{FF2B5EF4-FFF2-40B4-BE49-F238E27FC236}">
                <a16:creationId xmlns:a16="http://schemas.microsoft.com/office/drawing/2014/main" id="{8261A58E-4331-43B5-A70A-203EF9F254A4}"/>
              </a:ext>
            </a:extLst>
          </p:cNvPr>
          <p:cNvSpPr>
            <a:spLocks noGrp="1"/>
          </p:cNvSpPr>
          <p:nvPr>
            <p:ph type="body" sz="quarter" idx="18"/>
          </p:nvPr>
        </p:nvSpPr>
        <p:spPr/>
        <p:txBody>
          <a:bodyPr/>
          <a:lstStyle/>
          <a:p>
            <a:r>
              <a:rPr lang="en-GB" noProof="0" dirty="0"/>
              <a:t>March 2026</a:t>
            </a:r>
          </a:p>
        </p:txBody>
      </p:sp>
    </p:spTree>
    <p:extLst>
      <p:ext uri="{BB962C8B-B14F-4D97-AF65-F5344CB8AC3E}">
        <p14:creationId xmlns:p14="http://schemas.microsoft.com/office/powerpoint/2010/main" val="37133985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02C33-84D3-4C74-9F36-3265F3BE99AD}"/>
              </a:ext>
            </a:extLst>
          </p:cNvPr>
          <p:cNvSpPr>
            <a:spLocks noGrp="1"/>
          </p:cNvSpPr>
          <p:nvPr>
            <p:ph type="title"/>
          </p:nvPr>
        </p:nvSpPr>
        <p:spPr>
          <a:xfrm>
            <a:off x="872168" y="764704"/>
            <a:ext cx="6515620" cy="2952328"/>
          </a:xfrm>
        </p:spPr>
        <p:txBody>
          <a:bodyPr>
            <a:normAutofit/>
          </a:bodyPr>
          <a:lstStyle/>
          <a:p>
            <a:r>
              <a:rPr lang="en-GB" sz="3200" noProof="0" dirty="0">
                <a:solidFill>
                  <a:schemeClr val="accent4"/>
                </a:solidFill>
              </a:rPr>
              <a:t>Lecture content</a:t>
            </a:r>
          </a:p>
        </p:txBody>
      </p:sp>
      <p:sp>
        <p:nvSpPr>
          <p:cNvPr id="3" name="Text Placeholder 2">
            <a:extLst>
              <a:ext uri="{FF2B5EF4-FFF2-40B4-BE49-F238E27FC236}">
                <a16:creationId xmlns:a16="http://schemas.microsoft.com/office/drawing/2014/main" id="{67A63DF7-30A5-4CDB-B2AD-10BDF696FBA6}"/>
              </a:ext>
            </a:extLst>
          </p:cNvPr>
          <p:cNvSpPr>
            <a:spLocks noGrp="1"/>
          </p:cNvSpPr>
          <p:nvPr>
            <p:ph type="body" sz="quarter" idx="11"/>
          </p:nvPr>
        </p:nvSpPr>
        <p:spPr>
          <a:xfrm>
            <a:off x="886474" y="1772816"/>
            <a:ext cx="6515620" cy="3384376"/>
          </a:xfrm>
        </p:spPr>
        <p:txBody>
          <a:bodyPr/>
          <a:lstStyle/>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r>
              <a:rPr lang="en-GB" sz="2400" dirty="0">
                <a:solidFill>
                  <a:prstClr val="black"/>
                </a:solidFill>
                <a:latin typeface="Calibri"/>
                <a:ea typeface="Tahoma" panose="020B0604030504040204" pitchFamily="34" charset="0"/>
                <a:cs typeface="Tahoma" panose="020B0604030504040204" pitchFamily="34" charset="0"/>
              </a:rPr>
              <a:t>Hypothesis testing</a:t>
            </a:r>
            <a:endParaRPr lang="en-GB" sz="2400" dirty="0">
              <a:solidFill>
                <a:prstClr val="black"/>
              </a:solidFill>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66700" indent="-257175">
              <a:buClr>
                <a:srgbClr val="7A7392"/>
              </a:buClr>
              <a:buFont typeface="Arial" charset="0"/>
              <a:buChar char="•"/>
              <a:defRPr/>
            </a:pPr>
            <a:endParaRPr lang="en-GB" sz="2400" noProof="0" dirty="0">
              <a:solidFill>
                <a:prstClr val="black"/>
              </a:solidFill>
              <a:ea typeface="Tahoma" panose="020B0604030504040204" pitchFamily="34" charset="0"/>
              <a:cs typeface="Tahoma" panose="020B0604030504040204" pitchFamily="34" charset="0"/>
            </a:endParaRPr>
          </a:p>
          <a:p>
            <a:pPr marL="9525">
              <a:buClr>
                <a:srgbClr val="7A7392"/>
              </a:buClr>
              <a:defRPr/>
            </a:pPr>
            <a:endParaRPr lang="en-GB" sz="2400" noProof="0" dirty="0">
              <a:solidFill>
                <a:prstClr val="black"/>
              </a:solidFill>
              <a:ea typeface="Tahoma" panose="020B0604030504040204" pitchFamily="34" charset="0"/>
              <a:cs typeface="Tahoma" panose="020B0604030504040204" pitchFamily="34" charset="0"/>
            </a:endParaRPr>
          </a:p>
          <a:p>
            <a:pPr marL="266700" indent="-257175">
              <a:buClr>
                <a:srgbClr val="7A7392"/>
              </a:buClr>
              <a:buFont typeface="Arial" charset="0"/>
              <a:buChar char="•"/>
              <a:defRPr/>
            </a:pPr>
            <a:endParaRPr lang="en-GB" sz="2400" noProof="0" dirty="0">
              <a:solidFill>
                <a:prstClr val="black"/>
              </a:solidFill>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9525" marR="0" lvl="0" algn="l" defTabSz="606425" rtl="0" eaLnBrk="1" fontAlgn="base" latinLnBrk="0" hangingPunct="1">
              <a:lnSpc>
                <a:spcPct val="100000"/>
              </a:lnSpc>
              <a:spcBef>
                <a:spcPct val="20000"/>
              </a:spcBef>
              <a:spcAft>
                <a:spcPct val="0"/>
              </a:spcAft>
              <a:buClr>
                <a:srgbClr val="7A7392"/>
              </a:buClr>
              <a:buSzTx/>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9525" marR="0" lvl="0" algn="l" defTabSz="606425" rtl="0" eaLnBrk="1" fontAlgn="base" latinLnBrk="0" hangingPunct="1">
              <a:lnSpc>
                <a:spcPct val="100000"/>
              </a:lnSpc>
              <a:spcBef>
                <a:spcPct val="20000"/>
              </a:spcBef>
              <a:spcAft>
                <a:spcPct val="0"/>
              </a:spcAft>
              <a:buClr>
                <a:srgbClr val="7A7392"/>
              </a:buClr>
              <a:buSzTx/>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85750" indent="-285750">
              <a:buFont typeface="Arial" panose="020B0604020202020204" pitchFamily="34" charset="0"/>
              <a:buChar char="•"/>
            </a:pPr>
            <a:endParaRPr lang="en-GB" sz="2400" noProof="0" dirty="0"/>
          </a:p>
        </p:txBody>
      </p:sp>
    </p:spTree>
    <p:extLst>
      <p:ext uri="{BB962C8B-B14F-4D97-AF65-F5344CB8AC3E}">
        <p14:creationId xmlns:p14="http://schemas.microsoft.com/office/powerpoint/2010/main" val="2884623810"/>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B5F2D-9D15-3BE6-90B7-55BEF6EDD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E834CB-FF37-D2CB-E643-50383052CED1}"/>
              </a:ext>
            </a:extLst>
          </p:cNvPr>
          <p:cNvSpPr>
            <a:spLocks noGrp="1"/>
          </p:cNvSpPr>
          <p:nvPr>
            <p:ph type="title"/>
          </p:nvPr>
        </p:nvSpPr>
        <p:spPr/>
        <p:txBody>
          <a:bodyPr>
            <a:normAutofit fontScale="90000"/>
          </a:bodyPr>
          <a:lstStyle/>
          <a:p>
            <a:r>
              <a:rPr lang="en-GB" noProof="0" dirty="0"/>
              <a:t>Hypothesis testing</a:t>
            </a:r>
            <a:br>
              <a:rPr lang="en-GB" noProof="0" dirty="0"/>
            </a:br>
            <a:br>
              <a:rPr lang="en-GB" noProof="0" dirty="0"/>
            </a:br>
            <a:endParaRPr lang="en-GB" noProof="0" dirty="0"/>
          </a:p>
        </p:txBody>
      </p:sp>
      <p:sp>
        <p:nvSpPr>
          <p:cNvPr id="3" name="Text Placeholder 2">
            <a:extLst>
              <a:ext uri="{FF2B5EF4-FFF2-40B4-BE49-F238E27FC236}">
                <a16:creationId xmlns:a16="http://schemas.microsoft.com/office/drawing/2014/main" id="{1A1408DA-D5EC-BFA0-F7BD-694F45DB2788}"/>
              </a:ext>
            </a:extLst>
          </p:cNvPr>
          <p:cNvSpPr>
            <a:spLocks noGrp="1"/>
          </p:cNvSpPr>
          <p:nvPr>
            <p:ph type="body" sz="quarter" idx="11"/>
          </p:nvPr>
        </p:nvSpPr>
        <p:spPr>
          <a:xfrm>
            <a:off x="900112" y="1700213"/>
            <a:ext cx="7632327" cy="5157787"/>
          </a:xfrm>
        </p:spPr>
        <p:txBody>
          <a:bodyPr/>
          <a:lstStyle/>
          <a:p>
            <a:pPr marL="342900" lvl="0" indent="-342900">
              <a:buFont typeface="Arial" panose="020B0604020202020204" pitchFamily="34" charset="0"/>
              <a:buChar char="•"/>
            </a:pPr>
            <a:r>
              <a:rPr lang="en-GB" sz="2400" dirty="0"/>
              <a:t>In the previous lecture, we showed how a sample can be used to develop point and interval estimates of population parameters.</a:t>
            </a:r>
          </a:p>
          <a:p>
            <a:pPr marL="342900" lvl="0" indent="-342900">
              <a:buFont typeface="Arial" panose="020B0604020202020204" pitchFamily="34" charset="0"/>
              <a:buChar char="•"/>
            </a:pPr>
            <a:r>
              <a:rPr lang="en-GB" sz="2400" dirty="0"/>
              <a:t>In a statistical test, we are making a tentative assumption about a population parameter.</a:t>
            </a:r>
          </a:p>
          <a:p>
            <a:pPr marL="342900" lvl="0" indent="-342900">
              <a:buFont typeface="Arial" panose="020B0604020202020204" pitchFamily="34" charset="0"/>
              <a:buChar char="•"/>
            </a:pPr>
            <a:r>
              <a:rPr lang="en-GB" sz="2400" dirty="0"/>
              <a:t>Depending on findings of the sample we either reject or not reject the assumption.</a:t>
            </a:r>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p:spTree>
    <p:extLst>
      <p:ext uri="{BB962C8B-B14F-4D97-AF65-F5344CB8AC3E}">
        <p14:creationId xmlns:p14="http://schemas.microsoft.com/office/powerpoint/2010/main" val="2343749125"/>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EE301-506F-57A7-18E6-C15352A2F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938B2C-308A-1B28-E236-C1F640C64201}"/>
              </a:ext>
            </a:extLst>
          </p:cNvPr>
          <p:cNvSpPr>
            <a:spLocks noGrp="1"/>
          </p:cNvSpPr>
          <p:nvPr>
            <p:ph type="title"/>
          </p:nvPr>
        </p:nvSpPr>
        <p:spPr/>
        <p:txBody>
          <a:bodyPr>
            <a:normAutofit fontScale="90000"/>
          </a:bodyPr>
          <a:lstStyle/>
          <a:p>
            <a:r>
              <a:rPr lang="en-GB" noProof="0" dirty="0"/>
              <a:t>The 5 steps in hypothesis testing</a:t>
            </a:r>
            <a:br>
              <a:rPr lang="en-GB" noProof="0" dirty="0"/>
            </a:br>
            <a:br>
              <a:rPr lang="en-GB" noProof="0" dirty="0"/>
            </a:br>
            <a:endParaRPr lang="en-GB" noProof="0" dirty="0"/>
          </a:p>
        </p:txBody>
      </p:sp>
      <p:sp>
        <p:nvSpPr>
          <p:cNvPr id="3" name="Text Placeholder 2">
            <a:extLst>
              <a:ext uri="{FF2B5EF4-FFF2-40B4-BE49-F238E27FC236}">
                <a16:creationId xmlns:a16="http://schemas.microsoft.com/office/drawing/2014/main" id="{31D0183B-5BFB-A70D-3F44-2BA5CDEE1CB5}"/>
              </a:ext>
            </a:extLst>
          </p:cNvPr>
          <p:cNvSpPr>
            <a:spLocks noGrp="1"/>
          </p:cNvSpPr>
          <p:nvPr>
            <p:ph type="body" sz="quarter" idx="11"/>
          </p:nvPr>
        </p:nvSpPr>
        <p:spPr>
          <a:xfrm>
            <a:off x="900112" y="1700213"/>
            <a:ext cx="7632327" cy="5157787"/>
          </a:xfrm>
        </p:spPr>
        <p:txBody>
          <a:bodyPr/>
          <a:lstStyle/>
          <a:p>
            <a:r>
              <a:rPr lang="en-GB" sz="2400" dirty="0"/>
              <a:t>Write down what you are testing: Null and alternative hypothesis.</a:t>
            </a:r>
          </a:p>
          <a:p>
            <a:pPr lvl="0"/>
            <a:r>
              <a:rPr lang="en-GB" sz="2400" dirty="0"/>
              <a:t>Compute a test statistic from the sample data.</a:t>
            </a:r>
          </a:p>
          <a:p>
            <a:pPr lvl="0"/>
            <a:r>
              <a:rPr lang="en-GB" sz="2400" dirty="0"/>
              <a:t>Look up a critical value in a statistical table.</a:t>
            </a:r>
          </a:p>
          <a:p>
            <a:pPr lvl="0"/>
            <a:r>
              <a:rPr lang="en-GB" sz="2400" dirty="0"/>
              <a:t>Decision: Reject or not reject the null.</a:t>
            </a:r>
          </a:p>
          <a:p>
            <a:pPr lvl="0"/>
            <a:r>
              <a:rPr lang="en-GB" sz="2400" dirty="0"/>
              <a:t>Conclusion: What can be learned from the test.</a:t>
            </a:r>
          </a:p>
          <a:p>
            <a:pPr lvl="0"/>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p:spTree>
    <p:extLst>
      <p:ext uri="{BB962C8B-B14F-4D97-AF65-F5344CB8AC3E}">
        <p14:creationId xmlns:p14="http://schemas.microsoft.com/office/powerpoint/2010/main" val="2020906701"/>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B9A0C-D5E9-59D6-F3C5-4A46208AE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B8C26-588D-7474-C756-E0505AA3CE5B}"/>
              </a:ext>
            </a:extLst>
          </p:cNvPr>
          <p:cNvSpPr>
            <a:spLocks noGrp="1"/>
          </p:cNvSpPr>
          <p:nvPr>
            <p:ph type="title"/>
          </p:nvPr>
        </p:nvSpPr>
        <p:spPr/>
        <p:txBody>
          <a:bodyPr>
            <a:normAutofit fontScale="90000"/>
          </a:bodyPr>
          <a:lstStyle/>
          <a:p>
            <a:r>
              <a:rPr lang="en-GB" dirty="0"/>
              <a:t>Step 1: Formulate null and alternative hypothesis</a:t>
            </a:r>
            <a:br>
              <a:rPr lang="en-GB" dirty="0"/>
            </a:br>
            <a:r>
              <a:rPr lang="en-GB" dirty="0"/>
              <a:t> </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C97652F-B8E4-BBCC-4325-54BF2D0F773F}"/>
                  </a:ext>
                </a:extLst>
              </p:cNvPr>
              <p:cNvSpPr>
                <a:spLocks noGrp="1"/>
              </p:cNvSpPr>
              <p:nvPr>
                <p:ph type="body" sz="quarter" idx="11"/>
              </p:nvPr>
            </p:nvSpPr>
            <p:spPr>
              <a:xfrm>
                <a:off x="900112" y="1700213"/>
                <a:ext cx="7632327" cy="5157787"/>
              </a:xfrm>
            </p:spPr>
            <p:txBody>
              <a:bodyPr/>
              <a:lstStyle/>
              <a:p>
                <a:pPr marL="342900" lvl="0" indent="-342900">
                  <a:buFont typeface="Arial" panose="020B0604020202020204" pitchFamily="34" charset="0"/>
                  <a:buChar char="•"/>
                </a:pPr>
                <a:r>
                  <a:rPr lang="en-GB" sz="2400" dirty="0"/>
                  <a:t>The </a:t>
                </a:r>
                <a:r>
                  <a:rPr lang="en-GB" sz="2400" dirty="0">
                    <a:solidFill>
                      <a:srgbClr val="FF0000"/>
                    </a:solidFill>
                  </a:rPr>
                  <a:t>null hypothesis </a:t>
                </a:r>
                <a:r>
                  <a:rPr lang="en-GB" sz="2400" dirty="0"/>
                  <a:t>is denoted by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𝐻</m:t>
                        </m:r>
                      </m:e>
                      <m:sub>
                        <m:r>
                          <a:rPr lang="en-GB" sz="2400" b="0" i="1" smtClean="0">
                            <a:latin typeface="Cambria Math" panose="02040503050406030204" pitchFamily="18" charset="0"/>
                          </a:rPr>
                          <m:t>0</m:t>
                        </m:r>
                      </m:sub>
                    </m:sSub>
                  </m:oMath>
                </a14:m>
                <a:r>
                  <a:rPr lang="en-GB" sz="2400" dirty="0"/>
                  <a:t>. The alternative hypothesis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𝐻</m:t>
                        </m:r>
                      </m:e>
                      <m:sub>
                        <m:r>
                          <a:rPr lang="en-GB" sz="2400" b="0" i="1" smtClean="0">
                            <a:latin typeface="Cambria Math" panose="02040503050406030204" pitchFamily="18" charset="0"/>
                          </a:rPr>
                          <m:t>1</m:t>
                        </m:r>
                      </m:sub>
                    </m:sSub>
                  </m:oMath>
                </a14:m>
                <a:r>
                  <a:rPr lang="en-GB" sz="2400" dirty="0"/>
                  <a:t> is the opposite.</a:t>
                </a:r>
              </a:p>
              <a:p>
                <a:pPr marL="342900" lvl="0" indent="-342900">
                  <a:buFont typeface="Arial" panose="020B0604020202020204" pitchFamily="34" charset="0"/>
                  <a:buChar char="•"/>
                </a:pPr>
                <a:r>
                  <a:rPr lang="en-GB" sz="2400" dirty="0"/>
                  <a:t>Hypotheses are made about the population.</a:t>
                </a:r>
              </a:p>
              <a:p>
                <a:pPr marL="342900" lvl="0" indent="-342900">
                  <a:buFont typeface="Arial" panose="020B0604020202020204" pitchFamily="34" charset="0"/>
                  <a:buChar char="•"/>
                </a:pPr>
                <a:r>
                  <a:rPr lang="en-GB" sz="2400" dirty="0"/>
                  <a:t>Often the researcher puts what they want to show in the alternative. If they can reject the null, they have shown what they want to show. </a:t>
                </a:r>
              </a:p>
              <a:p>
                <a:pPr marL="342900" lvl="0" indent="-342900">
                  <a:buFont typeface="Arial" panose="020B0604020202020204" pitchFamily="34" charset="0"/>
                  <a:buChar char="•"/>
                </a:pPr>
                <a:endParaRPr lang="en-GB" sz="2400" dirty="0"/>
              </a:p>
              <a:p>
                <a:pPr marL="0" lvl="0" indent="0">
                  <a:buNone/>
                </a:pPr>
                <a:r>
                  <a:rPr lang="en-GB" sz="2400" dirty="0"/>
                  <a:t>Example:</a:t>
                </a:r>
              </a:p>
              <a:p>
                <a:pPr marL="0" lvl="0" indent="0">
                  <a:buNone/>
                </a:pPr>
                <a14:m>
                  <m:oMathPara xmlns:m="http://schemas.openxmlformats.org/officeDocument/2006/math">
                    <m:oMathParaPr>
                      <m:jc m:val="left"/>
                    </m:oMathParaPr>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𝐻</m:t>
                          </m:r>
                        </m:e>
                        <m:sub>
                          <m:r>
                            <a:rPr lang="en-GB" sz="2400" b="0" i="1" smtClean="0">
                              <a:latin typeface="Cambria Math" panose="02040503050406030204" pitchFamily="18" charset="0"/>
                            </a:rPr>
                            <m:t>0</m:t>
                          </m:r>
                        </m:sub>
                      </m:sSub>
                      <m:r>
                        <a:rPr lang="en-GB" sz="2400" b="0" i="1" smtClean="0">
                          <a:latin typeface="Cambria Math" panose="02040503050406030204" pitchFamily="18" charset="0"/>
                        </a:rPr>
                        <m:t>: </m:t>
                      </m:r>
                      <m:r>
                        <a:rPr lang="en-GB" sz="2400" b="0" i="1" smtClean="0">
                          <a:latin typeface="Cambria Math" panose="02040503050406030204" pitchFamily="18" charset="0"/>
                          <a:ea typeface="Cambria Math" panose="02040503050406030204" pitchFamily="18" charset="0"/>
                        </a:rPr>
                        <m:t>𝜇</m:t>
                      </m:r>
                      <m:r>
                        <a:rPr lang="en-GB" sz="2400" b="0" i="1" smtClean="0">
                          <a:latin typeface="Cambria Math" panose="02040503050406030204" pitchFamily="18" charset="0"/>
                          <a:ea typeface="Cambria Math" panose="02040503050406030204" pitchFamily="18" charset="0"/>
                        </a:rPr>
                        <m:t>=</m:t>
                      </m:r>
                      <m:sSub>
                        <m:sSubPr>
                          <m:ctrlPr>
                            <a:rPr lang="en-GB" sz="2400" b="0" i="1" smtClean="0">
                              <a:latin typeface="Cambria Math" panose="02040503050406030204" pitchFamily="18" charset="0"/>
                              <a:ea typeface="Cambria Math" panose="02040503050406030204" pitchFamily="18" charset="0"/>
                            </a:rPr>
                          </m:ctrlPr>
                        </m:sSubPr>
                        <m:e>
                          <m:r>
                            <a:rPr lang="en-GB" sz="2400" b="0" i="1" smtClean="0">
                              <a:latin typeface="Cambria Math" panose="02040503050406030204" pitchFamily="18" charset="0"/>
                              <a:ea typeface="Cambria Math" panose="02040503050406030204" pitchFamily="18" charset="0"/>
                            </a:rPr>
                            <m:t>𝜇</m:t>
                          </m:r>
                        </m:e>
                        <m:sub>
                          <m:r>
                            <a:rPr lang="en-GB" sz="2400" b="0" i="1" smtClean="0">
                              <a:latin typeface="Cambria Math" panose="02040503050406030204" pitchFamily="18" charset="0"/>
                              <a:ea typeface="Cambria Math" panose="02040503050406030204" pitchFamily="18" charset="0"/>
                            </a:rPr>
                            <m:t>0</m:t>
                          </m:r>
                        </m:sub>
                      </m:sSub>
                    </m:oMath>
                  </m:oMathPara>
                </a14:m>
                <a:endParaRPr lang="en-GB" sz="2400" b="0" dirty="0">
                  <a:ea typeface="Cambria Math" panose="02040503050406030204" pitchFamily="18" charset="0"/>
                </a:endParaRPr>
              </a:p>
              <a:p>
                <a:pPr marL="0" lvl="0" indent="0">
                  <a:buNone/>
                </a:pPr>
                <a14:m>
                  <m:oMathPara xmlns:m="http://schemas.openxmlformats.org/officeDocument/2006/math">
                    <m:oMathParaPr>
                      <m:jc m:val="left"/>
                    </m:oMathParaPr>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𝐻</m:t>
                          </m:r>
                        </m:e>
                        <m:sub>
                          <m:r>
                            <a:rPr lang="en-GB" sz="2400" b="0" i="1" smtClean="0">
                              <a:latin typeface="Cambria Math" panose="02040503050406030204" pitchFamily="18" charset="0"/>
                            </a:rPr>
                            <m:t>1</m:t>
                          </m:r>
                        </m:sub>
                      </m:sSub>
                      <m:r>
                        <a:rPr lang="en-GB" sz="2400" i="1">
                          <a:latin typeface="Cambria Math" panose="02040503050406030204" pitchFamily="18" charset="0"/>
                        </a:rPr>
                        <m:t>: </m:t>
                      </m:r>
                      <m:r>
                        <a:rPr lang="en-GB" sz="2400" i="1">
                          <a:latin typeface="Cambria Math" panose="02040503050406030204" pitchFamily="18" charset="0"/>
                          <a:ea typeface="Cambria Math" panose="02040503050406030204" pitchFamily="18" charset="0"/>
                        </a:rPr>
                        <m:t>𝜇</m:t>
                      </m:r>
                      <m:r>
                        <a:rPr lang="en-GB" sz="2400" i="1" smtClean="0">
                          <a:latin typeface="Cambria Math" panose="02040503050406030204" pitchFamily="18" charset="0"/>
                          <a:ea typeface="Cambria Math" panose="02040503050406030204" pitchFamily="18" charset="0"/>
                        </a:rPr>
                        <m:t>≠</m:t>
                      </m:r>
                      <m:sSub>
                        <m:sSubPr>
                          <m:ctrlPr>
                            <a:rPr lang="en-GB" sz="2400" i="1">
                              <a:latin typeface="Cambria Math" panose="02040503050406030204" pitchFamily="18" charset="0"/>
                              <a:ea typeface="Cambria Math" panose="02040503050406030204" pitchFamily="18" charset="0"/>
                            </a:rPr>
                          </m:ctrlPr>
                        </m:sSubPr>
                        <m:e>
                          <m:r>
                            <a:rPr lang="en-GB" sz="2400" i="1">
                              <a:latin typeface="Cambria Math" panose="02040503050406030204" pitchFamily="18" charset="0"/>
                              <a:ea typeface="Cambria Math" panose="02040503050406030204" pitchFamily="18" charset="0"/>
                            </a:rPr>
                            <m:t>𝜇</m:t>
                          </m:r>
                        </m:e>
                        <m:sub>
                          <m:r>
                            <a:rPr lang="en-GB" sz="2400" i="1">
                              <a:latin typeface="Cambria Math" panose="02040503050406030204" pitchFamily="18" charset="0"/>
                              <a:ea typeface="Cambria Math" panose="02040503050406030204" pitchFamily="18" charset="0"/>
                            </a:rPr>
                            <m:t>0</m:t>
                          </m:r>
                        </m:sub>
                      </m:sSub>
                    </m:oMath>
                  </m:oMathPara>
                </a14:m>
                <a:endParaRPr lang="en-GB" sz="2400" dirty="0"/>
              </a:p>
              <a:p>
                <a:pPr marL="0" lvl="0" indent="0">
                  <a:buNone/>
                </a:pPr>
                <a:r>
                  <a:rPr lang="en-GB" sz="2400" dirty="0"/>
                  <a:t>The null is that the population mean is equal to some value.</a:t>
                </a:r>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0C97652F-B8E4-BBCC-4325-54BF2D0F773F}"/>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891"/>
                </a:stretch>
              </a:blipFill>
            </p:spPr>
            <p:txBody>
              <a:bodyPr/>
              <a:lstStyle/>
              <a:p>
                <a:r>
                  <a:rPr lang="en-GB">
                    <a:noFill/>
                  </a:rPr>
                  <a:t> </a:t>
                </a:r>
              </a:p>
            </p:txBody>
          </p:sp>
        </mc:Fallback>
      </mc:AlternateContent>
    </p:spTree>
    <p:extLst>
      <p:ext uri="{BB962C8B-B14F-4D97-AF65-F5344CB8AC3E}">
        <p14:creationId xmlns:p14="http://schemas.microsoft.com/office/powerpoint/2010/main" val="3250932784"/>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AAFF3-C442-B897-53BB-DC632E9627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30839-C959-B2D2-0547-13E747B6A45B}"/>
              </a:ext>
            </a:extLst>
          </p:cNvPr>
          <p:cNvSpPr>
            <a:spLocks noGrp="1"/>
          </p:cNvSpPr>
          <p:nvPr>
            <p:ph type="title"/>
          </p:nvPr>
        </p:nvSpPr>
        <p:spPr/>
        <p:txBody>
          <a:bodyPr>
            <a:normAutofit fontScale="90000"/>
          </a:bodyPr>
          <a:lstStyle/>
          <a:p>
            <a:r>
              <a:rPr lang="en-GB" dirty="0"/>
              <a:t>Step 2: Compute a test statistic from the sample data</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12CABEA-D5D2-15C3-B2DD-1CF623AF62C1}"/>
                  </a:ext>
                </a:extLst>
              </p:cNvPr>
              <p:cNvSpPr>
                <a:spLocks noGrp="1"/>
              </p:cNvSpPr>
              <p:nvPr>
                <p:ph type="body" sz="quarter" idx="11"/>
              </p:nvPr>
            </p:nvSpPr>
            <p:spPr>
              <a:xfrm>
                <a:off x="900112" y="1700213"/>
                <a:ext cx="7632327" cy="5157787"/>
              </a:xfrm>
            </p:spPr>
            <p:txBody>
              <a:bodyPr/>
              <a:lstStyle/>
              <a:p>
                <a:pPr marL="342900" lvl="0" indent="-342900">
                  <a:buFont typeface="Arial" panose="020B0604020202020204" pitchFamily="34" charset="0"/>
                  <a:buChar char="•"/>
                </a:pPr>
                <a:r>
                  <a:rPr lang="en-GB" sz="2400" dirty="0"/>
                  <a:t>The </a:t>
                </a:r>
                <a:r>
                  <a:rPr lang="en-GB" sz="2400" dirty="0">
                    <a:solidFill>
                      <a:srgbClr val="FF0000"/>
                    </a:solidFill>
                  </a:rPr>
                  <a:t>test statistic </a:t>
                </a:r>
                <a:r>
                  <a:rPr lang="en-GB" sz="2400" dirty="0"/>
                  <a:t>depends on what statistical test we are doing. </a:t>
                </a:r>
              </a:p>
              <a:p>
                <a:pPr marL="342900" lvl="0" indent="-342900">
                  <a:buFont typeface="Arial" panose="020B0604020202020204" pitchFamily="34" charset="0"/>
                  <a:buChar char="•"/>
                </a:pPr>
                <a:r>
                  <a:rPr lang="en-GB" sz="2400" dirty="0"/>
                  <a:t>It can be for example a </a:t>
                </a:r>
                <a:r>
                  <a:rPr lang="en-GB" sz="2400" i="1" dirty="0"/>
                  <a:t>z</a:t>
                </a:r>
                <a:r>
                  <a:rPr lang="en-GB" sz="2400" dirty="0"/>
                  <a:t> value computed from sample data.</a:t>
                </a:r>
              </a:p>
              <a:p>
                <a:pPr marL="0" lvl="0" indent="0">
                  <a:buNone/>
                </a:pPr>
                <a:endParaRPr lang="en-GB" sz="2400" dirty="0"/>
              </a:p>
              <a:p>
                <a:pPr marL="0" lvl="0" indent="0">
                  <a:buNone/>
                </a:pPr>
                <a:r>
                  <a:rPr lang="en-GB" sz="2400" dirty="0"/>
                  <a:t>Example:</a:t>
                </a:r>
              </a:p>
              <a:p>
                <a:pPr marL="0" lvl="0" indent="0">
                  <a:buNone/>
                </a:pPr>
                <a:r>
                  <a:rPr lang="en-GB" sz="2400" dirty="0"/>
                  <a:t>This is the </a:t>
                </a:r>
                <a:r>
                  <a:rPr lang="en-GB" sz="2400" i="1" dirty="0"/>
                  <a:t>z</a:t>
                </a:r>
                <a:r>
                  <a:rPr lang="en-GB" sz="2400" dirty="0"/>
                  <a:t> value of the sample mean</a:t>
                </a:r>
              </a:p>
              <a:p>
                <a:pPr marL="0" lvl="0" inden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𝑧</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𝑥</m:t>
                              </m:r>
                            </m:e>
                          </m:acc>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ea typeface="Cambria Math" panose="02040503050406030204" pitchFamily="18" charset="0"/>
                                </a:rPr>
                                <m:t>𝜇</m:t>
                              </m:r>
                            </m:e>
                            <m:sub>
                              <m:r>
                                <a:rPr lang="en-GB" sz="2400" b="0" i="1" smtClean="0">
                                  <a:latin typeface="Cambria Math" panose="02040503050406030204" pitchFamily="18" charset="0"/>
                                </a:rPr>
                                <m:t>0</m:t>
                              </m:r>
                            </m:sub>
                          </m:sSub>
                        </m:num>
                        <m:den>
                          <m:f>
                            <m:fPr>
                              <m:type m:val="lin"/>
                              <m:ctrlPr>
                                <a:rPr lang="en-GB" sz="2400" b="0" i="1" smtClean="0">
                                  <a:latin typeface="Cambria Math" panose="02040503050406030204" pitchFamily="18" charset="0"/>
                                </a:rPr>
                              </m:ctrlPr>
                            </m:fPr>
                            <m:num>
                              <m:r>
                                <a:rPr lang="en-GB" sz="2400" b="0" i="1" smtClean="0">
                                  <a:latin typeface="Cambria Math" panose="02040503050406030204" pitchFamily="18" charset="0"/>
                                  <a:ea typeface="Cambria Math" panose="02040503050406030204" pitchFamily="18" charset="0"/>
                                </a:rPr>
                                <m:t>𝜎</m:t>
                              </m:r>
                            </m:num>
                            <m:den>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𝑛</m:t>
                                  </m:r>
                                </m:e>
                              </m:rad>
                            </m:den>
                          </m:f>
                        </m:den>
                      </m:f>
                    </m:oMath>
                  </m:oMathPara>
                </a14:m>
                <a:endParaRPr lang="en-GB" sz="2400" dirty="0"/>
              </a:p>
              <a:p>
                <a:pPr marL="0" lvl="0" indent="0">
                  <a:buNone/>
                </a:pPr>
                <a:r>
                  <a:rPr lang="en-GB" sz="2400" dirty="0"/>
                  <a:t>We know that </a:t>
                </a:r>
                <a14:m>
                  <m:oMath xmlns:m="http://schemas.openxmlformats.org/officeDocument/2006/math">
                    <m:r>
                      <a:rPr lang="en-GB" sz="2400" b="0" i="1" smtClean="0">
                        <a:latin typeface="Cambria Math" panose="02040503050406030204" pitchFamily="18" charset="0"/>
                      </a:rPr>
                      <m:t>𝐸</m:t>
                    </m:r>
                    <m:d>
                      <m:dPr>
                        <m:begChr m:val="["/>
                        <m:endChr m:val="]"/>
                        <m:ctrlPr>
                          <a:rPr lang="en-GB" sz="2400" b="0" i="1" smtClean="0">
                            <a:latin typeface="Cambria Math" panose="02040503050406030204" pitchFamily="18" charset="0"/>
                          </a:rPr>
                        </m:ctrlPr>
                      </m:d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𝑥</m:t>
                            </m:r>
                          </m:e>
                        </m:acc>
                      </m:e>
                    </m:d>
                    <m:r>
                      <a:rPr lang="en-GB" sz="2400" b="0" i="1" smtClean="0">
                        <a:latin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𝜇</m:t>
                    </m:r>
                  </m:oMath>
                </a14:m>
                <a:r>
                  <a:rPr lang="en-GB" sz="2400" dirty="0"/>
                  <a:t>. So, if the null is true (</a:t>
                </a:r>
                <a14:m>
                  <m:oMath xmlns:m="http://schemas.openxmlformats.org/officeDocument/2006/math">
                    <m:r>
                      <a:rPr lang="en-GB" sz="2400" i="1" smtClean="0">
                        <a:latin typeface="Cambria Math" panose="02040503050406030204" pitchFamily="18" charset="0"/>
                        <a:ea typeface="Cambria Math" panose="02040503050406030204" pitchFamily="18" charset="0"/>
                      </a:rPr>
                      <m:t>𝜇</m:t>
                    </m:r>
                    <m:r>
                      <a:rPr lang="en-GB" sz="2400" b="0" i="1" smtClean="0">
                        <a:latin typeface="Cambria Math" panose="02040503050406030204" pitchFamily="18" charset="0"/>
                        <a:ea typeface="Cambria Math" panose="02040503050406030204" pitchFamily="18" charset="0"/>
                      </a:rPr>
                      <m:t>=</m:t>
                    </m:r>
                    <m:sSub>
                      <m:sSubPr>
                        <m:ctrlPr>
                          <a:rPr lang="en-GB" sz="2400" b="0" i="1" smtClean="0">
                            <a:latin typeface="Cambria Math" panose="02040503050406030204" pitchFamily="18" charset="0"/>
                            <a:ea typeface="Cambria Math" panose="02040503050406030204" pitchFamily="18" charset="0"/>
                          </a:rPr>
                        </m:ctrlPr>
                      </m:sSubPr>
                      <m:e>
                        <m:r>
                          <a:rPr lang="en-GB" sz="2400" b="0" i="1" smtClean="0">
                            <a:latin typeface="Cambria Math" panose="02040503050406030204" pitchFamily="18" charset="0"/>
                            <a:ea typeface="Cambria Math" panose="02040503050406030204" pitchFamily="18" charset="0"/>
                          </a:rPr>
                          <m:t>𝜇</m:t>
                        </m:r>
                      </m:e>
                      <m:sub>
                        <m:r>
                          <a:rPr lang="en-GB" sz="2400" b="0" i="1" smtClean="0">
                            <a:latin typeface="Cambria Math" panose="02040503050406030204" pitchFamily="18" charset="0"/>
                            <a:ea typeface="Cambria Math" panose="02040503050406030204" pitchFamily="18" charset="0"/>
                          </a:rPr>
                          <m:t>0</m:t>
                        </m:r>
                      </m:sub>
                    </m:sSub>
                  </m:oMath>
                </a14:m>
                <a:r>
                  <a:rPr lang="en-GB" sz="2400" dirty="0"/>
                  <a:t>) then </a:t>
                </a:r>
                <a14:m>
                  <m:oMath xmlns:m="http://schemas.openxmlformats.org/officeDocument/2006/math">
                    <m:r>
                      <a:rPr lang="en-GB" sz="2400" b="0" i="1" smtClean="0">
                        <a:latin typeface="Cambria Math" panose="02040503050406030204" pitchFamily="18" charset="0"/>
                      </a:rPr>
                      <m:t>𝐸</m:t>
                    </m:r>
                    <m:d>
                      <m:dPr>
                        <m:begChr m:val="["/>
                        <m:endChr m:val="]"/>
                        <m:ctrlPr>
                          <a:rPr lang="en-GB" sz="2400" b="0" i="1" smtClean="0">
                            <a:latin typeface="Cambria Math" panose="02040503050406030204" pitchFamily="18" charset="0"/>
                          </a:rPr>
                        </m:ctrlPr>
                      </m:dPr>
                      <m:e>
                        <m:r>
                          <a:rPr lang="en-GB" sz="2400" b="0" i="1" smtClean="0">
                            <a:latin typeface="Cambria Math" panose="02040503050406030204" pitchFamily="18" charset="0"/>
                          </a:rPr>
                          <m:t>𝑧</m:t>
                        </m:r>
                      </m:e>
                    </m:d>
                    <m:r>
                      <a:rPr lang="en-GB" sz="2400" b="0" i="1" smtClean="0">
                        <a:latin typeface="Cambria Math" panose="02040503050406030204" pitchFamily="18" charset="0"/>
                      </a:rPr>
                      <m:t>=0</m:t>
                    </m:r>
                  </m:oMath>
                </a14:m>
                <a:r>
                  <a:rPr lang="en-GB" sz="2400" dirty="0"/>
                  <a:t>. If </a:t>
                </a:r>
                <a:r>
                  <a:rPr lang="en-GB" sz="2400" i="1" dirty="0"/>
                  <a:t>z</a:t>
                </a:r>
                <a:r>
                  <a:rPr lang="en-GB" sz="2400" dirty="0"/>
                  <a:t> is far enough away from zero, then the null is probably not true.</a:t>
                </a:r>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B12CABEA-D5D2-15C3-B2DD-1CF623AF62C1}"/>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891"/>
                </a:stretch>
              </a:blipFill>
            </p:spPr>
            <p:txBody>
              <a:bodyPr/>
              <a:lstStyle/>
              <a:p>
                <a:r>
                  <a:rPr lang="en-GB">
                    <a:noFill/>
                  </a:rPr>
                  <a:t> </a:t>
                </a:r>
              </a:p>
            </p:txBody>
          </p:sp>
        </mc:Fallback>
      </mc:AlternateContent>
    </p:spTree>
    <p:extLst>
      <p:ext uri="{BB962C8B-B14F-4D97-AF65-F5344CB8AC3E}">
        <p14:creationId xmlns:p14="http://schemas.microsoft.com/office/powerpoint/2010/main" val="1126221551"/>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FE84F-DC4A-E789-0358-81F551719C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745DE-854E-9BAF-930A-A6313DBEDACD}"/>
              </a:ext>
            </a:extLst>
          </p:cNvPr>
          <p:cNvSpPr>
            <a:spLocks noGrp="1"/>
          </p:cNvSpPr>
          <p:nvPr>
            <p:ph type="title"/>
          </p:nvPr>
        </p:nvSpPr>
        <p:spPr/>
        <p:txBody>
          <a:bodyPr>
            <a:normAutofit fontScale="90000"/>
          </a:bodyPr>
          <a:lstStyle/>
          <a:p>
            <a:r>
              <a:rPr lang="en-GB" dirty="0"/>
              <a:t>Step 3: Look up a critical value in a statistical table</a:t>
            </a:r>
            <a:br>
              <a:rPr lang="en-GB" noProof="0" dirty="0"/>
            </a:br>
            <a:br>
              <a:rPr lang="en-GB" noProof="0" dirty="0"/>
            </a:br>
            <a:endParaRPr lang="en-GB" noProof="0" dirty="0"/>
          </a:p>
        </p:txBody>
      </p:sp>
      <p:sp>
        <p:nvSpPr>
          <p:cNvPr id="3" name="Text Placeholder 2">
            <a:extLst>
              <a:ext uri="{FF2B5EF4-FFF2-40B4-BE49-F238E27FC236}">
                <a16:creationId xmlns:a16="http://schemas.microsoft.com/office/drawing/2014/main" id="{C13B3C94-FD9D-BC99-C3D7-9B637E91B672}"/>
              </a:ext>
            </a:extLst>
          </p:cNvPr>
          <p:cNvSpPr>
            <a:spLocks noGrp="1"/>
          </p:cNvSpPr>
          <p:nvPr>
            <p:ph type="body" sz="quarter" idx="11"/>
          </p:nvPr>
        </p:nvSpPr>
        <p:spPr>
          <a:xfrm>
            <a:off x="900112" y="1700213"/>
            <a:ext cx="7632327" cy="5157787"/>
          </a:xfrm>
        </p:spPr>
        <p:txBody>
          <a:bodyPr/>
          <a:lstStyle/>
          <a:p>
            <a:pPr marL="342900" lvl="0" indent="-342900">
              <a:buFont typeface="Arial" panose="020B0604020202020204" pitchFamily="34" charset="0"/>
              <a:buChar char="•"/>
            </a:pPr>
            <a:r>
              <a:rPr lang="en-GB" sz="2400" dirty="0"/>
              <a:t>The </a:t>
            </a:r>
            <a:r>
              <a:rPr lang="en-GB" sz="2400" dirty="0">
                <a:solidFill>
                  <a:srgbClr val="FF0000"/>
                </a:solidFill>
              </a:rPr>
              <a:t>critical value </a:t>
            </a:r>
            <a:r>
              <a:rPr lang="en-GB" sz="2400" dirty="0"/>
              <a:t>is the dividing point between the region where the null hypothesis is rejected and the region where it is not rejected.</a:t>
            </a:r>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p:pic>
        <p:nvPicPr>
          <p:cNvPr id="5" name="Picture 4">
            <a:extLst>
              <a:ext uri="{FF2B5EF4-FFF2-40B4-BE49-F238E27FC236}">
                <a16:creationId xmlns:a16="http://schemas.microsoft.com/office/drawing/2014/main" id="{04DC2CDE-D68C-E167-BE5E-58FC4C4FA45D}"/>
              </a:ext>
            </a:extLst>
          </p:cNvPr>
          <p:cNvPicPr>
            <a:picLocks noChangeAspect="1"/>
          </p:cNvPicPr>
          <p:nvPr/>
        </p:nvPicPr>
        <p:blipFill>
          <a:blip r:embed="rId2"/>
          <a:stretch>
            <a:fillRect/>
          </a:stretch>
        </p:blipFill>
        <p:spPr>
          <a:xfrm>
            <a:off x="1043608" y="2924944"/>
            <a:ext cx="4525006" cy="3286584"/>
          </a:xfrm>
          <a:prstGeom prst="rect">
            <a:avLst/>
          </a:prstGeom>
        </p:spPr>
      </p:pic>
    </p:spTree>
    <p:extLst>
      <p:ext uri="{BB962C8B-B14F-4D97-AF65-F5344CB8AC3E}">
        <p14:creationId xmlns:p14="http://schemas.microsoft.com/office/powerpoint/2010/main" val="3904573691"/>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4176D-7715-5A86-7344-13C9BEB70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4B1CC-A8EB-C8CF-1FB5-8284CB75E354}"/>
              </a:ext>
            </a:extLst>
          </p:cNvPr>
          <p:cNvSpPr>
            <a:spLocks noGrp="1"/>
          </p:cNvSpPr>
          <p:nvPr>
            <p:ph type="title"/>
          </p:nvPr>
        </p:nvSpPr>
        <p:spPr/>
        <p:txBody>
          <a:bodyPr>
            <a:normAutofit fontScale="90000"/>
          </a:bodyPr>
          <a:lstStyle/>
          <a:p>
            <a:r>
              <a:rPr lang="en-GB" dirty="0"/>
              <a:t>Step 3 continues</a:t>
            </a:r>
            <a:br>
              <a:rPr lang="en-GB" noProof="0" dirty="0"/>
            </a:br>
            <a:br>
              <a:rPr lang="en-GB" noProof="0" dirty="0"/>
            </a:br>
            <a:endParaRPr lang="en-GB" noProof="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D6B40B3F-F9CC-1332-BBC8-E6ACFFD0A543}"/>
                  </a:ext>
                </a:extLst>
              </p:cNvPr>
              <p:cNvSpPr>
                <a:spLocks noGrp="1"/>
              </p:cNvSpPr>
              <p:nvPr>
                <p:ph type="body" sz="quarter" idx="11"/>
              </p:nvPr>
            </p:nvSpPr>
            <p:spPr>
              <a:xfrm>
                <a:off x="900112" y="1700213"/>
                <a:ext cx="7632327" cy="5157787"/>
              </a:xfrm>
            </p:spPr>
            <p:txBody>
              <a:bodyPr/>
              <a:lstStyle/>
              <a:p>
                <a:pPr marL="342900" lvl="0" indent="-342900">
                  <a:buFont typeface="Arial" panose="020B0604020202020204" pitchFamily="34" charset="0"/>
                  <a:buChar char="•"/>
                </a:pPr>
                <a:r>
                  <a:rPr lang="en-GB" sz="2400" dirty="0"/>
                  <a:t>To determine the region of rejection, the </a:t>
                </a:r>
                <a:r>
                  <a:rPr lang="en-GB" sz="2400" dirty="0">
                    <a:solidFill>
                      <a:srgbClr val="FF0000"/>
                    </a:solidFill>
                  </a:rPr>
                  <a:t>level of significance, </a:t>
                </a:r>
                <a14:m>
                  <m:oMath xmlns:m="http://schemas.openxmlformats.org/officeDocument/2006/math">
                    <m:r>
                      <a:rPr lang="en-GB" sz="2400" i="1" smtClean="0">
                        <a:solidFill>
                          <a:srgbClr val="FF0000"/>
                        </a:solidFill>
                        <a:latin typeface="Cambria Math" panose="02040503050406030204" pitchFamily="18" charset="0"/>
                        <a:ea typeface="Cambria Math" panose="02040503050406030204" pitchFamily="18" charset="0"/>
                      </a:rPr>
                      <m:t>𝛼</m:t>
                    </m:r>
                    <m:r>
                      <a:rPr lang="en-GB" sz="2400" b="0" i="1" smtClean="0">
                        <a:solidFill>
                          <a:srgbClr val="FF0000"/>
                        </a:solidFill>
                        <a:latin typeface="Cambria Math" panose="02040503050406030204" pitchFamily="18" charset="0"/>
                        <a:ea typeface="Cambria Math" panose="02040503050406030204" pitchFamily="18" charset="0"/>
                      </a:rPr>
                      <m:t>,</m:t>
                    </m:r>
                  </m:oMath>
                </a14:m>
                <a:r>
                  <a:rPr lang="en-GB" sz="2400" dirty="0">
                    <a:solidFill>
                      <a:srgbClr val="FF0000"/>
                    </a:solidFill>
                  </a:rPr>
                  <a:t> </a:t>
                </a:r>
                <a:r>
                  <a:rPr lang="en-GB" sz="2400" dirty="0"/>
                  <a:t>is chosen by the researcher. Often 5% or 1% is used.</a:t>
                </a:r>
              </a:p>
              <a:p>
                <a:pPr marL="342900" lvl="0" indent="-342900">
                  <a:buFont typeface="Arial" panose="020B0604020202020204" pitchFamily="34" charset="0"/>
                  <a:buChar char="•"/>
                </a:pPr>
                <a:r>
                  <a:rPr lang="en-GB" sz="2400" dirty="0"/>
                  <a:t>Which statistical distribution is relevant to look up the critical value depends on the type of the test performed.</a:t>
                </a:r>
              </a:p>
              <a:p>
                <a:pPr marL="342900" lvl="0" indent="-342900">
                  <a:buFont typeface="Arial" panose="020B0604020202020204" pitchFamily="34" charset="0"/>
                  <a:buChar char="•"/>
                </a:pPr>
                <a:r>
                  <a:rPr lang="en-GB" sz="2400" dirty="0"/>
                  <a:t>If the test is a two-sided or two-tailed test, </a:t>
                </a:r>
                <a14:m>
                  <m:oMath xmlns:m="http://schemas.openxmlformats.org/officeDocument/2006/math">
                    <m:r>
                      <a:rPr lang="en-GB" sz="2400" i="1" smtClean="0">
                        <a:latin typeface="Cambria Math" panose="02040503050406030204" pitchFamily="18" charset="0"/>
                        <a:ea typeface="Cambria Math" panose="02040503050406030204" pitchFamily="18" charset="0"/>
                      </a:rPr>
                      <m:t>𝛼</m:t>
                    </m:r>
                    <m:r>
                      <a:rPr lang="en-GB" sz="2400" b="0" i="1" smtClean="0">
                        <a:latin typeface="Cambria Math" panose="02040503050406030204" pitchFamily="18" charset="0"/>
                        <a:ea typeface="Cambria Math" panose="02040503050406030204" pitchFamily="18" charset="0"/>
                      </a:rPr>
                      <m:t>/2</m:t>
                    </m:r>
                  </m:oMath>
                </a14:m>
                <a:r>
                  <a:rPr lang="en-GB" sz="2400" dirty="0"/>
                  <a:t> is put in each tail.</a:t>
                </a:r>
              </a:p>
              <a:p>
                <a:pPr marL="342900" lvl="0" indent="-342900">
                  <a:buFont typeface="Arial" panose="020B0604020202020204" pitchFamily="34" charset="0"/>
                  <a:buChar char="•"/>
                </a:pPr>
                <a:r>
                  <a:rPr lang="en-GB" sz="2400" dirty="0"/>
                  <a:t>If the test is a one-sided test, the full rejection area is put in one tail.</a:t>
                </a:r>
              </a:p>
              <a:p>
                <a:pPr marL="342900" lvl="0" indent="-342900">
                  <a:buFont typeface="Arial" panose="020B0604020202020204" pitchFamily="34" charset="0"/>
                  <a:buChar char="•"/>
                </a:pPr>
                <a:r>
                  <a:rPr lang="en-GB" sz="2400" dirty="0"/>
                  <a:t>The level of confidence is defined as </a:t>
                </a:r>
                <a14:m>
                  <m:oMath xmlns:m="http://schemas.openxmlformats.org/officeDocument/2006/math">
                    <m:r>
                      <a:rPr lang="en-GB" sz="2400" b="0" i="1" smtClean="0">
                        <a:latin typeface="Cambria Math" panose="02040503050406030204" pitchFamily="18" charset="0"/>
                      </a:rPr>
                      <m:t>(1−</m:t>
                    </m:r>
                    <m:r>
                      <a:rPr lang="en-GB" sz="2400" b="0" i="1" smtClean="0">
                        <a:latin typeface="Cambria Math" panose="02040503050406030204" pitchFamily="18" charset="0"/>
                        <a:ea typeface="Cambria Math" panose="02040503050406030204" pitchFamily="18" charset="0"/>
                      </a:rPr>
                      <m:t>𝛼</m:t>
                    </m:r>
                    <m:r>
                      <a:rPr lang="en-GB" sz="2400" b="0" i="1" smtClean="0">
                        <a:latin typeface="Cambria Math" panose="02040503050406030204" pitchFamily="18" charset="0"/>
                        <a:ea typeface="Cambria Math" panose="02040503050406030204" pitchFamily="18" charset="0"/>
                      </a:rPr>
                      <m:t>)</m:t>
                    </m:r>
                  </m:oMath>
                </a14:m>
                <a:r>
                  <a:rPr lang="en-GB" sz="2400" dirty="0"/>
                  <a:t>.</a:t>
                </a:r>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p:sp>
            <p:nvSpPr>
              <p:cNvPr id="3" name="Text Placeholder 2">
                <a:extLst>
                  <a:ext uri="{FF2B5EF4-FFF2-40B4-BE49-F238E27FC236}">
                    <a16:creationId xmlns:a16="http://schemas.microsoft.com/office/drawing/2014/main" id="{D6B40B3F-F9CC-1332-BBC8-E6ACFFD0A543}"/>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316" t="-1891" r="-80"/>
                </a:stretch>
              </a:blipFill>
            </p:spPr>
            <p:txBody>
              <a:bodyPr/>
              <a:lstStyle/>
              <a:p>
                <a:r>
                  <a:rPr lang="en-GB">
                    <a:noFill/>
                  </a:rPr>
                  <a:t> </a:t>
                </a:r>
              </a:p>
            </p:txBody>
          </p:sp>
        </mc:Fallback>
      </mc:AlternateContent>
    </p:spTree>
    <p:extLst>
      <p:ext uri="{BB962C8B-B14F-4D97-AF65-F5344CB8AC3E}">
        <p14:creationId xmlns:p14="http://schemas.microsoft.com/office/powerpoint/2010/main" val="1093350303"/>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DC8F-5090-E5B6-11C0-FD2700CF9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87C66-05BC-8422-7DE8-A5215DD6A1FF}"/>
              </a:ext>
            </a:extLst>
          </p:cNvPr>
          <p:cNvSpPr>
            <a:spLocks noGrp="1"/>
          </p:cNvSpPr>
          <p:nvPr>
            <p:ph type="title"/>
          </p:nvPr>
        </p:nvSpPr>
        <p:spPr/>
        <p:txBody>
          <a:bodyPr>
            <a:normAutofit fontScale="90000"/>
          </a:bodyPr>
          <a:lstStyle/>
          <a:p>
            <a:r>
              <a:rPr lang="en-GB" dirty="0"/>
              <a:t>Step 4: Decision - Reject or not reject the null</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DAFDA7D-E9CE-ADFD-35C1-C713B443A1D6}"/>
                  </a:ext>
                </a:extLst>
              </p:cNvPr>
              <p:cNvSpPr>
                <a:spLocks noGrp="1"/>
              </p:cNvSpPr>
              <p:nvPr>
                <p:ph type="body" sz="quarter" idx="11"/>
              </p:nvPr>
            </p:nvSpPr>
            <p:spPr>
              <a:xfrm>
                <a:off x="900112" y="1700213"/>
                <a:ext cx="7632327" cy="5157787"/>
              </a:xfrm>
            </p:spPr>
            <p:txBody>
              <a:bodyPr/>
              <a:lstStyle/>
              <a:p>
                <a:pPr marL="0" lvl="0" indent="0">
                  <a:buNone/>
                </a:pPr>
                <a:r>
                  <a:rPr lang="en-GB" sz="2400" dirty="0"/>
                  <a:t>If the test statistic is in the rejection area, we </a:t>
                </a:r>
                <a:r>
                  <a:rPr lang="en-GB" sz="2400" dirty="0">
                    <a:solidFill>
                      <a:srgbClr val="FF0000"/>
                    </a:solidFill>
                  </a:rPr>
                  <a:t>reject the null </a:t>
                </a:r>
                <a:r>
                  <a:rPr lang="en-GB" sz="2400" dirty="0"/>
                  <a:t>and the alternative seems to be true.</a:t>
                </a:r>
              </a:p>
              <a:p>
                <a:pPr marL="0" lvl="0" indent="0">
                  <a:buNone/>
                </a:pPr>
                <a:endParaRPr lang="en-GB" sz="2400" dirty="0"/>
              </a:p>
              <a:p>
                <a:pPr marL="0" lvl="0" indent="0">
                  <a:buNone/>
                </a:pPr>
                <a:r>
                  <a:rPr lang="en-GB" sz="2400" dirty="0"/>
                  <a:t>Example: </a:t>
                </a:r>
                <a14:m>
                  <m:oMath xmlns:m="http://schemas.openxmlformats.org/officeDocument/2006/math">
                    <m:r>
                      <a:rPr lang="en-GB" sz="2400" b="0" i="1" smtClean="0">
                        <a:latin typeface="Cambria Math" panose="02040503050406030204" pitchFamily="18" charset="0"/>
                      </a:rPr>
                      <m:t>𝑧</m:t>
                    </m:r>
                    <m:r>
                      <a:rPr lang="en-GB" sz="2400" b="0" i="1" smtClean="0">
                        <a:latin typeface="Cambria Math" panose="02040503050406030204" pitchFamily="18" charset="0"/>
                      </a:rPr>
                      <m:t>=−2.1</m:t>
                    </m:r>
                  </m:oMath>
                </a14:m>
                <a:r>
                  <a:rPr lang="en-GB" sz="2400" dirty="0"/>
                  <a:t> hence </a:t>
                </a:r>
                <a14:m>
                  <m:oMath xmlns:m="http://schemas.openxmlformats.org/officeDocument/2006/math">
                    <m:r>
                      <a:rPr lang="en-GB" sz="2400" b="0" i="0" smtClean="0">
                        <a:latin typeface="Cambria Math" panose="02040503050406030204" pitchFamily="18" charset="0"/>
                      </a:rPr>
                      <m:t>−</m:t>
                    </m:r>
                    <m:r>
                      <a:rPr lang="en-GB" sz="2400" b="0" i="1" smtClean="0">
                        <a:latin typeface="Cambria Math" panose="02040503050406030204" pitchFamily="18" charset="0"/>
                      </a:rPr>
                      <m:t>2.1&lt;−1.96</m:t>
                    </m:r>
                  </m:oMath>
                </a14:m>
                <a:r>
                  <a:rPr lang="en-GB" sz="2400" dirty="0"/>
                  <a:t> </a:t>
                </a:r>
                <a14:m>
                  <m:oMath xmlns:m="http://schemas.openxmlformats.org/officeDocument/2006/math">
                    <m:r>
                      <a:rPr lang="en-GB" sz="2400" i="1" dirty="0" smtClean="0">
                        <a:latin typeface="Cambria Math" panose="02040503050406030204" pitchFamily="18" charset="0"/>
                        <a:ea typeface="Cambria Math" panose="02040503050406030204" pitchFamily="18" charset="0"/>
                      </a:rPr>
                      <m:t>⇒</m:t>
                    </m:r>
                  </m:oMath>
                </a14:m>
                <a:r>
                  <a:rPr lang="en-GB" sz="2400" dirty="0"/>
                  <a:t> reject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𝐻</m:t>
                        </m:r>
                      </m:e>
                      <m:sub>
                        <m:r>
                          <a:rPr lang="en-GB" sz="2400" b="0" i="1" smtClean="0">
                            <a:latin typeface="Cambria Math" panose="02040503050406030204" pitchFamily="18" charset="0"/>
                          </a:rPr>
                          <m:t>0</m:t>
                        </m:r>
                      </m:sub>
                    </m:sSub>
                  </m:oMath>
                </a14:m>
                <a:endParaRPr lang="en-GB" sz="2400" dirty="0"/>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CDAFDA7D-E9CE-ADFD-35C1-C713B443A1D6}"/>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891"/>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7EE332CA-97DB-8B74-F728-B6924331B963}"/>
              </a:ext>
            </a:extLst>
          </p:cNvPr>
          <p:cNvPicPr>
            <a:picLocks noChangeAspect="1"/>
          </p:cNvPicPr>
          <p:nvPr/>
        </p:nvPicPr>
        <p:blipFill>
          <a:blip r:embed="rId3"/>
          <a:stretch>
            <a:fillRect/>
          </a:stretch>
        </p:blipFill>
        <p:spPr>
          <a:xfrm>
            <a:off x="1259632" y="3297870"/>
            <a:ext cx="4308982" cy="3129682"/>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4929476F-9662-347D-BC34-2E0C3EF4F7B7}"/>
                  </a:ext>
                </a:extLst>
              </p14:cNvPr>
              <p14:cNvContentPartPr/>
              <p14:nvPr/>
            </p14:nvContentPartPr>
            <p14:xfrm>
              <a:off x="2686795" y="5498497"/>
              <a:ext cx="56880" cy="70920"/>
            </p14:xfrm>
          </p:contentPart>
        </mc:Choice>
        <mc:Fallback xmlns="">
          <p:pic>
            <p:nvPicPr>
              <p:cNvPr id="6" name="Ink 5">
                <a:extLst>
                  <a:ext uri="{FF2B5EF4-FFF2-40B4-BE49-F238E27FC236}">
                    <a16:creationId xmlns:a16="http://schemas.microsoft.com/office/drawing/2014/main" id="{4929476F-9662-347D-BC34-2E0C3EF4F7B7}"/>
                  </a:ext>
                </a:extLst>
              </p:cNvPr>
              <p:cNvPicPr/>
              <p:nvPr/>
            </p:nvPicPr>
            <p:blipFill>
              <a:blip r:embed="rId5"/>
              <a:stretch>
                <a:fillRect/>
              </a:stretch>
            </p:blipFill>
            <p:spPr>
              <a:xfrm>
                <a:off x="2668795" y="5480497"/>
                <a:ext cx="92520" cy="106560"/>
              </a:xfrm>
              <a:prstGeom prst="rect">
                <a:avLst/>
              </a:prstGeom>
            </p:spPr>
          </p:pic>
        </mc:Fallback>
      </mc:AlternateContent>
      <p:grpSp>
        <p:nvGrpSpPr>
          <p:cNvPr id="9" name="Group 8">
            <a:extLst>
              <a:ext uri="{FF2B5EF4-FFF2-40B4-BE49-F238E27FC236}">
                <a16:creationId xmlns:a16="http://schemas.microsoft.com/office/drawing/2014/main" id="{9B815A15-C31B-540E-AD5A-B3489519E82F}"/>
              </a:ext>
            </a:extLst>
          </p:cNvPr>
          <p:cNvGrpSpPr/>
          <p:nvPr/>
        </p:nvGrpSpPr>
        <p:grpSpPr>
          <a:xfrm>
            <a:off x="2665555" y="5503537"/>
            <a:ext cx="85320" cy="77760"/>
            <a:chOff x="2665555" y="5503537"/>
            <a:chExt cx="85320" cy="77760"/>
          </a:xfrm>
        </p:grpSpPr>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24D0572-A7D9-9F46-8A1C-93AD44B13969}"/>
                    </a:ext>
                  </a:extLst>
                </p14:cNvPr>
                <p14:cNvContentPartPr/>
                <p14:nvPr/>
              </p14:nvContentPartPr>
              <p14:xfrm>
                <a:off x="2665555" y="5503537"/>
                <a:ext cx="85320" cy="73800"/>
              </p14:xfrm>
            </p:contentPart>
          </mc:Choice>
          <mc:Fallback xmlns="">
            <p:pic>
              <p:nvPicPr>
                <p:cNvPr id="7" name="Ink 6">
                  <a:extLst>
                    <a:ext uri="{FF2B5EF4-FFF2-40B4-BE49-F238E27FC236}">
                      <a16:creationId xmlns:a16="http://schemas.microsoft.com/office/drawing/2014/main" id="{324D0572-A7D9-9F46-8A1C-93AD44B13969}"/>
                    </a:ext>
                  </a:extLst>
                </p:cNvPr>
                <p:cNvPicPr/>
                <p:nvPr/>
              </p:nvPicPr>
              <p:blipFill>
                <a:blip r:embed="rId7"/>
                <a:stretch>
                  <a:fillRect/>
                </a:stretch>
              </p:blipFill>
              <p:spPr>
                <a:xfrm>
                  <a:off x="2647915" y="5485537"/>
                  <a:ext cx="1209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BFD2CA36-86B7-A2AD-1DE7-6CBFEA6F403B}"/>
                    </a:ext>
                  </a:extLst>
                </p14:cNvPr>
                <p14:cNvContentPartPr/>
                <p14:nvPr/>
              </p14:nvContentPartPr>
              <p14:xfrm>
                <a:off x="2665555" y="5549257"/>
                <a:ext cx="26640" cy="32040"/>
              </p14:xfrm>
            </p:contentPart>
          </mc:Choice>
          <mc:Fallback xmlns="">
            <p:pic>
              <p:nvPicPr>
                <p:cNvPr id="8" name="Ink 7">
                  <a:extLst>
                    <a:ext uri="{FF2B5EF4-FFF2-40B4-BE49-F238E27FC236}">
                      <a16:creationId xmlns:a16="http://schemas.microsoft.com/office/drawing/2014/main" id="{BFD2CA36-86B7-A2AD-1DE7-6CBFEA6F403B}"/>
                    </a:ext>
                  </a:extLst>
                </p:cNvPr>
                <p:cNvPicPr/>
                <p:nvPr/>
              </p:nvPicPr>
              <p:blipFill>
                <a:blip r:embed="rId9"/>
                <a:stretch>
                  <a:fillRect/>
                </a:stretch>
              </p:blipFill>
              <p:spPr>
                <a:xfrm>
                  <a:off x="2647915" y="5531617"/>
                  <a:ext cx="62280" cy="67680"/>
                </a:xfrm>
                <a:prstGeom prst="rect">
                  <a:avLst/>
                </a:prstGeom>
              </p:spPr>
            </p:pic>
          </mc:Fallback>
        </mc:AlternateContent>
      </p:grpSp>
    </p:spTree>
    <p:extLst>
      <p:ext uri="{BB962C8B-B14F-4D97-AF65-F5344CB8AC3E}">
        <p14:creationId xmlns:p14="http://schemas.microsoft.com/office/powerpoint/2010/main" val="285806920"/>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087A6-FDC6-9EDC-C4BC-80776B89C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692327-4430-3BA0-81C2-82826361B614}"/>
              </a:ext>
            </a:extLst>
          </p:cNvPr>
          <p:cNvSpPr>
            <a:spLocks noGrp="1"/>
          </p:cNvSpPr>
          <p:nvPr>
            <p:ph type="title"/>
          </p:nvPr>
        </p:nvSpPr>
        <p:spPr/>
        <p:txBody>
          <a:bodyPr>
            <a:normAutofit fontScale="90000"/>
          </a:bodyPr>
          <a:lstStyle/>
          <a:p>
            <a:r>
              <a:rPr lang="en-GB" dirty="0"/>
              <a:t>Step 5: Conclusion: What can be learned from the test </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752396F-1372-CC2F-90E1-FDC66923A092}"/>
                  </a:ext>
                </a:extLst>
              </p:cNvPr>
              <p:cNvSpPr>
                <a:spLocks noGrp="1"/>
              </p:cNvSpPr>
              <p:nvPr>
                <p:ph type="body" sz="quarter" idx="11"/>
              </p:nvPr>
            </p:nvSpPr>
            <p:spPr>
              <a:xfrm>
                <a:off x="900112" y="1700213"/>
                <a:ext cx="7632327" cy="5157787"/>
              </a:xfrm>
            </p:spPr>
            <p:txBody>
              <a:bodyPr/>
              <a:lstStyle/>
              <a:p>
                <a:pPr marL="0" lvl="0" indent="0">
                  <a:buNone/>
                </a:pPr>
                <a:r>
                  <a:rPr lang="en-GB" sz="2400" dirty="0"/>
                  <a:t>The final step in the hypothesis testing procedure is to </a:t>
                </a:r>
                <a:r>
                  <a:rPr lang="en-GB" sz="2400" dirty="0">
                    <a:solidFill>
                      <a:srgbClr val="FF0000"/>
                    </a:solidFill>
                  </a:rPr>
                  <a:t>interpret the results</a:t>
                </a:r>
                <a:r>
                  <a:rPr lang="en-GB" sz="2400" dirty="0"/>
                  <a:t>.</a:t>
                </a:r>
              </a:p>
              <a:p>
                <a:pPr marL="0" lvl="0" indent="0">
                  <a:buNone/>
                </a:pPr>
                <a:endParaRPr lang="en-GB" sz="2400" dirty="0"/>
              </a:p>
              <a:p>
                <a:pPr marL="0" lvl="0" indent="0">
                  <a:buNone/>
                </a:pPr>
                <a:r>
                  <a:rPr lang="en-GB" sz="2400" dirty="0"/>
                  <a:t>If the null cannot be rejected with the sample information and the chosen significance level, this did not prove that the null is true, only that so far it cannot be rejected.</a:t>
                </a:r>
              </a:p>
              <a:p>
                <a:pPr marL="0" lvl="0" indent="0">
                  <a:buNone/>
                </a:pPr>
                <a:endParaRPr lang="en-GB" sz="2400" dirty="0"/>
              </a:p>
              <a:p>
                <a:pPr marL="0" lvl="0" indent="0">
                  <a:buNone/>
                </a:pPr>
                <a:r>
                  <a:rPr lang="en-GB" sz="2400" dirty="0"/>
                  <a:t>If the null has been rejected, we are </a:t>
                </a:r>
                <a14:m>
                  <m:oMath xmlns:m="http://schemas.openxmlformats.org/officeDocument/2006/math">
                    <m:d>
                      <m:dPr>
                        <m:ctrlPr>
                          <a:rPr lang="en-GB" sz="2400" b="0" i="1" smtClean="0">
                            <a:latin typeface="Cambria Math" panose="02040503050406030204" pitchFamily="18" charset="0"/>
                          </a:rPr>
                        </m:ctrlPr>
                      </m:dPr>
                      <m:e>
                        <m:r>
                          <a:rPr lang="en-GB" sz="2400" b="0" i="1" smtClean="0">
                            <a:latin typeface="Cambria Math" panose="02040503050406030204" pitchFamily="18" charset="0"/>
                          </a:rPr>
                          <m:t>1−</m:t>
                        </m:r>
                        <m:r>
                          <a:rPr lang="en-GB" sz="2400" b="0" i="1" smtClean="0">
                            <a:latin typeface="Cambria Math" panose="02040503050406030204" pitchFamily="18" charset="0"/>
                            <a:ea typeface="Cambria Math" panose="02040503050406030204" pitchFamily="18" charset="0"/>
                          </a:rPr>
                          <m:t>𝛼</m:t>
                        </m:r>
                      </m:e>
                    </m:d>
                  </m:oMath>
                </a14:m>
                <a:r>
                  <a:rPr lang="en-GB" sz="2400" dirty="0"/>
                  <a:t> confident that the null is not true. But there is a small probability, </a:t>
                </a:r>
                <a14:m>
                  <m:oMath xmlns:m="http://schemas.openxmlformats.org/officeDocument/2006/math">
                    <m:r>
                      <a:rPr lang="en-GB" sz="2400" i="1" smtClean="0">
                        <a:latin typeface="Cambria Math" panose="02040503050406030204" pitchFamily="18" charset="0"/>
                        <a:ea typeface="Cambria Math" panose="02040503050406030204" pitchFamily="18" charset="0"/>
                      </a:rPr>
                      <m:t>𝛼</m:t>
                    </m:r>
                  </m:oMath>
                </a14:m>
                <a:r>
                  <a:rPr lang="en-GB" sz="2400" dirty="0"/>
                  <a:t>, that the decision to reject the null was an error due to random sampling (type 1 error).</a:t>
                </a:r>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F752396F-1372-CC2F-90E1-FDC66923A092}"/>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891" r="-3195"/>
                </a:stretch>
              </a:blipFill>
            </p:spPr>
            <p:txBody>
              <a:bodyPr/>
              <a:lstStyle/>
              <a:p>
                <a:r>
                  <a:rPr lang="en-GB">
                    <a:noFill/>
                  </a:rPr>
                  <a:t> </a:t>
                </a:r>
              </a:p>
            </p:txBody>
          </p:sp>
        </mc:Fallback>
      </mc:AlternateContent>
    </p:spTree>
    <p:extLst>
      <p:ext uri="{BB962C8B-B14F-4D97-AF65-F5344CB8AC3E}">
        <p14:creationId xmlns:p14="http://schemas.microsoft.com/office/powerpoint/2010/main" val="4025262175"/>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85C97-1144-F562-F655-0ED5992A3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55FFD-2F31-12B9-9B79-23681D2B408F}"/>
              </a:ext>
            </a:extLst>
          </p:cNvPr>
          <p:cNvSpPr>
            <a:spLocks noGrp="1"/>
          </p:cNvSpPr>
          <p:nvPr>
            <p:ph type="title"/>
          </p:nvPr>
        </p:nvSpPr>
        <p:spPr/>
        <p:txBody>
          <a:bodyPr>
            <a:normAutofit fontScale="90000"/>
          </a:bodyPr>
          <a:lstStyle/>
          <a:p>
            <a:r>
              <a:rPr lang="en-GB" dirty="0"/>
              <a:t>Type 1 and type 2 error</a:t>
            </a:r>
            <a:br>
              <a:rPr lang="en-GB" noProof="0" dirty="0"/>
            </a:br>
            <a:br>
              <a:rPr lang="en-GB" noProof="0" dirty="0"/>
            </a:br>
            <a:endParaRPr lang="en-GB" noProof="0" dirty="0"/>
          </a:p>
        </p:txBody>
      </p:sp>
      <p:sp>
        <p:nvSpPr>
          <p:cNvPr id="3" name="Text Placeholder 2">
            <a:extLst>
              <a:ext uri="{FF2B5EF4-FFF2-40B4-BE49-F238E27FC236}">
                <a16:creationId xmlns:a16="http://schemas.microsoft.com/office/drawing/2014/main" id="{5CABF80F-3830-6B2D-DD5F-7CE51FE57678}"/>
              </a:ext>
            </a:extLst>
          </p:cNvPr>
          <p:cNvSpPr>
            <a:spLocks noGrp="1"/>
          </p:cNvSpPr>
          <p:nvPr>
            <p:ph type="body" sz="quarter" idx="11"/>
          </p:nvPr>
        </p:nvSpPr>
        <p:spPr>
          <a:xfrm>
            <a:off x="900112" y="1700213"/>
            <a:ext cx="7632327" cy="5157787"/>
          </a:xfrm>
        </p:spPr>
        <p:txBody>
          <a:bodyPr/>
          <a:lstStyle/>
          <a:p>
            <a:pPr marL="342900" lvl="0" indent="-342900">
              <a:buFont typeface="Arial" panose="020B0604020202020204" pitchFamily="34" charset="0"/>
              <a:buChar char="•"/>
            </a:pPr>
            <a:r>
              <a:rPr lang="en-GB" sz="2400" dirty="0"/>
              <a:t>Type I error: Rejecting the null hypothesis when it is true.</a:t>
            </a:r>
          </a:p>
          <a:p>
            <a:pPr marL="342900" indent="-342900">
              <a:buFont typeface="Arial" panose="020B0604020202020204" pitchFamily="34" charset="0"/>
              <a:buChar char="•"/>
            </a:pPr>
            <a:r>
              <a:rPr lang="en-GB" sz="2400" dirty="0"/>
              <a:t>Type II error: Not rejecting the null hypothesis when it is false.</a:t>
            </a:r>
            <a:endParaRPr lang="en-GB" sz="2400" noProof="0" dirty="0"/>
          </a:p>
          <a:p>
            <a:pPr marL="0" lvl="0" indent="0">
              <a:buNone/>
            </a:pPr>
            <a:endParaRPr lang="en-GB" sz="2400" noProof="0" dirty="0"/>
          </a:p>
          <a:p>
            <a:pPr marL="0" lvl="0" indent="0">
              <a:buNone/>
            </a:pPr>
            <a:endParaRPr lang="en-GB" sz="2400" noProof="0"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FD5AD6B8-D601-3ECE-E208-13E00B89B9CE}"/>
                  </a:ext>
                </a:extLst>
              </p:cNvPr>
              <p:cNvGraphicFramePr>
                <a:graphicFrameLocks noGrp="1"/>
              </p:cNvGraphicFramePr>
              <p:nvPr>
                <p:extLst>
                  <p:ext uri="{D42A27DB-BD31-4B8C-83A1-F6EECF244321}">
                    <p14:modId xmlns:p14="http://schemas.microsoft.com/office/powerpoint/2010/main" val="4029747743"/>
                  </p:ext>
                </p:extLst>
              </p:nvPr>
            </p:nvGraphicFramePr>
            <p:xfrm>
              <a:off x="900111" y="3429000"/>
              <a:ext cx="6096000" cy="24688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152495146"/>
                        </a:ext>
                      </a:extLst>
                    </a:gridCol>
                    <a:gridCol w="2032000">
                      <a:extLst>
                        <a:ext uri="{9D8B030D-6E8A-4147-A177-3AD203B41FA5}">
                          <a16:colId xmlns:a16="http://schemas.microsoft.com/office/drawing/2014/main" val="516729422"/>
                        </a:ext>
                      </a:extLst>
                    </a:gridCol>
                    <a:gridCol w="2032000">
                      <a:extLst>
                        <a:ext uri="{9D8B030D-6E8A-4147-A177-3AD203B41FA5}">
                          <a16:colId xmlns:a16="http://schemas.microsoft.com/office/drawing/2014/main" val="2243351626"/>
                        </a:ext>
                      </a:extLst>
                    </a:gridCol>
                  </a:tblGrid>
                  <a:tr h="370840">
                    <a:tc>
                      <a:txBody>
                        <a:bodyPr/>
                        <a:lstStyle/>
                        <a:p>
                          <a:endParaRPr lang="en-GB" dirty="0"/>
                        </a:p>
                      </a:txBody>
                      <a:tcPr/>
                    </a:tc>
                    <a:tc>
                      <a:txBody>
                        <a:bodyPr/>
                        <a:lstStyle/>
                        <a:p>
                          <a:r>
                            <a:rPr lang="en-GB" dirty="0"/>
                            <a:t>Does not reject </a:t>
                          </a:r>
                          <a14:m>
                            <m:oMath xmlns:m="http://schemas.openxmlformats.org/officeDocument/2006/math">
                              <m:sSub>
                                <m:sSubPr>
                                  <m:ctrlPr>
                                    <a:rPr lang="en-GB" i="1" smtClean="0">
                                      <a:latin typeface="Cambria Math" panose="02040503050406030204" pitchFamily="18" charset="0"/>
                                    </a:rPr>
                                  </m:ctrlPr>
                                </m:sSubPr>
                                <m:e>
                                  <m:r>
                                    <a:rPr lang="en-GB" b="1" i="1" smtClean="0">
                                      <a:latin typeface="Cambria Math" panose="02040503050406030204" pitchFamily="18" charset="0"/>
                                    </a:rPr>
                                    <m:t>𝑯</m:t>
                                  </m:r>
                                </m:e>
                                <m:sub>
                                  <m:r>
                                    <a:rPr lang="en-GB" b="1" i="1" smtClean="0">
                                      <a:latin typeface="Cambria Math" panose="02040503050406030204" pitchFamily="18" charset="0"/>
                                    </a:rPr>
                                    <m:t>𝟎</m:t>
                                  </m:r>
                                </m:sub>
                              </m:sSub>
                            </m:oMath>
                          </a14:m>
                          <a:endParaRPr lang="en-GB" dirty="0"/>
                        </a:p>
                      </a:txBody>
                      <a:tcPr/>
                    </a:tc>
                    <a:tc>
                      <a:txBody>
                        <a:bodyPr/>
                        <a:lstStyle/>
                        <a:p>
                          <a:r>
                            <a:rPr lang="en-GB" dirty="0"/>
                            <a:t>Reject </a:t>
                          </a:r>
                          <a14:m>
                            <m:oMath xmlns:m="http://schemas.openxmlformats.org/officeDocument/2006/math">
                              <m:sSub>
                                <m:sSubPr>
                                  <m:ctrlPr>
                                    <a:rPr lang="en-GB" i="1" smtClean="0">
                                      <a:latin typeface="Cambria Math" panose="02040503050406030204" pitchFamily="18" charset="0"/>
                                    </a:rPr>
                                  </m:ctrlPr>
                                </m:sSubPr>
                                <m:e>
                                  <m:r>
                                    <a:rPr lang="en-GB" b="1" i="1" smtClean="0">
                                      <a:latin typeface="Cambria Math" panose="02040503050406030204" pitchFamily="18" charset="0"/>
                                    </a:rPr>
                                    <m:t>𝑯</m:t>
                                  </m:r>
                                </m:e>
                                <m:sub>
                                  <m:r>
                                    <a:rPr lang="en-GB" b="1" i="1" smtClean="0">
                                      <a:latin typeface="Cambria Math" panose="02040503050406030204" pitchFamily="18" charset="0"/>
                                    </a:rPr>
                                    <m:t>𝟎</m:t>
                                  </m:r>
                                </m:sub>
                              </m:sSub>
                            </m:oMath>
                          </a14:m>
                          <a:endParaRPr lang="en-GB" dirty="0"/>
                        </a:p>
                      </a:txBody>
                      <a:tcPr/>
                    </a:tc>
                    <a:extLst>
                      <a:ext uri="{0D108BD9-81ED-4DB2-BD59-A6C34878D82A}">
                        <a16:rowId xmlns:a16="http://schemas.microsoft.com/office/drawing/2014/main" val="3973293367"/>
                      </a:ext>
                    </a:extLst>
                  </a:tr>
                  <a:tr h="370840">
                    <a:tc>
                      <a:txBody>
                        <a:bodyPr/>
                        <a:lstStyle/>
                        <a:p>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𝐻</m:t>
                                  </m:r>
                                </m:e>
                                <m:sub>
                                  <m:r>
                                    <a:rPr lang="en-GB" b="0" i="1" smtClean="0">
                                      <a:latin typeface="Cambria Math" panose="02040503050406030204" pitchFamily="18" charset="0"/>
                                    </a:rPr>
                                    <m:t>0</m:t>
                                  </m:r>
                                </m:sub>
                              </m:sSub>
                            </m:oMath>
                          </a14:m>
                          <a:r>
                            <a:rPr lang="en-GB" dirty="0"/>
                            <a:t> is true</a:t>
                          </a:r>
                        </a:p>
                      </a:txBody>
                      <a:tcPr/>
                    </a:tc>
                    <a:tc>
                      <a:txBody>
                        <a:bodyPr/>
                        <a:lstStyle/>
                        <a:p>
                          <a:r>
                            <a:rPr lang="en-GB" dirty="0"/>
                            <a:t>Correct decision</a:t>
                          </a:r>
                        </a:p>
                      </a:txBody>
                      <a:tcPr>
                        <a:solidFill>
                          <a:schemeClr val="bg2">
                            <a:lumMod val="90000"/>
                          </a:schemeClr>
                        </a:solidFill>
                      </a:tcPr>
                    </a:tc>
                    <a:tc>
                      <a:txBody>
                        <a:bodyPr/>
                        <a:lstStyle/>
                        <a:p>
                          <a:r>
                            <a:rPr lang="en-GB" dirty="0"/>
                            <a:t>Type I error</a:t>
                          </a:r>
                        </a:p>
                      </a:txBody>
                      <a:tcPr>
                        <a:solidFill>
                          <a:schemeClr val="bg2">
                            <a:lumMod val="90000"/>
                          </a:schemeClr>
                        </a:solidFill>
                      </a:tcPr>
                    </a:tc>
                    <a:extLst>
                      <a:ext uri="{0D108BD9-81ED-4DB2-BD59-A6C34878D82A}">
                        <a16:rowId xmlns:a16="http://schemas.microsoft.com/office/drawing/2014/main" val="1539115630"/>
                      </a:ext>
                    </a:extLst>
                  </a:tr>
                  <a:tr h="370840">
                    <a:tc>
                      <a:txBody>
                        <a:bodyPr/>
                        <a:lstStyle/>
                        <a:p>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𝐻</m:t>
                                  </m:r>
                                </m:e>
                                <m:sub>
                                  <m:r>
                                    <a:rPr lang="en-GB" b="0" i="1" smtClean="0">
                                      <a:latin typeface="Cambria Math" panose="02040503050406030204" pitchFamily="18" charset="0"/>
                                    </a:rPr>
                                    <m:t>0</m:t>
                                  </m:r>
                                </m:sub>
                              </m:sSub>
                            </m:oMath>
                          </a14:m>
                          <a:r>
                            <a:rPr lang="en-GB" dirty="0"/>
                            <a:t> is false</a:t>
                          </a:r>
                        </a:p>
                      </a:txBody>
                      <a:tcPr/>
                    </a:tc>
                    <a:tc>
                      <a:txBody>
                        <a:bodyPr/>
                        <a:lstStyle/>
                        <a:p>
                          <a:r>
                            <a:rPr lang="en-GB" dirty="0"/>
                            <a:t>Type II error</a:t>
                          </a:r>
                        </a:p>
                      </a:txBody>
                      <a:tcPr>
                        <a:solidFill>
                          <a:schemeClr val="bg2">
                            <a:lumMod val="90000"/>
                          </a:schemeClr>
                        </a:solidFill>
                      </a:tcPr>
                    </a:tc>
                    <a:tc>
                      <a:txBody>
                        <a:bodyPr/>
                        <a:lstStyle/>
                        <a:p>
                          <a:r>
                            <a:rPr lang="en-GB" dirty="0"/>
                            <a:t>Correct decision</a:t>
                          </a:r>
                        </a:p>
                      </a:txBody>
                      <a:tcPr>
                        <a:solidFill>
                          <a:schemeClr val="bg2">
                            <a:lumMod val="90000"/>
                          </a:schemeClr>
                        </a:solidFill>
                      </a:tcPr>
                    </a:tc>
                    <a:extLst>
                      <a:ext uri="{0D108BD9-81ED-4DB2-BD59-A6C34878D82A}">
                        <a16:rowId xmlns:a16="http://schemas.microsoft.com/office/drawing/2014/main" val="662394494"/>
                      </a:ext>
                    </a:extLst>
                  </a:tr>
                </a:tbl>
              </a:graphicData>
            </a:graphic>
          </p:graphicFrame>
        </mc:Choice>
        <mc:Fallback xmlns="">
          <p:graphicFrame>
            <p:nvGraphicFramePr>
              <p:cNvPr id="4" name="Table 3">
                <a:extLst>
                  <a:ext uri="{FF2B5EF4-FFF2-40B4-BE49-F238E27FC236}">
                    <a16:creationId xmlns:a16="http://schemas.microsoft.com/office/drawing/2014/main" id="{FD5AD6B8-D601-3ECE-E208-13E00B89B9CE}"/>
                  </a:ext>
                </a:extLst>
              </p:cNvPr>
              <p:cNvGraphicFramePr>
                <a:graphicFrameLocks noGrp="1"/>
              </p:cNvGraphicFramePr>
              <p:nvPr>
                <p:extLst>
                  <p:ext uri="{D42A27DB-BD31-4B8C-83A1-F6EECF244321}">
                    <p14:modId xmlns:p14="http://schemas.microsoft.com/office/powerpoint/2010/main" val="4029747743"/>
                  </p:ext>
                </p:extLst>
              </p:nvPr>
            </p:nvGraphicFramePr>
            <p:xfrm>
              <a:off x="900111" y="3429000"/>
              <a:ext cx="6096000" cy="24688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152495146"/>
                        </a:ext>
                      </a:extLst>
                    </a:gridCol>
                    <a:gridCol w="2032000">
                      <a:extLst>
                        <a:ext uri="{9D8B030D-6E8A-4147-A177-3AD203B41FA5}">
                          <a16:colId xmlns:a16="http://schemas.microsoft.com/office/drawing/2014/main" val="516729422"/>
                        </a:ext>
                      </a:extLst>
                    </a:gridCol>
                    <a:gridCol w="2032000">
                      <a:extLst>
                        <a:ext uri="{9D8B030D-6E8A-4147-A177-3AD203B41FA5}">
                          <a16:colId xmlns:a16="http://schemas.microsoft.com/office/drawing/2014/main" val="2243351626"/>
                        </a:ext>
                      </a:extLst>
                    </a:gridCol>
                  </a:tblGrid>
                  <a:tr h="822960">
                    <a:tc>
                      <a:txBody>
                        <a:bodyPr/>
                        <a:lstStyle/>
                        <a:p>
                          <a:endParaRPr lang="en-GB" dirty="0"/>
                        </a:p>
                      </a:txBody>
                      <a:tcPr/>
                    </a:tc>
                    <a:tc>
                      <a:txBody>
                        <a:bodyPr/>
                        <a:lstStyle/>
                        <a:p>
                          <a:endParaRPr lang="en-US"/>
                        </a:p>
                      </a:txBody>
                      <a:tcPr>
                        <a:blipFill>
                          <a:blip r:embed="rId2"/>
                          <a:stretch>
                            <a:fillRect l="-100601" t="-5185" r="-101502" b="-217037"/>
                          </a:stretch>
                        </a:blipFill>
                      </a:tcPr>
                    </a:tc>
                    <a:tc>
                      <a:txBody>
                        <a:bodyPr/>
                        <a:lstStyle/>
                        <a:p>
                          <a:endParaRPr lang="en-US"/>
                        </a:p>
                      </a:txBody>
                      <a:tcPr>
                        <a:blipFill>
                          <a:blip r:embed="rId2"/>
                          <a:stretch>
                            <a:fillRect l="-200000" t="-5185" r="-1198" b="-217037"/>
                          </a:stretch>
                        </a:blipFill>
                      </a:tcPr>
                    </a:tc>
                    <a:extLst>
                      <a:ext uri="{0D108BD9-81ED-4DB2-BD59-A6C34878D82A}">
                        <a16:rowId xmlns:a16="http://schemas.microsoft.com/office/drawing/2014/main" val="3973293367"/>
                      </a:ext>
                    </a:extLst>
                  </a:tr>
                  <a:tr h="822960">
                    <a:tc>
                      <a:txBody>
                        <a:bodyPr/>
                        <a:lstStyle/>
                        <a:p>
                          <a:endParaRPr lang="en-US"/>
                        </a:p>
                      </a:txBody>
                      <a:tcPr>
                        <a:blipFill>
                          <a:blip r:embed="rId2"/>
                          <a:stretch>
                            <a:fillRect l="-299" t="-104412" r="-200898" b="-115441"/>
                          </a:stretch>
                        </a:blipFill>
                      </a:tcPr>
                    </a:tc>
                    <a:tc>
                      <a:txBody>
                        <a:bodyPr/>
                        <a:lstStyle/>
                        <a:p>
                          <a:r>
                            <a:rPr lang="en-GB" dirty="0"/>
                            <a:t>Correct decision</a:t>
                          </a:r>
                        </a:p>
                      </a:txBody>
                      <a:tcPr>
                        <a:solidFill>
                          <a:schemeClr val="bg2">
                            <a:lumMod val="90000"/>
                          </a:schemeClr>
                        </a:solidFill>
                      </a:tcPr>
                    </a:tc>
                    <a:tc>
                      <a:txBody>
                        <a:bodyPr/>
                        <a:lstStyle/>
                        <a:p>
                          <a:r>
                            <a:rPr lang="en-GB" dirty="0"/>
                            <a:t>Type I error</a:t>
                          </a:r>
                        </a:p>
                      </a:txBody>
                      <a:tcPr>
                        <a:solidFill>
                          <a:schemeClr val="bg2">
                            <a:lumMod val="90000"/>
                          </a:schemeClr>
                        </a:solidFill>
                      </a:tcPr>
                    </a:tc>
                    <a:extLst>
                      <a:ext uri="{0D108BD9-81ED-4DB2-BD59-A6C34878D82A}">
                        <a16:rowId xmlns:a16="http://schemas.microsoft.com/office/drawing/2014/main" val="1539115630"/>
                      </a:ext>
                    </a:extLst>
                  </a:tr>
                  <a:tr h="822960">
                    <a:tc>
                      <a:txBody>
                        <a:bodyPr/>
                        <a:lstStyle/>
                        <a:p>
                          <a:endParaRPr lang="en-US"/>
                        </a:p>
                      </a:txBody>
                      <a:tcPr>
                        <a:blipFill>
                          <a:blip r:embed="rId2"/>
                          <a:stretch>
                            <a:fillRect l="-299" t="-205926" r="-200898" b="-16296"/>
                          </a:stretch>
                        </a:blipFill>
                      </a:tcPr>
                    </a:tc>
                    <a:tc>
                      <a:txBody>
                        <a:bodyPr/>
                        <a:lstStyle/>
                        <a:p>
                          <a:r>
                            <a:rPr lang="en-GB" dirty="0"/>
                            <a:t>Type II error</a:t>
                          </a:r>
                        </a:p>
                      </a:txBody>
                      <a:tcPr>
                        <a:solidFill>
                          <a:schemeClr val="bg2">
                            <a:lumMod val="90000"/>
                          </a:schemeClr>
                        </a:solidFill>
                      </a:tcPr>
                    </a:tc>
                    <a:tc>
                      <a:txBody>
                        <a:bodyPr/>
                        <a:lstStyle/>
                        <a:p>
                          <a:r>
                            <a:rPr lang="en-GB" dirty="0"/>
                            <a:t>Correct decision</a:t>
                          </a:r>
                        </a:p>
                      </a:txBody>
                      <a:tcPr>
                        <a:solidFill>
                          <a:schemeClr val="bg2">
                            <a:lumMod val="90000"/>
                          </a:schemeClr>
                        </a:solidFill>
                      </a:tcPr>
                    </a:tc>
                    <a:extLst>
                      <a:ext uri="{0D108BD9-81ED-4DB2-BD59-A6C34878D82A}">
                        <a16:rowId xmlns:a16="http://schemas.microsoft.com/office/drawing/2014/main" val="662394494"/>
                      </a:ext>
                    </a:extLst>
                  </a:tr>
                </a:tbl>
              </a:graphicData>
            </a:graphic>
          </p:graphicFrame>
        </mc:Fallback>
      </mc:AlternateContent>
    </p:spTree>
    <p:extLst>
      <p:ext uri="{BB962C8B-B14F-4D97-AF65-F5344CB8AC3E}">
        <p14:creationId xmlns:p14="http://schemas.microsoft.com/office/powerpoint/2010/main" val="1411951191"/>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EE904-F246-FD09-453F-2B41CB882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F030C3-AE74-38CC-7B0B-41831E858E3E}"/>
              </a:ext>
            </a:extLst>
          </p:cNvPr>
          <p:cNvSpPr>
            <a:spLocks noGrp="1"/>
          </p:cNvSpPr>
          <p:nvPr>
            <p:ph type="title"/>
          </p:nvPr>
        </p:nvSpPr>
        <p:spPr/>
        <p:txBody>
          <a:bodyPr>
            <a:normAutofit fontScale="90000"/>
          </a:bodyPr>
          <a:lstStyle/>
          <a:p>
            <a:r>
              <a:rPr lang="en-GB" dirty="0"/>
              <a:t>The </a:t>
            </a:r>
            <a:r>
              <a:rPr lang="en-GB" i="1" dirty="0"/>
              <a:t>p-</a:t>
            </a:r>
            <a:r>
              <a:rPr lang="en-GB" dirty="0"/>
              <a:t>value approach</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D8DDA62-E3E8-392E-21A0-50BD8653E26F}"/>
                  </a:ext>
                </a:extLst>
              </p:cNvPr>
              <p:cNvSpPr>
                <a:spLocks noGrp="1"/>
              </p:cNvSpPr>
              <p:nvPr>
                <p:ph type="body" sz="quarter" idx="11"/>
              </p:nvPr>
            </p:nvSpPr>
            <p:spPr>
              <a:xfrm>
                <a:off x="900112" y="1700213"/>
                <a:ext cx="7632327" cy="5157787"/>
              </a:xfrm>
            </p:spPr>
            <p:txBody>
              <a:bodyPr/>
              <a:lstStyle/>
              <a:p>
                <a:pPr marL="342900" lvl="0" indent="-342900">
                  <a:buFont typeface="Arial" panose="020B0604020202020204" pitchFamily="34" charset="0"/>
                  <a:buChar char="•"/>
                </a:pPr>
                <a:r>
                  <a:rPr lang="en-GB" sz="2400" noProof="0" dirty="0"/>
                  <a:t>Instead of the critical value approach, see slides before, one can do the </a:t>
                </a:r>
                <a:r>
                  <a:rPr lang="en-GB" sz="2400" i="1" noProof="0" dirty="0"/>
                  <a:t>p-</a:t>
                </a:r>
                <a:r>
                  <a:rPr lang="en-GB" sz="2400" noProof="0" dirty="0"/>
                  <a:t>value approach.</a:t>
                </a:r>
                <a:endParaRPr lang="en-GB" sz="2400" dirty="0"/>
              </a:p>
              <a:p>
                <a:pPr marL="342900" lvl="0" indent="-342900">
                  <a:buFont typeface="Arial" panose="020B0604020202020204" pitchFamily="34" charset="0"/>
                  <a:buChar char="•"/>
                </a:pPr>
                <a:r>
                  <a:rPr lang="en-GB" sz="2400" noProof="0" dirty="0"/>
                  <a:t>The </a:t>
                </a:r>
                <a:r>
                  <a:rPr lang="en-GB" sz="2400" i="1" noProof="0" dirty="0">
                    <a:solidFill>
                      <a:srgbClr val="FF0000"/>
                    </a:solidFill>
                  </a:rPr>
                  <a:t>p-</a:t>
                </a:r>
                <a:r>
                  <a:rPr lang="en-GB" sz="2400" noProof="0" dirty="0">
                    <a:solidFill>
                      <a:srgbClr val="FF0000"/>
                    </a:solidFill>
                  </a:rPr>
                  <a:t>value is a probability </a:t>
                </a:r>
                <a:r>
                  <a:rPr lang="en-GB" sz="2400" noProof="0" dirty="0"/>
                  <a:t>that measures the support provided by the sample for the null hypothesis. It reports the probability of getting a value of the test statistic at least as extreme as the value actually obtained.</a:t>
                </a:r>
              </a:p>
              <a:p>
                <a:pPr marL="342900" lvl="0" indent="-342900">
                  <a:buFont typeface="Arial" panose="020B0604020202020204" pitchFamily="34" charset="0"/>
                  <a:buChar char="•"/>
                </a:pPr>
                <a:r>
                  <a:rPr lang="en-GB" sz="2400" noProof="0" dirty="0"/>
                  <a:t>The </a:t>
                </a:r>
                <a:r>
                  <a:rPr lang="en-GB" sz="2400" i="1" noProof="0" dirty="0"/>
                  <a:t>p-</a:t>
                </a:r>
                <a:r>
                  <a:rPr lang="en-GB" sz="2400" noProof="0" dirty="0"/>
                  <a:t>value ranges from 0 to 1. It can be used to measure the strength of the rejection.</a:t>
                </a:r>
              </a:p>
              <a:p>
                <a:pPr marL="342900" lvl="0" indent="-342900">
                  <a:buFont typeface="Arial" panose="020B0604020202020204" pitchFamily="34" charset="0"/>
                  <a:buChar char="•"/>
                </a:pPr>
                <a:r>
                  <a:rPr lang="en-GB" sz="2400" dirty="0"/>
                  <a:t>A very small p-value, such as 0.001, indicates that there is little likelihood the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𝐻</m:t>
                        </m:r>
                      </m:e>
                      <m:sub>
                        <m:r>
                          <a:rPr lang="en-GB" sz="2400" b="0" i="1" smtClean="0">
                            <a:latin typeface="Cambria Math" panose="02040503050406030204" pitchFamily="18" charset="0"/>
                          </a:rPr>
                          <m:t>0</m:t>
                        </m:r>
                      </m:sub>
                    </m:sSub>
                  </m:oMath>
                </a14:m>
                <a:r>
                  <a:rPr lang="en-GB" sz="2400" noProof="0" dirty="0"/>
                  <a:t> is true.</a:t>
                </a:r>
              </a:p>
              <a:p>
                <a:pPr marL="342900" lvl="0" indent="-342900">
                  <a:buFont typeface="Arial" panose="020B0604020202020204" pitchFamily="34" charset="0"/>
                  <a:buChar char="•"/>
                </a:pPr>
                <a:r>
                  <a:rPr lang="en-GB" sz="2400" dirty="0"/>
                  <a:t>Rejection rule using </a:t>
                </a:r>
                <a:r>
                  <a:rPr lang="en-GB" sz="2400" i="1" dirty="0"/>
                  <a:t>p-</a:t>
                </a:r>
                <a:r>
                  <a:rPr lang="en-GB" sz="2400" dirty="0"/>
                  <a:t>value: Reject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𝐻</m:t>
                        </m:r>
                      </m:e>
                      <m:sub>
                        <m:r>
                          <a:rPr lang="en-GB" sz="2400" b="0" i="1" smtClean="0">
                            <a:latin typeface="Cambria Math" panose="02040503050406030204" pitchFamily="18" charset="0"/>
                          </a:rPr>
                          <m:t>0</m:t>
                        </m:r>
                      </m:sub>
                    </m:sSub>
                  </m:oMath>
                </a14:m>
                <a:r>
                  <a:rPr lang="en-GB" sz="2400" noProof="0" dirty="0"/>
                  <a:t> if </a:t>
                </a:r>
                <a:r>
                  <a:rPr lang="en-GB" sz="2400" i="1" noProof="0" dirty="0"/>
                  <a:t>p-</a:t>
                </a:r>
                <a:r>
                  <a:rPr lang="en-GB" sz="2400" noProof="0" dirty="0"/>
                  <a:t>value </a:t>
                </a:r>
                <a14:m>
                  <m:oMath xmlns:m="http://schemas.openxmlformats.org/officeDocument/2006/math">
                    <m:r>
                      <a:rPr lang="en-GB" sz="2400" i="1" noProof="0" smtClean="0">
                        <a:latin typeface="Cambria Math" panose="02040503050406030204" pitchFamily="18" charset="0"/>
                        <a:ea typeface="Cambria Math" panose="02040503050406030204" pitchFamily="18" charset="0"/>
                      </a:rPr>
                      <m:t>≤</m:t>
                    </m:r>
                    <m:r>
                      <a:rPr lang="en-GB" sz="2400" i="1" noProof="0" smtClean="0">
                        <a:latin typeface="Cambria Math" panose="02040503050406030204" pitchFamily="18" charset="0"/>
                        <a:ea typeface="Cambria Math" panose="02040503050406030204" pitchFamily="18" charset="0"/>
                      </a:rPr>
                      <m:t>𝛼</m:t>
                    </m:r>
                  </m:oMath>
                </a14:m>
                <a:r>
                  <a:rPr lang="en-GB" sz="2400" noProof="0" dirty="0"/>
                  <a:t>.</a:t>
                </a:r>
              </a:p>
              <a:p>
                <a:pPr marL="342900" lvl="0" indent="-342900">
                  <a:buFont typeface="Arial" panose="020B0604020202020204" pitchFamily="34" charset="0"/>
                  <a:buChar char="•"/>
                </a:pPr>
                <a:endParaRPr lang="en-GB" sz="2400" noProof="0" dirty="0"/>
              </a:p>
            </p:txBody>
          </p:sp>
        </mc:Choice>
        <mc:Fallback xmlns="">
          <p:sp>
            <p:nvSpPr>
              <p:cNvPr id="3" name="Text Placeholder 2">
                <a:extLst>
                  <a:ext uri="{FF2B5EF4-FFF2-40B4-BE49-F238E27FC236}">
                    <a16:creationId xmlns:a16="http://schemas.microsoft.com/office/drawing/2014/main" id="{1D8DDA62-E3E8-392E-21A0-50BD8653E26F}"/>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316" t="-1891" r="-799"/>
                </a:stretch>
              </a:blipFill>
            </p:spPr>
            <p:txBody>
              <a:bodyPr/>
              <a:lstStyle/>
              <a:p>
                <a:r>
                  <a:rPr lang="en-GB">
                    <a:noFill/>
                  </a:rPr>
                  <a:t> </a:t>
                </a:r>
              </a:p>
            </p:txBody>
          </p:sp>
        </mc:Fallback>
      </mc:AlternateContent>
    </p:spTree>
    <p:extLst>
      <p:ext uri="{BB962C8B-B14F-4D97-AF65-F5344CB8AC3E}">
        <p14:creationId xmlns:p14="http://schemas.microsoft.com/office/powerpoint/2010/main" val="1862892358"/>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8F210-7F46-EBD0-DABF-A0FDC54DF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78EE54-D946-BCAD-17F1-65746CF5A388}"/>
              </a:ext>
            </a:extLst>
          </p:cNvPr>
          <p:cNvSpPr>
            <a:spLocks noGrp="1"/>
          </p:cNvSpPr>
          <p:nvPr>
            <p:ph type="title"/>
          </p:nvPr>
        </p:nvSpPr>
        <p:spPr/>
        <p:txBody>
          <a:bodyPr>
            <a:normAutofit fontScale="90000"/>
          </a:bodyPr>
          <a:lstStyle/>
          <a:p>
            <a:r>
              <a:rPr lang="en-GB" dirty="0"/>
              <a:t>The confidence interval approach</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C18F9FC-5D34-2E0A-3543-7D332DF09092}"/>
                  </a:ext>
                </a:extLst>
              </p:cNvPr>
              <p:cNvSpPr>
                <a:spLocks noGrp="1"/>
              </p:cNvSpPr>
              <p:nvPr>
                <p:ph type="body" sz="quarter" idx="11"/>
              </p:nvPr>
            </p:nvSpPr>
            <p:spPr>
              <a:xfrm>
                <a:off x="900112" y="1700213"/>
                <a:ext cx="7632327" cy="5157787"/>
              </a:xfrm>
            </p:spPr>
            <p:txBody>
              <a:bodyPr/>
              <a:lstStyle/>
              <a:p>
                <a:pPr marL="342900" lvl="0" indent="-342900">
                  <a:buFont typeface="Arial" panose="020B0604020202020204" pitchFamily="34" charset="0"/>
                  <a:buChar char="•"/>
                </a:pPr>
                <a:r>
                  <a:rPr lang="en-GB" sz="2400" noProof="0" dirty="0"/>
                  <a:t>In the previous lecture, we introduced </a:t>
                </a:r>
                <a:r>
                  <a:rPr lang="en-GB" sz="2400" noProof="0" dirty="0">
                    <a:solidFill>
                      <a:srgbClr val="FF0000"/>
                    </a:solidFill>
                  </a:rPr>
                  <a:t>interval estimation</a:t>
                </a:r>
                <a:r>
                  <a:rPr lang="en-GB" sz="2400" noProof="0" dirty="0"/>
                  <a:t>.</a:t>
                </a:r>
              </a:p>
              <a:p>
                <a:pPr marL="342900" lvl="0" indent="-342900">
                  <a:buFont typeface="Arial" panose="020B0604020202020204" pitchFamily="34" charset="0"/>
                  <a:buChar char="•"/>
                </a:pPr>
                <a:r>
                  <a:rPr lang="en-GB" sz="2400" dirty="0"/>
                  <a:t>The estimated interval can be used for hypothesis testing.</a:t>
                </a:r>
              </a:p>
              <a:p>
                <a:pPr marL="0" lvl="0" indent="0">
                  <a:buNone/>
                </a:pPr>
                <a:endParaRPr lang="en-GB" sz="2400" dirty="0"/>
              </a:p>
              <a:p>
                <a:pPr marL="0" lvl="0" indent="0">
                  <a:buNone/>
                </a:pPr>
                <a:r>
                  <a:rPr lang="en-GB" sz="2400" noProof="0" dirty="0"/>
                  <a:t>Example:</a:t>
                </a:r>
              </a:p>
              <a:p>
                <a:pPr marL="0" lvl="0" indent="0">
                  <a:buNone/>
                </a:pPr>
                <a14:m>
                  <m:oMathPara xmlns:m="http://schemas.openxmlformats.org/officeDocument/2006/math">
                    <m:oMathParaPr>
                      <m:jc m:val="left"/>
                    </m:oMathParaPr>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𝐻</m:t>
                          </m:r>
                        </m:e>
                        <m:sub>
                          <m:r>
                            <a:rPr lang="en-GB" sz="2400" i="1">
                              <a:latin typeface="Cambria Math" panose="02040503050406030204" pitchFamily="18" charset="0"/>
                            </a:rPr>
                            <m:t>0</m:t>
                          </m:r>
                        </m:sub>
                      </m:sSub>
                      <m:r>
                        <a:rPr lang="en-GB" sz="2400" i="1">
                          <a:latin typeface="Cambria Math" panose="02040503050406030204" pitchFamily="18" charset="0"/>
                        </a:rPr>
                        <m:t>: </m:t>
                      </m:r>
                      <m:r>
                        <a:rPr lang="en-GB" sz="2400" i="1">
                          <a:latin typeface="Cambria Math" panose="02040503050406030204" pitchFamily="18" charset="0"/>
                          <a:ea typeface="Cambria Math" panose="02040503050406030204" pitchFamily="18" charset="0"/>
                        </a:rPr>
                        <m:t>𝜇</m:t>
                      </m:r>
                      <m:r>
                        <a:rPr lang="en-GB" sz="2400" i="1">
                          <a:latin typeface="Cambria Math" panose="02040503050406030204" pitchFamily="18" charset="0"/>
                          <a:ea typeface="Cambria Math" panose="02040503050406030204" pitchFamily="18" charset="0"/>
                        </a:rPr>
                        <m:t>=</m:t>
                      </m:r>
                      <m:sSub>
                        <m:sSubPr>
                          <m:ctrlPr>
                            <a:rPr lang="en-GB" sz="2400" i="1">
                              <a:latin typeface="Cambria Math" panose="02040503050406030204" pitchFamily="18" charset="0"/>
                              <a:ea typeface="Cambria Math" panose="02040503050406030204" pitchFamily="18" charset="0"/>
                            </a:rPr>
                          </m:ctrlPr>
                        </m:sSubPr>
                        <m:e>
                          <m:r>
                            <a:rPr lang="en-GB" sz="2400" i="1">
                              <a:latin typeface="Cambria Math" panose="02040503050406030204" pitchFamily="18" charset="0"/>
                              <a:ea typeface="Cambria Math" panose="02040503050406030204" pitchFamily="18" charset="0"/>
                            </a:rPr>
                            <m:t>𝜇</m:t>
                          </m:r>
                        </m:e>
                        <m:sub>
                          <m:r>
                            <a:rPr lang="en-GB" sz="2400" i="1">
                              <a:latin typeface="Cambria Math" panose="02040503050406030204" pitchFamily="18" charset="0"/>
                              <a:ea typeface="Cambria Math" panose="02040503050406030204" pitchFamily="18" charset="0"/>
                            </a:rPr>
                            <m:t>0</m:t>
                          </m:r>
                        </m:sub>
                      </m:sSub>
                    </m:oMath>
                  </m:oMathPara>
                </a14:m>
                <a:endParaRPr lang="en-GB" sz="2400" dirty="0">
                  <a:ea typeface="Cambria Math" panose="02040503050406030204" pitchFamily="18" charset="0"/>
                </a:endParaRPr>
              </a:p>
              <a:p>
                <a:pPr marL="0" lvl="0" indent="0">
                  <a:buNone/>
                </a:pPr>
                <a14:m>
                  <m:oMathPara xmlns:m="http://schemas.openxmlformats.org/officeDocument/2006/math">
                    <m:oMathParaPr>
                      <m:jc m:val="left"/>
                    </m:oMathParaPr>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𝐻</m:t>
                          </m:r>
                        </m:e>
                        <m:sub>
                          <m:r>
                            <a:rPr lang="en-GB" sz="2400" i="1">
                              <a:latin typeface="Cambria Math" panose="02040503050406030204" pitchFamily="18" charset="0"/>
                            </a:rPr>
                            <m:t>1</m:t>
                          </m:r>
                        </m:sub>
                      </m:sSub>
                      <m:r>
                        <a:rPr lang="en-GB" sz="2400" i="1">
                          <a:latin typeface="Cambria Math" panose="02040503050406030204" pitchFamily="18" charset="0"/>
                        </a:rPr>
                        <m:t>: </m:t>
                      </m:r>
                      <m:r>
                        <a:rPr lang="en-GB" sz="2400" i="1">
                          <a:latin typeface="Cambria Math" panose="02040503050406030204" pitchFamily="18" charset="0"/>
                          <a:ea typeface="Cambria Math" panose="02040503050406030204" pitchFamily="18" charset="0"/>
                        </a:rPr>
                        <m:t>𝜇</m:t>
                      </m:r>
                      <m:r>
                        <a:rPr lang="en-GB" sz="2400" i="1">
                          <a:latin typeface="Cambria Math" panose="02040503050406030204" pitchFamily="18" charset="0"/>
                          <a:ea typeface="Cambria Math" panose="02040503050406030204" pitchFamily="18" charset="0"/>
                        </a:rPr>
                        <m:t>≠</m:t>
                      </m:r>
                      <m:sSub>
                        <m:sSubPr>
                          <m:ctrlPr>
                            <a:rPr lang="en-GB" sz="2400" i="1">
                              <a:latin typeface="Cambria Math" panose="02040503050406030204" pitchFamily="18" charset="0"/>
                              <a:ea typeface="Cambria Math" panose="02040503050406030204" pitchFamily="18" charset="0"/>
                            </a:rPr>
                          </m:ctrlPr>
                        </m:sSubPr>
                        <m:e>
                          <m:r>
                            <a:rPr lang="en-GB" sz="2400" i="1">
                              <a:latin typeface="Cambria Math" panose="02040503050406030204" pitchFamily="18" charset="0"/>
                              <a:ea typeface="Cambria Math" panose="02040503050406030204" pitchFamily="18" charset="0"/>
                            </a:rPr>
                            <m:t>𝜇</m:t>
                          </m:r>
                        </m:e>
                        <m:sub>
                          <m:r>
                            <a:rPr lang="en-GB" sz="2400" i="1">
                              <a:latin typeface="Cambria Math" panose="02040503050406030204" pitchFamily="18" charset="0"/>
                              <a:ea typeface="Cambria Math" panose="02040503050406030204" pitchFamily="18" charset="0"/>
                            </a:rPr>
                            <m:t>0</m:t>
                          </m:r>
                        </m:sub>
                      </m:sSub>
                    </m:oMath>
                  </m:oMathPara>
                </a14:m>
                <a:endParaRPr lang="en-GB" sz="2400" dirty="0">
                  <a:ea typeface="Cambria Math" panose="02040503050406030204" pitchFamily="18" charset="0"/>
                </a:endParaRPr>
              </a:p>
              <a:p>
                <a:pPr marL="0" lvl="0" indent="0">
                  <a:buNone/>
                </a:pPr>
                <a:r>
                  <a:rPr lang="en-GB" sz="2400" dirty="0"/>
                  <a:t>Using</a:t>
                </a:r>
                <a:r>
                  <a:rPr lang="en-GB" sz="2400" noProof="0" dirty="0"/>
                  <a:t> the random sample information, we construct the confidence interval:</a:t>
                </a:r>
              </a:p>
              <a:p>
                <a:pPr marL="0" lvl="0" indent="0">
                  <a:buNone/>
                </a:pPr>
                <a14:m>
                  <m:oMathPara xmlns:m="http://schemas.openxmlformats.org/officeDocument/2006/math">
                    <m:oMathParaPr>
                      <m:jc m:val="center"/>
                    </m:oMathParaPr>
                    <m:oMath xmlns:m="http://schemas.openxmlformats.org/officeDocument/2006/math">
                      <m:acc>
                        <m:accPr>
                          <m:chr m:val="̅"/>
                          <m:ctrlPr>
                            <a:rPr lang="en-GB" sz="2400" i="1" noProof="0" smtClean="0">
                              <a:latin typeface="Cambria Math" panose="02040503050406030204" pitchFamily="18" charset="0"/>
                            </a:rPr>
                          </m:ctrlPr>
                        </m:accPr>
                        <m:e>
                          <m:r>
                            <a:rPr lang="en-GB" sz="2400" b="0" i="1" noProof="0" smtClean="0">
                              <a:latin typeface="Cambria Math" panose="02040503050406030204" pitchFamily="18" charset="0"/>
                            </a:rPr>
                            <m:t>𝑥</m:t>
                          </m:r>
                        </m:e>
                      </m:acc>
                      <m:r>
                        <a:rPr lang="en-GB" sz="2400" i="1" noProof="0" smtClean="0">
                          <a:latin typeface="Cambria Math" panose="02040503050406030204" pitchFamily="18" charset="0"/>
                          <a:ea typeface="Cambria Math" panose="02040503050406030204" pitchFamily="18" charset="0"/>
                        </a:rPr>
                        <m:t>±</m:t>
                      </m:r>
                      <m:sSub>
                        <m:sSubPr>
                          <m:ctrlPr>
                            <a:rPr lang="en-GB" sz="2400" i="1" noProof="0" smtClean="0">
                              <a:latin typeface="Cambria Math" panose="02040503050406030204" pitchFamily="18" charset="0"/>
                              <a:ea typeface="Cambria Math" panose="02040503050406030204" pitchFamily="18" charset="0"/>
                            </a:rPr>
                          </m:ctrlPr>
                        </m:sSubPr>
                        <m:e>
                          <m:r>
                            <a:rPr lang="en-GB" sz="2400" b="0" i="1" noProof="0" smtClean="0">
                              <a:latin typeface="Cambria Math" panose="02040503050406030204" pitchFamily="18" charset="0"/>
                              <a:ea typeface="Cambria Math" panose="02040503050406030204" pitchFamily="18" charset="0"/>
                            </a:rPr>
                            <m:t>𝑧</m:t>
                          </m:r>
                        </m:e>
                        <m:sub>
                          <m:r>
                            <a:rPr lang="en-GB" sz="2400" i="1" noProof="0" smtClean="0">
                              <a:latin typeface="Cambria Math" panose="02040503050406030204" pitchFamily="18" charset="0"/>
                              <a:ea typeface="Cambria Math" panose="02040503050406030204" pitchFamily="18" charset="0"/>
                            </a:rPr>
                            <m:t>𝛼</m:t>
                          </m:r>
                          <m:r>
                            <a:rPr lang="en-GB" sz="2400" b="0" i="1" noProof="0" smtClean="0">
                              <a:latin typeface="Cambria Math" panose="02040503050406030204" pitchFamily="18" charset="0"/>
                              <a:ea typeface="Cambria Math" panose="02040503050406030204" pitchFamily="18" charset="0"/>
                            </a:rPr>
                            <m:t>/2</m:t>
                          </m:r>
                        </m:sub>
                      </m:sSub>
                      <m:f>
                        <m:fPr>
                          <m:ctrlPr>
                            <a:rPr lang="en-GB" sz="2400" i="1" noProof="0" smtClean="0">
                              <a:latin typeface="Cambria Math" panose="02040503050406030204" pitchFamily="18" charset="0"/>
                              <a:ea typeface="Cambria Math" panose="02040503050406030204" pitchFamily="18" charset="0"/>
                            </a:rPr>
                          </m:ctrlPr>
                        </m:fPr>
                        <m:num>
                          <m:r>
                            <a:rPr lang="en-GB" sz="2400" i="1" noProof="0" smtClean="0">
                              <a:latin typeface="Cambria Math" panose="02040503050406030204" pitchFamily="18" charset="0"/>
                              <a:ea typeface="Cambria Math" panose="02040503050406030204" pitchFamily="18" charset="0"/>
                            </a:rPr>
                            <m:t>𝜎</m:t>
                          </m:r>
                        </m:num>
                        <m:den>
                          <m:rad>
                            <m:radPr>
                              <m:degHide m:val="on"/>
                              <m:ctrlPr>
                                <a:rPr lang="en-GB" sz="2400" i="1" noProof="0" smtClean="0">
                                  <a:latin typeface="Cambria Math" panose="02040503050406030204" pitchFamily="18" charset="0"/>
                                  <a:ea typeface="Cambria Math" panose="02040503050406030204" pitchFamily="18" charset="0"/>
                                </a:rPr>
                              </m:ctrlPr>
                            </m:radPr>
                            <m:deg/>
                            <m:e>
                              <m:r>
                                <a:rPr lang="en-GB" sz="2400" b="0" i="1" noProof="0" smtClean="0">
                                  <a:latin typeface="Cambria Math" panose="02040503050406030204" pitchFamily="18" charset="0"/>
                                  <a:ea typeface="Cambria Math" panose="02040503050406030204" pitchFamily="18" charset="0"/>
                                </a:rPr>
                                <m:t>𝑛</m:t>
                              </m:r>
                            </m:e>
                          </m:rad>
                        </m:den>
                      </m:f>
                    </m:oMath>
                  </m:oMathPara>
                </a14:m>
                <a:endParaRPr lang="en-GB" sz="2400" noProof="0" dirty="0"/>
              </a:p>
              <a:p>
                <a:pPr marL="0" lvl="0" indent="0">
                  <a:buNone/>
                </a:pPr>
                <a:r>
                  <a:rPr lang="en-GB" sz="2400" dirty="0"/>
                  <a:t>If the confidence interval contains the hypothesized value </a:t>
                </a:r>
                <a14:m>
                  <m:oMath xmlns:m="http://schemas.openxmlformats.org/officeDocument/2006/math">
                    <m:sSub>
                      <m:sSubPr>
                        <m:ctrlPr>
                          <a:rPr lang="en-GB" sz="2400" i="1" smtClean="0">
                            <a:latin typeface="Cambria Math" panose="02040503050406030204" pitchFamily="18" charset="0"/>
                          </a:rPr>
                        </m:ctrlPr>
                      </m:sSubPr>
                      <m:e>
                        <m:r>
                          <a:rPr lang="en-GB" sz="2400" i="1" smtClean="0">
                            <a:latin typeface="Cambria Math" panose="02040503050406030204" pitchFamily="18" charset="0"/>
                            <a:ea typeface="Cambria Math" panose="02040503050406030204" pitchFamily="18" charset="0"/>
                          </a:rPr>
                          <m:t>𝜇</m:t>
                        </m:r>
                      </m:e>
                      <m:sub>
                        <m:r>
                          <a:rPr lang="en-GB" sz="2400" b="0" i="1" smtClean="0">
                            <a:latin typeface="Cambria Math" panose="02040503050406030204" pitchFamily="18" charset="0"/>
                          </a:rPr>
                          <m:t>0</m:t>
                        </m:r>
                      </m:sub>
                    </m:sSub>
                  </m:oMath>
                </a14:m>
                <a:r>
                  <a:rPr lang="en-GB" sz="2400" dirty="0"/>
                  <a:t>, do not reject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𝐻</m:t>
                        </m:r>
                      </m:e>
                      <m:sub>
                        <m:r>
                          <a:rPr lang="en-GB" sz="2400" b="0" i="1" smtClean="0">
                            <a:latin typeface="Cambria Math" panose="02040503050406030204" pitchFamily="18" charset="0"/>
                          </a:rPr>
                          <m:t>0</m:t>
                        </m:r>
                      </m:sub>
                    </m:sSub>
                  </m:oMath>
                </a14:m>
                <a:r>
                  <a:rPr lang="en-GB" sz="2400" dirty="0"/>
                  <a:t>. Otherwise, reject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𝐻</m:t>
                        </m:r>
                      </m:e>
                      <m:sub>
                        <m:r>
                          <a:rPr lang="en-GB" sz="2400" i="1">
                            <a:latin typeface="Cambria Math" panose="02040503050406030204" pitchFamily="18" charset="0"/>
                          </a:rPr>
                          <m:t>0</m:t>
                        </m:r>
                      </m:sub>
                    </m:sSub>
                  </m:oMath>
                </a14:m>
                <a:r>
                  <a:rPr lang="en-GB" sz="2400" dirty="0"/>
                  <a:t>. </a:t>
                </a:r>
              </a:p>
              <a:p>
                <a:pPr marL="0" lvl="0" indent="0">
                  <a:buNone/>
                </a:pPr>
                <a:endParaRPr lang="en-GB" sz="2400" noProof="0" dirty="0"/>
              </a:p>
              <a:p>
                <a:pPr marL="0" lvl="0" indent="0">
                  <a:buNone/>
                </a:pPr>
                <a:r>
                  <a:rPr lang="en-GB" sz="2400" noProof="0" dirty="0"/>
                  <a:t> </a:t>
                </a:r>
              </a:p>
              <a:p>
                <a:pPr marL="0" lvl="0" indent="0">
                  <a:buNone/>
                </a:pPr>
                <a:endParaRPr lang="en-GB" sz="240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CC18F9FC-5D34-2E0A-3543-7D332DF09092}"/>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891" r="-2556"/>
                </a:stretch>
              </a:blipFill>
            </p:spPr>
            <p:txBody>
              <a:bodyPr/>
              <a:lstStyle/>
              <a:p>
                <a:r>
                  <a:rPr lang="en-GB">
                    <a:noFill/>
                  </a:rPr>
                  <a:t> </a:t>
                </a:r>
              </a:p>
            </p:txBody>
          </p:sp>
        </mc:Fallback>
      </mc:AlternateContent>
    </p:spTree>
    <p:extLst>
      <p:ext uri="{BB962C8B-B14F-4D97-AF65-F5344CB8AC3E}">
        <p14:creationId xmlns:p14="http://schemas.microsoft.com/office/powerpoint/2010/main" val="849432136"/>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9D15C-737F-07FA-8196-08EAE0F5C68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5CAC95F-3F9C-DCFC-C986-07AF81D93990}"/>
                  </a:ext>
                </a:extLst>
              </p:cNvPr>
              <p:cNvSpPr>
                <a:spLocks noGrp="1"/>
              </p:cNvSpPr>
              <p:nvPr>
                <p:ph type="title"/>
              </p:nvPr>
            </p:nvSpPr>
            <p:spPr/>
            <p:txBody>
              <a:bodyPr>
                <a:normAutofit fontScale="90000"/>
              </a:bodyPr>
              <a:lstStyle/>
              <a:p>
                <a:r>
                  <a:rPr lang="en-GB" noProof="0" dirty="0"/>
                  <a:t>Example 1: </a:t>
                </a:r>
                <a14:m>
                  <m:oMath xmlns:m="http://schemas.openxmlformats.org/officeDocument/2006/math">
                    <m:r>
                      <a:rPr lang="en-GB" i="1" noProof="0" smtClean="0">
                        <a:latin typeface="Cambria Math" panose="02040503050406030204" pitchFamily="18" charset="0"/>
                        <a:ea typeface="Cambria Math" panose="02040503050406030204" pitchFamily="18" charset="0"/>
                      </a:rPr>
                      <m:t>𝜎</m:t>
                    </m:r>
                  </m:oMath>
                </a14:m>
                <a:r>
                  <a:rPr lang="en-GB" noProof="0" dirty="0"/>
                  <a:t> known, two-sided test</a:t>
                </a:r>
                <a:br>
                  <a:rPr lang="en-GB" noProof="0" dirty="0"/>
                </a:br>
                <a:br>
                  <a:rPr lang="en-GB" noProof="0" dirty="0"/>
                </a:br>
                <a:endParaRPr lang="en-GB" noProof="0" dirty="0"/>
              </a:p>
            </p:txBody>
          </p:sp>
        </mc:Choice>
        <mc:Fallback xmlns="">
          <p:sp>
            <p:nvSpPr>
              <p:cNvPr id="2" name="Title 1">
                <a:extLst>
                  <a:ext uri="{FF2B5EF4-FFF2-40B4-BE49-F238E27FC236}">
                    <a16:creationId xmlns:a16="http://schemas.microsoft.com/office/drawing/2014/main" id="{15CAC95F-3F9C-DCFC-C986-07AF81D93990}"/>
                  </a:ext>
                </a:extLst>
              </p:cNvPr>
              <p:cNvSpPr>
                <a:spLocks noGrp="1" noRot="1" noChangeAspect="1" noMove="1" noResize="1" noEditPoints="1" noAdjustHandles="1" noChangeArrowheads="1" noChangeShapeType="1" noTextEdit="1"/>
              </p:cNvSpPr>
              <p:nvPr>
                <p:ph type="title"/>
              </p:nvPr>
            </p:nvSpPr>
            <p:spPr>
              <a:blipFill>
                <a:blip r:embed="rId2"/>
                <a:stretch>
                  <a:fillRect l="-3171" t="-1204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E7E1B25-1B47-CA8B-BC22-838566BCF127}"/>
                  </a:ext>
                </a:extLst>
              </p:cNvPr>
              <p:cNvSpPr>
                <a:spLocks noGrp="1"/>
              </p:cNvSpPr>
              <p:nvPr>
                <p:ph type="body" sz="quarter" idx="11"/>
              </p:nvPr>
            </p:nvSpPr>
            <p:spPr>
              <a:xfrm>
                <a:off x="900112" y="1700213"/>
                <a:ext cx="7632327" cy="5157787"/>
              </a:xfrm>
            </p:spPr>
            <p:txBody>
              <a:bodyPr/>
              <a:lstStyle/>
              <a:p>
                <a:pPr marL="0" lvl="0" indent="0">
                  <a:buNone/>
                </a:pPr>
                <a:r>
                  <a:rPr lang="en-GB" sz="2400" dirty="0"/>
                  <a:t>A sample of 50 provided a sample mean of 14.15. The population standard deviation is 3. Test whether the population mean is 15.</a:t>
                </a:r>
              </a:p>
              <a:p>
                <a:pPr marL="0" indent="0">
                  <a:buNone/>
                </a:pPr>
                <a:r>
                  <a:rPr lang="en-GB" sz="2400" dirty="0"/>
                  <a:t>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𝐻</m:t>
                        </m:r>
                      </m:e>
                      <m:sub>
                        <m:r>
                          <a:rPr lang="en-GB" sz="2400" i="1">
                            <a:latin typeface="Cambria Math" panose="02040503050406030204" pitchFamily="18" charset="0"/>
                          </a:rPr>
                          <m:t>0</m:t>
                        </m:r>
                      </m:sub>
                    </m:sSub>
                    <m:r>
                      <a:rPr lang="en-GB" sz="2400" i="1">
                        <a:latin typeface="Cambria Math" panose="02040503050406030204" pitchFamily="18" charset="0"/>
                      </a:rPr>
                      <m:t>: </m:t>
                    </m:r>
                    <m:r>
                      <a:rPr lang="en-GB" sz="2400" i="1">
                        <a:latin typeface="Cambria Math" panose="02040503050406030204" pitchFamily="18" charset="0"/>
                        <a:ea typeface="Cambria Math" panose="02040503050406030204" pitchFamily="18" charset="0"/>
                      </a:rPr>
                      <m:t>𝜇</m:t>
                    </m:r>
                    <m:r>
                      <a:rPr lang="en-GB" sz="2400" i="1">
                        <a:latin typeface="Cambria Math" panose="02040503050406030204" pitchFamily="18" charset="0"/>
                        <a:ea typeface="Cambria Math" panose="02040503050406030204" pitchFamily="18" charset="0"/>
                      </a:rPr>
                      <m:t>=15</m:t>
                    </m:r>
                  </m:oMath>
                </a14:m>
                <a:r>
                  <a:rPr lang="en-GB" sz="2400" dirty="0">
                    <a:ea typeface="Cambria Math" panose="02040503050406030204" pitchFamily="18" charset="0"/>
                  </a:rPr>
                  <a:t>        </a:t>
                </a:r>
              </a:p>
              <a:p>
                <a:pPr marL="0" indent="0">
                  <a:buNone/>
                </a:pPr>
                <a:r>
                  <a:rPr lang="en-GB" sz="2400" dirty="0"/>
                  <a:t>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𝐻</m:t>
                        </m:r>
                      </m:e>
                      <m:sub>
                        <m:r>
                          <a:rPr lang="en-GB" sz="2400" i="1">
                            <a:latin typeface="Cambria Math" panose="02040503050406030204" pitchFamily="18" charset="0"/>
                          </a:rPr>
                          <m:t>1</m:t>
                        </m:r>
                      </m:sub>
                    </m:sSub>
                    <m:r>
                      <a:rPr lang="en-GB" sz="2400" i="1">
                        <a:latin typeface="Cambria Math" panose="02040503050406030204" pitchFamily="18" charset="0"/>
                      </a:rPr>
                      <m:t>: </m:t>
                    </m:r>
                    <m:r>
                      <a:rPr lang="en-GB" sz="2400" i="1">
                        <a:latin typeface="Cambria Math" panose="02040503050406030204" pitchFamily="18" charset="0"/>
                        <a:ea typeface="Cambria Math" panose="02040503050406030204" pitchFamily="18" charset="0"/>
                      </a:rPr>
                      <m:t>𝜇</m:t>
                    </m:r>
                    <m:r>
                      <a:rPr lang="en-GB" sz="2400" i="1">
                        <a:latin typeface="Cambria Math" panose="02040503050406030204" pitchFamily="18" charset="0"/>
                        <a:ea typeface="Cambria Math" panose="02040503050406030204" pitchFamily="18" charset="0"/>
                      </a:rPr>
                      <m:t>≠15</m:t>
                    </m:r>
                  </m:oMath>
                </a14:m>
                <a:endParaRPr lang="en-GB" sz="2400" dirty="0">
                  <a:ea typeface="Cambria Math" panose="02040503050406030204" pitchFamily="18" charset="0"/>
                </a:endParaRPr>
              </a:p>
              <a:p>
                <a:pPr marL="0" indent="0">
                  <a:buNone/>
                </a:pPr>
                <a:r>
                  <a:rPr lang="en-GB" sz="2400" dirty="0">
                    <a:ea typeface="Cambria Math" panose="02040503050406030204" pitchFamily="18" charset="0"/>
                  </a:rPr>
                  <a:t>Computing the test statistic:</a:t>
                </a:r>
              </a:p>
              <a:p>
                <a:pPr marL="0" lvl="0" indent="0">
                  <a:buNone/>
                </a:pPr>
                <a14:m>
                  <m:oMathPara xmlns:m="http://schemas.openxmlformats.org/officeDocument/2006/math">
                    <m:oMathParaPr>
                      <m:jc m:val="center"/>
                    </m:oMathParaPr>
                    <m:oMath xmlns:m="http://schemas.openxmlformats.org/officeDocument/2006/math">
                      <m:r>
                        <a:rPr lang="en-GB" sz="2400" i="1">
                          <a:latin typeface="Cambria Math" panose="02040503050406030204" pitchFamily="18" charset="0"/>
                        </a:rPr>
                        <m:t>𝑧</m:t>
                      </m:r>
                      <m:r>
                        <a:rPr lang="en-GB" sz="2400" i="1">
                          <a:latin typeface="Cambria Math" panose="02040503050406030204" pitchFamily="18" charset="0"/>
                        </a:rPr>
                        <m:t>=</m:t>
                      </m:r>
                      <m:f>
                        <m:fPr>
                          <m:ctrlPr>
                            <a:rPr lang="en-GB" sz="2400" i="1">
                              <a:latin typeface="Cambria Math" panose="02040503050406030204" pitchFamily="18" charset="0"/>
                            </a:rPr>
                          </m:ctrlPr>
                        </m:fPr>
                        <m:num>
                          <m:acc>
                            <m:accPr>
                              <m:chr m:val="̅"/>
                              <m:ctrlPr>
                                <a:rPr lang="en-GB" sz="2400" i="1">
                                  <a:latin typeface="Cambria Math" panose="02040503050406030204" pitchFamily="18" charset="0"/>
                                </a:rPr>
                              </m:ctrlPr>
                            </m:accPr>
                            <m:e>
                              <m:r>
                                <a:rPr lang="en-GB" sz="2400" i="1">
                                  <a:latin typeface="Cambria Math" panose="02040503050406030204" pitchFamily="18" charset="0"/>
                                </a:rPr>
                                <m:t>𝑥</m:t>
                              </m:r>
                            </m:e>
                          </m:acc>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ea typeface="Cambria Math" panose="02040503050406030204" pitchFamily="18" charset="0"/>
                                </a:rPr>
                                <m:t>𝜇</m:t>
                              </m:r>
                            </m:e>
                            <m:sub>
                              <m:r>
                                <a:rPr lang="en-GB" sz="2400" i="1">
                                  <a:latin typeface="Cambria Math" panose="02040503050406030204" pitchFamily="18" charset="0"/>
                                </a:rPr>
                                <m:t>0</m:t>
                              </m:r>
                            </m:sub>
                          </m:sSub>
                        </m:num>
                        <m:den>
                          <m:f>
                            <m:fPr>
                              <m:type m:val="lin"/>
                              <m:ctrlPr>
                                <a:rPr lang="en-GB" sz="2400" i="1">
                                  <a:latin typeface="Cambria Math" panose="02040503050406030204" pitchFamily="18" charset="0"/>
                                </a:rPr>
                              </m:ctrlPr>
                            </m:fPr>
                            <m:num>
                              <m:r>
                                <a:rPr lang="en-GB" sz="2400" i="1">
                                  <a:latin typeface="Cambria Math" panose="02040503050406030204" pitchFamily="18" charset="0"/>
                                  <a:ea typeface="Cambria Math" panose="02040503050406030204" pitchFamily="18" charset="0"/>
                                </a:rPr>
                                <m:t>𝜎</m:t>
                              </m:r>
                            </m:num>
                            <m:den>
                              <m:rad>
                                <m:radPr>
                                  <m:degHide m:val="on"/>
                                  <m:ctrlPr>
                                    <a:rPr lang="en-GB" sz="2400" i="1">
                                      <a:latin typeface="Cambria Math" panose="02040503050406030204" pitchFamily="18" charset="0"/>
                                    </a:rPr>
                                  </m:ctrlPr>
                                </m:radPr>
                                <m:deg/>
                                <m:e>
                                  <m:r>
                                    <a:rPr lang="en-GB" sz="2400" i="1">
                                      <a:latin typeface="Cambria Math" panose="02040503050406030204" pitchFamily="18" charset="0"/>
                                    </a:rPr>
                                    <m:t>𝑛</m:t>
                                  </m:r>
                                </m:e>
                              </m:rad>
                            </m:den>
                          </m:f>
                        </m:den>
                      </m:f>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14.15−15</m:t>
                          </m:r>
                        </m:num>
                        <m:den>
                          <m:r>
                            <a:rPr lang="en-GB" sz="2400" b="0" i="1" smtClean="0">
                              <a:latin typeface="Cambria Math" panose="02040503050406030204" pitchFamily="18" charset="0"/>
                            </a:rPr>
                            <m:t>3/</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50</m:t>
                              </m:r>
                            </m:e>
                          </m:rad>
                        </m:den>
                      </m:f>
                      <m:r>
                        <a:rPr lang="en-GB" sz="2400" b="0" i="1" smtClean="0">
                          <a:latin typeface="Cambria Math" panose="02040503050406030204" pitchFamily="18" charset="0"/>
                        </a:rPr>
                        <m:t>=−2.003</m:t>
                      </m:r>
                    </m:oMath>
                  </m:oMathPara>
                </a14:m>
                <a:endParaRPr lang="en-GB" sz="2400" noProof="0" dirty="0"/>
              </a:p>
              <a:p>
                <a:pPr marL="0" indent="0">
                  <a:buNone/>
                </a:pPr>
                <a:r>
                  <a:rPr lang="en-GB" sz="2400" noProof="0" dirty="0"/>
                  <a:t>Critical value using 5% significance level and </a:t>
                </a:r>
                <a:r>
                  <a:rPr lang="en-GB" sz="2400" i="1" noProof="0" dirty="0"/>
                  <a:t>z</a:t>
                </a:r>
                <a:r>
                  <a:rPr lang="en-GB" sz="2400" noProof="0" dirty="0"/>
                  <a:t> table: </a:t>
                </a:r>
                <a14:m>
                  <m:oMath xmlns:m="http://schemas.openxmlformats.org/officeDocument/2006/math">
                    <m:r>
                      <a:rPr lang="en-GB" sz="2400" i="1" noProof="0" smtClean="0">
                        <a:latin typeface="Cambria Math" panose="02040503050406030204" pitchFamily="18" charset="0"/>
                        <a:ea typeface="Cambria Math" panose="02040503050406030204" pitchFamily="18" charset="0"/>
                      </a:rPr>
                      <m:t>±</m:t>
                    </m:r>
                    <m:r>
                      <a:rPr lang="en-GB" sz="2400" b="0" i="1" noProof="0" smtClean="0">
                        <a:latin typeface="Cambria Math" panose="02040503050406030204" pitchFamily="18" charset="0"/>
                        <a:ea typeface="Cambria Math" panose="02040503050406030204" pitchFamily="18" charset="0"/>
                      </a:rPr>
                      <m:t>1.96</m:t>
                    </m:r>
                  </m:oMath>
                </a14:m>
                <a:endParaRPr lang="en-GB" sz="2400" noProof="0" dirty="0"/>
              </a:p>
              <a:p>
                <a:pPr marL="0" lvl="0" indent="0">
                  <a:buNone/>
                </a:pPr>
                <a:r>
                  <a:rPr lang="en-GB" sz="2400" dirty="0"/>
                  <a:t>Decision: As </a:t>
                </a:r>
                <a14:m>
                  <m:oMath xmlns:m="http://schemas.openxmlformats.org/officeDocument/2006/math">
                    <m:r>
                      <a:rPr lang="en-GB" sz="2400" b="0" i="1" smtClean="0">
                        <a:latin typeface="Cambria Math" panose="02040503050406030204" pitchFamily="18" charset="0"/>
                      </a:rPr>
                      <m:t>−2.003&lt;−1.96</m:t>
                    </m:r>
                  </m:oMath>
                </a14:m>
                <a:r>
                  <a:rPr lang="en-GB" sz="2400" noProof="0" dirty="0"/>
                  <a:t> reject </a:t>
                </a:r>
                <a14:m>
                  <m:oMath xmlns:m="http://schemas.openxmlformats.org/officeDocument/2006/math">
                    <m:sSub>
                      <m:sSubPr>
                        <m:ctrlPr>
                          <a:rPr lang="en-GB" sz="2400" i="1" noProof="0" smtClean="0">
                            <a:latin typeface="Cambria Math" panose="02040503050406030204" pitchFamily="18" charset="0"/>
                          </a:rPr>
                        </m:ctrlPr>
                      </m:sSubPr>
                      <m:e>
                        <m:r>
                          <a:rPr lang="en-GB" sz="2400" b="0" i="1" noProof="0" smtClean="0">
                            <a:latin typeface="Cambria Math" panose="02040503050406030204" pitchFamily="18" charset="0"/>
                          </a:rPr>
                          <m:t>𝐻</m:t>
                        </m:r>
                      </m:e>
                      <m:sub>
                        <m:r>
                          <a:rPr lang="en-GB" sz="2400" b="0" i="1" noProof="0" smtClean="0">
                            <a:latin typeface="Cambria Math" panose="02040503050406030204" pitchFamily="18" charset="0"/>
                          </a:rPr>
                          <m:t>0</m:t>
                        </m:r>
                      </m:sub>
                    </m:sSub>
                  </m:oMath>
                </a14:m>
                <a:r>
                  <a:rPr lang="en-GB" sz="2400" noProof="0" dirty="0"/>
                  <a:t>.</a:t>
                </a:r>
              </a:p>
              <a:p>
                <a:pPr marL="0" lvl="0" indent="0">
                  <a:buNone/>
                </a:pPr>
                <a:r>
                  <a:rPr lang="en-GB" sz="2400" dirty="0"/>
                  <a:t>Conclusion: We are 95% confident that the true population mean is not 15.</a:t>
                </a:r>
                <a:endParaRPr lang="en-GB" sz="2400" noProof="0" dirty="0"/>
              </a:p>
              <a:p>
                <a:pPr marL="0" lvl="0" indent="0">
                  <a:buNone/>
                </a:pPr>
                <a:r>
                  <a:rPr lang="en-GB" sz="2400" noProof="0" dirty="0"/>
                  <a:t> </a:t>
                </a:r>
              </a:p>
              <a:p>
                <a:pPr marL="0" lvl="0" indent="0">
                  <a:buNone/>
                </a:pPr>
                <a:endParaRPr lang="en-GB" sz="240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0E7E1B25-1B47-CA8B-BC22-838566BCF127}"/>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3"/>
                <a:stretch>
                  <a:fillRect l="-2476" t="-1891"/>
                </a:stretch>
              </a:blipFill>
            </p:spPr>
            <p:txBody>
              <a:bodyPr/>
              <a:lstStyle/>
              <a:p>
                <a:r>
                  <a:rPr lang="en-GB">
                    <a:noFill/>
                  </a:rPr>
                  <a:t> </a:t>
                </a:r>
              </a:p>
            </p:txBody>
          </p:sp>
        </mc:Fallback>
      </mc:AlternateContent>
    </p:spTree>
    <p:extLst>
      <p:ext uri="{BB962C8B-B14F-4D97-AF65-F5344CB8AC3E}">
        <p14:creationId xmlns:p14="http://schemas.microsoft.com/office/powerpoint/2010/main" val="1420100446"/>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21BF-184A-19F6-1EC8-2D9C108D65A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C25C7BE-8F0E-BD94-75C8-EDC184C01136}"/>
                  </a:ext>
                </a:extLst>
              </p:cNvPr>
              <p:cNvSpPr>
                <a:spLocks noGrp="1"/>
              </p:cNvSpPr>
              <p:nvPr>
                <p:ph type="title"/>
              </p:nvPr>
            </p:nvSpPr>
            <p:spPr/>
            <p:txBody>
              <a:bodyPr>
                <a:normAutofit fontScale="90000"/>
              </a:bodyPr>
              <a:lstStyle/>
              <a:p>
                <a:r>
                  <a:rPr lang="en-GB" noProof="0" dirty="0"/>
                  <a:t>Example 2: </a:t>
                </a:r>
                <a14:m>
                  <m:oMath xmlns:m="http://schemas.openxmlformats.org/officeDocument/2006/math">
                    <m:r>
                      <a:rPr lang="en-GB" i="1" noProof="0" smtClean="0">
                        <a:latin typeface="Cambria Math" panose="02040503050406030204" pitchFamily="18" charset="0"/>
                        <a:ea typeface="Cambria Math" panose="02040503050406030204" pitchFamily="18" charset="0"/>
                      </a:rPr>
                      <m:t>𝜎</m:t>
                    </m:r>
                  </m:oMath>
                </a14:m>
                <a:r>
                  <a:rPr lang="en-GB" noProof="0" dirty="0"/>
                  <a:t> unknown, </a:t>
                </a:r>
                <a:r>
                  <a:rPr lang="en-GB" dirty="0"/>
                  <a:t>one</a:t>
                </a:r>
                <a:r>
                  <a:rPr lang="en-GB" noProof="0" dirty="0"/>
                  <a:t>-sided test</a:t>
                </a:r>
                <a:br>
                  <a:rPr lang="en-GB" noProof="0" dirty="0"/>
                </a:br>
                <a:br>
                  <a:rPr lang="en-GB" noProof="0" dirty="0"/>
                </a:br>
                <a:endParaRPr lang="en-GB" noProof="0" dirty="0"/>
              </a:p>
            </p:txBody>
          </p:sp>
        </mc:Choice>
        <mc:Fallback xmlns="">
          <p:sp>
            <p:nvSpPr>
              <p:cNvPr id="2" name="Title 1">
                <a:extLst>
                  <a:ext uri="{FF2B5EF4-FFF2-40B4-BE49-F238E27FC236}">
                    <a16:creationId xmlns:a16="http://schemas.microsoft.com/office/drawing/2014/main" id="{1C25C7BE-8F0E-BD94-75C8-EDC184C01136}"/>
                  </a:ext>
                </a:extLst>
              </p:cNvPr>
              <p:cNvSpPr>
                <a:spLocks noGrp="1" noRot="1" noChangeAspect="1" noMove="1" noResize="1" noEditPoints="1" noAdjustHandles="1" noChangeArrowheads="1" noChangeShapeType="1" noTextEdit="1"/>
              </p:cNvSpPr>
              <p:nvPr>
                <p:ph type="title"/>
              </p:nvPr>
            </p:nvSpPr>
            <p:spPr>
              <a:blipFill>
                <a:blip r:embed="rId2"/>
                <a:stretch>
                  <a:fillRect l="-3171" t="-1204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CD34BC1-08BA-DC00-6E7D-120157C387F9}"/>
                  </a:ext>
                </a:extLst>
              </p:cNvPr>
              <p:cNvSpPr>
                <a:spLocks noGrp="1"/>
              </p:cNvSpPr>
              <p:nvPr>
                <p:ph type="body" sz="quarter" idx="11"/>
              </p:nvPr>
            </p:nvSpPr>
            <p:spPr>
              <a:xfrm>
                <a:off x="900113" y="1412776"/>
                <a:ext cx="7632327" cy="5328592"/>
              </a:xfrm>
            </p:spPr>
            <p:txBody>
              <a:bodyPr/>
              <a:lstStyle/>
              <a:p>
                <a:pPr marL="0" lvl="0" indent="0">
                  <a:buNone/>
                </a:pPr>
                <a:r>
                  <a:rPr lang="en-GB" sz="2400" dirty="0"/>
                  <a:t>A sample of 60 provided a sample mean of 7.25 and sample standard deviation of 1.052. Test whether the population mean is larger than 7.</a:t>
                </a:r>
              </a:p>
              <a:p>
                <a:pPr marL="0" indent="0">
                  <a:buNone/>
                </a:pPr>
                <a:r>
                  <a:rPr lang="en-GB" sz="2400" dirty="0"/>
                  <a:t>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𝐻</m:t>
                        </m:r>
                      </m:e>
                      <m:sub>
                        <m:r>
                          <a:rPr lang="en-GB" sz="2400" i="1">
                            <a:latin typeface="Cambria Math" panose="02040503050406030204" pitchFamily="18" charset="0"/>
                          </a:rPr>
                          <m:t>0</m:t>
                        </m:r>
                      </m:sub>
                    </m:sSub>
                    <m:r>
                      <a:rPr lang="en-GB" sz="2400" i="1">
                        <a:latin typeface="Cambria Math" panose="02040503050406030204" pitchFamily="18" charset="0"/>
                      </a:rPr>
                      <m:t>: </m:t>
                    </m:r>
                    <m:r>
                      <a:rPr lang="en-GB" sz="2400" i="1">
                        <a:latin typeface="Cambria Math" panose="02040503050406030204" pitchFamily="18" charset="0"/>
                        <a:ea typeface="Cambria Math" panose="02040503050406030204" pitchFamily="18" charset="0"/>
                      </a:rPr>
                      <m:t>𝜇</m:t>
                    </m:r>
                    <m:r>
                      <a:rPr lang="en-GB" sz="240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7</m:t>
                    </m:r>
                  </m:oMath>
                </a14:m>
                <a:endParaRPr lang="en-GB" sz="2400" dirty="0">
                  <a:ea typeface="Cambria Math" panose="02040503050406030204" pitchFamily="18" charset="0"/>
                </a:endParaRPr>
              </a:p>
              <a:p>
                <a:pPr marL="0" indent="0">
                  <a:buNone/>
                </a:pPr>
                <a:r>
                  <a:rPr lang="en-GB" sz="2400" dirty="0"/>
                  <a:t>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𝐻</m:t>
                        </m:r>
                      </m:e>
                      <m:sub>
                        <m:r>
                          <a:rPr lang="en-GB" sz="2400" i="1">
                            <a:latin typeface="Cambria Math" panose="02040503050406030204" pitchFamily="18" charset="0"/>
                          </a:rPr>
                          <m:t>1</m:t>
                        </m:r>
                      </m:sub>
                    </m:sSub>
                    <m:r>
                      <a:rPr lang="en-GB" sz="2400" i="1">
                        <a:latin typeface="Cambria Math" panose="02040503050406030204" pitchFamily="18" charset="0"/>
                      </a:rPr>
                      <m:t>: </m:t>
                    </m:r>
                    <m:r>
                      <a:rPr lang="en-GB" sz="2400" i="1">
                        <a:latin typeface="Cambria Math" panose="02040503050406030204" pitchFamily="18" charset="0"/>
                        <a:ea typeface="Cambria Math" panose="02040503050406030204" pitchFamily="18" charset="0"/>
                      </a:rPr>
                      <m:t>𝜇</m:t>
                    </m:r>
                    <m:r>
                      <a:rPr lang="en-GB" sz="2400" i="1" smtClean="0">
                        <a:latin typeface="Cambria Math" panose="02040503050406030204" pitchFamily="18" charset="0"/>
                        <a:ea typeface="Cambria Math" panose="02040503050406030204" pitchFamily="18" charset="0"/>
                      </a:rPr>
                      <m:t>&gt;</m:t>
                    </m:r>
                    <m:r>
                      <a:rPr lang="en-GB" sz="2400" b="0" i="1" smtClean="0">
                        <a:latin typeface="Cambria Math" panose="02040503050406030204" pitchFamily="18" charset="0"/>
                        <a:ea typeface="Cambria Math" panose="02040503050406030204" pitchFamily="18" charset="0"/>
                      </a:rPr>
                      <m:t>7</m:t>
                    </m:r>
                  </m:oMath>
                </a14:m>
                <a:endParaRPr lang="en-GB" sz="2400" dirty="0">
                  <a:ea typeface="Cambria Math" panose="02040503050406030204" pitchFamily="18" charset="0"/>
                </a:endParaRPr>
              </a:p>
              <a:p>
                <a:pPr marL="0" indent="0">
                  <a:buNone/>
                </a:pPr>
                <a:r>
                  <a:rPr lang="en-GB" sz="2400" dirty="0">
                    <a:ea typeface="Cambria Math" panose="02040503050406030204" pitchFamily="18" charset="0"/>
                  </a:rPr>
                  <a:t>Computing the test statistic:</a:t>
                </a:r>
              </a:p>
              <a:p>
                <a:pPr marL="0" lvl="0" indent="0">
                  <a:buNone/>
                </a:pPr>
                <a14:m>
                  <m:oMathPara xmlns:m="http://schemas.openxmlformats.org/officeDocument/2006/math">
                    <m:oMathParaPr>
                      <m:jc m:val="center"/>
                    </m:oMathParaPr>
                    <m:oMath xmlns:m="http://schemas.openxmlformats.org/officeDocument/2006/math">
                      <m:r>
                        <a:rPr lang="en-GB" sz="2400" b="0" i="1" smtClean="0">
                          <a:latin typeface="Cambria Math" panose="02040503050406030204" pitchFamily="18" charset="0"/>
                        </a:rPr>
                        <m:t>𝑡</m:t>
                      </m:r>
                      <m:r>
                        <a:rPr lang="en-GB" sz="2400" i="1">
                          <a:latin typeface="Cambria Math" panose="02040503050406030204" pitchFamily="18" charset="0"/>
                        </a:rPr>
                        <m:t>=</m:t>
                      </m:r>
                      <m:f>
                        <m:fPr>
                          <m:ctrlPr>
                            <a:rPr lang="en-GB" sz="2400" i="1">
                              <a:latin typeface="Cambria Math" panose="02040503050406030204" pitchFamily="18" charset="0"/>
                            </a:rPr>
                          </m:ctrlPr>
                        </m:fPr>
                        <m:num>
                          <m:acc>
                            <m:accPr>
                              <m:chr m:val="̅"/>
                              <m:ctrlPr>
                                <a:rPr lang="en-GB" sz="2400" i="1">
                                  <a:latin typeface="Cambria Math" panose="02040503050406030204" pitchFamily="18" charset="0"/>
                                </a:rPr>
                              </m:ctrlPr>
                            </m:accPr>
                            <m:e>
                              <m:r>
                                <a:rPr lang="en-GB" sz="2400" i="1">
                                  <a:latin typeface="Cambria Math" panose="02040503050406030204" pitchFamily="18" charset="0"/>
                                </a:rPr>
                                <m:t>𝑥</m:t>
                              </m:r>
                            </m:e>
                          </m:acc>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ea typeface="Cambria Math" panose="02040503050406030204" pitchFamily="18" charset="0"/>
                                </a:rPr>
                                <m:t>𝜇</m:t>
                              </m:r>
                            </m:e>
                            <m:sub>
                              <m:r>
                                <a:rPr lang="en-GB" sz="2400" i="1">
                                  <a:latin typeface="Cambria Math" panose="02040503050406030204" pitchFamily="18" charset="0"/>
                                </a:rPr>
                                <m:t>0</m:t>
                              </m:r>
                            </m:sub>
                          </m:sSub>
                        </m:num>
                        <m:den>
                          <m:f>
                            <m:fPr>
                              <m:type m:val="lin"/>
                              <m:ctrlPr>
                                <a:rPr lang="en-GB" sz="2400" i="1">
                                  <a:latin typeface="Cambria Math" panose="02040503050406030204" pitchFamily="18" charset="0"/>
                                </a:rPr>
                              </m:ctrlPr>
                            </m:fPr>
                            <m:num>
                              <m:r>
                                <a:rPr lang="en-GB" sz="2400" b="0" i="1" smtClean="0">
                                  <a:latin typeface="Cambria Math" panose="02040503050406030204" pitchFamily="18" charset="0"/>
                                </a:rPr>
                                <m:t>𝑠</m:t>
                              </m:r>
                            </m:num>
                            <m:den>
                              <m:rad>
                                <m:radPr>
                                  <m:degHide m:val="on"/>
                                  <m:ctrlPr>
                                    <a:rPr lang="en-GB" sz="2400" i="1">
                                      <a:latin typeface="Cambria Math" panose="02040503050406030204" pitchFamily="18" charset="0"/>
                                    </a:rPr>
                                  </m:ctrlPr>
                                </m:radPr>
                                <m:deg/>
                                <m:e>
                                  <m:r>
                                    <a:rPr lang="en-GB" sz="2400" i="1">
                                      <a:latin typeface="Cambria Math" panose="02040503050406030204" pitchFamily="18" charset="0"/>
                                    </a:rPr>
                                    <m:t>𝑛</m:t>
                                  </m:r>
                                </m:e>
                              </m:rad>
                            </m:den>
                          </m:f>
                        </m:den>
                      </m:f>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7.25−7</m:t>
                          </m:r>
                        </m:num>
                        <m:den>
                          <m:r>
                            <a:rPr lang="en-GB" sz="2400" b="0" i="1" smtClean="0">
                              <a:latin typeface="Cambria Math" panose="02040503050406030204" pitchFamily="18" charset="0"/>
                            </a:rPr>
                            <m:t>1.052/</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60</m:t>
                              </m:r>
                            </m:e>
                          </m:rad>
                        </m:den>
                      </m:f>
                      <m:r>
                        <a:rPr lang="en-GB" sz="2400" b="0" i="1" smtClean="0">
                          <a:latin typeface="Cambria Math" panose="02040503050406030204" pitchFamily="18" charset="0"/>
                        </a:rPr>
                        <m:t>=1.841</m:t>
                      </m:r>
                    </m:oMath>
                  </m:oMathPara>
                </a14:m>
                <a:endParaRPr lang="en-GB" sz="2400" noProof="0" dirty="0"/>
              </a:p>
              <a:p>
                <a:pPr marL="0" indent="0">
                  <a:buNone/>
                </a:pPr>
                <a:r>
                  <a:rPr lang="en-GB" sz="2400" noProof="0" dirty="0"/>
                  <a:t>Critical value using one-tailed 5% significance level of </a:t>
                </a:r>
                <a:r>
                  <a:rPr lang="en-GB" sz="2400" i="1" noProof="0" dirty="0"/>
                  <a:t>t</a:t>
                </a:r>
                <a:r>
                  <a:rPr lang="en-GB" sz="2400" noProof="0" dirty="0"/>
                  <a:t> distribution with </a:t>
                </a:r>
                <a14:m>
                  <m:oMath xmlns:m="http://schemas.openxmlformats.org/officeDocument/2006/math">
                    <m:r>
                      <a:rPr lang="en-GB" sz="2400" b="0" i="1" noProof="0" smtClean="0">
                        <a:latin typeface="Cambria Math" panose="02040503050406030204" pitchFamily="18" charset="0"/>
                      </a:rPr>
                      <m:t>𝑑𝑓</m:t>
                    </m:r>
                    <m:r>
                      <a:rPr lang="en-GB" sz="2400" b="0" i="1" noProof="0" smtClean="0">
                        <a:latin typeface="Cambria Math" panose="02040503050406030204" pitchFamily="18" charset="0"/>
                      </a:rPr>
                      <m:t>=60−1=59</m:t>
                    </m:r>
                  </m:oMath>
                </a14:m>
                <a:r>
                  <a:rPr lang="en-GB" sz="2400" noProof="0" dirty="0"/>
                  <a:t> is</a:t>
                </a:r>
                <a:r>
                  <a:rPr lang="en-GB" sz="2400" i="1" noProof="0" dirty="0"/>
                  <a:t> </a:t>
                </a:r>
                <a14:m>
                  <m:oMath xmlns:m="http://schemas.openxmlformats.org/officeDocument/2006/math">
                    <m:r>
                      <a:rPr lang="en-GB" sz="2400" b="0" i="1" noProof="0" smtClean="0">
                        <a:latin typeface="Cambria Math" panose="02040503050406030204" pitchFamily="18" charset="0"/>
                      </a:rPr>
                      <m:t>1.671</m:t>
                    </m:r>
                  </m:oMath>
                </a14:m>
                <a:r>
                  <a:rPr lang="en-GB" sz="2400" noProof="0" dirty="0"/>
                  <a:t>. </a:t>
                </a:r>
              </a:p>
              <a:p>
                <a:pPr marL="0" lvl="0" indent="0">
                  <a:buNone/>
                </a:pPr>
                <a:r>
                  <a:rPr lang="en-GB" sz="2400" dirty="0"/>
                  <a:t>Decision: As </a:t>
                </a:r>
                <a14:m>
                  <m:oMath xmlns:m="http://schemas.openxmlformats.org/officeDocument/2006/math">
                    <m:r>
                      <a:rPr lang="en-GB" sz="2400" b="0" i="0" smtClean="0">
                        <a:latin typeface="Cambria Math" panose="02040503050406030204" pitchFamily="18" charset="0"/>
                      </a:rPr>
                      <m:t>1.841</m:t>
                    </m:r>
                    <m:r>
                      <a:rPr lang="en-GB" sz="2400" b="0" i="1" smtClean="0">
                        <a:latin typeface="Cambria Math" panose="02040503050406030204" pitchFamily="18" charset="0"/>
                      </a:rPr>
                      <m:t>&gt;1.671</m:t>
                    </m:r>
                  </m:oMath>
                </a14:m>
                <a:r>
                  <a:rPr lang="en-GB" sz="2400" noProof="0" dirty="0"/>
                  <a:t> reject </a:t>
                </a:r>
                <a14:m>
                  <m:oMath xmlns:m="http://schemas.openxmlformats.org/officeDocument/2006/math">
                    <m:sSub>
                      <m:sSubPr>
                        <m:ctrlPr>
                          <a:rPr lang="en-GB" sz="2400" i="1" noProof="0" smtClean="0">
                            <a:latin typeface="Cambria Math" panose="02040503050406030204" pitchFamily="18" charset="0"/>
                          </a:rPr>
                        </m:ctrlPr>
                      </m:sSubPr>
                      <m:e>
                        <m:r>
                          <a:rPr lang="en-GB" sz="2400" b="0" i="1" noProof="0" smtClean="0">
                            <a:latin typeface="Cambria Math" panose="02040503050406030204" pitchFamily="18" charset="0"/>
                          </a:rPr>
                          <m:t>𝐻</m:t>
                        </m:r>
                      </m:e>
                      <m:sub>
                        <m:r>
                          <a:rPr lang="en-GB" sz="2400" b="0" i="1" noProof="0" smtClean="0">
                            <a:latin typeface="Cambria Math" panose="02040503050406030204" pitchFamily="18" charset="0"/>
                          </a:rPr>
                          <m:t>0</m:t>
                        </m:r>
                      </m:sub>
                    </m:sSub>
                  </m:oMath>
                </a14:m>
                <a:r>
                  <a:rPr lang="en-GB" sz="2400" noProof="0" dirty="0"/>
                  <a:t>.</a:t>
                </a:r>
              </a:p>
              <a:p>
                <a:pPr marL="0" lvl="0" indent="0">
                  <a:buNone/>
                </a:pPr>
                <a:r>
                  <a:rPr lang="en-GB" sz="2400" dirty="0"/>
                  <a:t>Conclusion: We are 95% confident that the true population mean is larger than 7.</a:t>
                </a:r>
                <a:endParaRPr lang="en-GB" sz="2400" noProof="0" dirty="0"/>
              </a:p>
              <a:p>
                <a:pPr marL="0" lvl="0" indent="0">
                  <a:buNone/>
                </a:pPr>
                <a:r>
                  <a:rPr lang="en-GB" sz="2400" noProof="0" dirty="0"/>
                  <a:t> </a:t>
                </a:r>
              </a:p>
              <a:p>
                <a:pPr marL="0" lvl="0" indent="0">
                  <a:buNone/>
                </a:pPr>
                <a:endParaRPr lang="en-GB" sz="240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8CD34BC1-08BA-DC00-6E7D-120157C387F9}"/>
                  </a:ext>
                </a:extLst>
              </p:cNvPr>
              <p:cNvSpPr>
                <a:spLocks noGrp="1" noRot="1" noChangeAspect="1" noMove="1" noResize="1" noEditPoints="1" noAdjustHandles="1" noChangeArrowheads="1" noChangeShapeType="1" noTextEdit="1"/>
              </p:cNvSpPr>
              <p:nvPr>
                <p:ph type="body" sz="quarter" idx="11"/>
              </p:nvPr>
            </p:nvSpPr>
            <p:spPr>
              <a:xfrm>
                <a:off x="900113" y="1412776"/>
                <a:ext cx="7632327" cy="5328592"/>
              </a:xfrm>
              <a:blipFill>
                <a:blip r:embed="rId3"/>
                <a:stretch>
                  <a:fillRect l="-2476" t="-1831" b="-2174"/>
                </a:stretch>
              </a:blipFill>
            </p:spPr>
            <p:txBody>
              <a:bodyPr/>
              <a:lstStyle/>
              <a:p>
                <a:r>
                  <a:rPr lang="en-GB">
                    <a:noFill/>
                  </a:rPr>
                  <a:t> </a:t>
                </a:r>
              </a:p>
            </p:txBody>
          </p:sp>
        </mc:Fallback>
      </mc:AlternateContent>
    </p:spTree>
    <p:extLst>
      <p:ext uri="{BB962C8B-B14F-4D97-AF65-F5344CB8AC3E}">
        <p14:creationId xmlns:p14="http://schemas.microsoft.com/office/powerpoint/2010/main" val="863786274"/>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DCE13-887D-424D-9C90-08C9AE0EA795}"/>
              </a:ext>
            </a:extLst>
          </p:cNvPr>
          <p:cNvSpPr>
            <a:spLocks noGrp="1"/>
          </p:cNvSpPr>
          <p:nvPr>
            <p:ph type="title"/>
          </p:nvPr>
        </p:nvSpPr>
        <p:spPr/>
        <p:txBody>
          <a:bodyPr>
            <a:normAutofit/>
          </a:bodyPr>
          <a:lstStyle/>
          <a:p>
            <a:r>
              <a:rPr lang="en-GB" sz="3200" noProof="0" dirty="0"/>
              <a:t>Next Lecture</a:t>
            </a:r>
          </a:p>
        </p:txBody>
      </p:sp>
      <p:sp>
        <p:nvSpPr>
          <p:cNvPr id="3" name="Text Placeholder 2">
            <a:extLst>
              <a:ext uri="{FF2B5EF4-FFF2-40B4-BE49-F238E27FC236}">
                <a16:creationId xmlns:a16="http://schemas.microsoft.com/office/drawing/2014/main" id="{ADEBF03B-6FBE-4B0C-93A0-8DB46AC1EDBD}"/>
              </a:ext>
            </a:extLst>
          </p:cNvPr>
          <p:cNvSpPr>
            <a:spLocks noGrp="1"/>
          </p:cNvSpPr>
          <p:nvPr>
            <p:ph type="body" sz="quarter" idx="11"/>
          </p:nvPr>
        </p:nvSpPr>
        <p:spPr>
          <a:xfrm>
            <a:off x="899591" y="1412776"/>
            <a:ext cx="6551612" cy="2880320"/>
          </a:xfrm>
        </p:spPr>
        <p:txBody>
          <a:bodyPr/>
          <a:lstStyle/>
          <a:p>
            <a:r>
              <a:rPr lang="en-GB" sz="2400" dirty="0"/>
              <a:t>Regression analysis</a:t>
            </a:r>
            <a:endParaRPr lang="en-GB" sz="2400" noProof="0" dirty="0"/>
          </a:p>
          <a:p>
            <a:pPr marL="9525" indent="0">
              <a:buNone/>
            </a:pPr>
            <a:endParaRPr lang="en-GB" noProof="0" dirty="0"/>
          </a:p>
        </p:txBody>
      </p:sp>
    </p:spTree>
    <p:extLst>
      <p:ext uri="{BB962C8B-B14F-4D97-AF65-F5344CB8AC3E}">
        <p14:creationId xmlns:p14="http://schemas.microsoft.com/office/powerpoint/2010/main" val="1363191569"/>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73&quot;&gt;&lt;object type=&quot;3&quot; unique_id=&quot;10074&quot;&gt;&lt;property id=&quot;20148&quot; value=&quot;5&quot;/&gt;&lt;property id=&quot;20300&quot; value=&quot;Slide 1&quot;/&gt;&lt;property id=&quot;20307&quot; value=&quot;256&quot;/&gt;&lt;/object&gt;&lt;object type=&quot;3&quot; unique_id=&quot;10075&quot;&gt;&lt;property id=&quot;20148&quot; value=&quot;5&quot;/&gt;&lt;property id=&quot;20300&quot; value=&quot;Slide 2&quot;/&gt;&lt;property id=&quot;20307&quot; value=&quot;260&quot;/&gt;&lt;/object&gt;&lt;object type=&quot;3&quot; unique_id=&quot;10076&quot;&gt;&lt;property id=&quot;20148&quot; value=&quot;5&quot;/&gt;&lt;property id=&quot;20300&quot; value=&quot;Slide 3&quot;/&gt;&lt;property id=&quot;20307&quot; value=&quot;267&quot;/&gt;&lt;/object&gt;&lt;object type=&quot;3&quot; unique_id=&quot;10077&quot;&gt;&lt;property id=&quot;20148&quot; value=&quot;5&quot;/&gt;&lt;property id=&quot;20300&quot; value=&quot;Slide 4&quot;/&gt;&lt;property id=&quot;20307&quot; value=&quot;264&quot;/&gt;&lt;/object&gt;&lt;object type=&quot;3&quot; unique_id=&quot;10078&quot;&gt;&lt;property id=&quot;20148&quot; value=&quot;5&quot;/&gt;&lt;property id=&quot;20300&quot; value=&quot;Slide 5&quot;/&gt;&lt;property id=&quot;20307&quot; value=&quot;268&quot;/&gt;&lt;/object&gt;&lt;object type=&quot;3&quot; unique_id=&quot;10079&quot;&gt;&lt;property id=&quot;20148&quot; value=&quot;5&quot;/&gt;&lt;property id=&quot;20300&quot; value=&quot;Slide 6&quot;/&gt;&lt;property id=&quot;20307&quot; value=&quot;265&quot;/&gt;&lt;/object&gt;&lt;object type=&quot;3&quot; unique_id=&quot;10080&quot;&gt;&lt;property id=&quot;20148&quot; value=&quot;5&quot;/&gt;&lt;property id=&quot;20300&quot; value=&quot;Slide 7&quot;/&gt;&lt;property id=&quot;20307&quot; value=&quot;266&quot;/&gt;&lt;/object&gt;&lt;object type=&quot;3&quot; unique_id=&quot;10081&quot;&gt;&lt;property id=&quot;20148&quot; value=&quot;5&quot;/&gt;&lt;property id=&quot;20300&quot; value=&quot;Slide 8&quot;/&gt;&lt;property id=&quot;20307&quot; value=&quot;262&quot;/&gt;&lt;/object&gt;&lt;object type=&quot;3&quot; unique_id=&quot;10082&quot;&gt;&lt;property id=&quot;20148&quot; value=&quot;5&quot;/&gt;&lt;property id=&quot;20300&quot; value=&quot;Slide 9&quot;/&gt;&lt;property id=&quot;20307&quot; value=&quot;269&quot;/&gt;&lt;/object&gt;&lt;object type=&quot;3&quot; unique_id=&quot;10083&quot;&gt;&lt;property id=&quot;20148&quot; value=&quot;5&quot;/&gt;&lt;property id=&quot;20300&quot; value=&quot;Slide 10&quot;/&gt;&lt;property id=&quot;20307&quot; value=&quot;259&quot;/&gt;&lt;/object&gt;&lt;/object&gt;&lt;object type=&quot;8&quot; unique_id=&quot;10095&quot;&gt;&lt;/object&gt;&lt;/object&gt;&lt;/database&gt;"/>
  <p:tag name="MMPROD_NEXTUNIQUEID" val="10009"/>
  <p:tag name="SECTOMILLISECCONVERTED"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WE Lilac standard" id="{B50C80D3-D9F5-4009-9938-F1B85FF744A3}" vid="{FD532FFD-1352-4344-A026-1EC031F17F7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0a63ec7c-6655-44e7-8cc1-d1896a7f84b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8489C2B03CC9B4B848357AD3FCA0F8D" ma:contentTypeVersion="18" ma:contentTypeDescription="Create a new document." ma:contentTypeScope="" ma:versionID="9c70d1b8ff5784da77d5e8ac5f5ee068">
  <xsd:schema xmlns:xsd="http://www.w3.org/2001/XMLSchema" xmlns:xs="http://www.w3.org/2001/XMLSchema" xmlns:p="http://schemas.microsoft.com/office/2006/metadata/properties" xmlns:ns3="0a63ec7c-6655-44e7-8cc1-d1896a7f84b6" xmlns:ns4="eaad8dcd-1243-433a-a0b1-5eb79d1ccaf5" targetNamespace="http://schemas.microsoft.com/office/2006/metadata/properties" ma:root="true" ma:fieldsID="c3c62d2be93880894511948f698c4aa4" ns3:_="" ns4:_="">
    <xsd:import namespace="0a63ec7c-6655-44e7-8cc1-d1896a7f84b6"/>
    <xsd:import namespace="eaad8dcd-1243-433a-a0b1-5eb79d1ccaf5"/>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63ec7c-6655-44e7-8cc1-d1896a7f84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aad8dcd-1243-433a-a0b1-5eb79d1ccaf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5552B4-89B5-4F8D-B1E4-E0A34EA58D51}">
  <ds:schemaRefs>
    <ds:schemaRef ds:uri="http://schemas.microsoft.com/sharepoint/v3/contenttype/forms"/>
  </ds:schemaRefs>
</ds:datastoreItem>
</file>

<file path=customXml/itemProps2.xml><?xml version="1.0" encoding="utf-8"?>
<ds:datastoreItem xmlns:ds="http://schemas.openxmlformats.org/officeDocument/2006/customXml" ds:itemID="{98D2D201-97C8-4E70-BF77-76D11DC8600F}">
  <ds:schemaRefs>
    <ds:schemaRef ds:uri="http://schemas.microsoft.com/office/2006/documentManagement/types"/>
    <ds:schemaRef ds:uri="http://purl.org/dc/dcmitype/"/>
    <ds:schemaRef ds:uri="http://schemas.openxmlformats.org/package/2006/metadata/core-properties"/>
    <ds:schemaRef ds:uri="http://schemas.microsoft.com/office/2006/metadata/properties"/>
    <ds:schemaRef ds:uri="http://www.w3.org/XML/1998/namespace"/>
    <ds:schemaRef ds:uri="http://purl.org/dc/elements/1.1/"/>
    <ds:schemaRef ds:uri="eaad8dcd-1243-433a-a0b1-5eb79d1ccaf5"/>
    <ds:schemaRef ds:uri="0a63ec7c-6655-44e7-8cc1-d1896a7f84b6"/>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AFDFFD38-5222-4053-9C14-8FD6BB649E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63ec7c-6655-44e7-8cc1-d1896a7f84b6"/>
    <ds:schemaRef ds:uri="eaad8dcd-1243-433a-a0b1-5eb79d1cca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c0de803-e079-4d4f-96bc-6f3b3b6923e3}"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UWE Lilac standard</Template>
  <TotalTime>6338</TotalTime>
  <Words>1084</Words>
  <Application>Microsoft Office PowerPoint</Application>
  <PresentationFormat>On-screen Show (4:3)</PresentationFormat>
  <Paragraphs>163</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Cambria Math</vt:lpstr>
      <vt:lpstr>Courier New</vt:lpstr>
      <vt:lpstr>Georgia</vt:lpstr>
      <vt:lpstr>Tahoma</vt:lpstr>
      <vt:lpstr>Custom Design</vt:lpstr>
      <vt:lpstr>UMET9U-30-1- Professional Skills for Banking and Finance   Lecture 20</vt:lpstr>
      <vt:lpstr>Lecture content</vt:lpstr>
      <vt:lpstr>Hypothesis testing  </vt:lpstr>
      <vt:lpstr>The 5 steps in hypothesis testing  </vt:lpstr>
      <vt:lpstr>Step 1: Formulate null and alternative hypothesis    </vt:lpstr>
      <vt:lpstr>Step 2: Compute a test statistic from the sample data  </vt:lpstr>
      <vt:lpstr>Step 3: Look up a critical value in a statistical table  </vt:lpstr>
      <vt:lpstr>Step 3 continues  </vt:lpstr>
      <vt:lpstr>Step 4: Decision - Reject or not reject the null  </vt:lpstr>
      <vt:lpstr>Step 5: Conclusion: What can be learned from the test   </vt:lpstr>
      <vt:lpstr>Type 1 and type 2 error  </vt:lpstr>
      <vt:lpstr>The p-value approach  </vt:lpstr>
      <vt:lpstr>The confidence interval approach  </vt:lpstr>
      <vt:lpstr>Example 1: σ known, two-sided test  </vt:lpstr>
      <vt:lpstr>Example 2: σ unknown, one-sided test  </vt:lpstr>
      <vt:lpstr>Next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UMED8M-15-2 - Introductory econometrics   Lecture 1</dc:title>
  <dc:creator>Reinhold Heinlein</dc:creator>
  <cp:lastModifiedBy>Reinhold Heinlein</cp:lastModifiedBy>
  <cp:revision>22</cp:revision>
  <cp:lastPrinted>2016-09-22T10:08:48Z</cp:lastPrinted>
  <dcterms:created xsi:type="dcterms:W3CDTF">2021-06-15T10:15:29Z</dcterms:created>
  <dcterms:modified xsi:type="dcterms:W3CDTF">2026-02-06T07:50:07Z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0x01010078489C2B03CC9B4B848357AD3FCA0F8D</vt:lpwstr>
  </property>
</Properties>
</file>