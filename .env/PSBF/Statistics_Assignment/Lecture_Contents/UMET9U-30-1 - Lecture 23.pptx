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4"/>
  </p:sldMasterIdLst>
  <p:notesMasterIdLst>
    <p:notesMasterId r:id="rId22"/>
  </p:notesMasterIdLst>
  <p:handoutMasterIdLst>
    <p:handoutMasterId r:id="rId23"/>
  </p:handoutMasterIdLst>
  <p:sldIdLst>
    <p:sldId id="256" r:id="rId5"/>
    <p:sldId id="258" r:id="rId6"/>
    <p:sldId id="281" r:id="rId7"/>
    <p:sldId id="282" r:id="rId8"/>
    <p:sldId id="283" r:id="rId9"/>
    <p:sldId id="284" r:id="rId10"/>
    <p:sldId id="285" r:id="rId11"/>
    <p:sldId id="286" r:id="rId12"/>
    <p:sldId id="287" r:id="rId13"/>
    <p:sldId id="288" r:id="rId14"/>
    <p:sldId id="289" r:id="rId15"/>
    <p:sldId id="290" r:id="rId16"/>
    <p:sldId id="291" r:id="rId17"/>
    <p:sldId id="292" r:id="rId18"/>
    <p:sldId id="293" r:id="rId19"/>
    <p:sldId id="294" r:id="rId20"/>
    <p:sldId id="271" r:id="rId21"/>
  </p:sldIdLst>
  <p:sldSz cx="9144000" cy="6858000" type="screen4x3"/>
  <p:notesSz cx="9144000" cy="6858000"/>
  <p:custDataLst>
    <p:tags r:id="rId24"/>
  </p:custData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4" orient="horz" pos="3838">
          <p15:clr>
            <a:srgbClr val="A4A3A4"/>
          </p15:clr>
        </p15:guide>
        <p15:guide id="5" pos="2880">
          <p15:clr>
            <a:srgbClr val="A4A3A4"/>
          </p15:clr>
        </p15:guide>
        <p15:guide id="7" pos="5103">
          <p15:clr>
            <a:srgbClr val="A4A3A4"/>
          </p15:clr>
        </p15:guide>
        <p15:guide id="12" pos="65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000FF"/>
    <a:srgbClr val="E30613"/>
    <a:srgbClr val="7A7392"/>
    <a:srgbClr val="16818D"/>
    <a:srgbClr val="1A9DAC"/>
    <a:srgbClr val="1C9DAC"/>
    <a:srgbClr val="598752"/>
    <a:srgbClr val="6DA463"/>
    <a:srgbClr val="A65C45"/>
    <a:srgbClr val="CC70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5500CB-42AB-474C-9142-478E2D246484}" v="1620" dt="2026-02-17T08:45:52.9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21" autoAdjust="0"/>
    <p:restoredTop sz="86410"/>
  </p:normalViewPr>
  <p:slideViewPr>
    <p:cSldViewPr showGuides="1">
      <p:cViewPr varScale="1">
        <p:scale>
          <a:sx n="111" d="100"/>
          <a:sy n="111" d="100"/>
        </p:scale>
        <p:origin x="1482" y="96"/>
      </p:cViewPr>
      <p:guideLst>
        <p:guide orient="horz" pos="3838"/>
        <p:guide pos="2880"/>
        <p:guide pos="5103"/>
        <p:guide pos="657"/>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106" d="100"/>
          <a:sy n="106" d="100"/>
        </p:scale>
        <p:origin x="1962"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gs" Target="tags/tag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inhold Heinlein" userId="c5e5d61b-3817-4f51-a712-dcf8bfbff443" providerId="ADAL" clId="{49431ECB-42D2-48D6-9016-5889F3B84DB9}"/>
    <pc:docChg chg="undo custSel addSld delSld modSld sldOrd">
      <pc:chgData name="Reinhold Heinlein" userId="c5e5d61b-3817-4f51-a712-dcf8bfbff443" providerId="ADAL" clId="{49431ECB-42D2-48D6-9016-5889F3B84DB9}" dt="2026-02-17T08:46:09.205" v="5336" actId="207"/>
      <pc:docMkLst>
        <pc:docMk/>
      </pc:docMkLst>
      <pc:sldChg chg="modSp mod">
        <pc:chgData name="Reinhold Heinlein" userId="c5e5d61b-3817-4f51-a712-dcf8bfbff443" providerId="ADAL" clId="{49431ECB-42D2-48D6-9016-5889F3B84DB9}" dt="2026-02-06T09:03:07.916" v="105" actId="20577"/>
        <pc:sldMkLst>
          <pc:docMk/>
          <pc:sldMk cId="371339850" sldId="256"/>
        </pc:sldMkLst>
        <pc:spChg chg="mod">
          <ac:chgData name="Reinhold Heinlein" userId="c5e5d61b-3817-4f51-a712-dcf8bfbff443" providerId="ADAL" clId="{49431ECB-42D2-48D6-9016-5889F3B84DB9}" dt="2026-02-06T09:02:15.982" v="95" actId="20577"/>
          <ac:spMkLst>
            <pc:docMk/>
            <pc:sldMk cId="371339850" sldId="256"/>
            <ac:spMk id="2" creationId="{27F129AE-110C-40B7-9DF3-A4A07ADFD71E}"/>
          </ac:spMkLst>
        </pc:spChg>
        <pc:spChg chg="mod">
          <ac:chgData name="Reinhold Heinlein" userId="c5e5d61b-3817-4f51-a712-dcf8bfbff443" providerId="ADAL" clId="{49431ECB-42D2-48D6-9016-5889F3B84DB9}" dt="2026-02-06T09:03:07.916" v="105" actId="20577"/>
          <ac:spMkLst>
            <pc:docMk/>
            <pc:sldMk cId="371339850" sldId="256"/>
            <ac:spMk id="6" creationId="{8261A58E-4331-43B5-A70A-203EF9F254A4}"/>
          </ac:spMkLst>
        </pc:spChg>
      </pc:sldChg>
      <pc:sldChg chg="modSp mod">
        <pc:chgData name="Reinhold Heinlein" userId="c5e5d61b-3817-4f51-a712-dcf8bfbff443" providerId="ADAL" clId="{49431ECB-42D2-48D6-9016-5889F3B84DB9}" dt="2026-02-06T08:58:10.874" v="6" actId="12"/>
        <pc:sldMkLst>
          <pc:docMk/>
          <pc:sldMk cId="2884623810" sldId="258"/>
        </pc:sldMkLst>
        <pc:spChg chg="mod">
          <ac:chgData name="Reinhold Heinlein" userId="c5e5d61b-3817-4f51-a712-dcf8bfbff443" providerId="ADAL" clId="{49431ECB-42D2-48D6-9016-5889F3B84DB9}" dt="2026-02-06T08:58:10.874" v="6" actId="12"/>
          <ac:spMkLst>
            <pc:docMk/>
            <pc:sldMk cId="2884623810" sldId="258"/>
            <ac:spMk id="3" creationId="{67A63DF7-30A5-4CDB-B2AD-10BDF696FBA6}"/>
          </ac:spMkLst>
        </pc:spChg>
      </pc:sldChg>
      <pc:sldChg chg="modSp mod">
        <pc:chgData name="Reinhold Heinlein" userId="c5e5d61b-3817-4f51-a712-dcf8bfbff443" providerId="ADAL" clId="{49431ECB-42D2-48D6-9016-5889F3B84DB9}" dt="2026-02-06T09:01:28.789" v="82" actId="114"/>
        <pc:sldMkLst>
          <pc:docMk/>
          <pc:sldMk cId="1363191569" sldId="271"/>
        </pc:sldMkLst>
        <pc:spChg chg="mod">
          <ac:chgData name="Reinhold Heinlein" userId="c5e5d61b-3817-4f51-a712-dcf8bfbff443" providerId="ADAL" clId="{49431ECB-42D2-48D6-9016-5889F3B84DB9}" dt="2026-02-06T09:01:28.789" v="82" actId="114"/>
          <ac:spMkLst>
            <pc:docMk/>
            <pc:sldMk cId="1363191569" sldId="271"/>
            <ac:spMk id="3" creationId="{ADEBF03B-6FBE-4B0C-93A0-8DB46AC1EDBD}"/>
          </ac:spMkLst>
        </pc:spChg>
      </pc:sldChg>
      <pc:sldChg chg="modSp mod">
        <pc:chgData name="Reinhold Heinlein" userId="c5e5d61b-3817-4f51-a712-dcf8bfbff443" providerId="ADAL" clId="{49431ECB-42D2-48D6-9016-5889F3B84DB9}" dt="2026-02-06T10:07:16.803" v="929" actId="20577"/>
        <pc:sldMkLst>
          <pc:docMk/>
          <pc:sldMk cId="2343749125" sldId="281"/>
        </pc:sldMkLst>
        <pc:spChg chg="mod">
          <ac:chgData name="Reinhold Heinlein" userId="c5e5d61b-3817-4f51-a712-dcf8bfbff443" providerId="ADAL" clId="{49431ECB-42D2-48D6-9016-5889F3B84DB9}" dt="2026-02-06T10:07:16.803" v="929" actId="20577"/>
          <ac:spMkLst>
            <pc:docMk/>
            <pc:sldMk cId="2343749125" sldId="281"/>
            <ac:spMk id="3" creationId="{1A1408DA-D5EC-BFA0-F7BD-694F45DB2788}"/>
          </ac:spMkLst>
        </pc:spChg>
      </pc:sldChg>
      <pc:sldChg chg="modSp add mod">
        <pc:chgData name="Reinhold Heinlein" userId="c5e5d61b-3817-4f51-a712-dcf8bfbff443" providerId="ADAL" clId="{49431ECB-42D2-48D6-9016-5889F3B84DB9}" dt="2026-02-06T10:16:34.552" v="1056" actId="207"/>
        <pc:sldMkLst>
          <pc:docMk/>
          <pc:sldMk cId="641742146" sldId="282"/>
        </pc:sldMkLst>
        <pc:spChg chg="mod">
          <ac:chgData name="Reinhold Heinlein" userId="c5e5d61b-3817-4f51-a712-dcf8bfbff443" providerId="ADAL" clId="{49431ECB-42D2-48D6-9016-5889F3B84DB9}" dt="2026-02-06T09:45:06.744" v="579" actId="20577"/>
          <ac:spMkLst>
            <pc:docMk/>
            <pc:sldMk cId="641742146" sldId="282"/>
            <ac:spMk id="2" creationId="{924E4593-72D1-6D33-0A6B-4C53BA0C9FDB}"/>
          </ac:spMkLst>
        </pc:spChg>
        <pc:spChg chg="mod">
          <ac:chgData name="Reinhold Heinlein" userId="c5e5d61b-3817-4f51-a712-dcf8bfbff443" providerId="ADAL" clId="{49431ECB-42D2-48D6-9016-5889F3B84DB9}" dt="2026-02-06T10:16:34.552" v="1056" actId="207"/>
          <ac:spMkLst>
            <pc:docMk/>
            <pc:sldMk cId="641742146" sldId="282"/>
            <ac:spMk id="3" creationId="{EBBF243A-8748-4AF1-4D6E-CD92109AD505}"/>
          </ac:spMkLst>
        </pc:spChg>
      </pc:sldChg>
      <pc:sldChg chg="modSp add mod">
        <pc:chgData name="Reinhold Heinlein" userId="c5e5d61b-3817-4f51-a712-dcf8bfbff443" providerId="ADAL" clId="{49431ECB-42D2-48D6-9016-5889F3B84DB9}" dt="2026-02-06T11:09:04.832" v="1857" actId="114"/>
        <pc:sldMkLst>
          <pc:docMk/>
          <pc:sldMk cId="3210333715" sldId="283"/>
        </pc:sldMkLst>
        <pc:spChg chg="mod">
          <ac:chgData name="Reinhold Heinlein" userId="c5e5d61b-3817-4f51-a712-dcf8bfbff443" providerId="ADAL" clId="{49431ECB-42D2-48D6-9016-5889F3B84DB9}" dt="2026-02-06T10:17:28.243" v="1118" actId="20577"/>
          <ac:spMkLst>
            <pc:docMk/>
            <pc:sldMk cId="3210333715" sldId="283"/>
            <ac:spMk id="2" creationId="{47FFFF51-AFF6-8993-88CB-B176F28A2ADB}"/>
          </ac:spMkLst>
        </pc:spChg>
        <pc:spChg chg="mod">
          <ac:chgData name="Reinhold Heinlein" userId="c5e5d61b-3817-4f51-a712-dcf8bfbff443" providerId="ADAL" clId="{49431ECB-42D2-48D6-9016-5889F3B84DB9}" dt="2026-02-06T11:09:04.832" v="1857" actId="114"/>
          <ac:spMkLst>
            <pc:docMk/>
            <pc:sldMk cId="3210333715" sldId="283"/>
            <ac:spMk id="3" creationId="{AA196810-314C-F34A-36AA-2B1CC71B9171}"/>
          </ac:spMkLst>
        </pc:spChg>
      </pc:sldChg>
      <pc:sldChg chg="modSp add mod">
        <pc:chgData name="Reinhold Heinlein" userId="c5e5d61b-3817-4f51-a712-dcf8bfbff443" providerId="ADAL" clId="{49431ECB-42D2-48D6-9016-5889F3B84DB9}" dt="2026-02-06T10:42:43.704" v="1616" actId="20577"/>
        <pc:sldMkLst>
          <pc:docMk/>
          <pc:sldMk cId="2029188311" sldId="284"/>
        </pc:sldMkLst>
        <pc:spChg chg="mod">
          <ac:chgData name="Reinhold Heinlein" userId="c5e5d61b-3817-4f51-a712-dcf8bfbff443" providerId="ADAL" clId="{49431ECB-42D2-48D6-9016-5889F3B84DB9}" dt="2026-02-06T10:32:30.423" v="1443" actId="20577"/>
          <ac:spMkLst>
            <pc:docMk/>
            <pc:sldMk cId="2029188311" sldId="284"/>
            <ac:spMk id="2" creationId="{BE51B1B5-90FF-B2AF-24C3-2E1682F5D3D5}"/>
          </ac:spMkLst>
        </pc:spChg>
        <pc:spChg chg="mod">
          <ac:chgData name="Reinhold Heinlein" userId="c5e5d61b-3817-4f51-a712-dcf8bfbff443" providerId="ADAL" clId="{49431ECB-42D2-48D6-9016-5889F3B84DB9}" dt="2026-02-06T10:42:43.704" v="1616" actId="20577"/>
          <ac:spMkLst>
            <pc:docMk/>
            <pc:sldMk cId="2029188311" sldId="284"/>
            <ac:spMk id="3" creationId="{CD03B538-7785-FE76-48AC-DA66EDB64E36}"/>
          </ac:spMkLst>
        </pc:spChg>
      </pc:sldChg>
      <pc:sldChg chg="addSp modSp add mod">
        <pc:chgData name="Reinhold Heinlein" userId="c5e5d61b-3817-4f51-a712-dcf8bfbff443" providerId="ADAL" clId="{49431ECB-42D2-48D6-9016-5889F3B84DB9}" dt="2026-02-06T12:00:07.260" v="2038" actId="20577"/>
        <pc:sldMkLst>
          <pc:docMk/>
          <pc:sldMk cId="408712124" sldId="285"/>
        </pc:sldMkLst>
        <pc:spChg chg="mod">
          <ac:chgData name="Reinhold Heinlein" userId="c5e5d61b-3817-4f51-a712-dcf8bfbff443" providerId="ADAL" clId="{49431ECB-42D2-48D6-9016-5889F3B84DB9}" dt="2026-02-06T12:00:07.260" v="2038" actId="20577"/>
          <ac:spMkLst>
            <pc:docMk/>
            <pc:sldMk cId="408712124" sldId="285"/>
            <ac:spMk id="2" creationId="{6C1F3865-CEBB-0714-744D-A758D638DF6A}"/>
          </ac:spMkLst>
        </pc:spChg>
        <pc:spChg chg="mod">
          <ac:chgData name="Reinhold Heinlein" userId="c5e5d61b-3817-4f51-a712-dcf8bfbff443" providerId="ADAL" clId="{49431ECB-42D2-48D6-9016-5889F3B84DB9}" dt="2026-02-06T11:18:45.756" v="1979" actId="20577"/>
          <ac:spMkLst>
            <pc:docMk/>
            <pc:sldMk cId="408712124" sldId="285"/>
            <ac:spMk id="3" creationId="{477C0AB4-F660-5EE8-497F-E012AE98B565}"/>
          </ac:spMkLst>
        </pc:spChg>
        <pc:graphicFrameChg chg="add mod modGraphic">
          <ac:chgData name="Reinhold Heinlein" userId="c5e5d61b-3817-4f51-a712-dcf8bfbff443" providerId="ADAL" clId="{49431ECB-42D2-48D6-9016-5889F3B84DB9}" dt="2026-02-06T11:12:40.808" v="1907" actId="1076"/>
          <ac:graphicFrameMkLst>
            <pc:docMk/>
            <pc:sldMk cId="408712124" sldId="285"/>
            <ac:graphicFrameMk id="4" creationId="{3592972C-4342-E9F1-1CFA-6FF66221E719}"/>
          </ac:graphicFrameMkLst>
        </pc:graphicFrameChg>
      </pc:sldChg>
      <pc:sldChg chg="delSp modSp add mod">
        <pc:chgData name="Reinhold Heinlein" userId="c5e5d61b-3817-4f51-a712-dcf8bfbff443" providerId="ADAL" clId="{49431ECB-42D2-48D6-9016-5889F3B84DB9}" dt="2026-02-16T11:20:23.331" v="3083" actId="20577"/>
        <pc:sldMkLst>
          <pc:docMk/>
          <pc:sldMk cId="2562625693" sldId="286"/>
        </pc:sldMkLst>
        <pc:spChg chg="mod">
          <ac:chgData name="Reinhold Heinlein" userId="c5e5d61b-3817-4f51-a712-dcf8bfbff443" providerId="ADAL" clId="{49431ECB-42D2-48D6-9016-5889F3B84DB9}" dt="2026-02-06T11:23:54.387" v="2036" actId="20577"/>
          <ac:spMkLst>
            <pc:docMk/>
            <pc:sldMk cId="2562625693" sldId="286"/>
            <ac:spMk id="2" creationId="{6627861A-3F6C-154E-4B17-CB3DB8C33140}"/>
          </ac:spMkLst>
        </pc:spChg>
        <pc:spChg chg="mod">
          <ac:chgData name="Reinhold Heinlein" userId="c5e5d61b-3817-4f51-a712-dcf8bfbff443" providerId="ADAL" clId="{49431ECB-42D2-48D6-9016-5889F3B84DB9}" dt="2026-02-16T11:20:23.331" v="3083" actId="20577"/>
          <ac:spMkLst>
            <pc:docMk/>
            <pc:sldMk cId="2562625693" sldId="286"/>
            <ac:spMk id="3" creationId="{C120022E-A87F-611C-2E55-5108A13EE431}"/>
          </ac:spMkLst>
        </pc:spChg>
      </pc:sldChg>
      <pc:sldChg chg="modSp add mod">
        <pc:chgData name="Reinhold Heinlein" userId="c5e5d61b-3817-4f51-a712-dcf8bfbff443" providerId="ADAL" clId="{49431ECB-42D2-48D6-9016-5889F3B84DB9}" dt="2026-02-06T12:17:40.908" v="3020" actId="207"/>
        <pc:sldMkLst>
          <pc:docMk/>
          <pc:sldMk cId="2482482246" sldId="287"/>
        </pc:sldMkLst>
        <pc:spChg chg="mod">
          <ac:chgData name="Reinhold Heinlein" userId="c5e5d61b-3817-4f51-a712-dcf8bfbff443" providerId="ADAL" clId="{49431ECB-42D2-48D6-9016-5889F3B84DB9}" dt="2026-02-06T12:10:42.151" v="2618" actId="20577"/>
          <ac:spMkLst>
            <pc:docMk/>
            <pc:sldMk cId="2482482246" sldId="287"/>
            <ac:spMk id="2" creationId="{5FC3D8AA-F8F3-B76D-D71E-E2727C62AA50}"/>
          </ac:spMkLst>
        </pc:spChg>
        <pc:spChg chg="mod">
          <ac:chgData name="Reinhold Heinlein" userId="c5e5d61b-3817-4f51-a712-dcf8bfbff443" providerId="ADAL" clId="{49431ECB-42D2-48D6-9016-5889F3B84DB9}" dt="2026-02-06T12:17:40.908" v="3020" actId="207"/>
          <ac:spMkLst>
            <pc:docMk/>
            <pc:sldMk cId="2482482246" sldId="287"/>
            <ac:spMk id="3" creationId="{438FB5CA-A18F-A067-E836-F9A7A28D14CE}"/>
          </ac:spMkLst>
        </pc:spChg>
      </pc:sldChg>
      <pc:sldChg chg="modSp add mod">
        <pc:chgData name="Reinhold Heinlein" userId="c5e5d61b-3817-4f51-a712-dcf8bfbff443" providerId="ADAL" clId="{49431ECB-42D2-48D6-9016-5889F3B84DB9}" dt="2026-02-16T11:22:34.545" v="3084" actId="20577"/>
        <pc:sldMkLst>
          <pc:docMk/>
          <pc:sldMk cId="1868549678" sldId="288"/>
        </pc:sldMkLst>
        <pc:spChg chg="mod">
          <ac:chgData name="Reinhold Heinlein" userId="c5e5d61b-3817-4f51-a712-dcf8bfbff443" providerId="ADAL" clId="{49431ECB-42D2-48D6-9016-5889F3B84DB9}" dt="2026-02-16T11:22:34.545" v="3084" actId="20577"/>
          <ac:spMkLst>
            <pc:docMk/>
            <pc:sldMk cId="1868549678" sldId="288"/>
            <ac:spMk id="3" creationId="{C5A1C063-2A6F-B8D8-5306-26705293E457}"/>
          </ac:spMkLst>
        </pc:spChg>
      </pc:sldChg>
      <pc:sldChg chg="modSp add mod">
        <pc:chgData name="Reinhold Heinlein" userId="c5e5d61b-3817-4f51-a712-dcf8bfbff443" providerId="ADAL" clId="{49431ECB-42D2-48D6-9016-5889F3B84DB9}" dt="2026-02-16T11:57:13.275" v="3308" actId="20577"/>
        <pc:sldMkLst>
          <pc:docMk/>
          <pc:sldMk cId="2349810991" sldId="289"/>
        </pc:sldMkLst>
        <pc:spChg chg="mod">
          <ac:chgData name="Reinhold Heinlein" userId="c5e5d61b-3817-4f51-a712-dcf8bfbff443" providerId="ADAL" clId="{49431ECB-42D2-48D6-9016-5889F3B84DB9}" dt="2026-02-16T11:53:52.683" v="3140" actId="20577"/>
          <ac:spMkLst>
            <pc:docMk/>
            <pc:sldMk cId="2349810991" sldId="289"/>
            <ac:spMk id="2" creationId="{3BD60173-DFB4-79FC-032B-47C4309024B1}"/>
          </ac:spMkLst>
        </pc:spChg>
        <pc:spChg chg="mod">
          <ac:chgData name="Reinhold Heinlein" userId="c5e5d61b-3817-4f51-a712-dcf8bfbff443" providerId="ADAL" clId="{49431ECB-42D2-48D6-9016-5889F3B84DB9}" dt="2026-02-16T11:57:13.275" v="3308" actId="20577"/>
          <ac:spMkLst>
            <pc:docMk/>
            <pc:sldMk cId="2349810991" sldId="289"/>
            <ac:spMk id="3" creationId="{5ABAA2E4-D535-5C73-C43E-F9E54C398F6F}"/>
          </ac:spMkLst>
        </pc:spChg>
      </pc:sldChg>
      <pc:sldChg chg="modSp add mod">
        <pc:chgData name="Reinhold Heinlein" userId="c5e5d61b-3817-4f51-a712-dcf8bfbff443" providerId="ADAL" clId="{49431ECB-42D2-48D6-9016-5889F3B84DB9}" dt="2026-02-17T08:45:41.211" v="5333" actId="207"/>
        <pc:sldMkLst>
          <pc:docMk/>
          <pc:sldMk cId="2633922389" sldId="290"/>
        </pc:sldMkLst>
        <pc:spChg chg="mod">
          <ac:chgData name="Reinhold Heinlein" userId="c5e5d61b-3817-4f51-a712-dcf8bfbff443" providerId="ADAL" clId="{49431ECB-42D2-48D6-9016-5889F3B84DB9}" dt="2026-02-17T08:45:41.211" v="5333" actId="207"/>
          <ac:spMkLst>
            <pc:docMk/>
            <pc:sldMk cId="2633922389" sldId="290"/>
            <ac:spMk id="3" creationId="{99499F2E-B784-04EB-5E83-CF318701EFBD}"/>
          </ac:spMkLst>
        </pc:spChg>
      </pc:sldChg>
      <pc:sldChg chg="modSp add mod">
        <pc:chgData name="Reinhold Heinlein" userId="c5e5d61b-3817-4f51-a712-dcf8bfbff443" providerId="ADAL" clId="{49431ECB-42D2-48D6-9016-5889F3B84DB9}" dt="2026-02-17T08:45:52.982" v="5334" actId="207"/>
        <pc:sldMkLst>
          <pc:docMk/>
          <pc:sldMk cId="2320105413" sldId="291"/>
        </pc:sldMkLst>
        <pc:spChg chg="mod">
          <ac:chgData name="Reinhold Heinlein" userId="c5e5d61b-3817-4f51-a712-dcf8bfbff443" providerId="ADAL" clId="{49431ECB-42D2-48D6-9016-5889F3B84DB9}" dt="2026-02-17T08:45:52.982" v="5334" actId="207"/>
          <ac:spMkLst>
            <pc:docMk/>
            <pc:sldMk cId="2320105413" sldId="291"/>
            <ac:spMk id="3" creationId="{5B166233-B613-F757-F182-582C5EBFDD59}"/>
          </ac:spMkLst>
        </pc:spChg>
      </pc:sldChg>
      <pc:sldChg chg="modSp add mod">
        <pc:chgData name="Reinhold Heinlein" userId="c5e5d61b-3817-4f51-a712-dcf8bfbff443" providerId="ADAL" clId="{49431ECB-42D2-48D6-9016-5889F3B84DB9}" dt="2026-02-17T08:46:09.205" v="5336" actId="207"/>
        <pc:sldMkLst>
          <pc:docMk/>
          <pc:sldMk cId="2204510172" sldId="292"/>
        </pc:sldMkLst>
        <pc:spChg chg="mod">
          <ac:chgData name="Reinhold Heinlein" userId="c5e5d61b-3817-4f51-a712-dcf8bfbff443" providerId="ADAL" clId="{49431ECB-42D2-48D6-9016-5889F3B84DB9}" dt="2026-02-17T08:46:09.205" v="5336" actId="207"/>
          <ac:spMkLst>
            <pc:docMk/>
            <pc:sldMk cId="2204510172" sldId="292"/>
            <ac:spMk id="3" creationId="{0880E6B9-D46A-E7BE-E17D-FFD54C479B52}"/>
          </ac:spMkLst>
        </pc:spChg>
      </pc:sldChg>
      <pc:sldChg chg="modSp add mod ord">
        <pc:chgData name="Reinhold Heinlein" userId="c5e5d61b-3817-4f51-a712-dcf8bfbff443" providerId="ADAL" clId="{49431ECB-42D2-48D6-9016-5889F3B84DB9}" dt="2026-02-16T12:54:19.431" v="4930" actId="20577"/>
        <pc:sldMkLst>
          <pc:docMk/>
          <pc:sldMk cId="791871681" sldId="293"/>
        </pc:sldMkLst>
        <pc:spChg chg="mod">
          <ac:chgData name="Reinhold Heinlein" userId="c5e5d61b-3817-4f51-a712-dcf8bfbff443" providerId="ADAL" clId="{49431ECB-42D2-48D6-9016-5889F3B84DB9}" dt="2026-02-16T12:37:34.895" v="4677" actId="20577"/>
          <ac:spMkLst>
            <pc:docMk/>
            <pc:sldMk cId="791871681" sldId="293"/>
            <ac:spMk id="2" creationId="{0A78AFF4-C9DE-05D5-B4D3-F375157D28DD}"/>
          </ac:spMkLst>
        </pc:spChg>
        <pc:spChg chg="mod">
          <ac:chgData name="Reinhold Heinlein" userId="c5e5d61b-3817-4f51-a712-dcf8bfbff443" providerId="ADAL" clId="{49431ECB-42D2-48D6-9016-5889F3B84DB9}" dt="2026-02-16T12:54:19.431" v="4930" actId="20577"/>
          <ac:spMkLst>
            <pc:docMk/>
            <pc:sldMk cId="791871681" sldId="293"/>
            <ac:spMk id="3" creationId="{2A14EA13-27F2-DE2F-B437-FC3085E78516}"/>
          </ac:spMkLst>
        </pc:spChg>
      </pc:sldChg>
      <pc:sldChg chg="modSp add mod">
        <pc:chgData name="Reinhold Heinlein" userId="c5e5d61b-3817-4f51-a712-dcf8bfbff443" providerId="ADAL" clId="{49431ECB-42D2-48D6-9016-5889F3B84DB9}" dt="2026-02-16T13:02:48.263" v="5332" actId="20577"/>
        <pc:sldMkLst>
          <pc:docMk/>
          <pc:sldMk cId="932615570" sldId="294"/>
        </pc:sldMkLst>
        <pc:spChg chg="mod">
          <ac:chgData name="Reinhold Heinlein" userId="c5e5d61b-3817-4f51-a712-dcf8bfbff443" providerId="ADAL" clId="{49431ECB-42D2-48D6-9016-5889F3B84DB9}" dt="2026-02-16T13:01:02.609" v="5309" actId="20577"/>
          <ac:spMkLst>
            <pc:docMk/>
            <pc:sldMk cId="932615570" sldId="294"/>
            <ac:spMk id="2" creationId="{140F1D62-DFD5-3458-A074-2515B77EF823}"/>
          </ac:spMkLst>
        </pc:spChg>
        <pc:spChg chg="mod">
          <ac:chgData name="Reinhold Heinlein" userId="c5e5d61b-3817-4f51-a712-dcf8bfbff443" providerId="ADAL" clId="{49431ECB-42D2-48D6-9016-5889F3B84DB9}" dt="2026-02-16T13:02:48.263" v="5332" actId="20577"/>
          <ac:spMkLst>
            <pc:docMk/>
            <pc:sldMk cId="932615570" sldId="294"/>
            <ac:spMk id="3" creationId="{8223B4CF-3126-1430-83A8-1F1F007E6D0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43CF07-9307-6C48-9A7D-CFB6D27789B3}"/>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3757DB75-BAF4-B743-9A92-74B92A91E0A3}"/>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B22C6B3-A39F-7849-8137-15C55F281F8E}"/>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DA11F245-9DFC-A14D-946D-EB14F66A9135}" type="slidenum">
              <a:rPr lang="en-US" smtClean="0"/>
              <a:t>‹#›</a:t>
            </a:fld>
            <a:endParaRPr lang="en-US"/>
          </a:p>
        </p:txBody>
      </p:sp>
    </p:spTree>
    <p:extLst>
      <p:ext uri="{BB962C8B-B14F-4D97-AF65-F5344CB8AC3E}">
        <p14:creationId xmlns:p14="http://schemas.microsoft.com/office/powerpoint/2010/main" val="1287902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67" name="Rectangle 3"/>
          <p:cNvSpPr>
            <a:spLocks noGrp="1" noChangeArrowheads="1"/>
          </p:cNvSpPr>
          <p:nvPr>
            <p:ph type="dt" idx="1"/>
          </p:nvPr>
        </p:nvSpPr>
        <p:spPr bwMode="auto">
          <a:xfrm>
            <a:off x="5180013"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ＭＳ Ｐゴシック" charset="0"/>
                <a:cs typeface="ＭＳ Ｐゴシック"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1269" name="Rectangle 5"/>
          <p:cNvSpPr>
            <a:spLocks noGrp="1" noChangeArrowheads="1"/>
          </p:cNvSpPr>
          <p:nvPr>
            <p:ph type="body" sz="quarter" idx="3"/>
          </p:nvPr>
        </p:nvSpPr>
        <p:spPr bwMode="auto">
          <a:xfrm>
            <a:off x="914400" y="3257550"/>
            <a:ext cx="73152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71" name="Rectangle 7"/>
          <p:cNvSpPr>
            <a:spLocks noGrp="1" noChangeArrowheads="1"/>
          </p:cNvSpPr>
          <p:nvPr>
            <p:ph type="sldNum" sz="quarter" idx="5"/>
          </p:nvPr>
        </p:nvSpPr>
        <p:spPr bwMode="auto">
          <a:xfrm>
            <a:off x="5180013"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360570-2B09-DB43-BBE0-DA076DA911F1}" type="slidenum">
              <a:rPr lang="en-US" altLang="en-US"/>
              <a:pPr>
                <a:defRPr/>
              </a:pPr>
              <a:t>‹#›</a:t>
            </a:fld>
            <a:endParaRPr lang="en-US" altLang="en-US"/>
          </a:p>
        </p:txBody>
      </p:sp>
    </p:spTree>
    <p:extLst>
      <p:ext uri="{BB962C8B-B14F-4D97-AF65-F5344CB8AC3E}">
        <p14:creationId xmlns:p14="http://schemas.microsoft.com/office/powerpoint/2010/main" val="20048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5613"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2813"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0013"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7213"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5943" algn="l" defTabSz="914378" rtl="0" eaLnBrk="1" latinLnBrk="0" hangingPunct="1">
      <a:defRPr sz="1200" kern="1200">
        <a:solidFill>
          <a:schemeClr val="tx1"/>
        </a:solidFill>
        <a:latin typeface="+mn-lt"/>
        <a:ea typeface="+mn-ea"/>
        <a:cs typeface="+mn-cs"/>
      </a:defRPr>
    </a:lvl6pPr>
    <a:lvl7pPr marL="2743132" algn="l" defTabSz="914378" rtl="0" eaLnBrk="1" latinLnBrk="0" hangingPunct="1">
      <a:defRPr sz="1200" kern="1200">
        <a:solidFill>
          <a:schemeClr val="tx1"/>
        </a:solidFill>
        <a:latin typeface="+mn-lt"/>
        <a:ea typeface="+mn-ea"/>
        <a:cs typeface="+mn-cs"/>
      </a:defRPr>
    </a:lvl7pPr>
    <a:lvl8pPr marL="3200320" algn="l" defTabSz="914378" rtl="0" eaLnBrk="1" latinLnBrk="0" hangingPunct="1">
      <a:defRPr sz="1200" kern="1200">
        <a:solidFill>
          <a:schemeClr val="tx1"/>
        </a:solidFill>
        <a:latin typeface="+mn-lt"/>
        <a:ea typeface="+mn-ea"/>
        <a:cs typeface="+mn-cs"/>
      </a:defRPr>
    </a:lvl8pPr>
    <a:lvl9pPr marL="3657509" algn="l" defTabSz="914378"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7A739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79"/>
            <a:ext cx="5689524" cy="2089585"/>
          </a:xfrm>
          <a:prstGeom prst="rect">
            <a:avLst/>
          </a:prstGeom>
        </p:spPr>
        <p:txBody>
          <a:bodyPr lIns="0" tIns="0" rIns="0" bIns="0"/>
          <a:lstStyle>
            <a:lvl1pPr>
              <a:defRPr>
                <a:solidFill>
                  <a:schemeClr val="bg1"/>
                </a:solidFill>
              </a:defRPr>
            </a:lvl1pPr>
          </a:lstStyle>
          <a:p>
            <a:r>
              <a:rPr lang="en-US"/>
              <a:t>Click to edit Master title style</a:t>
            </a:r>
            <a:endParaRPr lang="en-US" dirty="0"/>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1" y="1916832"/>
            <a:ext cx="1219139" cy="269081"/>
          </a:xfrm>
          <a:prstGeom prst="rect">
            <a:avLst/>
          </a:prstGeom>
        </p:spPr>
        <p:txBody>
          <a:bodyPr lIns="0" tIns="0" rIns="0" bIns="0"/>
          <a:lstStyle>
            <a:lvl1pPr marL="0" indent="0" algn="l">
              <a:lnSpc>
                <a:spcPts val="1300"/>
              </a:lnSpc>
              <a:spcBef>
                <a:spcPts val="0"/>
              </a:spcBef>
              <a:buFontTx/>
              <a:buNone/>
              <a:defRPr sz="1800" b="0" i="0">
                <a:solidFill>
                  <a:schemeClr val="bg1"/>
                </a:solidFill>
                <a:latin typeface="+mj-lt"/>
                <a:ea typeface="Tahoma" charset="0"/>
                <a:cs typeface="Tahoma" charset="0"/>
              </a:defRPr>
            </a:lvl1pPr>
          </a:lstStyle>
          <a:p>
            <a:pPr lvl="0"/>
            <a:r>
              <a:rPr lang="en-US" dirty="0"/>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0" y="2323736"/>
            <a:ext cx="1219139" cy="673215"/>
          </a:xfrm>
          <a:prstGeom prst="rect">
            <a:avLst/>
          </a:prstGeom>
        </p:spPr>
        <p:txBody>
          <a:bodyPr lIns="0" tIns="0" rIns="0" bIns="0"/>
          <a:lstStyle>
            <a:lvl1pPr marL="0" indent="0" algn="l">
              <a:lnSpc>
                <a:spcPct val="100000"/>
              </a:lnSpc>
              <a:spcBef>
                <a:spcPts val="0"/>
              </a:spcBef>
              <a:buFontTx/>
              <a:buNone/>
              <a:defRPr sz="1800" b="1" i="0">
                <a:solidFill>
                  <a:schemeClr val="bg1"/>
                </a:solidFill>
                <a:latin typeface="+mj-lt"/>
                <a:ea typeface="Tahoma" charset="0"/>
                <a:cs typeface="Tahoma" charset="0"/>
              </a:defRPr>
            </a:lvl1pPr>
          </a:lstStyle>
          <a:p>
            <a:pPr lvl="0"/>
            <a:r>
              <a:rPr lang="en-US"/>
              <a:t>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67834" y="3057655"/>
            <a:ext cx="1219139" cy="673215"/>
          </a:xfrm>
          <a:prstGeom prst="rect">
            <a:avLst/>
          </a:prstGeom>
        </p:spPr>
        <p:txBody>
          <a:bodyPr lIns="0" tIns="0" rIns="0" bIns="0"/>
          <a:lstStyle>
            <a:lvl1pPr marL="0" indent="0" algn="l">
              <a:lnSpc>
                <a:spcPct val="100000"/>
              </a:lnSpc>
              <a:spcBef>
                <a:spcPts val="0"/>
              </a:spcBef>
              <a:buFontTx/>
              <a:buNone/>
              <a:defRPr sz="2000" b="1" i="0">
                <a:solidFill>
                  <a:schemeClr val="bg1"/>
                </a:solidFill>
                <a:latin typeface="+mj-lt"/>
                <a:ea typeface="Tahoma" charset="0"/>
                <a:cs typeface="Tahoma" charset="0"/>
              </a:defRPr>
            </a:lvl1pPr>
          </a:lstStyle>
          <a:p>
            <a:pPr lvl="0"/>
            <a:r>
              <a:rPr lang="en-US"/>
              <a:t>Edit Master text styles</a:t>
            </a:r>
          </a:p>
        </p:txBody>
      </p: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5" y="5373216"/>
            <a:ext cx="1219139" cy="576064"/>
          </a:xfrm>
          <a:prstGeom prst="rect">
            <a:avLst/>
          </a:prstGeom>
        </p:spPr>
        <p:txBody>
          <a:bodyPr lIns="0" tIns="0" rIns="0" bIns="0"/>
          <a:lstStyle>
            <a:lvl1pPr marL="0" indent="0" algn="l">
              <a:lnSpc>
                <a:spcPct val="100000"/>
              </a:lnSpc>
              <a:spcBef>
                <a:spcPts val="0"/>
              </a:spcBef>
              <a:buFontTx/>
              <a:buNone/>
              <a:defRPr sz="1800" b="0" i="0">
                <a:solidFill>
                  <a:schemeClr val="bg1"/>
                </a:solidFill>
                <a:latin typeface="+mn-lt"/>
                <a:ea typeface="Tahoma"/>
                <a:cs typeface="Tahoma"/>
              </a:defRPr>
            </a:lvl1pPr>
          </a:lstStyle>
          <a:p>
            <a:pPr lvl="0"/>
            <a:r>
              <a:rPr lang="en-US" dirty="0"/>
              <a:t>Presentation date</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7226853"/>
      </p:ext>
    </p:extLst>
  </p:cSld>
  <p:clrMapOvr>
    <a:masterClrMapping/>
  </p:clrMapOvr>
  <p:transition spd="slow">
    <p:fade/>
  </p:transition>
  <p:extLst>
    <p:ext uri="{DCECCB84-F9BA-43D5-87BE-67443E8EF086}">
      <p15:sldGuideLst xmlns:p15="http://schemas.microsoft.com/office/powerpoint/2012/main">
        <p15:guide id="1" orient="horz" pos="1207" userDrawn="1">
          <p15:clr>
            <a:srgbClr val="FBAE40"/>
          </p15:clr>
        </p15:guide>
        <p15:guide id="2" pos="12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5"/>
            <a:ext cx="6515620" cy="1325563"/>
          </a:xfrm>
          <a:prstGeom prst="rect">
            <a:avLst/>
          </a:prstGeom>
        </p:spPr>
        <p:txBody>
          <a:bodyPr/>
          <a:lstStyle>
            <a:lvl1pPr>
              <a:defRPr>
                <a:solidFill>
                  <a:srgbClr val="7A7392"/>
                </a:solidFill>
              </a:defRPr>
            </a:lvl1pPr>
          </a:lstStyle>
          <a:p>
            <a:r>
              <a:rPr lang="en-US"/>
              <a:t>Click to edit Master title style</a:t>
            </a:r>
            <a:endParaRPr lang="en-US" dirty="0"/>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800" b="0" i="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192450603"/>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689701"/>
            <a:ext cx="7886700" cy="1011108"/>
          </a:xfrm>
          <a:prstGeom prst="rect">
            <a:avLst/>
          </a:prstGeom>
        </p:spPr>
        <p:txBody>
          <a:bodyPr lIns="0" tIns="0" rIns="0" bIns="0"/>
          <a:lstStyle>
            <a:lvl1pPr>
              <a:defRPr>
                <a:solidFill>
                  <a:srgbClr val="7A7392"/>
                </a:solidFill>
              </a:defRPr>
            </a:lvl1pPr>
          </a:lstStyle>
          <a:p>
            <a:pPr lvl="0"/>
            <a:r>
              <a:rPr lang="en-GB" dirty="0"/>
              <a:t>Click to edit Master text styles</a:t>
            </a:r>
          </a:p>
        </p:txBody>
      </p:sp>
      <p:sp>
        <p:nvSpPr>
          <p:cNvPr id="6" name="Text Placeholder 5"/>
          <p:cNvSpPr>
            <a:spLocks noGrp="1"/>
          </p:cNvSpPr>
          <p:nvPr>
            <p:ph type="body" sz="quarter" idx="11" hasCustomPrompt="1"/>
          </p:nvPr>
        </p:nvSpPr>
        <p:spPr>
          <a:xfrm>
            <a:off x="899591" y="1700808"/>
            <a:ext cx="6551612" cy="4608512"/>
          </a:xfrm>
          <a:prstGeom prst="rect">
            <a:avLst/>
          </a:prstGeom>
        </p:spPr>
        <p:txBody>
          <a:bodyPr lIns="0" tIns="0" rIns="0" bIns="0"/>
          <a:lstStyle>
            <a:lvl1pPr marL="266700" indent="-257175">
              <a:buClr>
                <a:srgbClr val="7A7392"/>
              </a:buClr>
              <a:tabLst/>
              <a:defRPr sz="2000">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06912239"/>
      </p:ext>
    </p:extLst>
  </p:cSld>
  <p:clrMapOvr>
    <a:masterClrMapping/>
  </p:clrMapOvr>
  <p:transition spd="slow">
    <p:fade/>
  </p:transition>
  <p:extLst>
    <p:ext uri="{DCECCB84-F9BA-43D5-87BE-67443E8EF086}">
      <p15:sldGuideLst xmlns:p15="http://schemas.microsoft.com/office/powerpoint/2012/main">
        <p15:guide id="1" orient="horz" pos="436" userDrawn="1">
          <p15:clr>
            <a:srgbClr val="FBAE40"/>
          </p15:clr>
        </p15:guide>
        <p15:guide id="2" pos="5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687614"/>
            <a:ext cx="7886700" cy="1012599"/>
          </a:xfrm>
        </p:spPr>
        <p:txBody>
          <a:bodyPr/>
          <a:lstStyle/>
          <a:p>
            <a:r>
              <a:rPr lang="en-US"/>
              <a:t>Click to edit Master title style</a:t>
            </a:r>
            <a:endParaRPr lang="en-US" dirty="0"/>
          </a:p>
        </p:txBody>
      </p:sp>
      <p:sp>
        <p:nvSpPr>
          <p:cNvPr id="3" name="Text Placeholder 2"/>
          <p:cNvSpPr>
            <a:spLocks noGrp="1"/>
          </p:cNvSpPr>
          <p:nvPr>
            <p:ph type="body" sz="quarter" idx="11" hasCustomPrompt="1"/>
          </p:nvPr>
        </p:nvSpPr>
        <p:spPr>
          <a:xfrm>
            <a:off x="900113" y="1700213"/>
            <a:ext cx="6551612" cy="4465637"/>
          </a:xfrm>
          <a:prstGeom prst="rect">
            <a:avLst/>
          </a:prstGeom>
        </p:spPr>
        <p:txBody>
          <a:bodyPr lIns="0" tIns="0" rIns="0" bIns="0"/>
          <a:lstStyle>
            <a:lvl1pPr marL="266700" indent="-266700">
              <a:buClr>
                <a:srgbClr val="7A7392"/>
              </a:buClr>
              <a:buFont typeface="+mj-lt"/>
              <a:buAutoNum type="arabicPeriod"/>
              <a:defRPr sz="2000">
                <a:latin typeface="+mn-lt"/>
                <a:ea typeface="Tahoma" panose="020B0604030504040204" pitchFamily="34" charset="0"/>
                <a:cs typeface="Tahoma" panose="020B0604030504040204" pitchFamily="34" charset="0"/>
              </a:defRPr>
            </a:lvl1pPr>
            <a:lvl2pPr marL="541338" indent="-274638">
              <a:buClr>
                <a:srgbClr val="7A7392"/>
              </a:buClr>
              <a:buFont typeface="+mj-lt"/>
              <a:buAutoNum type="romanLcPeriod"/>
              <a:defRPr sz="200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386068825"/>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692697"/>
            <a:ext cx="7886700" cy="936104"/>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
        <p:nvSpPr>
          <p:cNvPr id="7" name="Text Placeholder 6"/>
          <p:cNvSpPr>
            <a:spLocks noGrp="1"/>
          </p:cNvSpPr>
          <p:nvPr>
            <p:ph type="body" sz="quarter" idx="12"/>
          </p:nvPr>
        </p:nvSpPr>
        <p:spPr>
          <a:xfrm>
            <a:off x="4284663"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Tree>
    <p:extLst>
      <p:ext uri="{BB962C8B-B14F-4D97-AF65-F5344CB8AC3E}">
        <p14:creationId xmlns:p14="http://schemas.microsoft.com/office/powerpoint/2010/main" val="1903622766"/>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692697"/>
            <a:ext cx="7886700" cy="936104"/>
          </a:xfrm>
        </p:spPr>
        <p:txBody>
          <a:bodyPr/>
          <a:lstStyle/>
          <a:p>
            <a:r>
              <a:rPr lang="en-US"/>
              <a:t>Click to edit Master title style</a:t>
            </a:r>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US" dirty="0"/>
              <a:t>Click to add text</a:t>
            </a:r>
          </a:p>
          <a:p>
            <a:pPr lvl="1"/>
            <a:r>
              <a:rPr lang="en-US" dirty="0"/>
              <a:t>Second Bullet Point</a:t>
            </a:r>
          </a:p>
          <a:p>
            <a:pPr lvl="2"/>
            <a:r>
              <a:rPr lang="en-US" dirty="0"/>
              <a:t>Third Bullet Point</a:t>
            </a:r>
          </a:p>
          <a:p>
            <a:pPr lvl="3"/>
            <a:endParaRPr lang="en-US" dirty="0"/>
          </a:p>
          <a:p>
            <a:pPr lvl="0"/>
            <a:endParaRPr lang="en-GB" dirty="0"/>
          </a:p>
        </p:txBody>
      </p:sp>
    </p:spTree>
    <p:extLst>
      <p:ext uri="{BB962C8B-B14F-4D97-AF65-F5344CB8AC3E}">
        <p14:creationId xmlns:p14="http://schemas.microsoft.com/office/powerpoint/2010/main" val="976455156"/>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692697"/>
            <a:ext cx="7886700" cy="936104"/>
          </a:xfrm>
        </p:spPr>
        <p:txBody>
          <a:bodyPr/>
          <a:lstStyle/>
          <a:p>
            <a:r>
              <a:rPr lang="en-US"/>
              <a:t>Click to edit Master title style</a:t>
            </a:r>
            <a:endParaRPr lang="en-US" dirty="0"/>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7A7392"/>
              </a:buClr>
              <a:buSzTx/>
              <a:buFont typeface="+mj-lt"/>
              <a:buAutoNum type="arabicPeriod"/>
              <a:tabLst/>
              <a:defRPr sz="2000" b="0" i="0" baseline="0">
                <a:solidFill>
                  <a:schemeClr val="tx1"/>
                </a:solidFill>
                <a:latin typeface="+mn-lt"/>
                <a:ea typeface="Tahoma"/>
                <a:cs typeface="Tahoma"/>
              </a:defRPr>
            </a:lvl1pPr>
            <a:lvl2pPr marL="541338" indent="-274638">
              <a:buClr>
                <a:srgbClr val="7A7392"/>
              </a:buClr>
              <a:buFont typeface="+mj-lt"/>
              <a:buAutoNum type="romanLcPeriod"/>
              <a:defRPr sz="2000" baseline="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a:p>
            <a:pPr lvl="3"/>
            <a:endParaRPr lang="en-GB" dirty="0"/>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7A7392"/>
              </a:buClr>
              <a:buSzTx/>
              <a:buFont typeface="+mj-lt"/>
              <a:buAutoNum type="arabicPeriod"/>
              <a:tabLst/>
              <a:defRPr sz="2000" b="0" i="0" baseline="0">
                <a:solidFill>
                  <a:schemeClr val="tx1"/>
                </a:solidFill>
                <a:latin typeface="+mn-lt"/>
                <a:ea typeface="Tahoma"/>
                <a:cs typeface="Tahoma"/>
              </a:defRPr>
            </a:lvl1pPr>
            <a:lvl2pPr marL="541338" indent="-274638">
              <a:buClr>
                <a:srgbClr val="7A7392"/>
              </a:buClr>
              <a:buFont typeface="+mj-lt"/>
              <a:buAutoNum type="romanLcPeriod"/>
              <a:defRPr sz="2000">
                <a:latin typeface="+mn-lt"/>
                <a:ea typeface="Tahoma" panose="020B0604030504040204" pitchFamily="34" charset="0"/>
                <a:cs typeface="Tahoma" panose="020B0604030504040204" pitchFamily="34" charset="0"/>
              </a:defRPr>
            </a:lvl2pPr>
            <a:lvl3pPr marL="896938" indent="-2667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Number Position Number 2</a:t>
            </a:r>
          </a:p>
          <a:p>
            <a:pPr lvl="2"/>
            <a:r>
              <a:rPr lang="en-GB" dirty="0"/>
              <a:t>Number Position Number 3</a:t>
            </a:r>
          </a:p>
          <a:p>
            <a:pPr lvl="3"/>
            <a:endParaRPr lang="en-GB" dirty="0"/>
          </a:p>
        </p:txBody>
      </p:sp>
    </p:spTree>
    <p:extLst>
      <p:ext uri="{BB962C8B-B14F-4D97-AF65-F5344CB8AC3E}">
        <p14:creationId xmlns:p14="http://schemas.microsoft.com/office/powerpoint/2010/main" val="211776518"/>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p>
            <a:r>
              <a:rPr lang="en-US"/>
              <a:t>Click to edit Master title style</a:t>
            </a:r>
            <a:endParaRPr lang="en-US" dirty="0"/>
          </a:p>
        </p:txBody>
      </p:sp>
      <p:sp>
        <p:nvSpPr>
          <p:cNvPr id="3" name="Chart Placeholder 2"/>
          <p:cNvSpPr>
            <a:spLocks noGrp="1"/>
          </p:cNvSpPr>
          <p:nvPr>
            <p:ph type="chart" sz="quarter" idx="11"/>
          </p:nvPr>
        </p:nvSpPr>
        <p:spPr>
          <a:xfrm>
            <a:off x="899592" y="1554760"/>
            <a:ext cx="6515620" cy="453806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947534947"/>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692696"/>
            <a:ext cx="7886700" cy="936103"/>
          </a:xfrm>
        </p:spPr>
        <p:txBody>
          <a:bodyPr/>
          <a:lstStyle/>
          <a:p>
            <a:r>
              <a:rPr lang="en-US"/>
              <a:t>Click to edit Master title style</a:t>
            </a:r>
            <a:endParaRPr lang="en-US" dirty="0"/>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2000" b="0" i="0" baseline="0">
                <a:solidFill>
                  <a:schemeClr val="tx1"/>
                </a:solidFill>
                <a:latin typeface="+mn-lt"/>
                <a:ea typeface="Tahoma"/>
                <a:cs typeface="Tahoma"/>
              </a:defRPr>
            </a:lvl1pPr>
          </a:lstStyle>
          <a:p>
            <a:pPr lvl="0"/>
            <a:r>
              <a:rPr lang="en-US"/>
              <a:t>Edit Master text styles</a:t>
            </a:r>
          </a:p>
        </p:txBody>
      </p:sp>
      <p:sp>
        <p:nvSpPr>
          <p:cNvPr id="3" name="Chart Placeholder 2"/>
          <p:cNvSpPr>
            <a:spLocks noGrp="1"/>
          </p:cNvSpPr>
          <p:nvPr>
            <p:ph type="chart" sz="quarter" idx="12"/>
          </p:nvPr>
        </p:nvSpPr>
        <p:spPr>
          <a:xfrm>
            <a:off x="4284663" y="1628799"/>
            <a:ext cx="3816350" cy="4464025"/>
          </a:xfrm>
          <a:prstGeom prst="rect">
            <a:avLst/>
          </a:prstGeom>
        </p:spPr>
        <p:txBody>
          <a:bodyPr/>
          <a:lstStyle/>
          <a:p>
            <a:pPr lvl="0"/>
            <a:r>
              <a:rPr lang="en-US" noProof="0"/>
              <a:t>Click icon to add chart</a:t>
            </a:r>
            <a:endParaRPr lang="en-US" noProof="0" dirty="0"/>
          </a:p>
        </p:txBody>
      </p:sp>
    </p:spTree>
    <p:extLst>
      <p:ext uri="{BB962C8B-B14F-4D97-AF65-F5344CB8AC3E}">
        <p14:creationId xmlns:p14="http://schemas.microsoft.com/office/powerpoint/2010/main" val="1628611724"/>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692697"/>
            <a:ext cx="7886700" cy="720080"/>
          </a:xfrm>
        </p:spPr>
        <p:txBody>
          <a:bodyPr/>
          <a:lstStyle/>
          <a:p>
            <a:r>
              <a:rPr lang="en-US"/>
              <a:t>Click to edit Master title style</a:t>
            </a:r>
            <a:endParaRPr lang="en-US" dirty="0"/>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412776"/>
            <a:ext cx="9144000" cy="5951190"/>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5068060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2" y="692697"/>
            <a:ext cx="7454131" cy="768356"/>
          </a:xfrm>
        </p:spPr>
        <p:txBody>
          <a:bodyPr/>
          <a:lstStyle/>
          <a:p>
            <a:r>
              <a:rPr lang="en-US"/>
              <a:t>Click to edit Master title style</a:t>
            </a:r>
            <a:endParaRPr lang="en-US" dirty="0"/>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461052"/>
            <a:ext cx="3024188" cy="5396948"/>
          </a:xfrm>
          <a:prstGeom prst="rect">
            <a:avLst/>
          </a:prstGeom>
        </p:spPr>
        <p:txBody>
          <a:bodyPr/>
          <a:lstStyle/>
          <a:p>
            <a:r>
              <a:rPr lang="en-US"/>
              <a:t>Click icon to add picture</a:t>
            </a:r>
            <a:endParaRPr lang="en-US" dirty="0"/>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461053"/>
            <a:ext cx="3020316" cy="2650572"/>
          </a:xfrm>
          <a:prstGeom prst="rect">
            <a:avLst/>
          </a:prstGeom>
        </p:spPr>
        <p:txBody>
          <a:bodyPr/>
          <a:lstStyle/>
          <a:p>
            <a:r>
              <a:rPr lang="en-US"/>
              <a:t>Click icon to add picture</a:t>
            </a:r>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4149725"/>
            <a:ext cx="3020316" cy="2708275"/>
          </a:xfrm>
          <a:prstGeom prst="rect">
            <a:avLst/>
          </a:prstGeom>
        </p:spPr>
        <p:txBody>
          <a:bodyPr/>
          <a:lstStyle/>
          <a:p>
            <a:r>
              <a:rPr lang="en-US"/>
              <a:t>Click icon to add picture</a:t>
            </a:r>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5" y="1461052"/>
            <a:ext cx="3025775" cy="5396948"/>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1974219801"/>
      </p:ext>
    </p:extLst>
  </p:cSld>
  <p:clrMapOvr>
    <a:masterClrMapping/>
  </p:clrMapOvr>
  <p:transition spd="slow">
    <p:fade/>
  </p:transition>
  <p:extLst>
    <p:ext uri="{DCECCB84-F9BA-43D5-87BE-67443E8EF086}">
      <p15:sldGuideLst xmlns:p15="http://schemas.microsoft.com/office/powerpoint/2012/main">
        <p15:guide id="1" orient="horz" pos="332" userDrawn="1">
          <p15:clr>
            <a:srgbClr val="FBAE40"/>
          </p15:clr>
        </p15:guide>
        <p15:guide id="2" pos="2880" userDrawn="1">
          <p15:clr>
            <a:srgbClr val="FBAE40"/>
          </p15:clr>
        </p15:guide>
        <p15:guide id="4" pos="3833" userDrawn="1">
          <p15:clr>
            <a:srgbClr val="FBAE40"/>
          </p15:clr>
        </p15:guide>
        <p15:guide id="5" orient="horz" pos="2614" userDrawn="1">
          <p15:clr>
            <a:srgbClr val="FBAE40"/>
          </p15:clr>
        </p15:guide>
        <p15:guide id="6" pos="567" userDrawn="1">
          <p15:clr>
            <a:srgbClr val="FBAE40"/>
          </p15:clr>
        </p15:guide>
        <p15:guide id="8" pos="1927" userDrawn="1">
          <p15:clr>
            <a:srgbClr val="FBAE40"/>
          </p15:clr>
        </p15:guide>
        <p15:guide id="9" pos="3854" userDrawn="1">
          <p15:clr>
            <a:srgbClr val="FBAE40"/>
          </p15:clr>
        </p15:guide>
        <p15:guide id="10" orient="horz" pos="25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692697"/>
            <a:ext cx="7886700" cy="768356"/>
          </a:xfrm>
        </p:spPr>
        <p:txBody>
          <a:bodyPr/>
          <a:lstStyle/>
          <a:p>
            <a:r>
              <a:rPr lang="en-US"/>
              <a:t>Click to edit Master title style</a:t>
            </a:r>
            <a:endParaRPr lang="en-US" dirty="0"/>
          </a:p>
        </p:txBody>
      </p:sp>
      <p:sp>
        <p:nvSpPr>
          <p:cNvPr id="8" name="Text Placeholder 5"/>
          <p:cNvSpPr>
            <a:spLocks noGrp="1"/>
          </p:cNvSpPr>
          <p:nvPr>
            <p:ph type="body" sz="quarter" idx="15" hasCustomPrompt="1"/>
          </p:nvPr>
        </p:nvSpPr>
        <p:spPr>
          <a:xfrm>
            <a:off x="458065" y="1461052"/>
            <a:ext cx="254707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7A7392"/>
              </a:buClr>
              <a:buSzTx/>
              <a:buFont typeface="Arial" panose="020B0604020202020204" pitchFamily="34" charset="0"/>
              <a:buChar char="•"/>
              <a:tabLst/>
              <a:defRPr sz="20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7A7392"/>
              </a:buClr>
              <a:buFont typeface="Courier New" panose="02070309020205020404" pitchFamily="49" charset="0"/>
              <a:buChar char="o"/>
              <a:defRPr sz="2000">
                <a:latin typeface="+mn-lt"/>
                <a:ea typeface="Tahoma" panose="020B0604030504040204" pitchFamily="34" charset="0"/>
                <a:cs typeface="Tahoma" panose="020B0604030504040204" pitchFamily="34" charset="0"/>
              </a:defRPr>
            </a:lvl2pPr>
            <a:lvl3pPr marL="808038" indent="-177800">
              <a:buClr>
                <a:srgbClr val="7A7392"/>
              </a:buClr>
              <a:buFont typeface="Arial" panose="020B0604020202020204" pitchFamily="34" charset="0"/>
              <a:buChar char="̶"/>
              <a:defRPr sz="2000">
                <a:latin typeface="+mn-lt"/>
                <a:ea typeface="Tahoma" panose="020B0604030504040204" pitchFamily="34" charset="0"/>
                <a:cs typeface="Tahoma" panose="020B0604030504040204" pitchFamily="34" charset="0"/>
              </a:defRPr>
            </a:lvl3pPr>
            <a:lvl4pPr marL="1163638" indent="-301625">
              <a:defRPr sz="1400">
                <a:latin typeface="+mn-lt"/>
                <a:ea typeface="Tahoma" panose="020B0604030504040204" pitchFamily="34" charset="0"/>
                <a:cs typeface="Tahoma" panose="020B0604030504040204" pitchFamily="34" charset="0"/>
              </a:defRPr>
            </a:lvl4pPr>
          </a:lstStyle>
          <a:p>
            <a:pPr lvl="0"/>
            <a:r>
              <a:rPr lang="en-GB" dirty="0"/>
              <a:t>Click to add text</a:t>
            </a:r>
          </a:p>
          <a:p>
            <a:pPr lvl="1"/>
            <a:r>
              <a:rPr lang="en-GB" dirty="0"/>
              <a:t>Second Bullet Point</a:t>
            </a:r>
          </a:p>
          <a:p>
            <a:pPr lvl="2"/>
            <a:r>
              <a:rPr lang="en-GB" dirty="0"/>
              <a:t>Third Bullet Point</a:t>
            </a:r>
          </a:p>
          <a:p>
            <a:pPr lvl="3"/>
            <a:endParaRPr lang="en-GB" dirty="0"/>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461052"/>
            <a:ext cx="3043238" cy="5396948"/>
          </a:xfrm>
          <a:prstGeom prst="rect">
            <a:avLst/>
          </a:prstGeom>
        </p:spPr>
        <p:txBody>
          <a:bodyPr/>
          <a:lstStyle/>
          <a:p>
            <a:r>
              <a:rPr lang="en-US"/>
              <a:t>Click icon to add picture</a:t>
            </a:r>
            <a:endParaRPr lang="en-US" dirty="0"/>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4146550"/>
            <a:ext cx="3022600" cy="2711450"/>
          </a:xfrm>
          <a:prstGeom prst="rect">
            <a:avLst/>
          </a:prstGeom>
        </p:spPr>
        <p:txBody>
          <a:bodyPr/>
          <a:lstStyle/>
          <a:p>
            <a:r>
              <a:rPr lang="en-US"/>
              <a:t>Click icon to add picture</a:t>
            </a:r>
            <a:endParaRPr lang="en-US" dirty="0"/>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0" y="1461053"/>
            <a:ext cx="3022599" cy="2650572"/>
          </a:xfrm>
          <a:prstGeom prst="rect">
            <a:avLst/>
          </a:prstGeom>
        </p:spPr>
        <p:txBody>
          <a:bodyPr/>
          <a:lstStyle/>
          <a:p>
            <a:r>
              <a:rPr lang="en-US"/>
              <a:t>Click icon to add picture</a:t>
            </a:r>
            <a:endParaRPr lang="en-US" dirty="0"/>
          </a:p>
        </p:txBody>
      </p:sp>
    </p:spTree>
    <p:extLst>
      <p:ext uri="{BB962C8B-B14F-4D97-AF65-F5344CB8AC3E}">
        <p14:creationId xmlns:p14="http://schemas.microsoft.com/office/powerpoint/2010/main" val="27614538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pos="3856" userDrawn="1">
          <p15:clr>
            <a:srgbClr val="FBAE40"/>
          </p15:clr>
        </p15:guide>
        <p15:guide id="4" pos="3833" userDrawn="1">
          <p15:clr>
            <a:srgbClr val="FBAE40"/>
          </p15:clr>
        </p15:guide>
        <p15:guide id="6" orient="horz" pos="2590" userDrawn="1">
          <p15:clr>
            <a:srgbClr val="FBAE40"/>
          </p15:clr>
        </p15:guide>
        <p15:guide id="7" orient="horz" pos="261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692697"/>
            <a:ext cx="7886700" cy="1196976"/>
          </a:xfrm>
        </p:spPr>
        <p:txBody>
          <a:bodyPr/>
          <a:lstStyle/>
          <a:p>
            <a:r>
              <a:rPr lang="en-US"/>
              <a:t>Click to edit Master title style</a:t>
            </a:r>
            <a:endParaRPr lang="en-US" dirty="0"/>
          </a:p>
        </p:txBody>
      </p:sp>
      <p:sp>
        <p:nvSpPr>
          <p:cNvPr id="13" name="Text Placeholder 12"/>
          <p:cNvSpPr>
            <a:spLocks noGrp="1"/>
          </p:cNvSpPr>
          <p:nvPr>
            <p:ph type="body" sz="quarter" idx="12"/>
          </p:nvPr>
        </p:nvSpPr>
        <p:spPr>
          <a:xfrm>
            <a:off x="1042988" y="1916832"/>
            <a:ext cx="7058025" cy="3528392"/>
          </a:xfrm>
          <a:prstGeom prst="rect">
            <a:avLst/>
          </a:prstGeom>
        </p:spPr>
        <p:txBody>
          <a:bodyPr/>
          <a:lstStyle>
            <a:lvl1pPr marL="0" indent="0">
              <a:lnSpc>
                <a:spcPts val="3600"/>
              </a:lnSpc>
              <a:buNone/>
              <a:defRPr sz="2800" b="0" i="1" baseline="0">
                <a:solidFill>
                  <a:srgbClr val="7A7392"/>
                </a:solidFill>
                <a:latin typeface="+mj-lt"/>
              </a:defRPr>
            </a:lvl1pPr>
            <a:lvl2pPr marL="609600" indent="0">
              <a:lnSpc>
                <a:spcPts val="3600"/>
              </a:lnSpc>
              <a:buNone/>
              <a:defRPr sz="2800" b="0" i="1" baseline="0">
                <a:solidFill>
                  <a:srgbClr val="7A7392"/>
                </a:solidFill>
                <a:latin typeface="+mj-lt"/>
              </a:defRPr>
            </a:lvl2pPr>
            <a:lvl3pPr marL="1219200" indent="0">
              <a:lnSpc>
                <a:spcPts val="3600"/>
              </a:lnSpc>
              <a:buNone/>
              <a:defRPr sz="2800" b="0" i="1" baseline="0">
                <a:solidFill>
                  <a:srgbClr val="7A7392"/>
                </a:solidFill>
                <a:latin typeface="+mj-lt"/>
              </a:defRPr>
            </a:lvl3pPr>
            <a:lvl4pPr marL="1828800" indent="0">
              <a:lnSpc>
                <a:spcPts val="3600"/>
              </a:lnSpc>
              <a:buNone/>
              <a:defRPr sz="2800" b="0" i="1" baseline="0">
                <a:solidFill>
                  <a:srgbClr val="7A7392"/>
                </a:solidFill>
                <a:latin typeface="+mj-lt"/>
              </a:defRPr>
            </a:lvl4pPr>
            <a:lvl5pPr marL="2438400" indent="0">
              <a:lnSpc>
                <a:spcPts val="3600"/>
              </a:lnSpc>
              <a:buNone/>
              <a:defRPr sz="2800" b="0" i="1" baseline="0">
                <a:solidFill>
                  <a:srgbClr val="7A7392"/>
                </a:solidFill>
                <a:latin typeface="+mj-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4"/>
          <p:cNvSpPr>
            <a:spLocks noGrp="1"/>
          </p:cNvSpPr>
          <p:nvPr>
            <p:ph type="body" sz="quarter" idx="13"/>
          </p:nvPr>
        </p:nvSpPr>
        <p:spPr>
          <a:xfrm>
            <a:off x="1042988" y="5661025"/>
            <a:ext cx="7058025" cy="1196975"/>
          </a:xfrm>
          <a:prstGeom prst="rect">
            <a:avLst/>
          </a:prstGeom>
        </p:spPr>
        <p:txBody>
          <a:bodyPr/>
          <a:lstStyle>
            <a:lvl1pPr marL="0" indent="0" algn="r">
              <a:lnSpc>
                <a:spcPts val="1800"/>
              </a:lnSpc>
              <a:buNone/>
              <a:defRPr sz="1800" baseline="0">
                <a:solidFill>
                  <a:schemeClr val="tx1"/>
                </a:solidFill>
                <a:latin typeface="+mn-lt"/>
              </a:defRPr>
            </a:lvl1pPr>
            <a:lvl2pPr marL="609600" indent="0" algn="r">
              <a:lnSpc>
                <a:spcPts val="1800"/>
              </a:lnSpc>
              <a:buNone/>
              <a:defRPr sz="1800" baseline="0">
                <a:solidFill>
                  <a:schemeClr val="tx1"/>
                </a:solidFill>
                <a:latin typeface="+mn-lt"/>
              </a:defRPr>
            </a:lvl2pPr>
            <a:lvl3pPr marL="1219200" indent="0" algn="r">
              <a:lnSpc>
                <a:spcPts val="1800"/>
              </a:lnSpc>
              <a:buNone/>
              <a:defRPr sz="1800" baseline="0">
                <a:solidFill>
                  <a:schemeClr val="tx1"/>
                </a:solidFill>
                <a:latin typeface="+mn-lt"/>
              </a:defRPr>
            </a:lvl3pPr>
            <a:lvl4pPr marL="1828800" indent="0" algn="r">
              <a:lnSpc>
                <a:spcPts val="1800"/>
              </a:lnSpc>
              <a:buNone/>
              <a:defRPr sz="1800" baseline="0">
                <a:solidFill>
                  <a:schemeClr val="tx1"/>
                </a:solidFill>
                <a:latin typeface="+mn-lt"/>
              </a:defRPr>
            </a:lvl4pPr>
            <a:lvl5pPr marL="2438400" indent="0" algn="r">
              <a:lnSpc>
                <a:spcPts val="1800"/>
              </a:lnSpc>
              <a:buNone/>
              <a:defRPr sz="1800" baseline="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120694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5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91BB70-497C-4277-BE10-470B42F44DE5}"/>
              </a:ext>
            </a:extLst>
          </p:cNvPr>
          <p:cNvSpPr>
            <a:spLocks noGrp="1"/>
          </p:cNvSpPr>
          <p:nvPr>
            <p:ph type="title"/>
          </p:nvPr>
        </p:nvSpPr>
        <p:spPr/>
        <p:txBody>
          <a:bodyPr/>
          <a:lstStyle/>
          <a:p>
            <a:r>
              <a:rPr lang="en-US"/>
              <a:t>Click to edit Master title style</a:t>
            </a:r>
            <a:endParaRPr lang="en-GB"/>
          </a:p>
        </p:txBody>
      </p:sp>
      <p:sp>
        <p:nvSpPr>
          <p:cNvPr id="9" name="Text Placeholder 12"/>
          <p:cNvSpPr>
            <a:spLocks noGrp="1"/>
          </p:cNvSpPr>
          <p:nvPr>
            <p:ph type="body" sz="quarter" idx="12" hasCustomPrompt="1"/>
          </p:nvPr>
        </p:nvSpPr>
        <p:spPr>
          <a:xfrm>
            <a:off x="215403" y="2852936"/>
            <a:ext cx="4283969" cy="2592288"/>
          </a:xfrm>
          <a:prstGeom prst="rect">
            <a:avLst/>
          </a:prstGeom>
        </p:spPr>
        <p:txBody>
          <a:bodyPr/>
          <a:lstStyle>
            <a:lvl1pPr marL="0" indent="0" algn="r">
              <a:lnSpc>
                <a:spcPts val="9600"/>
              </a:lnSpc>
              <a:buNone/>
              <a:defRPr sz="13000" b="0" i="0" baseline="0">
                <a:solidFill>
                  <a:srgbClr val="7A7392"/>
                </a:solidFill>
                <a:latin typeface="+mj-lt"/>
                <a:ea typeface="Georgia" charset="0"/>
                <a:cs typeface="Georgia" charset="0"/>
              </a:defRPr>
            </a:lvl1pPr>
            <a:lvl2pPr marL="609600" indent="0" algn="r">
              <a:lnSpc>
                <a:spcPts val="3600"/>
              </a:lnSpc>
              <a:buNone/>
              <a:defRPr sz="9600" b="0" i="0" baseline="0">
                <a:solidFill>
                  <a:schemeClr val="bg1"/>
                </a:solidFill>
                <a:latin typeface="Georgia" charset="0"/>
                <a:ea typeface="Georgia" charset="0"/>
                <a:cs typeface="Georgia" charset="0"/>
              </a:defRPr>
            </a:lvl2pPr>
            <a:lvl3pPr marL="1219200" indent="0" algn="r">
              <a:lnSpc>
                <a:spcPts val="3600"/>
              </a:lnSpc>
              <a:buNone/>
              <a:defRPr sz="9600" b="0" i="0" baseline="0">
                <a:solidFill>
                  <a:schemeClr val="bg1"/>
                </a:solidFill>
                <a:latin typeface="Georgia" charset="0"/>
                <a:ea typeface="Georgia" charset="0"/>
                <a:cs typeface="Georgia" charset="0"/>
              </a:defRPr>
            </a:lvl3pPr>
            <a:lvl4pPr marL="1828800" indent="0" algn="r">
              <a:lnSpc>
                <a:spcPts val="3600"/>
              </a:lnSpc>
              <a:buNone/>
              <a:defRPr sz="9600" b="0" i="0" baseline="0">
                <a:solidFill>
                  <a:schemeClr val="bg1"/>
                </a:solidFill>
                <a:latin typeface="Georgia" charset="0"/>
                <a:ea typeface="Georgia" charset="0"/>
                <a:cs typeface="Georgia" charset="0"/>
              </a:defRPr>
            </a:lvl4pPr>
            <a:lvl5pPr marL="2438400" indent="0" algn="r">
              <a:lnSpc>
                <a:spcPts val="3600"/>
              </a:lnSpc>
              <a:buNone/>
              <a:defRPr sz="9600" b="0" i="0" baseline="0">
                <a:solidFill>
                  <a:schemeClr val="bg1"/>
                </a:solidFill>
                <a:latin typeface="Georgia" charset="0"/>
                <a:ea typeface="Georgia" charset="0"/>
                <a:cs typeface="Georgia" charset="0"/>
              </a:defRPr>
            </a:lvl5pPr>
          </a:lstStyle>
          <a:p>
            <a:pPr lvl="0"/>
            <a:r>
              <a:rPr lang="en-GB" dirty="0"/>
              <a:t>100%</a:t>
            </a:r>
          </a:p>
        </p:txBody>
      </p:sp>
      <p:sp>
        <p:nvSpPr>
          <p:cNvPr id="5" name="Text Placeholder 4">
            <a:extLst>
              <a:ext uri="{FF2B5EF4-FFF2-40B4-BE49-F238E27FC236}">
                <a16:creationId xmlns:a16="http://schemas.microsoft.com/office/drawing/2014/main" id="{7219D4CE-1D53-486E-821D-6DD3FBD41AD9}"/>
              </a:ext>
            </a:extLst>
          </p:cNvPr>
          <p:cNvSpPr>
            <a:spLocks noGrp="1"/>
          </p:cNvSpPr>
          <p:nvPr>
            <p:ph type="body" sz="quarter" idx="15"/>
          </p:nvPr>
        </p:nvSpPr>
        <p:spPr>
          <a:xfrm>
            <a:off x="4859338" y="2852738"/>
            <a:ext cx="3656012" cy="2592387"/>
          </a:xfrm>
          <a:prstGeom prst="rect">
            <a:avLst/>
          </a:prstGeom>
        </p:spPr>
        <p:txBody>
          <a:bodyPr/>
          <a:lstStyle>
            <a:lvl1pPr>
              <a:defRPr sz="2000">
                <a:solidFill>
                  <a:srgbClr val="7A7392"/>
                </a:solidFill>
              </a:defRPr>
            </a:lvl1pPr>
            <a:lvl2pPr marL="609600" indent="0">
              <a:buNone/>
              <a:defRPr sz="2000">
                <a:solidFill>
                  <a:srgbClr val="7A7392"/>
                </a:solidFill>
              </a:defRPr>
            </a:lvl2pPr>
            <a:lvl3pPr marL="1219200" indent="0">
              <a:buNone/>
              <a:defRPr sz="2000">
                <a:solidFill>
                  <a:srgbClr val="7A7392"/>
                </a:solidFill>
              </a:defRPr>
            </a:lvl3pPr>
            <a:lvl4pPr marL="1828800" indent="0">
              <a:buNone/>
              <a:defRPr sz="2000">
                <a:solidFill>
                  <a:srgbClr val="7A7392"/>
                </a:solidFill>
              </a:defRPr>
            </a:lvl4pPr>
            <a:lvl5pPr marL="2438400" indent="0">
              <a:buNone/>
              <a:defRPr sz="2000">
                <a:solidFill>
                  <a:srgbClr val="7A739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14"/>
          <p:cNvSpPr>
            <a:spLocks noGrp="1"/>
          </p:cNvSpPr>
          <p:nvPr>
            <p:ph type="body" sz="quarter" idx="14"/>
          </p:nvPr>
        </p:nvSpPr>
        <p:spPr>
          <a:xfrm>
            <a:off x="970980" y="5661025"/>
            <a:ext cx="7129412" cy="648295"/>
          </a:xfrm>
          <a:prstGeom prst="rect">
            <a:avLst/>
          </a:prstGeom>
        </p:spPr>
        <p:txBody>
          <a:bodyPr/>
          <a:lstStyle>
            <a:lvl1pPr marL="0" indent="0" algn="r">
              <a:lnSpc>
                <a:spcPts val="1400"/>
              </a:lnSpc>
              <a:buNone/>
              <a:defRPr sz="1800" baseline="0">
                <a:solidFill>
                  <a:schemeClr val="tx1"/>
                </a:solidFill>
                <a:latin typeface="Tahoma" charset="0"/>
              </a:defRPr>
            </a:lvl1pPr>
            <a:lvl2pPr marL="609600" indent="0" algn="r">
              <a:lnSpc>
                <a:spcPts val="1400"/>
              </a:lnSpc>
              <a:buNone/>
              <a:defRPr sz="1800" baseline="0">
                <a:solidFill>
                  <a:schemeClr val="tx1"/>
                </a:solidFill>
                <a:latin typeface="Tahoma" charset="0"/>
              </a:defRPr>
            </a:lvl2pPr>
            <a:lvl3pPr marL="1219200" indent="0" algn="r">
              <a:lnSpc>
                <a:spcPts val="1400"/>
              </a:lnSpc>
              <a:buNone/>
              <a:defRPr sz="1800" baseline="0">
                <a:solidFill>
                  <a:schemeClr val="tx1"/>
                </a:solidFill>
                <a:latin typeface="Tahoma" charset="0"/>
              </a:defRPr>
            </a:lvl3pPr>
            <a:lvl4pPr marL="1828800" indent="0" algn="r">
              <a:lnSpc>
                <a:spcPts val="1400"/>
              </a:lnSpc>
              <a:buNone/>
              <a:defRPr sz="1800" baseline="0">
                <a:solidFill>
                  <a:schemeClr val="tx1"/>
                </a:solidFill>
                <a:latin typeface="Tahoma" charset="0"/>
              </a:defRPr>
            </a:lvl4pPr>
            <a:lvl5pPr marL="2438400" indent="0" algn="r">
              <a:lnSpc>
                <a:spcPts val="1400"/>
              </a:lnSpc>
              <a:buNone/>
              <a:defRPr sz="1800" baseline="0">
                <a:solidFill>
                  <a:schemeClr val="tx1"/>
                </a:solidFill>
                <a:latin typeface="Tahoma"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64973426"/>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184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628650" y="692697"/>
            <a:ext cx="7886700" cy="720079"/>
          </a:xfrm>
          <a:prstGeom prst="rect">
            <a:avLst/>
          </a:prstGeom>
        </p:spPr>
        <p:txBody>
          <a:bodyPr vert="horz" lIns="0" tIns="0" rIns="0" bIns="0" rtlCol="0" anchor="t" anchorCtr="0">
            <a:normAutofit/>
          </a:bodyPr>
          <a:lstStyle/>
          <a:p>
            <a:r>
              <a:rPr lang="en-US"/>
              <a:t>Click to edit Master title style</a:t>
            </a:r>
            <a:endParaRPr lang="en-US" dirty="0"/>
          </a:p>
        </p:txBody>
      </p:sp>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7236296"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5" r:id="rId14"/>
  </p:sldLayoutIdLst>
  <p:transition spd="slow">
    <p:fade/>
  </p:transition>
  <p:hf hdr="0" ftr="0" dt="0"/>
  <p:txStyles>
    <p:titleStyle>
      <a:lvl1pPr algn="l" defTabSz="606425" rtl="0" eaLnBrk="1" fontAlgn="base" hangingPunct="1">
        <a:spcBef>
          <a:spcPct val="0"/>
        </a:spcBef>
        <a:spcAft>
          <a:spcPct val="0"/>
        </a:spcAft>
        <a:defRPr sz="3600" kern="1200">
          <a:solidFill>
            <a:srgbClr val="7A7392"/>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129AE-110C-40B7-9DF3-A4A07ADFD71E}"/>
              </a:ext>
            </a:extLst>
          </p:cNvPr>
          <p:cNvSpPr>
            <a:spLocks noGrp="1"/>
          </p:cNvSpPr>
          <p:nvPr>
            <p:ph type="title"/>
          </p:nvPr>
        </p:nvSpPr>
        <p:spPr>
          <a:xfrm>
            <a:off x="2050826" y="1915479"/>
            <a:ext cx="5689524" cy="3745769"/>
          </a:xfrm>
        </p:spPr>
        <p:txBody>
          <a:bodyPr/>
          <a:lstStyle/>
          <a:p>
            <a:r>
              <a:rPr lang="en-GB" noProof="0" dirty="0"/>
              <a:t>UMET9U-30-1- Professional Skills for Banking and Finance</a:t>
            </a:r>
            <a:br>
              <a:rPr lang="en-GB" noProof="0" dirty="0"/>
            </a:br>
            <a:br>
              <a:rPr lang="en-GB" noProof="0" dirty="0"/>
            </a:br>
            <a:br>
              <a:rPr lang="en-GB" noProof="0" dirty="0"/>
            </a:br>
            <a:r>
              <a:rPr lang="en-GB" noProof="0" dirty="0"/>
              <a:t>Lecture </a:t>
            </a:r>
            <a:r>
              <a:rPr lang="en-GB" dirty="0"/>
              <a:t>23</a:t>
            </a:r>
            <a:endParaRPr lang="en-GB" noProof="0" dirty="0"/>
          </a:p>
        </p:txBody>
      </p:sp>
      <p:sp>
        <p:nvSpPr>
          <p:cNvPr id="3" name="Text Placeholder 2">
            <a:extLst>
              <a:ext uri="{FF2B5EF4-FFF2-40B4-BE49-F238E27FC236}">
                <a16:creationId xmlns:a16="http://schemas.microsoft.com/office/drawing/2014/main" id="{78DD6D5A-6272-44C9-9121-5A48D169B9A6}"/>
              </a:ext>
            </a:extLst>
          </p:cNvPr>
          <p:cNvSpPr>
            <a:spLocks noGrp="1"/>
          </p:cNvSpPr>
          <p:nvPr>
            <p:ph type="body" sz="quarter" idx="15"/>
          </p:nvPr>
        </p:nvSpPr>
        <p:spPr/>
        <p:txBody>
          <a:bodyPr/>
          <a:lstStyle/>
          <a:p>
            <a:r>
              <a:rPr lang="en-GB" sz="2000" noProof="0" dirty="0"/>
              <a:t>Presented by</a:t>
            </a:r>
          </a:p>
        </p:txBody>
      </p:sp>
      <p:sp>
        <p:nvSpPr>
          <p:cNvPr id="4" name="Text Placeholder 3">
            <a:extLst>
              <a:ext uri="{FF2B5EF4-FFF2-40B4-BE49-F238E27FC236}">
                <a16:creationId xmlns:a16="http://schemas.microsoft.com/office/drawing/2014/main" id="{CE307F5E-61FF-45D2-B0E6-0386A93DB487}"/>
              </a:ext>
            </a:extLst>
          </p:cNvPr>
          <p:cNvSpPr>
            <a:spLocks noGrp="1"/>
          </p:cNvSpPr>
          <p:nvPr>
            <p:ph type="body" sz="quarter" idx="16"/>
          </p:nvPr>
        </p:nvSpPr>
        <p:spPr>
          <a:xfrm>
            <a:off x="586420" y="2323736"/>
            <a:ext cx="1219139" cy="601207"/>
          </a:xfrm>
        </p:spPr>
        <p:txBody>
          <a:bodyPr/>
          <a:lstStyle/>
          <a:p>
            <a:r>
              <a:rPr lang="en-GB" sz="2000" noProof="0" dirty="0"/>
              <a:t>Reinhold Heinlein</a:t>
            </a:r>
            <a:endParaRPr lang="en-GB" noProof="0" dirty="0"/>
          </a:p>
        </p:txBody>
      </p:sp>
      <p:sp>
        <p:nvSpPr>
          <p:cNvPr id="6" name="Text Placeholder 5">
            <a:extLst>
              <a:ext uri="{FF2B5EF4-FFF2-40B4-BE49-F238E27FC236}">
                <a16:creationId xmlns:a16="http://schemas.microsoft.com/office/drawing/2014/main" id="{8261A58E-4331-43B5-A70A-203EF9F254A4}"/>
              </a:ext>
            </a:extLst>
          </p:cNvPr>
          <p:cNvSpPr>
            <a:spLocks noGrp="1"/>
          </p:cNvSpPr>
          <p:nvPr>
            <p:ph type="body" sz="quarter" idx="18"/>
          </p:nvPr>
        </p:nvSpPr>
        <p:spPr/>
        <p:txBody>
          <a:bodyPr/>
          <a:lstStyle/>
          <a:p>
            <a:r>
              <a:rPr lang="en-GB" dirty="0"/>
              <a:t>April</a:t>
            </a:r>
            <a:r>
              <a:rPr lang="en-GB" noProof="0" dirty="0"/>
              <a:t> 2026</a:t>
            </a:r>
          </a:p>
        </p:txBody>
      </p:sp>
    </p:spTree>
    <p:extLst>
      <p:ext uri="{BB962C8B-B14F-4D97-AF65-F5344CB8AC3E}">
        <p14:creationId xmlns:p14="http://schemas.microsoft.com/office/powerpoint/2010/main" val="371339850"/>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02C33-84D3-4C74-9F36-3265F3BE99AD}"/>
              </a:ext>
            </a:extLst>
          </p:cNvPr>
          <p:cNvSpPr>
            <a:spLocks noGrp="1"/>
          </p:cNvSpPr>
          <p:nvPr>
            <p:ph type="title"/>
          </p:nvPr>
        </p:nvSpPr>
        <p:spPr>
          <a:xfrm>
            <a:off x="872168" y="764704"/>
            <a:ext cx="6515620" cy="2952328"/>
          </a:xfrm>
        </p:spPr>
        <p:txBody>
          <a:bodyPr>
            <a:normAutofit/>
          </a:bodyPr>
          <a:lstStyle/>
          <a:p>
            <a:r>
              <a:rPr lang="en-GB" sz="3200" noProof="0" dirty="0">
                <a:solidFill>
                  <a:schemeClr val="accent4"/>
                </a:solidFill>
              </a:rPr>
              <a:t>Lecture content</a:t>
            </a:r>
          </a:p>
        </p:txBody>
      </p:sp>
      <p:sp>
        <p:nvSpPr>
          <p:cNvPr id="3" name="Text Placeholder 2">
            <a:extLst>
              <a:ext uri="{FF2B5EF4-FFF2-40B4-BE49-F238E27FC236}">
                <a16:creationId xmlns:a16="http://schemas.microsoft.com/office/drawing/2014/main" id="{67A63DF7-30A5-4CDB-B2AD-10BDF696FBA6}"/>
              </a:ext>
            </a:extLst>
          </p:cNvPr>
          <p:cNvSpPr>
            <a:spLocks noGrp="1"/>
          </p:cNvSpPr>
          <p:nvPr>
            <p:ph type="body" sz="quarter" idx="11"/>
          </p:nvPr>
        </p:nvSpPr>
        <p:spPr>
          <a:xfrm>
            <a:off x="886474" y="1772816"/>
            <a:ext cx="6515620" cy="3384376"/>
          </a:xfrm>
        </p:spPr>
        <p:txBody>
          <a:bodyPr/>
          <a:lstStyle/>
          <a:p>
            <a:pPr marL="342900" indent="-342900">
              <a:buFont typeface="Arial" panose="020B0604020202020204" pitchFamily="34" charset="0"/>
              <a:buChar char="•"/>
            </a:pPr>
            <a:r>
              <a:rPr lang="en-GB" sz="2400" dirty="0"/>
              <a:t>Regression inference</a:t>
            </a:r>
          </a:p>
          <a:p>
            <a:pPr marL="342900" indent="-342900">
              <a:buFont typeface="Arial" panose="020B0604020202020204" pitchFamily="34" charset="0"/>
              <a:buChar char="•"/>
            </a:pPr>
            <a:r>
              <a:rPr lang="en-GB" sz="2400" dirty="0"/>
              <a:t>Standard errors</a:t>
            </a:r>
          </a:p>
          <a:p>
            <a:pPr marL="342900" indent="-342900">
              <a:buFont typeface="Arial" panose="020B0604020202020204" pitchFamily="34" charset="0"/>
              <a:buChar char="•"/>
            </a:pPr>
            <a:r>
              <a:rPr lang="en-GB" sz="2400" dirty="0"/>
              <a:t>Significance test for regression coefficients (</a:t>
            </a:r>
            <a:r>
              <a:rPr lang="en-GB" sz="2400" i="1" dirty="0"/>
              <a:t>t</a:t>
            </a:r>
            <a:r>
              <a:rPr lang="en-GB" sz="2400" dirty="0"/>
              <a:t> test)</a:t>
            </a: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66700" indent="-257175">
              <a:buClr>
                <a:srgbClr val="7A7392"/>
              </a:buClr>
              <a:buFont typeface="Arial" charset="0"/>
              <a:buChar char="•"/>
              <a:defRPr/>
            </a:pPr>
            <a:endParaRPr lang="en-GB" sz="2400" noProof="0" dirty="0">
              <a:solidFill>
                <a:prstClr val="black"/>
              </a:solidFill>
              <a:ea typeface="Tahoma" panose="020B0604030504040204" pitchFamily="34" charset="0"/>
              <a:cs typeface="Tahoma" panose="020B0604030504040204" pitchFamily="34" charset="0"/>
            </a:endParaRPr>
          </a:p>
          <a:p>
            <a:pPr marL="9525">
              <a:buClr>
                <a:srgbClr val="7A7392"/>
              </a:buClr>
              <a:defRPr/>
            </a:pPr>
            <a:endParaRPr lang="en-GB" sz="2400" noProof="0" dirty="0">
              <a:solidFill>
                <a:prstClr val="black"/>
              </a:solidFill>
              <a:ea typeface="Tahoma" panose="020B0604030504040204" pitchFamily="34" charset="0"/>
              <a:cs typeface="Tahoma" panose="020B0604030504040204" pitchFamily="34" charset="0"/>
            </a:endParaRPr>
          </a:p>
          <a:p>
            <a:pPr marL="266700" indent="-257175">
              <a:buClr>
                <a:srgbClr val="7A7392"/>
              </a:buClr>
              <a:buFont typeface="Arial" charset="0"/>
              <a:buChar char="•"/>
              <a:defRPr/>
            </a:pPr>
            <a:endParaRPr lang="en-GB" sz="2400" noProof="0" dirty="0">
              <a:solidFill>
                <a:prstClr val="black"/>
              </a:solidFill>
              <a:ea typeface="Tahoma" panose="020B0604030504040204" pitchFamily="34" charset="0"/>
              <a:cs typeface="Tahoma" panose="020B0604030504040204" pitchFamily="34" charset="0"/>
            </a:endParaRPr>
          </a:p>
          <a:p>
            <a:pPr marL="266700" marR="0" lvl="0" indent="-257175" algn="l" defTabSz="606425" rtl="0" eaLnBrk="1" fontAlgn="base" latinLnBrk="0" hangingPunct="1">
              <a:lnSpc>
                <a:spcPct val="100000"/>
              </a:lnSpc>
              <a:spcBef>
                <a:spcPct val="20000"/>
              </a:spcBef>
              <a:spcAft>
                <a:spcPct val="0"/>
              </a:spcAft>
              <a:buClr>
                <a:srgbClr val="7A7392"/>
              </a:buClr>
              <a:buSzTx/>
              <a:buFont typeface="Arial" charset="0"/>
              <a:buChar char="•"/>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9525" marR="0" lvl="0" algn="l" defTabSz="606425" rtl="0" eaLnBrk="1" fontAlgn="base" latinLnBrk="0" hangingPunct="1">
              <a:lnSpc>
                <a:spcPct val="100000"/>
              </a:lnSpc>
              <a:spcBef>
                <a:spcPct val="20000"/>
              </a:spcBef>
              <a:spcAft>
                <a:spcPct val="0"/>
              </a:spcAft>
              <a:buClr>
                <a:srgbClr val="7A7392"/>
              </a:buClr>
              <a:buSzTx/>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9525" marR="0" lvl="0" algn="l" defTabSz="606425" rtl="0" eaLnBrk="1" fontAlgn="base" latinLnBrk="0" hangingPunct="1">
              <a:lnSpc>
                <a:spcPct val="100000"/>
              </a:lnSpc>
              <a:spcBef>
                <a:spcPct val="20000"/>
              </a:spcBef>
              <a:spcAft>
                <a:spcPct val="0"/>
              </a:spcAft>
              <a:buClr>
                <a:srgbClr val="7A7392"/>
              </a:buClr>
              <a:buSzTx/>
              <a:tabLst/>
              <a:defRPr/>
            </a:pPr>
            <a:endParaRPr kumimoji="0" lang="en-GB" sz="2400" b="0" i="0" u="none" strike="noStrike" kern="1200" cap="none" spc="0" normalizeH="0" baseline="0" noProof="0" dirty="0">
              <a:ln>
                <a:noFill/>
              </a:ln>
              <a:solidFill>
                <a:prstClr val="black"/>
              </a:solidFill>
              <a:effectLst/>
              <a:uLnTx/>
              <a:uFillTx/>
              <a:latin typeface="Calibri"/>
              <a:ea typeface="Tahoma" panose="020B0604030504040204" pitchFamily="34" charset="0"/>
              <a:cs typeface="Tahoma" panose="020B0604030504040204" pitchFamily="34" charset="0"/>
            </a:endParaRPr>
          </a:p>
          <a:p>
            <a:pPr marL="285750" indent="-285750">
              <a:buFont typeface="Arial" panose="020B0604020202020204" pitchFamily="34" charset="0"/>
              <a:buChar char="•"/>
            </a:pPr>
            <a:endParaRPr lang="en-GB" sz="2400" noProof="0" dirty="0"/>
          </a:p>
        </p:txBody>
      </p:sp>
    </p:spTree>
    <p:extLst>
      <p:ext uri="{BB962C8B-B14F-4D97-AF65-F5344CB8AC3E}">
        <p14:creationId xmlns:p14="http://schemas.microsoft.com/office/powerpoint/2010/main" val="2884623810"/>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B5F2D-9D15-3BE6-90B7-55BEF6EDD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E834CB-FF37-D2CB-E643-50383052CED1}"/>
              </a:ext>
            </a:extLst>
          </p:cNvPr>
          <p:cNvSpPr>
            <a:spLocks noGrp="1"/>
          </p:cNvSpPr>
          <p:nvPr>
            <p:ph type="title"/>
          </p:nvPr>
        </p:nvSpPr>
        <p:spPr/>
        <p:txBody>
          <a:bodyPr>
            <a:normAutofit fontScale="90000"/>
          </a:bodyPr>
          <a:lstStyle/>
          <a:p>
            <a:r>
              <a:rPr lang="en-GB" noProof="0" dirty="0"/>
              <a:t>Regression analysis</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A1408DA-D5EC-BFA0-F7BD-694F45DB2788}"/>
                  </a:ext>
                </a:extLst>
              </p:cNvPr>
              <p:cNvSpPr>
                <a:spLocks noGrp="1"/>
              </p:cNvSpPr>
              <p:nvPr>
                <p:ph type="body" sz="quarter" idx="11"/>
              </p:nvPr>
            </p:nvSpPr>
            <p:spPr>
              <a:xfrm>
                <a:off x="900112" y="1700213"/>
                <a:ext cx="7632327" cy="5157787"/>
              </a:xfrm>
            </p:spPr>
            <p:txBody>
              <a:bodyPr/>
              <a:lstStyle/>
              <a:p>
                <a:pPr marL="342900" lvl="0" indent="-342900">
                  <a:buFont typeface="Arial" panose="020B0604020202020204" pitchFamily="34" charset="0"/>
                  <a:buChar char="•"/>
                </a:pPr>
                <a:r>
                  <a:rPr lang="en-GB" sz="2400" dirty="0"/>
                  <a:t>The regression estimates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𝑏</m:t>
                        </m:r>
                      </m:e>
                      <m:sub>
                        <m:r>
                          <a:rPr lang="en-GB" sz="2400" b="0" i="1" smtClean="0">
                            <a:latin typeface="Cambria Math" panose="02040503050406030204" pitchFamily="18" charset="0"/>
                          </a:rPr>
                          <m:t>0</m:t>
                        </m:r>
                      </m:sub>
                    </m:sSub>
                  </m:oMath>
                </a14:m>
                <a:r>
                  <a:rPr lang="en-GB" sz="2400" dirty="0"/>
                  <a:t> and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𝑏</m:t>
                        </m:r>
                      </m:e>
                      <m:sub>
                        <m:r>
                          <a:rPr lang="en-GB" sz="2400" b="0" i="1" smtClean="0">
                            <a:latin typeface="Cambria Math" panose="02040503050406030204" pitchFamily="18" charset="0"/>
                          </a:rPr>
                          <m:t>1</m:t>
                        </m:r>
                      </m:sub>
                    </m:sSub>
                  </m:oMath>
                </a14:m>
                <a:r>
                  <a:rPr lang="en-GB" sz="2400" dirty="0"/>
                  <a:t> are specific to the sample. The sample regression function (SRF) is:</a:t>
                </a:r>
              </a:p>
              <a:p>
                <a:pPr marL="0" lvl="0" indent="0">
                  <a:buNone/>
                </a:pPr>
                <a14:m>
                  <m:oMathPara xmlns:m="http://schemas.openxmlformats.org/officeDocument/2006/math">
                    <m:oMathParaPr>
                      <m:jc m:val="centerGroup"/>
                    </m:oMathParaPr>
                    <m:oMath xmlns:m="http://schemas.openxmlformats.org/officeDocument/2006/math">
                      <m:sSub>
                        <m:sSubPr>
                          <m:ctrlPr>
                            <a:rPr lang="en-GB" sz="2400" i="1">
                              <a:solidFill>
                                <a:schemeClr val="accent1">
                                  <a:lumMod val="75000"/>
                                </a:schemeClr>
                              </a:solidFill>
                              <a:latin typeface="Cambria Math" panose="02040503050406030204" pitchFamily="18" charset="0"/>
                            </a:rPr>
                          </m:ctrlPr>
                        </m:sSubPr>
                        <m:e>
                          <m:r>
                            <a:rPr lang="en-GB" sz="2400" i="1">
                              <a:solidFill>
                                <a:schemeClr val="accent1">
                                  <a:lumMod val="75000"/>
                                </a:schemeClr>
                              </a:solidFill>
                              <a:latin typeface="Cambria Math" panose="02040503050406030204" pitchFamily="18" charset="0"/>
                            </a:rPr>
                            <m:t>𝑌</m:t>
                          </m:r>
                        </m:e>
                        <m:sub>
                          <m:r>
                            <a:rPr lang="en-GB" sz="2400" i="1">
                              <a:solidFill>
                                <a:schemeClr val="accent1">
                                  <a:lumMod val="75000"/>
                                </a:schemeClr>
                              </a:solidFill>
                              <a:latin typeface="Cambria Math" panose="02040503050406030204" pitchFamily="18" charset="0"/>
                            </a:rPr>
                            <m:t>𝑖</m:t>
                          </m:r>
                        </m:sub>
                      </m:sSub>
                      <m:r>
                        <a:rPr lang="en-GB" sz="2400" i="1">
                          <a:latin typeface="Cambria Math" panose="02040503050406030204" pitchFamily="18" charset="0"/>
                        </a:rPr>
                        <m:t>=</m:t>
                      </m:r>
                      <m:sSub>
                        <m:sSubPr>
                          <m:ctrlPr>
                            <a:rPr lang="en-GB" sz="2400" i="1">
                              <a:solidFill>
                                <a:srgbClr val="FF0000"/>
                              </a:solidFill>
                              <a:latin typeface="Cambria Math" panose="02040503050406030204" pitchFamily="18" charset="0"/>
                            </a:rPr>
                          </m:ctrlPr>
                        </m:sSubPr>
                        <m:e>
                          <m:r>
                            <a:rPr lang="en-GB" sz="2400" i="1">
                              <a:solidFill>
                                <a:srgbClr val="FF0000"/>
                              </a:solidFill>
                              <a:latin typeface="Cambria Math" panose="02040503050406030204" pitchFamily="18" charset="0"/>
                            </a:rPr>
                            <m:t>𝑏</m:t>
                          </m:r>
                        </m:e>
                        <m:sub>
                          <m:r>
                            <a:rPr lang="en-GB" sz="2400" i="1">
                              <a:solidFill>
                                <a:srgbClr val="FF0000"/>
                              </a:solidFill>
                              <a:latin typeface="Cambria Math" panose="02040503050406030204" pitchFamily="18" charset="0"/>
                            </a:rPr>
                            <m:t>0</m:t>
                          </m:r>
                        </m:sub>
                      </m:sSub>
                      <m:r>
                        <a:rPr lang="en-GB" sz="2400" i="1">
                          <a:solidFill>
                            <a:srgbClr val="FF0000"/>
                          </a:solidFill>
                          <a:latin typeface="Cambria Math" panose="02040503050406030204" pitchFamily="18" charset="0"/>
                        </a:rPr>
                        <m:t>+ </m:t>
                      </m:r>
                      <m:sSub>
                        <m:sSubPr>
                          <m:ctrlPr>
                            <a:rPr lang="en-GB" sz="2400" i="1">
                              <a:solidFill>
                                <a:srgbClr val="FF0000"/>
                              </a:solidFill>
                              <a:latin typeface="Cambria Math" panose="02040503050406030204" pitchFamily="18" charset="0"/>
                            </a:rPr>
                          </m:ctrlPr>
                        </m:sSubPr>
                        <m:e>
                          <m:r>
                            <a:rPr lang="en-GB" sz="2400" i="1">
                              <a:solidFill>
                                <a:srgbClr val="FF0000"/>
                              </a:solidFill>
                              <a:latin typeface="Cambria Math" panose="02040503050406030204" pitchFamily="18" charset="0"/>
                            </a:rPr>
                            <m:t>𝑏</m:t>
                          </m:r>
                        </m:e>
                        <m:sub>
                          <m:r>
                            <a:rPr lang="en-GB" sz="2400" i="1">
                              <a:solidFill>
                                <a:srgbClr val="FF0000"/>
                              </a:solidFill>
                              <a:latin typeface="Cambria Math" panose="02040503050406030204" pitchFamily="18" charset="0"/>
                            </a:rPr>
                            <m:t>1</m:t>
                          </m:r>
                        </m:sub>
                      </m:sSub>
                      <m:sSub>
                        <m:sSubPr>
                          <m:ctrlPr>
                            <a:rPr lang="en-GB" sz="2400" i="1">
                              <a:solidFill>
                                <a:srgbClr val="FF0000"/>
                              </a:solidFill>
                              <a:latin typeface="Cambria Math" panose="02040503050406030204" pitchFamily="18" charset="0"/>
                            </a:rPr>
                          </m:ctrlPr>
                        </m:sSubPr>
                        <m:e>
                          <m:r>
                            <a:rPr lang="en-GB" sz="2400" i="1">
                              <a:solidFill>
                                <a:srgbClr val="FF0000"/>
                              </a:solidFill>
                              <a:latin typeface="Cambria Math" panose="02040503050406030204" pitchFamily="18" charset="0"/>
                            </a:rPr>
                            <m:t>𝑋</m:t>
                          </m:r>
                        </m:e>
                        <m:sub>
                          <m:r>
                            <a:rPr lang="en-GB" sz="2400" i="1">
                              <a:solidFill>
                                <a:srgbClr val="FF0000"/>
                              </a:solidFill>
                              <a:latin typeface="Cambria Math" panose="02040503050406030204" pitchFamily="18" charset="0"/>
                            </a:rPr>
                            <m:t>𝑖</m:t>
                          </m:r>
                        </m:sub>
                      </m:sSub>
                      <m:r>
                        <a:rPr lang="en-GB" sz="2400" i="1">
                          <a:latin typeface="Cambria Math" panose="02040503050406030204" pitchFamily="18" charset="0"/>
                        </a:rPr>
                        <m:t>+</m:t>
                      </m:r>
                      <m:sSub>
                        <m:sSubPr>
                          <m:ctrlPr>
                            <a:rPr lang="en-GB" sz="2400" i="1">
                              <a:solidFill>
                                <a:srgbClr val="92D050"/>
                              </a:solidFill>
                              <a:latin typeface="Cambria Math" panose="02040503050406030204" pitchFamily="18" charset="0"/>
                            </a:rPr>
                          </m:ctrlPr>
                        </m:sSubPr>
                        <m:e>
                          <m:r>
                            <a:rPr lang="en-GB" sz="2400" i="1">
                              <a:solidFill>
                                <a:srgbClr val="92D050"/>
                              </a:solidFill>
                              <a:latin typeface="Cambria Math" panose="02040503050406030204" pitchFamily="18" charset="0"/>
                            </a:rPr>
                            <m:t>𝑒</m:t>
                          </m:r>
                        </m:e>
                        <m:sub>
                          <m:r>
                            <a:rPr lang="en-GB" sz="2400" i="1">
                              <a:solidFill>
                                <a:srgbClr val="92D050"/>
                              </a:solidFill>
                              <a:latin typeface="Cambria Math" panose="02040503050406030204" pitchFamily="18" charset="0"/>
                            </a:rPr>
                            <m:t>𝑖</m:t>
                          </m:r>
                        </m:sub>
                      </m:sSub>
                    </m:oMath>
                  </m:oMathPara>
                </a14:m>
                <a:endParaRPr lang="en-GB" sz="2400" dirty="0"/>
              </a:p>
              <a:p>
                <a:pPr marL="342900" lvl="0" indent="-342900">
                  <a:buFont typeface="Arial" panose="020B0604020202020204" pitchFamily="34" charset="0"/>
                  <a:buChar char="•"/>
                </a:pPr>
                <a:r>
                  <a:rPr lang="en-GB" sz="2400" dirty="0"/>
                  <a:t>For a different sample drawn from the same population, we would get slightly different coefficient values.</a:t>
                </a:r>
              </a:p>
              <a:p>
                <a:pPr marL="342900" lvl="0" indent="-342900">
                  <a:buFont typeface="Arial" panose="020B0604020202020204" pitchFamily="34" charset="0"/>
                  <a:buChar char="•"/>
                </a:pPr>
                <a:r>
                  <a:rPr lang="en-GB" sz="2400" dirty="0"/>
                  <a:t>The true regression equation parameters for the population are unknown. The population regression function (PRF):</a:t>
                </a:r>
              </a:p>
              <a:p>
                <a:pPr marL="0" lvl="0" indent="0">
                  <a:buNone/>
                </a:pPr>
                <a14:m>
                  <m:oMathPara xmlns:m="http://schemas.openxmlformats.org/officeDocument/2006/math">
                    <m:oMathParaPr>
                      <m:jc m:val="centerGroup"/>
                    </m:oMathParaPr>
                    <m:oMath xmlns:m="http://schemas.openxmlformats.org/officeDocument/2006/math">
                      <m:sSub>
                        <m:sSubPr>
                          <m:ctrlPr>
                            <a:rPr lang="en-GB" sz="2400" i="1">
                              <a:solidFill>
                                <a:schemeClr val="accent1">
                                  <a:lumMod val="75000"/>
                                </a:schemeClr>
                              </a:solidFill>
                              <a:latin typeface="Cambria Math" panose="02040503050406030204" pitchFamily="18" charset="0"/>
                            </a:rPr>
                          </m:ctrlPr>
                        </m:sSubPr>
                        <m:e>
                          <m:r>
                            <a:rPr lang="en-GB" sz="2400" i="1">
                              <a:solidFill>
                                <a:schemeClr val="accent1">
                                  <a:lumMod val="75000"/>
                                </a:schemeClr>
                              </a:solidFill>
                              <a:latin typeface="Cambria Math" panose="02040503050406030204" pitchFamily="18" charset="0"/>
                            </a:rPr>
                            <m:t>𝑌</m:t>
                          </m:r>
                        </m:e>
                        <m:sub>
                          <m:r>
                            <a:rPr lang="en-GB" sz="2400" i="1">
                              <a:solidFill>
                                <a:schemeClr val="accent1">
                                  <a:lumMod val="75000"/>
                                </a:schemeClr>
                              </a:solidFill>
                              <a:latin typeface="Cambria Math" panose="02040503050406030204" pitchFamily="18" charset="0"/>
                            </a:rPr>
                            <m:t>𝑖</m:t>
                          </m:r>
                        </m:sub>
                      </m:sSub>
                      <m:r>
                        <a:rPr lang="en-GB" sz="2400" i="1">
                          <a:latin typeface="Cambria Math" panose="02040503050406030204" pitchFamily="18" charset="0"/>
                        </a:rPr>
                        <m:t>=</m:t>
                      </m:r>
                      <m:sSub>
                        <m:sSubPr>
                          <m:ctrlPr>
                            <a:rPr lang="en-GB" sz="2400" i="1">
                              <a:solidFill>
                                <a:srgbClr val="FF0000"/>
                              </a:solidFill>
                              <a:latin typeface="Cambria Math" panose="02040503050406030204" pitchFamily="18" charset="0"/>
                            </a:rPr>
                          </m:ctrlPr>
                        </m:sSubPr>
                        <m:e>
                          <m:r>
                            <a:rPr lang="en-GB" sz="2400" b="0" i="1" smtClean="0">
                              <a:solidFill>
                                <a:srgbClr val="FF0000"/>
                              </a:solidFill>
                              <a:latin typeface="Cambria Math" panose="02040503050406030204" pitchFamily="18" charset="0"/>
                            </a:rPr>
                            <m:t>𝐵</m:t>
                          </m:r>
                        </m:e>
                        <m:sub>
                          <m:r>
                            <a:rPr lang="en-GB" sz="2400" i="1">
                              <a:solidFill>
                                <a:srgbClr val="FF0000"/>
                              </a:solidFill>
                              <a:latin typeface="Cambria Math" panose="02040503050406030204" pitchFamily="18" charset="0"/>
                            </a:rPr>
                            <m:t>0</m:t>
                          </m:r>
                        </m:sub>
                      </m:sSub>
                      <m:r>
                        <a:rPr lang="en-GB" sz="2400" i="1">
                          <a:solidFill>
                            <a:srgbClr val="FF0000"/>
                          </a:solidFill>
                          <a:latin typeface="Cambria Math" panose="02040503050406030204" pitchFamily="18" charset="0"/>
                        </a:rPr>
                        <m:t>+ </m:t>
                      </m:r>
                      <m:sSub>
                        <m:sSubPr>
                          <m:ctrlPr>
                            <a:rPr lang="en-GB" sz="2400" i="1">
                              <a:solidFill>
                                <a:srgbClr val="FF0000"/>
                              </a:solidFill>
                              <a:latin typeface="Cambria Math" panose="02040503050406030204" pitchFamily="18" charset="0"/>
                            </a:rPr>
                          </m:ctrlPr>
                        </m:sSubPr>
                        <m:e>
                          <m:r>
                            <a:rPr lang="en-GB" sz="2400" b="0" i="1" smtClean="0">
                              <a:solidFill>
                                <a:srgbClr val="FF0000"/>
                              </a:solidFill>
                              <a:latin typeface="Cambria Math" panose="02040503050406030204" pitchFamily="18" charset="0"/>
                            </a:rPr>
                            <m:t>𝐵</m:t>
                          </m:r>
                        </m:e>
                        <m:sub>
                          <m:r>
                            <a:rPr lang="en-GB" sz="2400" i="1">
                              <a:solidFill>
                                <a:srgbClr val="FF0000"/>
                              </a:solidFill>
                              <a:latin typeface="Cambria Math" panose="02040503050406030204" pitchFamily="18" charset="0"/>
                            </a:rPr>
                            <m:t>1</m:t>
                          </m:r>
                        </m:sub>
                      </m:sSub>
                      <m:sSub>
                        <m:sSubPr>
                          <m:ctrlPr>
                            <a:rPr lang="en-GB" sz="2400" i="1">
                              <a:solidFill>
                                <a:srgbClr val="FF0000"/>
                              </a:solidFill>
                              <a:latin typeface="Cambria Math" panose="02040503050406030204" pitchFamily="18" charset="0"/>
                            </a:rPr>
                          </m:ctrlPr>
                        </m:sSubPr>
                        <m:e>
                          <m:r>
                            <a:rPr lang="en-GB" sz="2400" i="1">
                              <a:solidFill>
                                <a:srgbClr val="FF0000"/>
                              </a:solidFill>
                              <a:latin typeface="Cambria Math" panose="02040503050406030204" pitchFamily="18" charset="0"/>
                            </a:rPr>
                            <m:t>𝑋</m:t>
                          </m:r>
                        </m:e>
                        <m:sub>
                          <m:r>
                            <a:rPr lang="en-GB" sz="2400" i="1">
                              <a:solidFill>
                                <a:srgbClr val="FF0000"/>
                              </a:solidFill>
                              <a:latin typeface="Cambria Math" panose="02040503050406030204" pitchFamily="18" charset="0"/>
                            </a:rPr>
                            <m:t>𝑖</m:t>
                          </m:r>
                        </m:sub>
                      </m:sSub>
                      <m:r>
                        <a:rPr lang="en-GB" sz="2400" i="1">
                          <a:latin typeface="Cambria Math" panose="02040503050406030204" pitchFamily="18" charset="0"/>
                        </a:rPr>
                        <m:t>+</m:t>
                      </m:r>
                      <m:sSub>
                        <m:sSubPr>
                          <m:ctrlPr>
                            <a:rPr lang="en-GB" sz="2400" i="1">
                              <a:solidFill>
                                <a:srgbClr val="92D050"/>
                              </a:solidFill>
                              <a:latin typeface="Cambria Math" panose="02040503050406030204" pitchFamily="18" charset="0"/>
                            </a:rPr>
                          </m:ctrlPr>
                        </m:sSubPr>
                        <m:e>
                          <m:r>
                            <a:rPr lang="en-GB" sz="2400" b="0" i="1" smtClean="0">
                              <a:solidFill>
                                <a:srgbClr val="92D050"/>
                              </a:solidFill>
                              <a:latin typeface="Cambria Math" panose="02040503050406030204" pitchFamily="18" charset="0"/>
                            </a:rPr>
                            <m:t>𝑢</m:t>
                          </m:r>
                        </m:e>
                        <m:sub>
                          <m:r>
                            <a:rPr lang="en-GB" sz="2400" i="1">
                              <a:solidFill>
                                <a:srgbClr val="92D050"/>
                              </a:solidFill>
                              <a:latin typeface="Cambria Math" panose="02040503050406030204" pitchFamily="18" charset="0"/>
                            </a:rPr>
                            <m:t>𝑖</m:t>
                          </m:r>
                        </m:sub>
                      </m:sSub>
                    </m:oMath>
                  </m:oMathPara>
                </a14:m>
                <a:endParaRPr lang="en-GB" sz="2400" dirty="0"/>
              </a:p>
              <a:p>
                <a:pPr marL="342900" lvl="0" indent="-342900">
                  <a:buFont typeface="Arial" panose="020B0604020202020204" pitchFamily="34" charset="0"/>
                  <a:buChar char="•"/>
                </a:pPr>
                <a:r>
                  <a:rPr lang="en-GB" sz="2400" dirty="0"/>
                  <a:t>The residuals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𝑒</m:t>
                        </m:r>
                      </m:e>
                      <m:sub>
                        <m:r>
                          <a:rPr lang="en-GB" sz="2400" b="0" i="1" smtClean="0">
                            <a:latin typeface="Cambria Math" panose="02040503050406030204" pitchFamily="18" charset="0"/>
                          </a:rPr>
                          <m:t>𝑖</m:t>
                        </m:r>
                      </m:sub>
                    </m:sSub>
                  </m:oMath>
                </a14:m>
                <a:r>
                  <a:rPr lang="en-GB" sz="2400" dirty="0"/>
                  <a:t> are estimates of the error term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𝑢</m:t>
                        </m:r>
                      </m:e>
                      <m:sub>
                        <m:r>
                          <a:rPr lang="en-GB" sz="2400" b="0" i="1" smtClean="0">
                            <a:latin typeface="Cambria Math" panose="02040503050406030204" pitchFamily="18" charset="0"/>
                          </a:rPr>
                          <m:t>𝑖</m:t>
                        </m:r>
                      </m:sub>
                    </m:sSub>
                  </m:oMath>
                </a14:m>
                <a:r>
                  <a:rPr lang="en-GB" sz="2400" dirty="0"/>
                  <a:t>.</a:t>
                </a:r>
              </a:p>
              <a:p>
                <a:pPr marL="342900" lvl="0" indent="-342900">
                  <a:buFont typeface="Arial" panose="020B0604020202020204" pitchFamily="34" charset="0"/>
                  <a:buChar char="•"/>
                </a:pP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𝑏</m:t>
                        </m:r>
                      </m:e>
                      <m:sub>
                        <m:r>
                          <a:rPr lang="en-GB" sz="2400" b="0" i="1" smtClean="0">
                            <a:latin typeface="Cambria Math" panose="02040503050406030204" pitchFamily="18" charset="0"/>
                          </a:rPr>
                          <m:t>0</m:t>
                        </m:r>
                      </m:sub>
                    </m:sSub>
                  </m:oMath>
                </a14:m>
                <a:r>
                  <a:rPr lang="en-GB" sz="2400" dirty="0"/>
                  <a:t> and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𝑏</m:t>
                        </m:r>
                      </m:e>
                      <m:sub>
                        <m:r>
                          <a:rPr lang="en-GB" sz="2400" b="0" i="1" smtClean="0">
                            <a:latin typeface="Cambria Math" panose="02040503050406030204" pitchFamily="18" charset="0"/>
                          </a:rPr>
                          <m:t>1</m:t>
                        </m:r>
                      </m:sub>
                    </m:sSub>
                  </m:oMath>
                </a14:m>
                <a:r>
                  <a:rPr lang="en-GB" sz="2400" dirty="0"/>
                  <a:t> are estimates for the parameters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𝐵</m:t>
                        </m:r>
                      </m:e>
                      <m:sub>
                        <m:r>
                          <a:rPr lang="en-GB" sz="2400" b="0" i="1" smtClean="0">
                            <a:latin typeface="Cambria Math" panose="02040503050406030204" pitchFamily="18" charset="0"/>
                          </a:rPr>
                          <m:t>0</m:t>
                        </m:r>
                      </m:sub>
                    </m:sSub>
                  </m:oMath>
                </a14:m>
                <a:r>
                  <a:rPr lang="en-GB" sz="2400" dirty="0"/>
                  <a:t> and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𝐵</m:t>
                        </m:r>
                      </m:e>
                      <m:sub>
                        <m:r>
                          <a:rPr lang="en-GB" sz="2400" b="0" i="1" smtClean="0">
                            <a:latin typeface="Cambria Math" panose="02040503050406030204" pitchFamily="18" charset="0"/>
                          </a:rPr>
                          <m:t>1</m:t>
                        </m:r>
                      </m:sub>
                    </m:sSub>
                  </m:oMath>
                </a14:m>
                <a:r>
                  <a:rPr lang="en-GB" sz="2400" dirty="0"/>
                  <a:t>.</a:t>
                </a:r>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1A1408DA-D5EC-BFA0-F7BD-694F45DB2788}"/>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316" t="-1891"/>
                </a:stretch>
              </a:blipFill>
            </p:spPr>
            <p:txBody>
              <a:bodyPr/>
              <a:lstStyle/>
              <a:p>
                <a:r>
                  <a:rPr lang="en-GB">
                    <a:noFill/>
                  </a:rPr>
                  <a:t> </a:t>
                </a:r>
              </a:p>
            </p:txBody>
          </p:sp>
        </mc:Fallback>
      </mc:AlternateContent>
    </p:spTree>
    <p:extLst>
      <p:ext uri="{BB962C8B-B14F-4D97-AF65-F5344CB8AC3E}">
        <p14:creationId xmlns:p14="http://schemas.microsoft.com/office/powerpoint/2010/main" val="2343749125"/>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992AA-C052-D6B4-F4F1-48BB4C73B5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4E4593-72D1-6D33-0A6B-4C53BA0C9FDB}"/>
              </a:ext>
            </a:extLst>
          </p:cNvPr>
          <p:cNvSpPr>
            <a:spLocks noGrp="1"/>
          </p:cNvSpPr>
          <p:nvPr>
            <p:ph type="title"/>
          </p:nvPr>
        </p:nvSpPr>
        <p:spPr/>
        <p:txBody>
          <a:bodyPr>
            <a:normAutofit fontScale="90000"/>
          </a:bodyPr>
          <a:lstStyle/>
          <a:p>
            <a:r>
              <a:rPr lang="en-GB" dirty="0"/>
              <a:t>Precision and standard errors</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BBF243A-8748-4AF1-4D6E-CD92109AD505}"/>
                  </a:ext>
                </a:extLst>
              </p:cNvPr>
              <p:cNvSpPr>
                <a:spLocks noGrp="1"/>
              </p:cNvSpPr>
              <p:nvPr>
                <p:ph type="body" sz="quarter" idx="11"/>
              </p:nvPr>
            </p:nvSpPr>
            <p:spPr>
              <a:xfrm>
                <a:off x="900112" y="1700213"/>
                <a:ext cx="7632327" cy="5157787"/>
              </a:xfrm>
            </p:spPr>
            <p:txBody>
              <a:bodyPr/>
              <a:lstStyle/>
              <a:p>
                <a:pPr marL="342900" lvl="0" indent="-342900">
                  <a:buFont typeface="Arial" panose="020B0604020202020204" pitchFamily="34" charset="0"/>
                  <a:buChar char="•"/>
                </a:pPr>
                <a:r>
                  <a:rPr lang="en-GB" sz="2400" dirty="0"/>
                  <a:t>The coefficients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𝑏</m:t>
                        </m:r>
                      </m:e>
                      <m:sub>
                        <m:r>
                          <a:rPr lang="en-GB" sz="2400" b="0" i="1" smtClean="0">
                            <a:latin typeface="Cambria Math" panose="02040503050406030204" pitchFamily="18" charset="0"/>
                          </a:rPr>
                          <m:t>𝑖</m:t>
                        </m:r>
                      </m:sub>
                    </m:sSub>
                  </m:oMath>
                </a14:m>
                <a:r>
                  <a:rPr lang="en-GB" sz="2400" dirty="0"/>
                  <a:t> are estimates of the true unknown parameters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𝐵</m:t>
                        </m:r>
                      </m:e>
                      <m:sub>
                        <m:r>
                          <a:rPr lang="en-GB" sz="2400" b="0" i="1" smtClean="0">
                            <a:latin typeface="Cambria Math" panose="02040503050406030204" pitchFamily="18" charset="0"/>
                          </a:rPr>
                          <m:t>𝑖</m:t>
                        </m:r>
                      </m:sub>
                    </m:sSub>
                  </m:oMath>
                </a14:m>
                <a:r>
                  <a:rPr lang="en-GB" sz="2400" dirty="0"/>
                  <a:t>. </a:t>
                </a:r>
              </a:p>
              <a:p>
                <a:pPr marL="342900" lvl="0" indent="-342900">
                  <a:buFont typeface="Arial" panose="020B0604020202020204" pitchFamily="34" charset="0"/>
                  <a:buChar char="•"/>
                </a:pPr>
                <a:r>
                  <a:rPr lang="en-GB" sz="2400" dirty="0"/>
                  <a:t>If we would have many samples of data from the same population, we would have a distribution for a coefficient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𝑏</m:t>
                        </m:r>
                      </m:e>
                      <m:sub>
                        <m:r>
                          <a:rPr lang="en-GB" sz="2400" b="0" i="1" smtClean="0">
                            <a:latin typeface="Cambria Math" panose="02040503050406030204" pitchFamily="18" charset="0"/>
                          </a:rPr>
                          <m:t>𝑖</m:t>
                        </m:r>
                      </m:sub>
                    </m:sSub>
                  </m:oMath>
                </a14:m>
                <a:r>
                  <a:rPr lang="en-GB" sz="2400" dirty="0"/>
                  <a:t>, the </a:t>
                </a:r>
                <a:r>
                  <a:rPr lang="en-GB" sz="2400" dirty="0">
                    <a:solidFill>
                      <a:srgbClr val="FF0000"/>
                    </a:solidFill>
                  </a:rPr>
                  <a:t>sampling distribution</a:t>
                </a:r>
                <a:r>
                  <a:rPr lang="en-GB" sz="2400" dirty="0"/>
                  <a:t>.</a:t>
                </a:r>
              </a:p>
              <a:p>
                <a:pPr marL="342900" lvl="0" indent="-342900">
                  <a:buFont typeface="Arial" panose="020B0604020202020204" pitchFamily="34" charset="0"/>
                  <a:buChar char="•"/>
                </a:pPr>
                <a:r>
                  <a:rPr lang="en-GB" sz="2400" dirty="0"/>
                  <a:t>The greater is the dispersion of the sampling distribution of the estimated values of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𝑏</m:t>
                        </m:r>
                      </m:e>
                      <m:sub>
                        <m:r>
                          <a:rPr lang="en-GB" sz="2400" b="0" i="1" smtClean="0">
                            <a:latin typeface="Cambria Math" panose="02040503050406030204" pitchFamily="18" charset="0"/>
                          </a:rPr>
                          <m:t>𝑖</m:t>
                        </m:r>
                      </m:sub>
                    </m:sSub>
                  </m:oMath>
                </a14:m>
                <a:r>
                  <a:rPr lang="en-GB" sz="2400" dirty="0"/>
                  <a:t>, the smaller the confidence there would be in the single estimated value of the </a:t>
                </a:r>
                <a:r>
                  <a:rPr lang="en-GB" sz="2400" i="1" dirty="0"/>
                  <a:t>b</a:t>
                </a:r>
                <a:r>
                  <a:rPr lang="en-GB" sz="2400" dirty="0"/>
                  <a:t> coefficient.</a:t>
                </a:r>
              </a:p>
              <a:p>
                <a:pPr marL="342900" lvl="0" indent="-342900">
                  <a:buFont typeface="Arial" panose="020B0604020202020204" pitchFamily="34" charset="0"/>
                  <a:buChar char="•"/>
                </a:pPr>
                <a:r>
                  <a:rPr lang="en-GB" sz="2400" dirty="0"/>
                  <a:t>The standard deviation of the sampling distribution is called </a:t>
                </a:r>
                <a:r>
                  <a:rPr lang="en-GB" sz="2400" dirty="0">
                    <a:solidFill>
                      <a:srgbClr val="FF0000"/>
                    </a:solidFill>
                  </a:rPr>
                  <a:t>standard error</a:t>
                </a:r>
                <a:r>
                  <a:rPr lang="en-GB" sz="2400" dirty="0"/>
                  <a:t>.</a:t>
                </a:r>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EBBF243A-8748-4AF1-4D6E-CD92109AD505}"/>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316" t="-1891" r="-399"/>
                </a:stretch>
              </a:blipFill>
            </p:spPr>
            <p:txBody>
              <a:bodyPr/>
              <a:lstStyle/>
              <a:p>
                <a:r>
                  <a:rPr lang="en-GB">
                    <a:noFill/>
                  </a:rPr>
                  <a:t> </a:t>
                </a:r>
              </a:p>
            </p:txBody>
          </p:sp>
        </mc:Fallback>
      </mc:AlternateContent>
    </p:spTree>
    <p:extLst>
      <p:ext uri="{BB962C8B-B14F-4D97-AF65-F5344CB8AC3E}">
        <p14:creationId xmlns:p14="http://schemas.microsoft.com/office/powerpoint/2010/main" val="641742146"/>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3DED5-4EF4-4416-0AC3-AA3D6736A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FFFF51-AFF6-8993-88CB-B176F28A2ADB}"/>
              </a:ext>
            </a:extLst>
          </p:cNvPr>
          <p:cNvSpPr>
            <a:spLocks noGrp="1"/>
          </p:cNvSpPr>
          <p:nvPr>
            <p:ph type="title"/>
          </p:nvPr>
        </p:nvSpPr>
        <p:spPr/>
        <p:txBody>
          <a:bodyPr>
            <a:normAutofit fontScale="90000"/>
          </a:bodyPr>
          <a:lstStyle/>
          <a:p>
            <a:r>
              <a:rPr lang="en-GB" dirty="0"/>
              <a:t>Estimating the variance of the error term</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A196810-314C-F34A-36AA-2B1CC71B9171}"/>
                  </a:ext>
                </a:extLst>
              </p:cNvPr>
              <p:cNvSpPr>
                <a:spLocks noGrp="1"/>
              </p:cNvSpPr>
              <p:nvPr>
                <p:ph type="body" sz="quarter" idx="11"/>
              </p:nvPr>
            </p:nvSpPr>
            <p:spPr>
              <a:xfrm>
                <a:off x="900112" y="1700213"/>
                <a:ext cx="7632327" cy="5157787"/>
              </a:xfrm>
            </p:spPr>
            <p:txBody>
              <a:bodyPr/>
              <a:lstStyle/>
              <a:p>
                <a:pPr marL="0" lvl="0" indent="0">
                  <a:buNone/>
                </a:pPr>
                <a:r>
                  <a:rPr lang="en-GB" sz="2400" dirty="0"/>
                  <a:t>The </a:t>
                </a:r>
                <a:r>
                  <a:rPr lang="en-GB" sz="2400" dirty="0">
                    <a:solidFill>
                      <a:srgbClr val="FF0000"/>
                    </a:solidFill>
                  </a:rPr>
                  <a:t>mean square error </a:t>
                </a:r>
                <a:r>
                  <a:rPr lang="en-GB" sz="2400" dirty="0"/>
                  <a:t>is an estimate of the variance of the error term </a:t>
                </a:r>
                <a14:m>
                  <m:oMath xmlns:m="http://schemas.openxmlformats.org/officeDocument/2006/math">
                    <m:sSup>
                      <m:sSupPr>
                        <m:ctrlPr>
                          <a:rPr lang="en-GB" sz="2400" i="1" smtClean="0">
                            <a:latin typeface="Cambria Math" panose="02040503050406030204" pitchFamily="18" charset="0"/>
                          </a:rPr>
                        </m:ctrlPr>
                      </m:sSupPr>
                      <m:e>
                        <m:r>
                          <a:rPr lang="en-GB" sz="2400" i="1" smtClean="0">
                            <a:latin typeface="Cambria Math" panose="02040503050406030204" pitchFamily="18" charset="0"/>
                            <a:ea typeface="Cambria Math" panose="02040503050406030204" pitchFamily="18" charset="0"/>
                          </a:rPr>
                          <m:t>𝜎</m:t>
                        </m:r>
                      </m:e>
                      <m:sup>
                        <m:r>
                          <a:rPr lang="en-GB" sz="2400" b="0" i="1" smtClean="0">
                            <a:latin typeface="Cambria Math" panose="02040503050406030204" pitchFamily="18" charset="0"/>
                          </a:rPr>
                          <m:t>2</m:t>
                        </m:r>
                      </m:sup>
                    </m:sSup>
                  </m:oMath>
                </a14:m>
                <a:r>
                  <a:rPr lang="en-GB" sz="2400" dirty="0"/>
                  <a:t>:</a:t>
                </a:r>
              </a:p>
              <a:p>
                <a:pPr marL="0" lvl="0" indent="0">
                  <a:buNone/>
                </a:pPr>
                <a14:m>
                  <m:oMathPara xmlns:m="http://schemas.openxmlformats.org/officeDocument/2006/math">
                    <m:oMathParaPr>
                      <m:jc m:val="center"/>
                    </m:oMathParaPr>
                    <m:oMath xmlns:m="http://schemas.openxmlformats.org/officeDocument/2006/math">
                      <m:sSup>
                        <m:sSupPr>
                          <m:ctrlPr>
                            <a:rPr lang="en-GB" sz="2400" i="1" smtClean="0">
                              <a:latin typeface="Cambria Math" panose="02040503050406030204" pitchFamily="18" charset="0"/>
                            </a:rPr>
                          </m:ctrlPr>
                        </m:sSupPr>
                        <m:e>
                          <m:r>
                            <a:rPr lang="en-GB" sz="2400" i="1" smtClean="0">
                              <a:latin typeface="Cambria Math" panose="02040503050406030204" pitchFamily="18" charset="0"/>
                              <a:ea typeface="Cambria Math" panose="02040503050406030204" pitchFamily="18" charset="0"/>
                            </a:rPr>
                            <m:t>𝜎</m:t>
                          </m:r>
                        </m:e>
                        <m:sup>
                          <m:r>
                            <a:rPr lang="en-GB" sz="2400" b="0" i="1" smtClean="0">
                              <a:latin typeface="Cambria Math" panose="02040503050406030204" pitchFamily="18" charset="0"/>
                            </a:rPr>
                            <m:t>2</m:t>
                          </m:r>
                        </m:sup>
                      </m:sSup>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nary>
                            <m:naryPr>
                              <m:chr m:val="∑"/>
                              <m:subHide m:val="on"/>
                              <m:supHide m:val="on"/>
                              <m:ctrlPr>
                                <a:rPr lang="en-GB" sz="2400" b="0" i="1" smtClean="0">
                                  <a:latin typeface="Cambria Math" panose="02040503050406030204" pitchFamily="18" charset="0"/>
                                </a:rPr>
                              </m:ctrlPr>
                            </m:naryPr>
                            <m:sub/>
                            <m:sup/>
                            <m:e>
                              <m:sSubSup>
                                <m:sSubSupPr>
                                  <m:ctrlPr>
                                    <a:rPr lang="en-GB" sz="2400" b="0" i="1" smtClean="0">
                                      <a:latin typeface="Cambria Math" panose="02040503050406030204" pitchFamily="18" charset="0"/>
                                    </a:rPr>
                                  </m:ctrlPr>
                                </m:sSubSupPr>
                                <m:e>
                                  <m:r>
                                    <a:rPr lang="en-GB" sz="2400" b="0" i="1" smtClean="0">
                                      <a:latin typeface="Cambria Math" panose="02040503050406030204" pitchFamily="18" charset="0"/>
                                    </a:rPr>
                                    <m:t>𝑒</m:t>
                                  </m:r>
                                </m:e>
                                <m:sub>
                                  <m:r>
                                    <a:rPr lang="en-GB" sz="2400" b="0" i="1" smtClean="0">
                                      <a:latin typeface="Cambria Math" panose="02040503050406030204" pitchFamily="18" charset="0"/>
                                    </a:rPr>
                                    <m:t>𝑖</m:t>
                                  </m:r>
                                </m:sub>
                                <m:sup>
                                  <m:r>
                                    <a:rPr lang="en-GB" sz="2400" b="0" i="1" smtClean="0">
                                      <a:latin typeface="Cambria Math" panose="02040503050406030204" pitchFamily="18" charset="0"/>
                                    </a:rPr>
                                    <m:t>2</m:t>
                                  </m:r>
                                </m:sup>
                              </m:sSubSup>
                            </m:e>
                          </m:nary>
                        </m:num>
                        <m:den>
                          <m:r>
                            <a:rPr lang="en-GB" sz="2400" b="0" i="1" smtClean="0">
                              <a:latin typeface="Cambria Math" panose="02040503050406030204" pitchFamily="18" charset="0"/>
                            </a:rPr>
                            <m:t>𝑛</m:t>
                          </m:r>
                          <m:r>
                            <a:rPr lang="en-GB" sz="2400" b="0" i="1" smtClean="0">
                              <a:latin typeface="Cambria Math" panose="02040503050406030204" pitchFamily="18" charset="0"/>
                            </a:rPr>
                            <m:t>−</m:t>
                          </m:r>
                          <m:r>
                            <a:rPr lang="en-GB" sz="2400" b="0" i="1" smtClean="0">
                              <a:latin typeface="Cambria Math" panose="02040503050406030204" pitchFamily="18" charset="0"/>
                            </a:rPr>
                            <m:t>𝑘</m:t>
                          </m:r>
                        </m:den>
                      </m:f>
                    </m:oMath>
                  </m:oMathPara>
                </a14:m>
                <a:endParaRPr lang="en-GB" sz="2400" dirty="0"/>
              </a:p>
              <a:p>
                <a:pPr marL="342900" lvl="0" indent="-342900">
                  <a:buFont typeface="Arial" panose="020B0604020202020204" pitchFamily="34" charset="0"/>
                  <a:buChar char="•"/>
                </a:pPr>
                <a:endParaRPr lang="en-GB" sz="2400" dirty="0"/>
              </a:p>
              <a:p>
                <a:pPr marL="0" lvl="0" indent="0">
                  <a:buNone/>
                </a:pPr>
                <a:r>
                  <a:rPr lang="en-GB" sz="2400" dirty="0"/>
                  <a:t>where </a:t>
                </a:r>
              </a:p>
              <a:p>
                <a:pPr marL="0" lvl="0" indent="0">
                  <a:buNone/>
                </a:pP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𝑒</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𝑌</m:t>
                        </m:r>
                      </m:e>
                      <m:sub>
                        <m:r>
                          <a:rPr lang="en-GB" sz="2400" b="0" i="1" smtClean="0">
                            <a:latin typeface="Cambria Math" panose="02040503050406030204" pitchFamily="18" charset="0"/>
                          </a:rPr>
                          <m:t>𝑖</m:t>
                        </m:r>
                      </m:sub>
                    </m:sSub>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acc>
                          <m:accPr>
                            <m:chr m:val="̂"/>
                            <m:ctrlPr>
                              <a:rPr lang="en-GB" sz="2400" b="0" i="1" smtClean="0">
                                <a:latin typeface="Cambria Math" panose="02040503050406030204" pitchFamily="18" charset="0"/>
                              </a:rPr>
                            </m:ctrlPr>
                          </m:accPr>
                          <m:e>
                            <m:r>
                              <a:rPr lang="en-GB" sz="2400" b="0" i="1" smtClean="0">
                                <a:latin typeface="Cambria Math" panose="02040503050406030204" pitchFamily="18" charset="0"/>
                              </a:rPr>
                              <m:t>𝑌</m:t>
                            </m:r>
                          </m:e>
                        </m:acc>
                      </m:e>
                      <m:sub>
                        <m:r>
                          <a:rPr lang="en-GB" sz="2400" b="0" i="1" smtClean="0">
                            <a:latin typeface="Cambria Math" panose="02040503050406030204" pitchFamily="18" charset="0"/>
                          </a:rPr>
                          <m:t>𝑖</m:t>
                        </m:r>
                      </m:sub>
                    </m:sSub>
                  </m:oMath>
                </a14:m>
                <a:r>
                  <a:rPr lang="en-GB" sz="2400" dirty="0"/>
                  <a:t> are the prediction errors</a:t>
                </a:r>
              </a:p>
              <a:p>
                <a:pPr marL="0" lvl="0" indent="0">
                  <a:buNone/>
                </a:pPr>
                <a:r>
                  <a:rPr lang="en-GB" sz="2400" i="1" dirty="0"/>
                  <a:t>n</a:t>
                </a:r>
                <a:r>
                  <a:rPr lang="en-GB" sz="2400" dirty="0"/>
                  <a:t> is the sample size</a:t>
                </a:r>
              </a:p>
              <a:p>
                <a:pPr marL="0" lvl="0" indent="0">
                  <a:buNone/>
                </a:pPr>
                <a:r>
                  <a:rPr lang="en-GB" sz="2400" dirty="0"/>
                  <a:t>and </a:t>
                </a:r>
                <a:r>
                  <a:rPr lang="en-GB" sz="2400" i="1" dirty="0"/>
                  <a:t>k</a:t>
                </a:r>
                <a:r>
                  <a:rPr lang="en-GB" sz="2400" dirty="0"/>
                  <a:t> is the number of coefficients in the model.</a:t>
                </a:r>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AA196810-314C-F34A-36AA-2B1CC71B9171}"/>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1891"/>
                </a:stretch>
              </a:blipFill>
            </p:spPr>
            <p:txBody>
              <a:bodyPr/>
              <a:lstStyle/>
              <a:p>
                <a:r>
                  <a:rPr lang="en-GB">
                    <a:noFill/>
                  </a:rPr>
                  <a:t> </a:t>
                </a:r>
              </a:p>
            </p:txBody>
          </p:sp>
        </mc:Fallback>
      </mc:AlternateContent>
    </p:spTree>
    <p:extLst>
      <p:ext uri="{BB962C8B-B14F-4D97-AF65-F5344CB8AC3E}">
        <p14:creationId xmlns:p14="http://schemas.microsoft.com/office/powerpoint/2010/main" val="3210333715"/>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AB715-099C-18F9-E209-A4DA788F00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1B1B5-90FF-B2AF-24C3-2E1682F5D3D5}"/>
              </a:ext>
            </a:extLst>
          </p:cNvPr>
          <p:cNvSpPr>
            <a:spLocks noGrp="1"/>
          </p:cNvSpPr>
          <p:nvPr>
            <p:ph type="title"/>
          </p:nvPr>
        </p:nvSpPr>
        <p:spPr/>
        <p:txBody>
          <a:bodyPr>
            <a:normAutofit fontScale="90000"/>
          </a:bodyPr>
          <a:lstStyle/>
          <a:p>
            <a:r>
              <a:rPr lang="en-GB" noProof="0" dirty="0"/>
              <a:t>Computing the standard errors of the coefficients</a:t>
            </a:r>
            <a:br>
              <a:rPr lang="en-GB" noProof="0" dirty="0"/>
            </a:b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D03B538-7785-FE76-48AC-DA66EDB64E36}"/>
                  </a:ext>
                </a:extLst>
              </p:cNvPr>
              <p:cNvSpPr>
                <a:spLocks noGrp="1"/>
              </p:cNvSpPr>
              <p:nvPr>
                <p:ph type="body" sz="quarter" idx="11"/>
              </p:nvPr>
            </p:nvSpPr>
            <p:spPr>
              <a:xfrm>
                <a:off x="900112" y="1700213"/>
                <a:ext cx="7632327" cy="5157787"/>
              </a:xfrm>
            </p:spPr>
            <p:txBody>
              <a:bodyPr/>
              <a:lstStyle/>
              <a:p>
                <a:pPr marL="0" lvl="0" indent="0">
                  <a:buNone/>
                </a:pPr>
                <a:endParaRPr lang="en-GB" sz="2400" dirty="0"/>
              </a:p>
              <a:p>
                <a:pPr marL="0" lvl="0" indent="0">
                  <a:buNone/>
                </a:pPr>
                <a:r>
                  <a:rPr lang="en-GB" sz="2400" dirty="0"/>
                  <a:t>The formulas for the slope and the intercept are slightly different:</a:t>
                </a:r>
              </a:p>
              <a:p>
                <a:pPr marL="0" lvl="0" indent="0">
                  <a:buNone/>
                </a:pPr>
                <a:endParaRPr lang="en-GB" sz="2400" dirty="0"/>
              </a:p>
              <a:p>
                <a:pPr marL="0" indent="0">
                  <a:buNone/>
                </a:pPr>
                <a14:m>
                  <m:oMath xmlns:m="http://schemas.openxmlformats.org/officeDocument/2006/math">
                    <m:r>
                      <a:rPr lang="en-GB" sz="2400" i="1">
                        <a:solidFill>
                          <a:prstClr val="black"/>
                        </a:solidFill>
                        <a:latin typeface="Cambria Math" panose="02040503050406030204" pitchFamily="18" charset="0"/>
                      </a:rPr>
                      <m:t>𝑉𝑎𝑟</m:t>
                    </m:r>
                    <m:d>
                      <m:dPr>
                        <m:ctrlPr>
                          <a:rPr lang="en-GB" sz="2400" i="1">
                            <a:solidFill>
                              <a:prstClr val="black"/>
                            </a:solidFill>
                            <a:latin typeface="Cambria Math" panose="02040503050406030204" pitchFamily="18" charset="0"/>
                          </a:rPr>
                        </m:ctrlPr>
                      </m:dPr>
                      <m:e>
                        <m:sSub>
                          <m:sSubPr>
                            <m:ctrlPr>
                              <a:rPr lang="en-GB" sz="2400" i="1">
                                <a:solidFill>
                                  <a:prstClr val="black"/>
                                </a:solidFill>
                                <a:latin typeface="Cambria Math" panose="02040503050406030204" pitchFamily="18" charset="0"/>
                              </a:rPr>
                            </m:ctrlPr>
                          </m:sSubPr>
                          <m:e>
                            <m:r>
                              <a:rPr lang="en-GB" sz="2400" i="1">
                                <a:solidFill>
                                  <a:prstClr val="black"/>
                                </a:solidFill>
                                <a:latin typeface="Cambria Math" panose="02040503050406030204" pitchFamily="18" charset="0"/>
                              </a:rPr>
                              <m:t>𝑏</m:t>
                            </m:r>
                          </m:e>
                          <m:sub>
                            <m:r>
                              <a:rPr lang="en-GB" sz="2400" b="0" i="1" smtClean="0">
                                <a:solidFill>
                                  <a:prstClr val="black"/>
                                </a:solidFill>
                                <a:latin typeface="Cambria Math" panose="02040503050406030204" pitchFamily="18" charset="0"/>
                              </a:rPr>
                              <m:t>0</m:t>
                            </m:r>
                          </m:sub>
                        </m:sSub>
                      </m:e>
                    </m:d>
                    <m:r>
                      <a:rPr lang="en-GB" sz="2400" i="1">
                        <a:solidFill>
                          <a:prstClr val="black"/>
                        </a:solidFill>
                        <a:latin typeface="Cambria Math" panose="02040503050406030204" pitchFamily="18" charset="0"/>
                      </a:rPr>
                      <m:t>=</m:t>
                    </m:r>
                    <m:f>
                      <m:fPr>
                        <m:ctrlPr>
                          <a:rPr lang="en-GB" sz="2400" i="1">
                            <a:solidFill>
                              <a:prstClr val="black"/>
                            </a:solidFill>
                            <a:latin typeface="Cambria Math" panose="02040503050406030204" pitchFamily="18" charset="0"/>
                          </a:rPr>
                        </m:ctrlPr>
                      </m:fPr>
                      <m:num>
                        <m:nary>
                          <m:naryPr>
                            <m:chr m:val="∑"/>
                            <m:subHide m:val="on"/>
                            <m:supHide m:val="on"/>
                            <m:ctrlPr>
                              <a:rPr lang="en-GB" sz="2400" i="1">
                                <a:solidFill>
                                  <a:prstClr val="black"/>
                                </a:solidFill>
                                <a:latin typeface="Cambria Math" panose="02040503050406030204" pitchFamily="18" charset="0"/>
                              </a:rPr>
                            </m:ctrlPr>
                          </m:naryPr>
                          <m:sub/>
                          <m:sup/>
                          <m:e>
                            <m:sSubSup>
                              <m:sSubSupPr>
                                <m:ctrlPr>
                                  <a:rPr lang="en-GB" sz="2400" i="1">
                                    <a:solidFill>
                                      <a:prstClr val="black"/>
                                    </a:solidFill>
                                    <a:latin typeface="Cambria Math" panose="02040503050406030204" pitchFamily="18" charset="0"/>
                                  </a:rPr>
                                </m:ctrlPr>
                              </m:sSubSupPr>
                              <m:e>
                                <m:r>
                                  <a:rPr lang="en-GB" sz="2400" i="1">
                                    <a:solidFill>
                                      <a:prstClr val="black"/>
                                    </a:solidFill>
                                    <a:latin typeface="Cambria Math" panose="02040503050406030204" pitchFamily="18" charset="0"/>
                                  </a:rPr>
                                  <m:t>𝑋</m:t>
                                </m:r>
                              </m:e>
                              <m:sub>
                                <m:r>
                                  <a:rPr lang="en-GB" sz="2400" i="1">
                                    <a:solidFill>
                                      <a:prstClr val="black"/>
                                    </a:solidFill>
                                    <a:latin typeface="Cambria Math" panose="02040503050406030204" pitchFamily="18" charset="0"/>
                                  </a:rPr>
                                  <m:t>𝑖</m:t>
                                </m:r>
                              </m:sub>
                              <m:sup>
                                <m:r>
                                  <a:rPr lang="en-GB" sz="2400" i="1">
                                    <a:solidFill>
                                      <a:prstClr val="black"/>
                                    </a:solidFill>
                                    <a:latin typeface="Cambria Math" panose="02040503050406030204" pitchFamily="18" charset="0"/>
                                  </a:rPr>
                                  <m:t>2</m:t>
                                </m:r>
                              </m:sup>
                            </m:sSubSup>
                          </m:e>
                        </m:nary>
                      </m:num>
                      <m:den>
                        <m:r>
                          <a:rPr lang="en-GB" sz="2400" i="1">
                            <a:solidFill>
                              <a:prstClr val="black"/>
                            </a:solidFill>
                            <a:latin typeface="Cambria Math" panose="02040503050406030204" pitchFamily="18" charset="0"/>
                          </a:rPr>
                          <m:t>𝑛</m:t>
                        </m:r>
                        <m:nary>
                          <m:naryPr>
                            <m:chr m:val="∑"/>
                            <m:subHide m:val="on"/>
                            <m:supHide m:val="on"/>
                            <m:ctrlPr>
                              <a:rPr lang="en-GB" sz="2400" i="1">
                                <a:solidFill>
                                  <a:prstClr val="black"/>
                                </a:solidFill>
                                <a:latin typeface="Cambria Math" panose="02040503050406030204" pitchFamily="18" charset="0"/>
                              </a:rPr>
                            </m:ctrlPr>
                          </m:naryPr>
                          <m:sub/>
                          <m:sup/>
                          <m:e>
                            <m:sSubSup>
                              <m:sSubSupPr>
                                <m:ctrlPr>
                                  <a:rPr lang="en-GB" sz="2400" i="1">
                                    <a:solidFill>
                                      <a:prstClr val="black"/>
                                    </a:solidFill>
                                    <a:latin typeface="Cambria Math" panose="02040503050406030204" pitchFamily="18" charset="0"/>
                                  </a:rPr>
                                </m:ctrlPr>
                              </m:sSubSupPr>
                              <m:e>
                                <m:r>
                                  <a:rPr lang="en-GB" sz="2400" i="1">
                                    <a:solidFill>
                                      <a:prstClr val="black"/>
                                    </a:solidFill>
                                    <a:latin typeface="Cambria Math" panose="02040503050406030204" pitchFamily="18" charset="0"/>
                                  </a:rPr>
                                  <m:t>𝑥</m:t>
                                </m:r>
                              </m:e>
                              <m:sub>
                                <m:r>
                                  <a:rPr lang="en-GB" sz="2400" i="1">
                                    <a:solidFill>
                                      <a:prstClr val="black"/>
                                    </a:solidFill>
                                    <a:latin typeface="Cambria Math" panose="02040503050406030204" pitchFamily="18" charset="0"/>
                                  </a:rPr>
                                  <m:t>𝑖</m:t>
                                </m:r>
                              </m:sub>
                              <m:sup>
                                <m:r>
                                  <a:rPr lang="en-GB" sz="2400" i="1">
                                    <a:solidFill>
                                      <a:prstClr val="black"/>
                                    </a:solidFill>
                                    <a:latin typeface="Cambria Math" panose="02040503050406030204" pitchFamily="18" charset="0"/>
                                  </a:rPr>
                                  <m:t>2</m:t>
                                </m:r>
                              </m:sup>
                            </m:sSubSup>
                          </m:e>
                        </m:nary>
                      </m:den>
                    </m:f>
                    <m:sSup>
                      <m:sSupPr>
                        <m:ctrlPr>
                          <a:rPr lang="en-GB" sz="2400" i="1">
                            <a:solidFill>
                              <a:prstClr val="black"/>
                            </a:solidFill>
                            <a:latin typeface="Cambria Math" panose="02040503050406030204" pitchFamily="18" charset="0"/>
                          </a:rPr>
                        </m:ctrlPr>
                      </m:sSupPr>
                      <m:e>
                        <m:r>
                          <a:rPr lang="en-GB" sz="2400" i="1">
                            <a:solidFill>
                              <a:prstClr val="black"/>
                            </a:solidFill>
                            <a:latin typeface="Cambria Math" panose="02040503050406030204" pitchFamily="18" charset="0"/>
                            <a:ea typeface="Cambria Math" panose="02040503050406030204" pitchFamily="18" charset="0"/>
                          </a:rPr>
                          <m:t>𝜎</m:t>
                        </m:r>
                      </m:e>
                      <m:sup>
                        <m:r>
                          <a:rPr lang="en-GB" sz="2400" i="1">
                            <a:solidFill>
                              <a:prstClr val="black"/>
                            </a:solidFill>
                            <a:latin typeface="Cambria Math" panose="02040503050406030204" pitchFamily="18" charset="0"/>
                          </a:rPr>
                          <m:t>2</m:t>
                        </m:r>
                      </m:sup>
                    </m:sSup>
                  </m:oMath>
                </a14:m>
                <a:r>
                  <a:rPr lang="en-GB" sz="2400" i="1" dirty="0">
                    <a:solidFill>
                      <a:prstClr val="black"/>
                    </a:solidFill>
                    <a:latin typeface="Cambria Math" panose="02040503050406030204" pitchFamily="18" charset="0"/>
                  </a:rPr>
                  <a:t> 		  </a:t>
                </a:r>
                <a14:m>
                  <m:oMath xmlns:m="http://schemas.openxmlformats.org/officeDocument/2006/math">
                    <m:r>
                      <a:rPr lang="en-GB" sz="2400" b="0" i="1" smtClean="0">
                        <a:latin typeface="Cambria Math" panose="02040503050406030204" pitchFamily="18" charset="0"/>
                      </a:rPr>
                      <m:t>𝑠</m:t>
                    </m:r>
                    <m:r>
                      <a:rPr lang="en-GB" sz="2400" i="1">
                        <a:latin typeface="Cambria Math" panose="02040503050406030204" pitchFamily="18" charset="0"/>
                      </a:rPr>
                      <m:t>𝑒</m:t>
                    </m:r>
                    <m:d>
                      <m:dPr>
                        <m:ctrlPr>
                          <a:rPr lang="en-GB" sz="2400" i="1">
                            <a:latin typeface="Cambria Math" panose="02040503050406030204" pitchFamily="18" charset="0"/>
                          </a:rPr>
                        </m:ctrlPr>
                      </m:dPr>
                      <m:e>
                        <m:sSub>
                          <m:sSubPr>
                            <m:ctrlPr>
                              <a:rPr lang="en-GB" sz="2400" i="1">
                                <a:latin typeface="Cambria Math" panose="02040503050406030204" pitchFamily="18" charset="0"/>
                              </a:rPr>
                            </m:ctrlPr>
                          </m:sSubPr>
                          <m:e>
                            <m:r>
                              <a:rPr lang="en-GB" sz="2400" i="1">
                                <a:latin typeface="Cambria Math" panose="02040503050406030204" pitchFamily="18" charset="0"/>
                              </a:rPr>
                              <m:t>𝑏</m:t>
                            </m:r>
                          </m:e>
                          <m:sub>
                            <m:r>
                              <a:rPr lang="en-GB" sz="2400" b="0" i="1" smtClean="0">
                                <a:latin typeface="Cambria Math" panose="02040503050406030204" pitchFamily="18" charset="0"/>
                              </a:rPr>
                              <m:t>0</m:t>
                            </m:r>
                          </m:sub>
                        </m:sSub>
                      </m:e>
                    </m:d>
                    <m:r>
                      <a:rPr lang="en-GB" sz="2400" i="1">
                        <a:latin typeface="Cambria Math" panose="02040503050406030204" pitchFamily="18" charset="0"/>
                      </a:rPr>
                      <m:t>=</m:t>
                    </m:r>
                    <m:rad>
                      <m:radPr>
                        <m:degHide m:val="on"/>
                        <m:ctrlPr>
                          <a:rPr lang="en-GB" sz="2400" i="1">
                            <a:latin typeface="Cambria Math" panose="02040503050406030204" pitchFamily="18" charset="0"/>
                          </a:rPr>
                        </m:ctrlPr>
                      </m:radPr>
                      <m:deg/>
                      <m:e>
                        <m:r>
                          <a:rPr lang="en-GB" sz="2400" i="1">
                            <a:latin typeface="Cambria Math" panose="02040503050406030204" pitchFamily="18" charset="0"/>
                          </a:rPr>
                          <m:t>𝑉𝑎𝑟</m:t>
                        </m:r>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𝑏</m:t>
                            </m:r>
                          </m:e>
                          <m:sub>
                            <m:r>
                              <a:rPr lang="en-GB" sz="2400" b="0" i="1" smtClean="0">
                                <a:latin typeface="Cambria Math" panose="02040503050406030204" pitchFamily="18" charset="0"/>
                              </a:rPr>
                              <m:t>0</m:t>
                            </m:r>
                          </m:sub>
                        </m:sSub>
                        <m:r>
                          <a:rPr lang="en-GB" sz="2400" i="1">
                            <a:latin typeface="Cambria Math" panose="02040503050406030204" pitchFamily="18" charset="0"/>
                          </a:rPr>
                          <m:t>)</m:t>
                        </m:r>
                      </m:e>
                    </m:rad>
                  </m:oMath>
                </a14:m>
                <a:endParaRPr lang="en-GB" sz="2400" dirty="0"/>
              </a:p>
              <a:p>
                <a:pPr marL="0" lvl="0" indent="0">
                  <a:buNone/>
                </a:pPr>
                <a:endParaRPr lang="en-GB" sz="2400" dirty="0"/>
              </a:p>
              <a:p>
                <a:pPr marL="0" indent="0">
                  <a:buNone/>
                </a:pPr>
                <a14:m>
                  <m:oMath xmlns:m="http://schemas.openxmlformats.org/officeDocument/2006/math">
                    <m:r>
                      <a:rPr lang="en-GB" sz="2400" i="1">
                        <a:solidFill>
                          <a:prstClr val="black"/>
                        </a:solidFill>
                        <a:latin typeface="Cambria Math" panose="02040503050406030204" pitchFamily="18" charset="0"/>
                      </a:rPr>
                      <m:t>𝑉𝑎𝑟</m:t>
                    </m:r>
                    <m:d>
                      <m:dPr>
                        <m:ctrlPr>
                          <a:rPr lang="en-GB" sz="2400" i="1">
                            <a:solidFill>
                              <a:prstClr val="black"/>
                            </a:solidFill>
                            <a:latin typeface="Cambria Math" panose="02040503050406030204" pitchFamily="18" charset="0"/>
                          </a:rPr>
                        </m:ctrlPr>
                      </m:dPr>
                      <m:e>
                        <m:sSub>
                          <m:sSubPr>
                            <m:ctrlPr>
                              <a:rPr lang="en-GB" sz="2400" i="1">
                                <a:solidFill>
                                  <a:prstClr val="black"/>
                                </a:solidFill>
                                <a:latin typeface="Cambria Math" panose="02040503050406030204" pitchFamily="18" charset="0"/>
                              </a:rPr>
                            </m:ctrlPr>
                          </m:sSubPr>
                          <m:e>
                            <m:r>
                              <a:rPr lang="en-GB" sz="2400" i="1">
                                <a:solidFill>
                                  <a:prstClr val="black"/>
                                </a:solidFill>
                                <a:latin typeface="Cambria Math" panose="02040503050406030204" pitchFamily="18" charset="0"/>
                              </a:rPr>
                              <m:t>𝑏</m:t>
                            </m:r>
                          </m:e>
                          <m:sub>
                            <m:r>
                              <a:rPr lang="en-GB" sz="2400" b="0" i="1" smtClean="0">
                                <a:solidFill>
                                  <a:prstClr val="black"/>
                                </a:solidFill>
                                <a:latin typeface="Cambria Math" panose="02040503050406030204" pitchFamily="18" charset="0"/>
                              </a:rPr>
                              <m:t>1</m:t>
                            </m:r>
                          </m:sub>
                        </m:sSub>
                      </m:e>
                    </m:d>
                    <m:r>
                      <a:rPr lang="en-GB" sz="2400" i="1">
                        <a:solidFill>
                          <a:prstClr val="black"/>
                        </a:solidFill>
                        <a:latin typeface="Cambria Math" panose="02040503050406030204" pitchFamily="18" charset="0"/>
                      </a:rPr>
                      <m:t>=</m:t>
                    </m:r>
                    <m:f>
                      <m:fPr>
                        <m:ctrlPr>
                          <a:rPr lang="en-GB" sz="2400" i="1">
                            <a:solidFill>
                              <a:prstClr val="black"/>
                            </a:solidFill>
                            <a:latin typeface="Cambria Math" panose="02040503050406030204" pitchFamily="18" charset="0"/>
                          </a:rPr>
                        </m:ctrlPr>
                      </m:fPr>
                      <m:num>
                        <m:sSup>
                          <m:sSupPr>
                            <m:ctrlPr>
                              <a:rPr lang="en-GB" sz="2400" i="1">
                                <a:solidFill>
                                  <a:prstClr val="black"/>
                                </a:solidFill>
                                <a:latin typeface="Cambria Math" panose="02040503050406030204" pitchFamily="18" charset="0"/>
                              </a:rPr>
                            </m:ctrlPr>
                          </m:sSupPr>
                          <m:e>
                            <m:r>
                              <a:rPr lang="en-GB" sz="2400" i="1">
                                <a:solidFill>
                                  <a:prstClr val="black"/>
                                </a:solidFill>
                                <a:latin typeface="Cambria Math" panose="02040503050406030204" pitchFamily="18" charset="0"/>
                                <a:ea typeface="Cambria Math" panose="02040503050406030204" pitchFamily="18" charset="0"/>
                              </a:rPr>
                              <m:t>𝜎</m:t>
                            </m:r>
                          </m:e>
                          <m:sup>
                            <m:r>
                              <a:rPr lang="en-GB" sz="2400" i="1">
                                <a:solidFill>
                                  <a:prstClr val="black"/>
                                </a:solidFill>
                                <a:latin typeface="Cambria Math" panose="02040503050406030204" pitchFamily="18" charset="0"/>
                              </a:rPr>
                              <m:t>2</m:t>
                            </m:r>
                          </m:sup>
                        </m:sSup>
                      </m:num>
                      <m:den>
                        <m:nary>
                          <m:naryPr>
                            <m:chr m:val="∑"/>
                            <m:subHide m:val="on"/>
                            <m:supHide m:val="on"/>
                            <m:ctrlPr>
                              <a:rPr lang="en-GB" sz="2400" i="1">
                                <a:solidFill>
                                  <a:prstClr val="black"/>
                                </a:solidFill>
                                <a:latin typeface="Cambria Math" panose="02040503050406030204" pitchFamily="18" charset="0"/>
                              </a:rPr>
                            </m:ctrlPr>
                          </m:naryPr>
                          <m:sub/>
                          <m:sup/>
                          <m:e>
                            <m:sSubSup>
                              <m:sSubSupPr>
                                <m:ctrlPr>
                                  <a:rPr lang="en-GB" sz="2400" i="1">
                                    <a:solidFill>
                                      <a:prstClr val="black"/>
                                    </a:solidFill>
                                    <a:latin typeface="Cambria Math" panose="02040503050406030204" pitchFamily="18" charset="0"/>
                                  </a:rPr>
                                </m:ctrlPr>
                              </m:sSubSupPr>
                              <m:e>
                                <m:r>
                                  <a:rPr lang="en-GB" sz="2400" i="1">
                                    <a:solidFill>
                                      <a:prstClr val="black"/>
                                    </a:solidFill>
                                    <a:latin typeface="Cambria Math" panose="02040503050406030204" pitchFamily="18" charset="0"/>
                                  </a:rPr>
                                  <m:t>𝑥</m:t>
                                </m:r>
                              </m:e>
                              <m:sub>
                                <m:r>
                                  <a:rPr lang="en-GB" sz="2400" i="1">
                                    <a:solidFill>
                                      <a:prstClr val="black"/>
                                    </a:solidFill>
                                    <a:latin typeface="Cambria Math" panose="02040503050406030204" pitchFamily="18" charset="0"/>
                                  </a:rPr>
                                  <m:t>𝑖</m:t>
                                </m:r>
                              </m:sub>
                              <m:sup>
                                <m:r>
                                  <a:rPr lang="en-GB" sz="2400" i="1">
                                    <a:solidFill>
                                      <a:prstClr val="black"/>
                                    </a:solidFill>
                                    <a:latin typeface="Cambria Math" panose="02040503050406030204" pitchFamily="18" charset="0"/>
                                  </a:rPr>
                                  <m:t>2</m:t>
                                </m:r>
                              </m:sup>
                            </m:sSubSup>
                          </m:e>
                        </m:nary>
                      </m:den>
                    </m:f>
                  </m:oMath>
                </a14:m>
                <a:r>
                  <a:rPr lang="en-GB" sz="2400" dirty="0"/>
                  <a:t>   			   s</a:t>
                </a:r>
                <a14:m>
                  <m:oMath xmlns:m="http://schemas.openxmlformats.org/officeDocument/2006/math">
                    <m:r>
                      <a:rPr lang="en-GB" sz="2400" i="1">
                        <a:latin typeface="Cambria Math" panose="02040503050406030204" pitchFamily="18" charset="0"/>
                      </a:rPr>
                      <m:t>𝑒</m:t>
                    </m:r>
                    <m:d>
                      <m:dPr>
                        <m:ctrlPr>
                          <a:rPr lang="en-GB" sz="2400" i="1">
                            <a:latin typeface="Cambria Math" panose="02040503050406030204" pitchFamily="18" charset="0"/>
                          </a:rPr>
                        </m:ctrlPr>
                      </m:dPr>
                      <m:e>
                        <m:sSub>
                          <m:sSubPr>
                            <m:ctrlPr>
                              <a:rPr lang="en-GB" sz="2400" i="1">
                                <a:latin typeface="Cambria Math" panose="02040503050406030204" pitchFamily="18" charset="0"/>
                              </a:rPr>
                            </m:ctrlPr>
                          </m:sSubPr>
                          <m:e>
                            <m:r>
                              <a:rPr lang="en-GB" sz="2400" i="1">
                                <a:latin typeface="Cambria Math" panose="02040503050406030204" pitchFamily="18" charset="0"/>
                              </a:rPr>
                              <m:t>𝑏</m:t>
                            </m:r>
                          </m:e>
                          <m:sub>
                            <m:r>
                              <a:rPr lang="en-GB" sz="2400" b="0" i="1" smtClean="0">
                                <a:latin typeface="Cambria Math" panose="02040503050406030204" pitchFamily="18" charset="0"/>
                              </a:rPr>
                              <m:t>1</m:t>
                            </m:r>
                          </m:sub>
                        </m:sSub>
                      </m:e>
                    </m:d>
                    <m:r>
                      <a:rPr lang="en-GB" sz="2400" i="1">
                        <a:latin typeface="Cambria Math" panose="02040503050406030204" pitchFamily="18" charset="0"/>
                      </a:rPr>
                      <m:t>=</m:t>
                    </m:r>
                    <m:rad>
                      <m:radPr>
                        <m:degHide m:val="on"/>
                        <m:ctrlPr>
                          <a:rPr lang="en-GB" sz="2400" i="1">
                            <a:latin typeface="Cambria Math" panose="02040503050406030204" pitchFamily="18" charset="0"/>
                          </a:rPr>
                        </m:ctrlPr>
                      </m:radPr>
                      <m:deg/>
                      <m:e>
                        <m:r>
                          <a:rPr lang="en-GB" sz="2400" i="1">
                            <a:latin typeface="Cambria Math" panose="02040503050406030204" pitchFamily="18" charset="0"/>
                          </a:rPr>
                          <m:t>𝑉𝑎𝑟</m:t>
                        </m:r>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𝑏</m:t>
                            </m:r>
                          </m:e>
                          <m:sub>
                            <m:r>
                              <a:rPr lang="en-GB" sz="2400" b="0" i="1" smtClean="0">
                                <a:latin typeface="Cambria Math" panose="02040503050406030204" pitchFamily="18" charset="0"/>
                              </a:rPr>
                              <m:t>1</m:t>
                            </m:r>
                          </m:sub>
                        </m:sSub>
                        <m:r>
                          <a:rPr lang="en-GB" sz="2400" i="1">
                            <a:latin typeface="Cambria Math" panose="02040503050406030204" pitchFamily="18" charset="0"/>
                          </a:rPr>
                          <m:t>)</m:t>
                        </m:r>
                      </m:e>
                    </m:rad>
                  </m:oMath>
                </a14:m>
                <a:endParaRPr lang="en-GB" sz="2400" dirty="0"/>
              </a:p>
              <a:p>
                <a:pPr marL="0" lvl="0" indent="0">
                  <a:buNone/>
                </a:pPr>
                <a:endParaRPr lang="en-GB" sz="2400" dirty="0"/>
              </a:p>
              <a:p>
                <a:pPr marL="0" indent="0">
                  <a:buNone/>
                </a:pPr>
                <a:r>
                  <a:rPr lang="en-US" sz="2400" dirty="0"/>
                  <a:t>Note: 	</a:t>
                </a:r>
                <a14:m>
                  <m:oMath xmlns:m="http://schemas.openxmlformats.org/officeDocument/2006/math">
                    <m:sSub>
                      <m:sSubPr>
                        <m:ctrlPr>
                          <a:rPr lang="en-US" sz="2400" i="1">
                            <a:latin typeface="Cambria Math" panose="02040503050406030204" pitchFamily="18" charset="0"/>
                          </a:rPr>
                        </m:ctrlPr>
                      </m:sSubPr>
                      <m:e>
                        <m:r>
                          <a:rPr lang="en-GB" sz="2400" i="1">
                            <a:latin typeface="Cambria Math" panose="02040503050406030204" pitchFamily="18" charset="0"/>
                          </a:rPr>
                          <m:t>𝑥</m:t>
                        </m:r>
                      </m:e>
                      <m:sub>
                        <m:r>
                          <a:rPr lang="en-GB" sz="2400" i="1">
                            <a:latin typeface="Cambria Math" panose="02040503050406030204" pitchFamily="18" charset="0"/>
                          </a:rPr>
                          <m:t>𝑖</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𝑋</m:t>
                        </m:r>
                      </m:e>
                      <m:sub>
                        <m:r>
                          <a:rPr lang="en-GB" sz="2400" i="1">
                            <a:latin typeface="Cambria Math" panose="02040503050406030204" pitchFamily="18" charset="0"/>
                          </a:rPr>
                          <m:t>𝑖</m:t>
                        </m:r>
                      </m:sub>
                    </m:sSub>
                    <m:r>
                      <a:rPr lang="en-GB" sz="2400" i="1">
                        <a:latin typeface="Cambria Math" panose="02040503050406030204" pitchFamily="18" charset="0"/>
                      </a:rPr>
                      <m:t>−</m:t>
                    </m:r>
                    <m:acc>
                      <m:accPr>
                        <m:chr m:val="̅"/>
                        <m:ctrlPr>
                          <a:rPr lang="en-GB" sz="2400" i="1">
                            <a:latin typeface="Cambria Math" panose="02040503050406030204" pitchFamily="18" charset="0"/>
                          </a:rPr>
                        </m:ctrlPr>
                      </m:accPr>
                      <m:e>
                        <m:r>
                          <a:rPr lang="en-GB" sz="2400" i="1">
                            <a:latin typeface="Cambria Math" panose="02040503050406030204" pitchFamily="18" charset="0"/>
                          </a:rPr>
                          <m:t>𝑋</m:t>
                        </m:r>
                      </m:e>
                    </m:acc>
                  </m:oMath>
                </a14:m>
                <a:r>
                  <a:rPr lang="en-US" sz="2400" dirty="0"/>
                  <a:t>   </a:t>
                </a:r>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CD03B538-7785-FE76-48AC-DA66EDB64E36}"/>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a:stretch>
              </a:blipFill>
            </p:spPr>
            <p:txBody>
              <a:bodyPr/>
              <a:lstStyle/>
              <a:p>
                <a:r>
                  <a:rPr lang="en-GB">
                    <a:noFill/>
                  </a:rPr>
                  <a:t> </a:t>
                </a:r>
              </a:p>
            </p:txBody>
          </p:sp>
        </mc:Fallback>
      </mc:AlternateContent>
    </p:spTree>
    <p:extLst>
      <p:ext uri="{BB962C8B-B14F-4D97-AF65-F5344CB8AC3E}">
        <p14:creationId xmlns:p14="http://schemas.microsoft.com/office/powerpoint/2010/main" val="2029188311"/>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029A6-7EDB-7912-596A-DF3AF4D2C4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1F3865-CEBB-0714-744D-A758D638DF6A}"/>
              </a:ext>
            </a:extLst>
          </p:cNvPr>
          <p:cNvSpPr>
            <a:spLocks noGrp="1"/>
          </p:cNvSpPr>
          <p:nvPr>
            <p:ph type="title"/>
          </p:nvPr>
        </p:nvSpPr>
        <p:spPr/>
        <p:txBody>
          <a:bodyPr>
            <a:normAutofit fontScale="90000"/>
          </a:bodyPr>
          <a:lstStyle/>
          <a:p>
            <a:r>
              <a:rPr lang="en-GB" dirty="0"/>
              <a:t>S</a:t>
            </a:r>
            <a:r>
              <a:rPr lang="en-GB" noProof="0" dirty="0" err="1"/>
              <a:t>tandard</a:t>
            </a:r>
            <a:r>
              <a:rPr lang="en-GB" noProof="0" dirty="0"/>
              <a:t> error for slope coefficient in the advertisement-sales example lecture 21</a:t>
            </a: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77C0AB4-F660-5EE8-497F-E012AE98B565}"/>
                  </a:ext>
                </a:extLst>
              </p:cNvPr>
              <p:cNvSpPr>
                <a:spLocks noGrp="1"/>
              </p:cNvSpPr>
              <p:nvPr>
                <p:ph type="body" sz="quarter" idx="11"/>
              </p:nvPr>
            </p:nvSpPr>
            <p:spPr>
              <a:xfrm>
                <a:off x="900112" y="1700213"/>
                <a:ext cx="7632327" cy="5157787"/>
              </a:xfrm>
            </p:spPr>
            <p:txBody>
              <a:bodyPr/>
              <a:lstStyle/>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𝑠𝑒</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e>
                      </m:d>
                      <m:r>
                        <a:rPr lang="en-GB" b="0" i="1" smtClean="0">
                          <a:latin typeface="Cambria Math" panose="02040503050406030204" pitchFamily="18" charset="0"/>
                        </a:rPr>
                        <m:t>=</m:t>
                      </m:r>
                      <m:rad>
                        <m:radPr>
                          <m:degHide m:val="on"/>
                          <m:ctrlPr>
                            <a:rPr lang="en-GB" b="0" i="1" smtClean="0">
                              <a:latin typeface="Cambria Math" panose="02040503050406030204" pitchFamily="18" charset="0"/>
                            </a:rPr>
                          </m:ctrlPr>
                        </m:radPr>
                        <m:deg/>
                        <m:e>
                          <m:f>
                            <m:fPr>
                              <m:ctrlPr>
                                <a:rPr lang="en-GB" i="1">
                                  <a:solidFill>
                                    <a:prstClr val="black"/>
                                  </a:solidFill>
                                  <a:latin typeface="Cambria Math" panose="02040503050406030204" pitchFamily="18" charset="0"/>
                                </a:rPr>
                              </m:ctrlPr>
                            </m:fPr>
                            <m:num>
                              <m:nary>
                                <m:naryPr>
                                  <m:chr m:val="∑"/>
                                  <m:subHide m:val="on"/>
                                  <m:supHide m:val="on"/>
                                  <m:ctrlPr>
                                    <a:rPr lang="en-GB" i="1" smtClean="0">
                                      <a:solidFill>
                                        <a:prstClr val="black"/>
                                      </a:solidFill>
                                      <a:latin typeface="Cambria Math" panose="02040503050406030204" pitchFamily="18" charset="0"/>
                                    </a:rPr>
                                  </m:ctrlPr>
                                </m:naryPr>
                                <m:sub/>
                                <m:sup/>
                                <m:e>
                                  <m:sSubSup>
                                    <m:sSubSupPr>
                                      <m:ctrlPr>
                                        <a:rPr lang="en-GB" i="1" smtClean="0">
                                          <a:solidFill>
                                            <a:prstClr val="black"/>
                                          </a:solidFill>
                                          <a:latin typeface="Cambria Math" panose="02040503050406030204" pitchFamily="18" charset="0"/>
                                        </a:rPr>
                                      </m:ctrlPr>
                                    </m:sSubSupPr>
                                    <m:e>
                                      <m:r>
                                        <a:rPr lang="en-GB" b="0" i="1" smtClean="0">
                                          <a:solidFill>
                                            <a:prstClr val="black"/>
                                          </a:solidFill>
                                          <a:latin typeface="Cambria Math" panose="02040503050406030204" pitchFamily="18" charset="0"/>
                                        </a:rPr>
                                        <m:t>𝑒</m:t>
                                      </m:r>
                                    </m:e>
                                    <m:sub>
                                      <m:r>
                                        <a:rPr lang="en-GB" b="0" i="1" smtClean="0">
                                          <a:solidFill>
                                            <a:prstClr val="black"/>
                                          </a:solidFill>
                                          <a:latin typeface="Cambria Math" panose="02040503050406030204" pitchFamily="18" charset="0"/>
                                        </a:rPr>
                                        <m:t>𝑡</m:t>
                                      </m:r>
                                    </m:sub>
                                    <m:sup>
                                      <m:r>
                                        <a:rPr lang="en-GB" b="0" i="1" smtClean="0">
                                          <a:solidFill>
                                            <a:prstClr val="black"/>
                                          </a:solidFill>
                                          <a:latin typeface="Cambria Math" panose="02040503050406030204" pitchFamily="18" charset="0"/>
                                        </a:rPr>
                                        <m:t>2</m:t>
                                      </m:r>
                                    </m:sup>
                                  </m:sSubSup>
                                </m:e>
                              </m:nary>
                            </m:num>
                            <m:den>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𝑛</m:t>
                              </m:r>
                              <m:r>
                                <a:rPr lang="en-GB" b="0" i="1" smtClean="0">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𝑘</m:t>
                              </m:r>
                              <m:r>
                                <a:rPr lang="en-GB" b="0" i="1" smtClean="0">
                                  <a:solidFill>
                                    <a:prstClr val="black"/>
                                  </a:solidFill>
                                  <a:latin typeface="Cambria Math" panose="02040503050406030204" pitchFamily="18" charset="0"/>
                                </a:rPr>
                                <m:t>)</m:t>
                              </m:r>
                              <m:nary>
                                <m:naryPr>
                                  <m:chr m:val="∑"/>
                                  <m:subHide m:val="on"/>
                                  <m:supHide m:val="on"/>
                                  <m:ctrlPr>
                                    <a:rPr lang="en-GB" i="1">
                                      <a:solidFill>
                                        <a:prstClr val="black"/>
                                      </a:solidFill>
                                      <a:latin typeface="Cambria Math" panose="02040503050406030204" pitchFamily="18" charset="0"/>
                                    </a:rPr>
                                  </m:ctrlPr>
                                </m:naryPr>
                                <m:sub/>
                                <m:sup/>
                                <m:e>
                                  <m:sSup>
                                    <m:sSupPr>
                                      <m:ctrlPr>
                                        <a:rPr lang="en-GB" i="1" smtClean="0">
                                          <a:solidFill>
                                            <a:prstClr val="black"/>
                                          </a:solidFill>
                                          <a:latin typeface="Cambria Math" panose="02040503050406030204" pitchFamily="18" charset="0"/>
                                        </a:rPr>
                                      </m:ctrlPr>
                                    </m:sSupPr>
                                    <m:e>
                                      <m:d>
                                        <m:dPr>
                                          <m:ctrlPr>
                                            <a:rPr lang="en-GB" i="1" smtClean="0">
                                              <a:solidFill>
                                                <a:prstClr val="black"/>
                                              </a:solidFill>
                                              <a:latin typeface="Cambria Math" panose="02040503050406030204" pitchFamily="18" charset="0"/>
                                            </a:rPr>
                                          </m:ctrlPr>
                                        </m:dPr>
                                        <m:e>
                                          <m:sSub>
                                            <m:sSubPr>
                                              <m:ctrlPr>
                                                <a:rPr lang="en-GB" i="1" smtClean="0">
                                                  <a:solidFill>
                                                    <a:prstClr val="black"/>
                                                  </a:solidFill>
                                                  <a:latin typeface="Cambria Math" panose="02040503050406030204" pitchFamily="18" charset="0"/>
                                                </a:rPr>
                                              </m:ctrlPr>
                                            </m:sSubPr>
                                            <m:e>
                                              <m:r>
                                                <a:rPr lang="en-GB" b="0" i="1" smtClean="0">
                                                  <a:solidFill>
                                                    <a:prstClr val="black"/>
                                                  </a:solidFill>
                                                  <a:latin typeface="Cambria Math" panose="02040503050406030204" pitchFamily="18" charset="0"/>
                                                </a:rPr>
                                                <m:t>𝑋</m:t>
                                              </m:r>
                                            </m:e>
                                            <m:sub>
                                              <m:r>
                                                <a:rPr lang="en-GB" b="0" i="1" smtClean="0">
                                                  <a:solidFill>
                                                    <a:prstClr val="black"/>
                                                  </a:solidFill>
                                                  <a:latin typeface="Cambria Math" panose="02040503050406030204" pitchFamily="18" charset="0"/>
                                                </a:rPr>
                                                <m:t>𝑡</m:t>
                                              </m:r>
                                            </m:sub>
                                          </m:sSub>
                                          <m:r>
                                            <a:rPr lang="en-GB" b="0" i="1" smtClean="0">
                                              <a:solidFill>
                                                <a:prstClr val="black"/>
                                              </a:solidFill>
                                              <a:latin typeface="Cambria Math" panose="02040503050406030204" pitchFamily="18" charset="0"/>
                                            </a:rPr>
                                            <m:t>−</m:t>
                                          </m:r>
                                          <m:acc>
                                            <m:accPr>
                                              <m:chr m:val="̅"/>
                                              <m:ctrlPr>
                                                <a:rPr lang="en-GB" b="0" i="1" smtClean="0">
                                                  <a:solidFill>
                                                    <a:prstClr val="black"/>
                                                  </a:solidFill>
                                                  <a:latin typeface="Cambria Math" panose="02040503050406030204" pitchFamily="18" charset="0"/>
                                                </a:rPr>
                                              </m:ctrlPr>
                                            </m:accPr>
                                            <m:e>
                                              <m:r>
                                                <a:rPr lang="en-GB" b="0" i="1" smtClean="0">
                                                  <a:solidFill>
                                                    <a:prstClr val="black"/>
                                                  </a:solidFill>
                                                  <a:latin typeface="Cambria Math" panose="02040503050406030204" pitchFamily="18" charset="0"/>
                                                </a:rPr>
                                                <m:t>𝑋</m:t>
                                              </m:r>
                                            </m:e>
                                          </m:acc>
                                        </m:e>
                                      </m:d>
                                    </m:e>
                                    <m:sup>
                                      <m:r>
                                        <a:rPr lang="en-GB" b="0" i="1" smtClean="0">
                                          <a:solidFill>
                                            <a:prstClr val="black"/>
                                          </a:solidFill>
                                          <a:latin typeface="Cambria Math" panose="02040503050406030204" pitchFamily="18" charset="0"/>
                                        </a:rPr>
                                        <m:t>2</m:t>
                                      </m:r>
                                    </m:sup>
                                  </m:sSup>
                                </m:e>
                              </m:nary>
                            </m:den>
                          </m:f>
                        </m:e>
                      </m:rad>
                      <m:r>
                        <a:rPr lang="en-GB" b="0" i="1" smtClean="0">
                          <a:latin typeface="Cambria Math" panose="02040503050406030204" pitchFamily="18" charset="0"/>
                        </a:rPr>
                        <m:t>=</m:t>
                      </m:r>
                      <m:rad>
                        <m:radPr>
                          <m:degHide m:val="on"/>
                          <m:ctrlPr>
                            <a:rPr lang="en-GB" i="1">
                              <a:latin typeface="Cambria Math" panose="02040503050406030204" pitchFamily="18" charset="0"/>
                            </a:rPr>
                          </m:ctrlPr>
                        </m:radPr>
                        <m:deg/>
                        <m:e>
                          <m:f>
                            <m:fPr>
                              <m:ctrlPr>
                                <a:rPr lang="en-GB" i="1">
                                  <a:solidFill>
                                    <a:prstClr val="black"/>
                                  </a:solidFill>
                                  <a:latin typeface="Cambria Math" panose="02040503050406030204" pitchFamily="18" charset="0"/>
                                </a:rPr>
                              </m:ctrlPr>
                            </m:fPr>
                            <m:num>
                              <m:r>
                                <a:rPr lang="en-GB" b="0" i="1" smtClean="0">
                                  <a:solidFill>
                                    <a:prstClr val="black"/>
                                  </a:solidFill>
                                  <a:latin typeface="Cambria Math" panose="02040503050406030204" pitchFamily="18" charset="0"/>
                                </a:rPr>
                                <m:t>65.47</m:t>
                              </m:r>
                            </m:num>
                            <m:den>
                              <m:d>
                                <m:dPr>
                                  <m:ctrlPr>
                                    <a:rPr lang="en-GB" b="0" i="1" smtClean="0">
                                      <a:solidFill>
                                        <a:prstClr val="black"/>
                                      </a:solidFill>
                                      <a:latin typeface="Cambria Math" panose="02040503050406030204" pitchFamily="18" charset="0"/>
                                    </a:rPr>
                                  </m:ctrlPr>
                                </m:dPr>
                                <m:e>
                                  <m:r>
                                    <a:rPr lang="en-GB" b="0" i="1" smtClean="0">
                                      <a:solidFill>
                                        <a:prstClr val="black"/>
                                      </a:solidFill>
                                      <a:latin typeface="Cambria Math" panose="02040503050406030204" pitchFamily="18" charset="0"/>
                                    </a:rPr>
                                    <m:t>10</m:t>
                                  </m:r>
                                  <m:r>
                                    <a:rPr lang="en-GB" i="1">
                                      <a:solidFill>
                                        <a:prstClr val="black"/>
                                      </a:solidFill>
                                      <a:latin typeface="Cambria Math" panose="02040503050406030204" pitchFamily="18" charset="0"/>
                                    </a:rPr>
                                    <m:t>−</m:t>
                                  </m:r>
                                  <m:r>
                                    <a:rPr lang="en-GB" b="0" i="1" smtClean="0">
                                      <a:solidFill>
                                        <a:prstClr val="black"/>
                                      </a:solidFill>
                                      <a:latin typeface="Cambria Math" panose="02040503050406030204" pitchFamily="18" charset="0"/>
                                    </a:rPr>
                                    <m:t>2</m:t>
                                  </m:r>
                                </m:e>
                              </m:d>
                              <m:r>
                                <a:rPr lang="en-GB" b="0" i="1" smtClean="0">
                                  <a:solidFill>
                                    <a:prstClr val="black"/>
                                  </a:solidFill>
                                  <a:latin typeface="Cambria Math" panose="02040503050406030204" pitchFamily="18" charset="0"/>
                                </a:rPr>
                                <m:t>∗30</m:t>
                              </m:r>
                              <m:r>
                                <a:rPr lang="en-GB" i="1" smtClean="0">
                                  <a:solidFill>
                                    <a:prstClr val="black"/>
                                  </a:solidFill>
                                  <a:latin typeface="Cambria Math" panose="02040503050406030204" pitchFamily="18" charset="0"/>
                                </a:rPr>
                                <m:t> </m:t>
                              </m:r>
                            </m:den>
                          </m:f>
                        </m:e>
                      </m:rad>
                      <m:r>
                        <a:rPr lang="en-GB" b="0" i="1" smtClean="0">
                          <a:solidFill>
                            <a:prstClr val="black"/>
                          </a:solidFill>
                          <a:latin typeface="Cambria Math" panose="02040503050406030204" pitchFamily="18" charset="0"/>
                        </a:rPr>
                        <m:t>=0.52</m:t>
                      </m:r>
                    </m:oMath>
                  </m:oMathPara>
                </a14:m>
                <a:endParaRPr lang="en-GB"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477C0AB4-F660-5EE8-497F-E012AE98B565}"/>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592972C-4342-E9F1-1CFA-6FF66221E719}"/>
                  </a:ext>
                </a:extLst>
              </p:cNvPr>
              <p:cNvGraphicFramePr>
                <a:graphicFrameLocks noGrp="1"/>
              </p:cNvGraphicFramePr>
              <p:nvPr>
                <p:extLst>
                  <p:ext uri="{D42A27DB-BD31-4B8C-83A1-F6EECF244321}">
                    <p14:modId xmlns:p14="http://schemas.microsoft.com/office/powerpoint/2010/main" val="785667780"/>
                  </p:ext>
                </p:extLst>
              </p:nvPr>
            </p:nvGraphicFramePr>
            <p:xfrm>
              <a:off x="900111" y="1916832"/>
              <a:ext cx="4752528" cy="2862009"/>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3980971176"/>
                        </a:ext>
                      </a:extLst>
                    </a:gridCol>
                    <a:gridCol w="576064">
                      <a:extLst>
                        <a:ext uri="{9D8B030D-6E8A-4147-A177-3AD203B41FA5}">
                          <a16:colId xmlns:a16="http://schemas.microsoft.com/office/drawing/2014/main" val="196620222"/>
                        </a:ext>
                      </a:extLst>
                    </a:gridCol>
                    <a:gridCol w="720080">
                      <a:extLst>
                        <a:ext uri="{9D8B030D-6E8A-4147-A177-3AD203B41FA5}">
                          <a16:colId xmlns:a16="http://schemas.microsoft.com/office/drawing/2014/main" val="2967405616"/>
                        </a:ext>
                      </a:extLst>
                    </a:gridCol>
                    <a:gridCol w="1008112">
                      <a:extLst>
                        <a:ext uri="{9D8B030D-6E8A-4147-A177-3AD203B41FA5}">
                          <a16:colId xmlns:a16="http://schemas.microsoft.com/office/drawing/2014/main" val="1134388232"/>
                        </a:ext>
                      </a:extLst>
                    </a:gridCol>
                    <a:gridCol w="936104">
                      <a:extLst>
                        <a:ext uri="{9D8B030D-6E8A-4147-A177-3AD203B41FA5}">
                          <a16:colId xmlns:a16="http://schemas.microsoft.com/office/drawing/2014/main" val="4173988344"/>
                        </a:ext>
                      </a:extLst>
                    </a:gridCol>
                    <a:gridCol w="936104">
                      <a:extLst>
                        <a:ext uri="{9D8B030D-6E8A-4147-A177-3AD203B41FA5}">
                          <a16:colId xmlns:a16="http://schemas.microsoft.com/office/drawing/2014/main" val="2268701162"/>
                        </a:ext>
                      </a:extLst>
                    </a:gridCol>
                  </a:tblGrid>
                  <a:tr h="184150">
                    <a:tc>
                      <a:txBody>
                        <a:bodyPr/>
                        <a:lstStyle/>
                        <a:p>
                          <a:pPr algn="l" fontAlgn="b">
                            <a:buNone/>
                          </a:pPr>
                          <a14:m>
                            <m:oMathPara xmlns:m="http://schemas.openxmlformats.org/officeDocument/2006/math">
                              <m:oMathParaPr>
                                <m:jc m:val="centerGroup"/>
                              </m:oMathParaPr>
                              <m:oMath xmlns:m="http://schemas.openxmlformats.org/officeDocument/2006/math">
                                <m:r>
                                  <a:rPr lang="en-GB" sz="1400" b="0" i="1" u="none" strike="noStrike" smtClean="0">
                                    <a:solidFill>
                                      <a:srgbClr val="000000"/>
                                    </a:solidFill>
                                    <a:effectLst/>
                                    <a:latin typeface="Cambria Math" panose="02040503050406030204" pitchFamily="18" charset="0"/>
                                  </a:rPr>
                                  <m:t>𝑋</m:t>
                                </m:r>
                              </m:oMath>
                            </m:oMathPara>
                          </a14:m>
                          <a:endParaRPr lang="en-GB" sz="1400" b="0" i="1" u="none" strike="noStrike" dirty="0">
                            <a:solidFill>
                              <a:srgbClr val="000000"/>
                            </a:solidFill>
                            <a:effectLst/>
                            <a:latin typeface="Aptos Narrow" panose="020B0004020202020204" pitchFamily="34" charset="0"/>
                          </a:endParaRPr>
                        </a:p>
                      </a:txBody>
                      <a:tcPr marL="6350" marR="6350" marT="6350" marB="0" anchor="b">
                        <a:solidFill>
                          <a:schemeClr val="bg2">
                            <a:lumMod val="90000"/>
                          </a:schemeClr>
                        </a:solidFill>
                      </a:tcPr>
                    </a:tc>
                    <a:tc>
                      <a:txBody>
                        <a:bodyPr/>
                        <a:lstStyle/>
                        <a:p>
                          <a:pPr algn="l" fontAlgn="b">
                            <a:buNone/>
                          </a:pPr>
                          <a14:m>
                            <m:oMathPara xmlns:m="http://schemas.openxmlformats.org/officeDocument/2006/math">
                              <m:oMathParaPr>
                                <m:jc m:val="centerGroup"/>
                              </m:oMathParaPr>
                              <m:oMath xmlns:m="http://schemas.openxmlformats.org/officeDocument/2006/math">
                                <m:r>
                                  <a:rPr lang="en-GB" sz="1400" b="0" i="1" u="none" strike="noStrike" smtClean="0">
                                    <a:solidFill>
                                      <a:srgbClr val="000000"/>
                                    </a:solidFill>
                                    <a:effectLst/>
                                    <a:latin typeface="Cambria Math" panose="02040503050406030204" pitchFamily="18" charset="0"/>
                                  </a:rPr>
                                  <m:t>𝑌</m:t>
                                </m:r>
                              </m:oMath>
                            </m:oMathPara>
                          </a14:m>
                          <a:endParaRPr lang="en-GB" sz="1400" b="0" i="1" u="none" strike="noStrike" dirty="0">
                            <a:solidFill>
                              <a:srgbClr val="000000"/>
                            </a:solidFill>
                            <a:effectLst/>
                            <a:latin typeface="Aptos Narrow" panose="020B0004020202020204" pitchFamily="34" charset="0"/>
                          </a:endParaRPr>
                        </a:p>
                      </a:txBody>
                      <a:tcPr marL="6350" marR="6350" marT="6350" marB="0" anchor="b">
                        <a:solidFill>
                          <a:schemeClr val="bg2">
                            <a:lumMod val="90000"/>
                          </a:schemeClr>
                        </a:solidFill>
                      </a:tcPr>
                    </a:tc>
                    <a:tc>
                      <a:txBody>
                        <a:bodyPr/>
                        <a:lstStyle/>
                        <a:p>
                          <a:pPr algn="l" fontAlgn="b">
                            <a:buNone/>
                          </a:pPr>
                          <a14:m>
                            <m:oMathPara xmlns:m="http://schemas.openxmlformats.org/officeDocument/2006/math">
                              <m:oMathParaPr>
                                <m:jc m:val="centerGroup"/>
                              </m:oMathParaPr>
                              <m:oMath xmlns:m="http://schemas.openxmlformats.org/officeDocument/2006/math">
                                <m:acc>
                                  <m:accPr>
                                    <m:chr m:val="̂"/>
                                    <m:ctrlPr>
                                      <a:rPr lang="en-GB" sz="1400" b="0" i="1" u="none" strike="noStrike" smtClean="0">
                                        <a:solidFill>
                                          <a:srgbClr val="000000"/>
                                        </a:solidFill>
                                        <a:effectLst/>
                                        <a:latin typeface="Cambria Math" panose="02040503050406030204" pitchFamily="18" charset="0"/>
                                      </a:rPr>
                                    </m:ctrlPr>
                                  </m:accPr>
                                  <m:e>
                                    <m:r>
                                      <a:rPr lang="en-GB" sz="1400" b="0" i="1" u="none" strike="noStrike" smtClean="0">
                                        <a:solidFill>
                                          <a:srgbClr val="000000"/>
                                        </a:solidFill>
                                        <a:effectLst/>
                                        <a:latin typeface="Cambria Math" panose="02040503050406030204" pitchFamily="18" charset="0"/>
                                      </a:rPr>
                                      <m:t>𝑌</m:t>
                                    </m:r>
                                  </m:e>
                                </m:acc>
                              </m:oMath>
                            </m:oMathPara>
                          </a14:m>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bg2">
                            <a:lumMod val="90000"/>
                          </a:schemeClr>
                        </a:solidFill>
                      </a:tcPr>
                    </a:tc>
                    <a:tc>
                      <a:txBody>
                        <a:bodyPr/>
                        <a:lstStyle/>
                        <a:p>
                          <a:pPr algn="l" fontAlgn="b">
                            <a:buNone/>
                          </a:pPr>
                          <a14:m>
                            <m:oMathPara xmlns:m="http://schemas.openxmlformats.org/officeDocument/2006/math">
                              <m:oMathParaPr>
                                <m:jc m:val="centerGroup"/>
                              </m:oMathParaPr>
                              <m:oMath xmlns:m="http://schemas.openxmlformats.org/officeDocument/2006/math">
                                <m:r>
                                  <a:rPr lang="en-GB" sz="1400" b="0" i="1" u="none" strike="noStrike" smtClean="0">
                                    <a:solidFill>
                                      <a:srgbClr val="000000"/>
                                    </a:solidFill>
                                    <a:effectLst/>
                                    <a:latin typeface="Cambria Math" panose="02040503050406030204" pitchFamily="18" charset="0"/>
                                  </a:rPr>
                                  <m:t>𝑌</m:t>
                                </m:r>
                                <m:r>
                                  <a:rPr lang="en-GB" sz="1400" b="0" i="1" u="none" strike="noStrike" smtClean="0">
                                    <a:solidFill>
                                      <a:srgbClr val="000000"/>
                                    </a:solidFill>
                                    <a:effectLst/>
                                    <a:latin typeface="Cambria Math" panose="02040503050406030204" pitchFamily="18" charset="0"/>
                                  </a:rPr>
                                  <m:t>−</m:t>
                                </m:r>
                                <m:acc>
                                  <m:accPr>
                                    <m:chr m:val="̂"/>
                                    <m:ctrlPr>
                                      <a:rPr lang="en-GB" sz="1400" b="0" i="1" u="none" strike="noStrike" smtClean="0">
                                        <a:solidFill>
                                          <a:srgbClr val="000000"/>
                                        </a:solidFill>
                                        <a:effectLst/>
                                        <a:latin typeface="Cambria Math" panose="02040503050406030204" pitchFamily="18" charset="0"/>
                                      </a:rPr>
                                    </m:ctrlPr>
                                  </m:accPr>
                                  <m:e>
                                    <m:r>
                                      <a:rPr lang="en-GB" sz="1400" b="0" i="1" u="none" strike="noStrike" smtClean="0">
                                        <a:solidFill>
                                          <a:srgbClr val="000000"/>
                                        </a:solidFill>
                                        <a:effectLst/>
                                        <a:latin typeface="Cambria Math" panose="02040503050406030204" pitchFamily="18" charset="0"/>
                                      </a:rPr>
                                      <m:t>𝑌</m:t>
                                    </m:r>
                                  </m:e>
                                </m:acc>
                                <m:r>
                                  <a:rPr lang="en-GB" sz="1400" b="0" i="1" u="none" strike="noStrike" smtClean="0">
                                    <a:solidFill>
                                      <a:srgbClr val="000000"/>
                                    </a:solidFill>
                                    <a:effectLst/>
                                    <a:latin typeface="Cambria Math" panose="02040503050406030204" pitchFamily="18" charset="0"/>
                                  </a:rPr>
                                  <m:t>=</m:t>
                                </m:r>
                                <m:r>
                                  <a:rPr lang="en-GB" sz="1400" b="0" i="1" u="none" strike="noStrike" smtClean="0">
                                    <a:solidFill>
                                      <a:srgbClr val="000000"/>
                                    </a:solidFill>
                                    <a:effectLst/>
                                    <a:latin typeface="Cambria Math" panose="02040503050406030204" pitchFamily="18" charset="0"/>
                                  </a:rPr>
                                  <m:t>𝑒</m:t>
                                </m:r>
                              </m:oMath>
                            </m:oMathPara>
                          </a14:m>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bg2">
                            <a:lumMod val="90000"/>
                          </a:schemeClr>
                        </a:solidFill>
                      </a:tcPr>
                    </a:tc>
                    <a:tc>
                      <a:txBody>
                        <a:bodyPr/>
                        <a:lstStyle/>
                        <a:p>
                          <a:pPr algn="l" fontAlgn="b">
                            <a:buNone/>
                          </a:pPr>
                          <a14:m>
                            <m:oMathPara xmlns:m="http://schemas.openxmlformats.org/officeDocument/2006/math">
                              <m:oMathParaPr>
                                <m:jc m:val="centerGroup"/>
                              </m:oMathParaPr>
                              <m:oMath xmlns:m="http://schemas.openxmlformats.org/officeDocument/2006/math">
                                <m:sSup>
                                  <m:sSupPr>
                                    <m:ctrlPr>
                                      <a:rPr lang="en-GB" sz="1400" b="0" i="1" u="none" strike="noStrike" smtClean="0">
                                        <a:solidFill>
                                          <a:srgbClr val="000000"/>
                                        </a:solidFill>
                                        <a:effectLst/>
                                        <a:latin typeface="Cambria Math" panose="02040503050406030204" pitchFamily="18" charset="0"/>
                                      </a:rPr>
                                    </m:ctrlPr>
                                  </m:sSupPr>
                                  <m:e>
                                    <m:r>
                                      <a:rPr lang="en-GB" sz="1400" b="0" i="1" u="none" strike="noStrike" smtClean="0">
                                        <a:solidFill>
                                          <a:srgbClr val="000000"/>
                                        </a:solidFill>
                                        <a:effectLst/>
                                        <a:latin typeface="Cambria Math" panose="02040503050406030204" pitchFamily="18" charset="0"/>
                                      </a:rPr>
                                      <m:t>𝑒</m:t>
                                    </m:r>
                                  </m:e>
                                  <m:sup>
                                    <m:r>
                                      <a:rPr lang="en-GB" sz="1400" b="0" i="1" u="none" strike="noStrike" smtClean="0">
                                        <a:solidFill>
                                          <a:srgbClr val="000000"/>
                                        </a:solidFill>
                                        <a:effectLst/>
                                        <a:latin typeface="Cambria Math" panose="02040503050406030204" pitchFamily="18" charset="0"/>
                                      </a:rPr>
                                      <m:t>2</m:t>
                                    </m:r>
                                  </m:sup>
                                </m:sSup>
                              </m:oMath>
                            </m:oMathPara>
                          </a14:m>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bg2">
                            <a:lumMod val="90000"/>
                          </a:schemeClr>
                        </a:solidFill>
                      </a:tcPr>
                    </a:tc>
                    <a:tc>
                      <a:txBody>
                        <a:bodyPr/>
                        <a:lstStyle/>
                        <a:p>
                          <a:pPr algn="l" fontAlgn="b">
                            <a:buNone/>
                          </a:pPr>
                          <a14:m>
                            <m:oMathPara xmlns:m="http://schemas.openxmlformats.org/officeDocument/2006/math">
                              <m:oMathParaPr>
                                <m:jc m:val="centerGroup"/>
                              </m:oMathParaPr>
                              <m:oMath xmlns:m="http://schemas.openxmlformats.org/officeDocument/2006/math">
                                <m:sSup>
                                  <m:sSupPr>
                                    <m:ctrlPr>
                                      <a:rPr lang="en-GB" sz="1400" b="0" i="1" u="none" strike="noStrike" smtClean="0">
                                        <a:solidFill>
                                          <a:srgbClr val="000000"/>
                                        </a:solidFill>
                                        <a:effectLst/>
                                        <a:latin typeface="Cambria Math" panose="02040503050406030204" pitchFamily="18" charset="0"/>
                                      </a:rPr>
                                    </m:ctrlPr>
                                  </m:sSupPr>
                                  <m:e>
                                    <m:r>
                                      <a:rPr lang="en-GB" sz="1400" b="0" i="1" u="none" strike="noStrike" smtClean="0">
                                        <a:solidFill>
                                          <a:srgbClr val="000000"/>
                                        </a:solidFill>
                                        <a:effectLst/>
                                        <a:latin typeface="Cambria Math" panose="02040503050406030204" pitchFamily="18" charset="0"/>
                                      </a:rPr>
                                      <m:t>(</m:t>
                                    </m:r>
                                    <m:r>
                                      <a:rPr lang="en-GB" sz="1400" b="0" i="1" u="none" strike="noStrike" smtClean="0">
                                        <a:solidFill>
                                          <a:srgbClr val="000000"/>
                                        </a:solidFill>
                                        <a:effectLst/>
                                        <a:latin typeface="Cambria Math" panose="02040503050406030204" pitchFamily="18" charset="0"/>
                                      </a:rPr>
                                      <m:t>𝑋</m:t>
                                    </m:r>
                                    <m:r>
                                      <a:rPr lang="en-GB" sz="1400" b="0" i="1" u="none" strike="noStrike" smtClean="0">
                                        <a:solidFill>
                                          <a:srgbClr val="000000"/>
                                        </a:solidFill>
                                        <a:effectLst/>
                                        <a:latin typeface="Cambria Math" panose="02040503050406030204" pitchFamily="18" charset="0"/>
                                      </a:rPr>
                                      <m:t>−</m:t>
                                    </m:r>
                                    <m:acc>
                                      <m:accPr>
                                        <m:chr m:val="̅"/>
                                        <m:ctrlPr>
                                          <a:rPr lang="en-GB" sz="1400" b="0" i="1" u="none" strike="noStrike" smtClean="0">
                                            <a:solidFill>
                                              <a:srgbClr val="000000"/>
                                            </a:solidFill>
                                            <a:effectLst/>
                                            <a:latin typeface="Cambria Math" panose="02040503050406030204" pitchFamily="18" charset="0"/>
                                          </a:rPr>
                                        </m:ctrlPr>
                                      </m:accPr>
                                      <m:e>
                                        <m:r>
                                          <a:rPr lang="en-GB" sz="1400" b="0" i="1" u="none" strike="noStrike" smtClean="0">
                                            <a:solidFill>
                                              <a:srgbClr val="000000"/>
                                            </a:solidFill>
                                            <a:effectLst/>
                                            <a:latin typeface="Cambria Math" panose="02040503050406030204" pitchFamily="18" charset="0"/>
                                          </a:rPr>
                                          <m:t>𝑋</m:t>
                                        </m:r>
                                      </m:e>
                                    </m:acc>
                                    <m:r>
                                      <a:rPr lang="en-GB" sz="1400" b="0" i="1" u="none" strike="noStrike" smtClean="0">
                                        <a:solidFill>
                                          <a:srgbClr val="000000"/>
                                        </a:solidFill>
                                        <a:effectLst/>
                                        <a:latin typeface="Cambria Math" panose="02040503050406030204" pitchFamily="18" charset="0"/>
                                      </a:rPr>
                                      <m:t>)</m:t>
                                    </m:r>
                                  </m:e>
                                  <m:sup>
                                    <m:r>
                                      <a:rPr lang="en-GB" sz="1400" b="0" i="1" u="none" strike="noStrike" smtClean="0">
                                        <a:solidFill>
                                          <a:srgbClr val="000000"/>
                                        </a:solidFill>
                                        <a:effectLst/>
                                        <a:latin typeface="Cambria Math" panose="02040503050406030204" pitchFamily="18" charset="0"/>
                                      </a:rPr>
                                      <m:t>2</m:t>
                                    </m:r>
                                  </m:sup>
                                </m:sSup>
                              </m:oMath>
                            </m:oMathPara>
                          </a14:m>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bg2">
                            <a:lumMod val="90000"/>
                          </a:schemeClr>
                        </a:solidFill>
                      </a:tcPr>
                    </a:tc>
                    <a:extLst>
                      <a:ext uri="{0D108BD9-81ED-4DB2-BD59-A6C34878D82A}">
                        <a16:rowId xmlns:a16="http://schemas.microsoft.com/office/drawing/2014/main" val="3523894633"/>
                      </a:ext>
                    </a:extLst>
                  </a:tr>
                  <a:tr h="184150">
                    <a:tc>
                      <a:txBody>
                        <a:bodyPr/>
                        <a:lstStyle/>
                        <a:p>
                          <a:pPr algn="r" fontAlgn="b">
                            <a:buNone/>
                          </a:pPr>
                          <a:r>
                            <a:rPr lang="en-GB" sz="1400" u="none" strike="noStrike">
                              <a:effectLst/>
                            </a:rPr>
                            <a:t>10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42.93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1.07</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1.14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4001922245"/>
                      </a:ext>
                    </a:extLst>
                  </a:tr>
                  <a:tr h="184150">
                    <a:tc>
                      <a:txBody>
                        <a:bodyPr/>
                        <a:lstStyle/>
                        <a:p>
                          <a:pPr algn="r" fontAlgn="b">
                            <a:buNone/>
                          </a:pPr>
                          <a:r>
                            <a:rPr lang="en-GB" sz="1400" u="none" strike="noStrike">
                              <a:effectLst/>
                            </a:rPr>
                            <a:t>9</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39.40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0.60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0.36</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9</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92102171"/>
                      </a:ext>
                    </a:extLst>
                  </a:tr>
                  <a:tr h="184150">
                    <a:tc>
                      <a:txBody>
                        <a:bodyPr/>
                        <a:lstStyle/>
                        <a:p>
                          <a:pPr algn="r" fontAlgn="b">
                            <a:buNone/>
                          </a:pPr>
                          <a:r>
                            <a:rPr lang="en-GB" sz="1400" u="none" strike="noStrike">
                              <a:effectLst/>
                            </a:rPr>
                            <a:t>11</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46.47</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-4.47</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19.95</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681474055"/>
                      </a:ext>
                    </a:extLst>
                  </a:tr>
                  <a:tr h="184150">
                    <a:tc>
                      <a:txBody>
                        <a:bodyPr/>
                        <a:lstStyle/>
                        <a:p>
                          <a:pPr algn="r" fontAlgn="b">
                            <a:buNone/>
                          </a:pPr>
                          <a:r>
                            <a:rPr lang="en-GB" sz="1400" u="none" strike="noStrike">
                              <a:effectLst/>
                            </a:rPr>
                            <a:t>12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46</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50.00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-4.00</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16.00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011389571"/>
                      </a:ext>
                    </a:extLst>
                  </a:tr>
                  <a:tr h="184150">
                    <a:tc>
                      <a:txBody>
                        <a:bodyPr/>
                        <a:lstStyle/>
                        <a:p>
                          <a:pPr algn="r" fontAlgn="b">
                            <a:buNone/>
                          </a:pPr>
                          <a:r>
                            <a:rPr lang="en-GB" sz="1400" u="none" strike="noStrike">
                              <a:effectLst/>
                            </a:rPr>
                            <a:t>11</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48</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46.47</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1.53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2.35</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196157027"/>
                      </a:ext>
                    </a:extLst>
                  </a:tr>
                  <a:tr h="184150">
                    <a:tc>
                      <a:txBody>
                        <a:bodyPr/>
                        <a:lstStyle/>
                        <a:p>
                          <a:pPr algn="r" fontAlgn="b">
                            <a:buNone/>
                          </a:pPr>
                          <a:r>
                            <a:rPr lang="en-GB" sz="1400" u="none" strike="noStrike">
                              <a:effectLst/>
                            </a:rPr>
                            <a:t>12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50.00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2.00</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4.00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013596442"/>
                      </a:ext>
                    </a:extLst>
                  </a:tr>
                  <a:tr h="184150">
                    <a:tc>
                      <a:txBody>
                        <a:bodyPr/>
                        <a:lstStyle/>
                        <a:p>
                          <a:pPr algn="r" fontAlgn="b">
                            <a:buNone/>
                          </a:pPr>
                          <a:r>
                            <a:rPr lang="en-GB" sz="1400" u="none" strike="noStrike">
                              <a:effectLst/>
                            </a:rPr>
                            <a:t>13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53.53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0.47</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0.22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086528672"/>
                      </a:ext>
                    </a:extLst>
                  </a:tr>
                  <a:tr h="184150">
                    <a:tc>
                      <a:txBody>
                        <a:bodyPr/>
                        <a:lstStyle/>
                        <a:p>
                          <a:pPr algn="r" fontAlgn="b">
                            <a:buNone/>
                          </a:pPr>
                          <a:r>
                            <a:rPr lang="en-GB" sz="1400" u="none" strike="noStrike">
                              <a:effectLst/>
                            </a:rPr>
                            <a:t>13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58</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53.53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4.47</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19.95</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980965684"/>
                      </a:ext>
                    </a:extLst>
                  </a:tr>
                  <a:tr h="184150">
                    <a:tc>
                      <a:txBody>
                        <a:bodyPr/>
                        <a:lstStyle/>
                        <a:p>
                          <a:pPr algn="r" fontAlgn="b">
                            <a:buNone/>
                          </a:pPr>
                          <a:r>
                            <a:rPr lang="en-GB" sz="1400" u="none" strike="noStrike">
                              <a:effectLst/>
                            </a:rPr>
                            <a:t>14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56</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57.07</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-1.07</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1.14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837555045"/>
                      </a:ext>
                    </a:extLst>
                  </a:tr>
                  <a:tr h="184150">
                    <a:tc>
                      <a:txBody>
                        <a:bodyPr/>
                        <a:lstStyle/>
                        <a:p>
                          <a:pPr algn="r" fontAlgn="b">
                            <a:buNone/>
                          </a:pPr>
                          <a:r>
                            <a:rPr lang="en-GB" sz="1400" u="none" strike="noStrike">
                              <a:effectLst/>
                            </a:rPr>
                            <a:t>15</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60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60.60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-0.60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0.36</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9</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862348208"/>
                      </a:ext>
                    </a:extLst>
                  </a:tr>
                  <a:tr h="184150">
                    <a:tc>
                      <a:txBody>
                        <a:bodyPr/>
                        <a:lstStyle/>
                        <a:p>
                          <a:pPr algn="l" fontAlgn="b">
                            <a:buNone/>
                          </a:pPr>
                          <a:endParaRPr lang="en-GB" sz="14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r" fontAlgn="b">
                            <a:buNone/>
                          </a:pPr>
                          <a14:m>
                            <m:oMath xmlns:m="http://schemas.openxmlformats.org/officeDocument/2006/math">
                              <m:r>
                                <a:rPr lang="en-GB" sz="1400" b="0" i="1" u="none" strike="noStrike" smtClean="0">
                                  <a:effectLst/>
                                  <a:latin typeface="Cambria Math" panose="02040503050406030204" pitchFamily="18" charset="0"/>
                                  <a:ea typeface="Cambria Math" panose="02040503050406030204" pitchFamily="18" charset="0"/>
                                </a:rPr>
                                <m:t>∑=</m:t>
                              </m:r>
                            </m:oMath>
                          </a14:m>
                          <a:r>
                            <a:rPr lang="en-GB" sz="1400" u="none" strike="noStrike" dirty="0">
                              <a:effectLst/>
                            </a:rPr>
                            <a:t> 65.47</a:t>
                          </a: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r" fontAlgn="b">
                            <a:buNone/>
                          </a:pPr>
                          <a14:m>
                            <m:oMath xmlns:m="http://schemas.openxmlformats.org/officeDocument/2006/math">
                              <m:r>
                                <a:rPr lang="en-GB" sz="1400" b="0" i="1" u="none" strike="noStrike" smtClean="0">
                                  <a:effectLst/>
                                  <a:latin typeface="Cambria Math" panose="02040503050406030204" pitchFamily="18" charset="0"/>
                                  <a:ea typeface="Cambria Math" panose="02040503050406030204" pitchFamily="18" charset="0"/>
                                </a:rPr>
                                <m:t>∑=</m:t>
                              </m:r>
                            </m:oMath>
                          </a14:m>
                          <a:r>
                            <a:rPr lang="en-GB" sz="1400" u="none" strike="noStrike" dirty="0">
                              <a:effectLst/>
                            </a:rPr>
                            <a:t> 30.00</a:t>
                          </a: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extLst>
                      <a:ext uri="{0D108BD9-81ED-4DB2-BD59-A6C34878D82A}">
                        <a16:rowId xmlns:a16="http://schemas.microsoft.com/office/drawing/2014/main" val="3691055831"/>
                      </a:ext>
                    </a:extLst>
                  </a:tr>
                  <a:tr h="184150">
                    <a:tc>
                      <a:txBody>
                        <a:bodyPr/>
                        <a:lstStyle/>
                        <a:p>
                          <a:pPr algn="r" fontAlgn="b">
                            <a:buNone/>
                          </a:pPr>
                          <a14:m>
                            <m:oMathPara xmlns:m="http://schemas.openxmlformats.org/officeDocument/2006/math">
                              <m:oMathParaPr>
                                <m:jc m:val="centerGroup"/>
                              </m:oMathParaPr>
                              <m:oMath xmlns:m="http://schemas.openxmlformats.org/officeDocument/2006/math">
                                <m:acc>
                                  <m:accPr>
                                    <m:chr m:val="̅"/>
                                    <m:ctrlPr>
                                      <a:rPr lang="en-GB" sz="1400" i="1" u="none" strike="noStrike" smtClean="0">
                                        <a:effectLst/>
                                        <a:latin typeface="Cambria Math" panose="02040503050406030204" pitchFamily="18" charset="0"/>
                                      </a:rPr>
                                    </m:ctrlPr>
                                  </m:accPr>
                                  <m:e>
                                    <m:r>
                                      <a:rPr lang="en-GB" sz="1400" b="0" i="1" u="none" strike="noStrike" smtClean="0">
                                        <a:effectLst/>
                                        <a:latin typeface="Cambria Math" panose="02040503050406030204" pitchFamily="18" charset="0"/>
                                      </a:rPr>
                                      <m:t>𝑋</m:t>
                                    </m:r>
                                  </m:e>
                                </m:acc>
                                <m:r>
                                  <a:rPr lang="en-GB" sz="1400" b="0" i="1" u="none" strike="noStrike" smtClean="0">
                                    <a:effectLst/>
                                    <a:latin typeface="Cambria Math" panose="02040503050406030204" pitchFamily="18" charset="0"/>
                                  </a:rPr>
                                  <m:t>=12</m:t>
                                </m:r>
                              </m:oMath>
                            </m:oMathPara>
                          </a14:m>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r" fontAlgn="b">
                            <a:buNone/>
                          </a:pPr>
                          <a14:m>
                            <m:oMathPara xmlns:m="http://schemas.openxmlformats.org/officeDocument/2006/math">
                              <m:oMathParaPr>
                                <m:jc m:val="centerGroup"/>
                              </m:oMathParaPr>
                              <m:oMath xmlns:m="http://schemas.openxmlformats.org/officeDocument/2006/math">
                                <m:acc>
                                  <m:accPr>
                                    <m:chr m:val="̅"/>
                                    <m:ctrlPr>
                                      <a:rPr lang="en-GB" sz="1400" i="1" u="none" strike="noStrike" smtClean="0">
                                        <a:effectLst/>
                                        <a:latin typeface="Cambria Math" panose="02040503050406030204" pitchFamily="18" charset="0"/>
                                      </a:rPr>
                                    </m:ctrlPr>
                                  </m:accPr>
                                  <m:e>
                                    <m:r>
                                      <a:rPr lang="en-GB" sz="1400" b="0" i="1" u="none" strike="noStrike" smtClean="0">
                                        <a:effectLst/>
                                        <a:latin typeface="Cambria Math" panose="02040503050406030204" pitchFamily="18" charset="0"/>
                                      </a:rPr>
                                      <m:t>𝑌</m:t>
                                    </m:r>
                                  </m:e>
                                </m:acc>
                                <m:r>
                                  <a:rPr lang="en-GB" sz="1400" b="0" i="1" u="none" strike="noStrike" smtClean="0">
                                    <a:effectLst/>
                                    <a:latin typeface="Cambria Math" panose="02040503050406030204" pitchFamily="18" charset="0"/>
                                  </a:rPr>
                                  <m:t>=50</m:t>
                                </m:r>
                              </m:oMath>
                            </m:oMathPara>
                          </a14:m>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extLst>
                      <a:ext uri="{0D108BD9-81ED-4DB2-BD59-A6C34878D82A}">
                        <a16:rowId xmlns:a16="http://schemas.microsoft.com/office/drawing/2014/main" val="3075206713"/>
                      </a:ext>
                    </a:extLst>
                  </a:tr>
                </a:tbl>
              </a:graphicData>
            </a:graphic>
          </p:graphicFrame>
        </mc:Choice>
        <mc:Fallback xmlns="">
          <p:graphicFrame>
            <p:nvGraphicFramePr>
              <p:cNvPr id="4" name="Table 3">
                <a:extLst>
                  <a:ext uri="{FF2B5EF4-FFF2-40B4-BE49-F238E27FC236}">
                    <a16:creationId xmlns:a16="http://schemas.microsoft.com/office/drawing/2014/main" id="{3592972C-4342-E9F1-1CFA-6FF66221E719}"/>
                  </a:ext>
                </a:extLst>
              </p:cNvPr>
              <p:cNvGraphicFramePr>
                <a:graphicFrameLocks noGrp="1"/>
              </p:cNvGraphicFramePr>
              <p:nvPr>
                <p:extLst>
                  <p:ext uri="{D42A27DB-BD31-4B8C-83A1-F6EECF244321}">
                    <p14:modId xmlns:p14="http://schemas.microsoft.com/office/powerpoint/2010/main" val="785667780"/>
                  </p:ext>
                </p:extLst>
              </p:nvPr>
            </p:nvGraphicFramePr>
            <p:xfrm>
              <a:off x="900111" y="1916832"/>
              <a:ext cx="4752528" cy="2862009"/>
            </p:xfrm>
            <a:graphic>
              <a:graphicData uri="http://schemas.openxmlformats.org/drawingml/2006/table">
                <a:tbl>
                  <a:tblPr>
                    <a:tableStyleId>{5C22544A-7EE6-4342-B048-85BDC9FD1C3A}</a:tableStyleId>
                  </a:tblPr>
                  <a:tblGrid>
                    <a:gridCol w="576064">
                      <a:extLst>
                        <a:ext uri="{9D8B030D-6E8A-4147-A177-3AD203B41FA5}">
                          <a16:colId xmlns:a16="http://schemas.microsoft.com/office/drawing/2014/main" val="3980971176"/>
                        </a:ext>
                      </a:extLst>
                    </a:gridCol>
                    <a:gridCol w="576064">
                      <a:extLst>
                        <a:ext uri="{9D8B030D-6E8A-4147-A177-3AD203B41FA5}">
                          <a16:colId xmlns:a16="http://schemas.microsoft.com/office/drawing/2014/main" val="196620222"/>
                        </a:ext>
                      </a:extLst>
                    </a:gridCol>
                    <a:gridCol w="720080">
                      <a:extLst>
                        <a:ext uri="{9D8B030D-6E8A-4147-A177-3AD203B41FA5}">
                          <a16:colId xmlns:a16="http://schemas.microsoft.com/office/drawing/2014/main" val="2967405616"/>
                        </a:ext>
                      </a:extLst>
                    </a:gridCol>
                    <a:gridCol w="1008112">
                      <a:extLst>
                        <a:ext uri="{9D8B030D-6E8A-4147-A177-3AD203B41FA5}">
                          <a16:colId xmlns:a16="http://schemas.microsoft.com/office/drawing/2014/main" val="1134388232"/>
                        </a:ext>
                      </a:extLst>
                    </a:gridCol>
                    <a:gridCol w="936104">
                      <a:extLst>
                        <a:ext uri="{9D8B030D-6E8A-4147-A177-3AD203B41FA5}">
                          <a16:colId xmlns:a16="http://schemas.microsoft.com/office/drawing/2014/main" val="4173988344"/>
                        </a:ext>
                      </a:extLst>
                    </a:gridCol>
                    <a:gridCol w="936104">
                      <a:extLst>
                        <a:ext uri="{9D8B030D-6E8A-4147-A177-3AD203B41FA5}">
                          <a16:colId xmlns:a16="http://schemas.microsoft.com/office/drawing/2014/main" val="2268701162"/>
                        </a:ext>
                      </a:extLst>
                    </a:gridCol>
                  </a:tblGrid>
                  <a:tr h="225489">
                    <a:tc>
                      <a:txBody>
                        <a:bodyPr/>
                        <a:lstStyle/>
                        <a:p>
                          <a:endParaRPr lang="en-US"/>
                        </a:p>
                      </a:txBody>
                      <a:tcPr marL="6350" marR="6350" marT="6350" marB="0" anchor="b">
                        <a:blipFill>
                          <a:blip r:embed="rId3"/>
                          <a:stretch>
                            <a:fillRect l="-1053" t="-18919" r="-724211" b="-1178378"/>
                          </a:stretch>
                        </a:blipFill>
                      </a:tcPr>
                    </a:tc>
                    <a:tc>
                      <a:txBody>
                        <a:bodyPr/>
                        <a:lstStyle/>
                        <a:p>
                          <a:endParaRPr lang="en-US"/>
                        </a:p>
                      </a:txBody>
                      <a:tcPr marL="6350" marR="6350" marT="6350" marB="0" anchor="b">
                        <a:blipFill>
                          <a:blip r:embed="rId3"/>
                          <a:stretch>
                            <a:fillRect l="-102128" t="-18919" r="-631915" b="-1178378"/>
                          </a:stretch>
                        </a:blipFill>
                      </a:tcPr>
                    </a:tc>
                    <a:tc>
                      <a:txBody>
                        <a:bodyPr/>
                        <a:lstStyle/>
                        <a:p>
                          <a:endParaRPr lang="en-US"/>
                        </a:p>
                      </a:txBody>
                      <a:tcPr marL="6350" marR="6350" marT="6350" marB="0" anchor="b">
                        <a:blipFill>
                          <a:blip r:embed="rId3"/>
                          <a:stretch>
                            <a:fillRect l="-159664" t="-18919" r="-399160" b="-1178378"/>
                          </a:stretch>
                        </a:blipFill>
                      </a:tcPr>
                    </a:tc>
                    <a:tc>
                      <a:txBody>
                        <a:bodyPr/>
                        <a:lstStyle/>
                        <a:p>
                          <a:endParaRPr lang="en-US"/>
                        </a:p>
                      </a:txBody>
                      <a:tcPr marL="6350" marR="6350" marT="6350" marB="0" anchor="b">
                        <a:blipFill>
                          <a:blip r:embed="rId3"/>
                          <a:stretch>
                            <a:fillRect l="-187273" t="-18919" r="-187879" b="-1178378"/>
                          </a:stretch>
                        </a:blipFill>
                      </a:tcPr>
                    </a:tc>
                    <a:tc>
                      <a:txBody>
                        <a:bodyPr/>
                        <a:lstStyle/>
                        <a:p>
                          <a:endParaRPr lang="en-US"/>
                        </a:p>
                      </a:txBody>
                      <a:tcPr marL="6350" marR="6350" marT="6350" marB="0" anchor="b">
                        <a:blipFill>
                          <a:blip r:embed="rId3"/>
                          <a:stretch>
                            <a:fillRect l="-307792" t="-18919" r="-101299" b="-1178378"/>
                          </a:stretch>
                        </a:blipFill>
                      </a:tcPr>
                    </a:tc>
                    <a:tc>
                      <a:txBody>
                        <a:bodyPr/>
                        <a:lstStyle/>
                        <a:p>
                          <a:endParaRPr lang="en-US"/>
                        </a:p>
                      </a:txBody>
                      <a:tcPr marL="6350" marR="6350" marT="6350" marB="0" anchor="b">
                        <a:blipFill>
                          <a:blip r:embed="rId3"/>
                          <a:stretch>
                            <a:fillRect l="-407792" t="-18919" r="-1299" b="-1178378"/>
                          </a:stretch>
                        </a:blipFill>
                      </a:tcPr>
                    </a:tc>
                    <a:extLst>
                      <a:ext uri="{0D108BD9-81ED-4DB2-BD59-A6C34878D82A}">
                        <a16:rowId xmlns:a16="http://schemas.microsoft.com/office/drawing/2014/main" val="3523894633"/>
                      </a:ext>
                    </a:extLst>
                  </a:tr>
                  <a:tr h="219710">
                    <a:tc>
                      <a:txBody>
                        <a:bodyPr/>
                        <a:lstStyle/>
                        <a:p>
                          <a:pPr algn="r" fontAlgn="b">
                            <a:buNone/>
                          </a:pPr>
                          <a:r>
                            <a:rPr lang="en-GB" sz="1400" u="none" strike="noStrike">
                              <a:effectLst/>
                            </a:rPr>
                            <a:t>10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42.93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1.07</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1.14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4001922245"/>
                      </a:ext>
                    </a:extLst>
                  </a:tr>
                  <a:tr h="219710">
                    <a:tc>
                      <a:txBody>
                        <a:bodyPr/>
                        <a:lstStyle/>
                        <a:p>
                          <a:pPr algn="r" fontAlgn="b">
                            <a:buNone/>
                          </a:pPr>
                          <a:r>
                            <a:rPr lang="en-GB" sz="1400" u="none" strike="noStrike">
                              <a:effectLst/>
                            </a:rPr>
                            <a:t>9</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39.40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0.60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0.36</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9</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92102171"/>
                      </a:ext>
                    </a:extLst>
                  </a:tr>
                  <a:tr h="219710">
                    <a:tc>
                      <a:txBody>
                        <a:bodyPr/>
                        <a:lstStyle/>
                        <a:p>
                          <a:pPr algn="r" fontAlgn="b">
                            <a:buNone/>
                          </a:pPr>
                          <a:r>
                            <a:rPr lang="en-GB" sz="1400" u="none" strike="noStrike">
                              <a:effectLst/>
                            </a:rPr>
                            <a:t>11</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46.47</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-4.47</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19.95</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681474055"/>
                      </a:ext>
                    </a:extLst>
                  </a:tr>
                  <a:tr h="219710">
                    <a:tc>
                      <a:txBody>
                        <a:bodyPr/>
                        <a:lstStyle/>
                        <a:p>
                          <a:pPr algn="r" fontAlgn="b">
                            <a:buNone/>
                          </a:pPr>
                          <a:r>
                            <a:rPr lang="en-GB" sz="1400" u="none" strike="noStrike">
                              <a:effectLst/>
                            </a:rPr>
                            <a:t>12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46</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50.00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-4.00</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16.00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011389571"/>
                      </a:ext>
                    </a:extLst>
                  </a:tr>
                  <a:tr h="219710">
                    <a:tc>
                      <a:txBody>
                        <a:bodyPr/>
                        <a:lstStyle/>
                        <a:p>
                          <a:pPr algn="r" fontAlgn="b">
                            <a:buNone/>
                          </a:pPr>
                          <a:r>
                            <a:rPr lang="en-GB" sz="1400" u="none" strike="noStrike">
                              <a:effectLst/>
                            </a:rPr>
                            <a:t>11</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48</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46.47</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1.53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2.35</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196157027"/>
                      </a:ext>
                    </a:extLst>
                  </a:tr>
                  <a:tr h="219710">
                    <a:tc>
                      <a:txBody>
                        <a:bodyPr/>
                        <a:lstStyle/>
                        <a:p>
                          <a:pPr algn="r" fontAlgn="b">
                            <a:buNone/>
                          </a:pPr>
                          <a:r>
                            <a:rPr lang="en-GB" sz="1400" u="none" strike="noStrike">
                              <a:effectLst/>
                            </a:rPr>
                            <a:t>12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50.00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dirty="0">
                              <a:effectLst/>
                            </a:rPr>
                            <a:t>2.00</a:t>
                          </a:r>
                          <a:endParaRPr lang="en-GB" sz="14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4.00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013596442"/>
                      </a:ext>
                    </a:extLst>
                  </a:tr>
                  <a:tr h="219710">
                    <a:tc>
                      <a:txBody>
                        <a:bodyPr/>
                        <a:lstStyle/>
                        <a:p>
                          <a:pPr algn="r" fontAlgn="b">
                            <a:buNone/>
                          </a:pPr>
                          <a:r>
                            <a:rPr lang="en-GB" sz="1400" u="none" strike="noStrike">
                              <a:effectLst/>
                            </a:rPr>
                            <a:t>13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53.53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0.47</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0.22</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086528672"/>
                      </a:ext>
                    </a:extLst>
                  </a:tr>
                  <a:tr h="219710">
                    <a:tc>
                      <a:txBody>
                        <a:bodyPr/>
                        <a:lstStyle/>
                        <a:p>
                          <a:pPr algn="r" fontAlgn="b">
                            <a:buNone/>
                          </a:pPr>
                          <a:r>
                            <a:rPr lang="en-GB" sz="1400" u="none" strike="noStrike">
                              <a:effectLst/>
                            </a:rPr>
                            <a:t>13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58</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53.53</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4.47</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19.95</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980965684"/>
                      </a:ext>
                    </a:extLst>
                  </a:tr>
                  <a:tr h="219710">
                    <a:tc>
                      <a:txBody>
                        <a:bodyPr/>
                        <a:lstStyle/>
                        <a:p>
                          <a:pPr algn="r" fontAlgn="b">
                            <a:buNone/>
                          </a:pPr>
                          <a:r>
                            <a:rPr lang="en-GB" sz="1400" u="none" strike="noStrike">
                              <a:effectLst/>
                            </a:rPr>
                            <a:t>14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56</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57.07</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-1.07</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1.14</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4</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837555045"/>
                      </a:ext>
                    </a:extLst>
                  </a:tr>
                  <a:tr h="219710">
                    <a:tc>
                      <a:txBody>
                        <a:bodyPr/>
                        <a:lstStyle/>
                        <a:p>
                          <a:pPr algn="r" fontAlgn="b">
                            <a:buNone/>
                          </a:pPr>
                          <a:r>
                            <a:rPr lang="en-GB" sz="1400" u="none" strike="noStrike">
                              <a:effectLst/>
                            </a:rPr>
                            <a:t>15</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60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60.60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-0.60</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0.36</a:t>
                          </a:r>
                          <a:endParaRPr lang="en-GB" sz="14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en-GB" sz="1400" u="none" strike="noStrike">
                              <a:effectLst/>
                            </a:rPr>
                            <a:t>9</a:t>
                          </a:r>
                          <a:endParaRPr lang="en-GB" sz="14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862348208"/>
                      </a:ext>
                    </a:extLst>
                  </a:tr>
                  <a:tr h="219710">
                    <a:tc>
                      <a:txBody>
                        <a:bodyPr/>
                        <a:lstStyle/>
                        <a:p>
                          <a:pPr algn="l" fontAlgn="b">
                            <a:buNone/>
                          </a:pPr>
                          <a:endParaRPr lang="en-GB" sz="14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endParaRPr lang="en-US"/>
                        </a:p>
                      </a:txBody>
                      <a:tcPr marL="6350" marR="6350" marT="6350" marB="0" anchor="b">
                        <a:blipFill>
                          <a:blip r:embed="rId3"/>
                          <a:stretch>
                            <a:fillRect l="-307792" t="-1125000" r="-101299" b="-108333"/>
                          </a:stretch>
                        </a:blipFill>
                      </a:tcPr>
                    </a:tc>
                    <a:tc>
                      <a:txBody>
                        <a:bodyPr/>
                        <a:lstStyle/>
                        <a:p>
                          <a:endParaRPr lang="en-US"/>
                        </a:p>
                      </a:txBody>
                      <a:tcPr marL="6350" marR="6350" marT="6350" marB="0" anchor="b">
                        <a:blipFill>
                          <a:blip r:embed="rId3"/>
                          <a:stretch>
                            <a:fillRect l="-407792" t="-1125000" r="-1299" b="-108333"/>
                          </a:stretch>
                        </a:blipFill>
                      </a:tcPr>
                    </a:tc>
                    <a:extLst>
                      <a:ext uri="{0D108BD9-81ED-4DB2-BD59-A6C34878D82A}">
                        <a16:rowId xmlns:a16="http://schemas.microsoft.com/office/drawing/2014/main" val="3691055831"/>
                      </a:ext>
                    </a:extLst>
                  </a:tr>
                  <a:tr h="219710">
                    <a:tc>
                      <a:txBody>
                        <a:bodyPr/>
                        <a:lstStyle/>
                        <a:p>
                          <a:endParaRPr lang="en-US"/>
                        </a:p>
                      </a:txBody>
                      <a:tcPr marL="6350" marR="6350" marT="6350" marB="0" anchor="b">
                        <a:blipFill>
                          <a:blip r:embed="rId3"/>
                          <a:stretch>
                            <a:fillRect l="-1053" t="-1225000" r="-724211" b="-8333"/>
                          </a:stretch>
                        </a:blipFill>
                      </a:tcPr>
                    </a:tc>
                    <a:tc>
                      <a:txBody>
                        <a:bodyPr/>
                        <a:lstStyle/>
                        <a:p>
                          <a:endParaRPr lang="en-US"/>
                        </a:p>
                      </a:txBody>
                      <a:tcPr marL="6350" marR="6350" marT="6350" marB="0" anchor="b">
                        <a:blipFill>
                          <a:blip r:embed="rId3"/>
                          <a:stretch>
                            <a:fillRect l="-102128" t="-1225000" r="-631915" b="-8333"/>
                          </a:stretch>
                        </a:blipFill>
                      </a:tcPr>
                    </a:tc>
                    <a:tc>
                      <a:txBody>
                        <a:bodyPr/>
                        <a:lstStyle/>
                        <a:p>
                          <a:pPr algn="l" fontAlgn="b">
                            <a:buNone/>
                          </a:pPr>
                          <a:endParaRPr lang="en-GB" sz="14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tc>
                      <a:txBody>
                        <a:bodyPr/>
                        <a:lstStyle/>
                        <a:p>
                          <a:pPr algn="l" fontAlgn="b">
                            <a:buNone/>
                          </a:pPr>
                          <a:endParaRPr lang="en-GB" sz="1400" b="0" i="0" u="none" strike="noStrike" dirty="0">
                            <a:solidFill>
                              <a:srgbClr val="000000"/>
                            </a:solidFill>
                            <a:effectLst/>
                            <a:latin typeface="Aptos Narrow" panose="020B0004020202020204" pitchFamily="34" charset="0"/>
                          </a:endParaRPr>
                        </a:p>
                      </a:txBody>
                      <a:tcPr marL="6350" marR="6350" marT="6350" marB="0" anchor="b">
                        <a:solidFill>
                          <a:schemeClr val="accent6">
                            <a:lumMod val="20000"/>
                            <a:lumOff val="80000"/>
                          </a:schemeClr>
                        </a:solidFill>
                      </a:tcPr>
                    </a:tc>
                    <a:extLst>
                      <a:ext uri="{0D108BD9-81ED-4DB2-BD59-A6C34878D82A}">
                        <a16:rowId xmlns:a16="http://schemas.microsoft.com/office/drawing/2014/main" val="3075206713"/>
                      </a:ext>
                    </a:extLst>
                  </a:tr>
                </a:tbl>
              </a:graphicData>
            </a:graphic>
          </p:graphicFrame>
        </mc:Fallback>
      </mc:AlternateContent>
    </p:spTree>
    <p:extLst>
      <p:ext uri="{BB962C8B-B14F-4D97-AF65-F5344CB8AC3E}">
        <p14:creationId xmlns:p14="http://schemas.microsoft.com/office/powerpoint/2010/main" val="408712124"/>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F79C-CE0E-326C-A1A7-83CE8E2A9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27861A-3F6C-154E-4B17-CB3DB8C33140}"/>
              </a:ext>
            </a:extLst>
          </p:cNvPr>
          <p:cNvSpPr>
            <a:spLocks noGrp="1"/>
          </p:cNvSpPr>
          <p:nvPr>
            <p:ph type="title"/>
          </p:nvPr>
        </p:nvSpPr>
        <p:spPr/>
        <p:txBody>
          <a:bodyPr>
            <a:normAutofit fontScale="90000"/>
          </a:bodyPr>
          <a:lstStyle/>
          <a:p>
            <a:r>
              <a:rPr lang="en-GB" dirty="0"/>
              <a:t>Significance test of individual coefficient</a:t>
            </a: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120022E-A87F-611C-2E55-5108A13EE431}"/>
                  </a:ext>
                </a:extLst>
              </p:cNvPr>
              <p:cNvSpPr>
                <a:spLocks noGrp="1"/>
              </p:cNvSpPr>
              <p:nvPr>
                <p:ph type="body" sz="quarter" idx="11"/>
              </p:nvPr>
            </p:nvSpPr>
            <p:spPr>
              <a:xfrm>
                <a:off x="900112" y="1700213"/>
                <a:ext cx="7632327" cy="5157787"/>
              </a:xfrm>
            </p:spPr>
            <p:txBody>
              <a:bodyPr/>
              <a:lstStyle/>
              <a:p>
                <a:pPr marL="0" lvl="0" indent="0">
                  <a:buNone/>
                </a:pPr>
                <a:r>
                  <a:rPr lang="en-GB" sz="2400" dirty="0"/>
                  <a:t>Recall the estimates for the example of the effect of advertisement on sales revenues:</a:t>
                </a:r>
              </a:p>
              <a:p>
                <a:pPr marL="0" indent="0" algn="ctr">
                  <a:buNone/>
                </a:pP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𝑌</m:t>
                        </m:r>
                      </m:e>
                      <m:sub>
                        <m:r>
                          <a:rPr lang="en-GB" sz="2400" i="1">
                            <a:latin typeface="Cambria Math" panose="02040503050406030204" pitchFamily="18" charset="0"/>
                          </a:rPr>
                          <m:t>𝑡</m:t>
                        </m:r>
                      </m:sub>
                    </m:sSub>
                    <m:r>
                      <a:rPr lang="en-GB" sz="2400" i="1">
                        <a:latin typeface="Cambria Math" panose="02040503050406030204" pitchFamily="18" charset="0"/>
                      </a:rPr>
                      <m:t>=7.604+3.533</m:t>
                    </m:r>
                    <m:sSub>
                      <m:sSubPr>
                        <m:ctrlPr>
                          <a:rPr lang="en-GB" sz="2400" i="1">
                            <a:latin typeface="Cambria Math" panose="02040503050406030204" pitchFamily="18" charset="0"/>
                          </a:rPr>
                        </m:ctrlPr>
                      </m:sSubPr>
                      <m:e>
                        <m:r>
                          <a:rPr lang="en-GB" sz="2400" i="1">
                            <a:latin typeface="Cambria Math" panose="02040503050406030204" pitchFamily="18" charset="0"/>
                          </a:rPr>
                          <m:t>𝑋</m:t>
                        </m:r>
                      </m:e>
                      <m:sub>
                        <m:r>
                          <a:rPr lang="en-GB" sz="2400" i="1">
                            <a:latin typeface="Cambria Math" panose="02040503050406030204" pitchFamily="18" charset="0"/>
                          </a:rPr>
                          <m:t>𝑡</m:t>
                        </m:r>
                      </m:sub>
                    </m:sSub>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𝑒</m:t>
                        </m:r>
                      </m:e>
                      <m:sub>
                        <m:r>
                          <a:rPr lang="en-GB" sz="2400" i="1">
                            <a:latin typeface="Cambria Math" panose="02040503050406030204" pitchFamily="18" charset="0"/>
                          </a:rPr>
                          <m:t>𝑡</m:t>
                        </m:r>
                      </m:sub>
                    </m:sSub>
                  </m:oMath>
                </a14:m>
                <a:r>
                  <a:rPr lang="en-US" sz="2400" dirty="0"/>
                  <a:t>       </a:t>
                </a:r>
              </a:p>
              <a:p>
                <a:pPr marL="0" indent="0">
                  <a:buNone/>
                </a:pPr>
                <a:r>
                  <a:rPr lang="en-US" sz="2400" dirty="0"/>
                  <a:t>So, </a:t>
                </a:r>
                <a14:m>
                  <m:oMath xmlns:m="http://schemas.openxmlformats.org/officeDocument/2006/math">
                    <m:sSub>
                      <m:sSubPr>
                        <m:ctrlPr>
                          <a:rPr lang="en-US" sz="2400" i="1" smtClean="0">
                            <a:latin typeface="Cambria Math" panose="02040503050406030204" pitchFamily="18" charset="0"/>
                          </a:rPr>
                        </m:ctrlPr>
                      </m:sSubPr>
                      <m:e>
                        <m:r>
                          <a:rPr lang="en-GB" sz="2400" b="0" i="1" smtClean="0">
                            <a:latin typeface="Cambria Math" panose="02040503050406030204" pitchFamily="18" charset="0"/>
                          </a:rPr>
                          <m:t>𝑏</m:t>
                        </m:r>
                      </m:e>
                      <m:sub>
                        <m:r>
                          <a:rPr lang="en-GB" sz="2400" b="0" i="1" smtClean="0">
                            <a:latin typeface="Cambria Math" panose="02040503050406030204" pitchFamily="18" charset="0"/>
                          </a:rPr>
                          <m:t>1</m:t>
                        </m:r>
                      </m:sub>
                    </m:sSub>
                    <m:r>
                      <a:rPr lang="en-GB" sz="2400" b="0" i="1" smtClean="0">
                        <a:latin typeface="Cambria Math" panose="02040503050406030204" pitchFamily="18" charset="0"/>
                      </a:rPr>
                      <m:t>=3.533</m:t>
                    </m:r>
                  </m:oMath>
                </a14:m>
                <a:r>
                  <a:rPr lang="en-US" sz="2400" dirty="0"/>
                  <a:t> and the standard error </a:t>
                </a:r>
                <a14:m>
                  <m:oMath xmlns:m="http://schemas.openxmlformats.org/officeDocument/2006/math">
                    <m:r>
                      <a:rPr lang="en-GB" sz="2400" b="0" i="1" smtClean="0">
                        <a:latin typeface="Cambria Math" panose="02040503050406030204" pitchFamily="18" charset="0"/>
                      </a:rPr>
                      <m:t>𝑠𝑒</m:t>
                    </m:r>
                    <m:d>
                      <m:dPr>
                        <m:ctrlPr>
                          <a:rPr lang="en-GB" sz="2400" b="0" i="1" smtClean="0">
                            <a:latin typeface="Cambria Math" panose="02040503050406030204" pitchFamily="18" charset="0"/>
                          </a:rPr>
                        </m:ctrlPr>
                      </m:dPr>
                      <m:e>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𝑏</m:t>
                            </m:r>
                          </m:e>
                          <m:sub>
                            <m:r>
                              <a:rPr lang="en-GB" sz="2400" b="0" i="1" smtClean="0">
                                <a:latin typeface="Cambria Math" panose="02040503050406030204" pitchFamily="18" charset="0"/>
                              </a:rPr>
                              <m:t>1</m:t>
                            </m:r>
                          </m:sub>
                        </m:sSub>
                      </m:e>
                    </m:d>
                    <m:r>
                      <a:rPr lang="en-GB" sz="2400" b="0" i="1" smtClean="0">
                        <a:latin typeface="Cambria Math" panose="02040503050406030204" pitchFamily="18" charset="0"/>
                      </a:rPr>
                      <m:t>=0.52</m:t>
                    </m:r>
                  </m:oMath>
                </a14:m>
                <a:r>
                  <a:rPr lang="en-US" sz="2400" dirty="0"/>
                  <a:t>.</a:t>
                </a:r>
              </a:p>
              <a:p>
                <a:pPr marL="0" indent="0">
                  <a:buNone/>
                </a:pPr>
                <a:r>
                  <a:rPr lang="en-US" sz="2400" dirty="0"/>
                  <a:t>   </a:t>
                </a:r>
              </a:p>
              <a:p>
                <a:pPr marL="0" indent="0">
                  <a:buNone/>
                </a:pPr>
                <a:r>
                  <a:rPr lang="en-US" sz="2400" dirty="0"/>
                  <a:t>Can we be sure that the true parameter is not zero? If the parameter would be zero, there would be no effect of advertisement on sales revenues.</a:t>
                </a:r>
              </a:p>
              <a:p>
                <a:pPr marL="0" indent="0">
                  <a:buNone/>
                </a:pPr>
                <a:endParaRPr lang="en-US" sz="2400" dirty="0"/>
              </a:p>
              <a:p>
                <a:pPr marL="0" indent="0">
                  <a:buNone/>
                </a:pPr>
                <a:r>
                  <a:rPr lang="en-US" sz="2400" dirty="0"/>
                  <a:t>We need to perform a statistical hypothesis test, which is called </a:t>
                </a:r>
                <a:r>
                  <a:rPr lang="en-US" sz="2400" i="1" dirty="0"/>
                  <a:t>t</a:t>
                </a:r>
                <a:r>
                  <a:rPr lang="en-US" sz="2400" dirty="0"/>
                  <a:t> test.      </a:t>
                </a: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C120022E-A87F-611C-2E55-5108A13EE431}"/>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1891"/>
                </a:stretch>
              </a:blipFill>
            </p:spPr>
            <p:txBody>
              <a:bodyPr/>
              <a:lstStyle/>
              <a:p>
                <a:r>
                  <a:rPr lang="en-GB">
                    <a:noFill/>
                  </a:rPr>
                  <a:t> </a:t>
                </a:r>
              </a:p>
            </p:txBody>
          </p:sp>
        </mc:Fallback>
      </mc:AlternateContent>
    </p:spTree>
    <p:extLst>
      <p:ext uri="{BB962C8B-B14F-4D97-AF65-F5344CB8AC3E}">
        <p14:creationId xmlns:p14="http://schemas.microsoft.com/office/powerpoint/2010/main" val="2562625693"/>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A4F61-AA4E-AA66-EA7F-753D624943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C3D8AA-F8F3-B76D-D71E-E2727C62AA50}"/>
              </a:ext>
            </a:extLst>
          </p:cNvPr>
          <p:cNvSpPr>
            <a:spLocks noGrp="1"/>
          </p:cNvSpPr>
          <p:nvPr>
            <p:ph type="title"/>
          </p:nvPr>
        </p:nvSpPr>
        <p:spPr/>
        <p:txBody>
          <a:bodyPr>
            <a:normAutofit fontScale="90000"/>
          </a:bodyPr>
          <a:lstStyle/>
          <a:p>
            <a:r>
              <a:rPr lang="en-GB" noProof="0" dirty="0"/>
              <a:t>Conducting a test of significance</a:t>
            </a:r>
            <a:br>
              <a:rPr lang="en-GB" noProof="0" dirty="0"/>
            </a:br>
            <a:endParaRPr lang="en-GB" noProof="0" dirty="0"/>
          </a:p>
        </p:txBody>
      </p:sp>
      <p:sp>
        <p:nvSpPr>
          <p:cNvPr id="3" name="Text Placeholder 2">
            <a:extLst>
              <a:ext uri="{FF2B5EF4-FFF2-40B4-BE49-F238E27FC236}">
                <a16:creationId xmlns:a16="http://schemas.microsoft.com/office/drawing/2014/main" id="{438FB5CA-A18F-A067-E836-F9A7A28D14CE}"/>
              </a:ext>
            </a:extLst>
          </p:cNvPr>
          <p:cNvSpPr>
            <a:spLocks noGrp="1"/>
          </p:cNvSpPr>
          <p:nvPr>
            <p:ph type="body" sz="quarter" idx="11"/>
          </p:nvPr>
        </p:nvSpPr>
        <p:spPr>
          <a:xfrm>
            <a:off x="900112" y="1700213"/>
            <a:ext cx="7632327" cy="5157787"/>
          </a:xfrm>
        </p:spPr>
        <p:txBody>
          <a:bodyPr/>
          <a:lstStyle/>
          <a:p>
            <a:pPr marL="0" lvl="0" indent="0">
              <a:buNone/>
            </a:pPr>
            <a:r>
              <a:rPr lang="en-GB" sz="2400" dirty="0"/>
              <a:t>As a </a:t>
            </a:r>
            <a:r>
              <a:rPr lang="en-GB" sz="2400" i="1" dirty="0"/>
              <a:t>t</a:t>
            </a:r>
            <a:r>
              <a:rPr lang="en-GB" sz="2400" dirty="0"/>
              <a:t> test is a </a:t>
            </a:r>
            <a:r>
              <a:rPr lang="en-GB" sz="2400" dirty="0">
                <a:solidFill>
                  <a:srgbClr val="FF0000"/>
                </a:solidFill>
              </a:rPr>
              <a:t>hypothesis test</a:t>
            </a:r>
            <a:r>
              <a:rPr lang="en-GB" sz="2400" dirty="0"/>
              <a:t>, it follows the usual steps of a hypothesis test.</a:t>
            </a:r>
          </a:p>
          <a:p>
            <a:pPr marL="0" lvl="0" indent="0">
              <a:buNone/>
            </a:pPr>
            <a:endParaRPr lang="en-GB" sz="2400" dirty="0"/>
          </a:p>
          <a:p>
            <a:r>
              <a:rPr lang="en-GB" sz="2400" dirty="0"/>
              <a:t>Write down what you are testing: Null and alternative hypothesis.</a:t>
            </a:r>
          </a:p>
          <a:p>
            <a:pPr lvl="0"/>
            <a:r>
              <a:rPr lang="en-GB" sz="2400" dirty="0"/>
              <a:t>Compute a test statistic from the sample data.</a:t>
            </a:r>
          </a:p>
          <a:p>
            <a:pPr lvl="0"/>
            <a:r>
              <a:rPr lang="en-GB" sz="2400" dirty="0"/>
              <a:t>Look up a critical value in a statistical table.</a:t>
            </a:r>
          </a:p>
          <a:p>
            <a:pPr lvl="0"/>
            <a:r>
              <a:rPr lang="en-GB" sz="2400" dirty="0"/>
              <a:t>Decision: Reject or not reject the null.</a:t>
            </a:r>
          </a:p>
          <a:p>
            <a:pPr lvl="0"/>
            <a:r>
              <a:rPr lang="en-GB" sz="2400" dirty="0"/>
              <a:t>Conclusion: What can be learned from the test.</a:t>
            </a:r>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p:spTree>
    <p:extLst>
      <p:ext uri="{BB962C8B-B14F-4D97-AF65-F5344CB8AC3E}">
        <p14:creationId xmlns:p14="http://schemas.microsoft.com/office/powerpoint/2010/main" val="2482482246"/>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12AC6-1674-4043-3143-486F3D188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95B37-C6D0-46DD-7CAB-1324B66D680A}"/>
              </a:ext>
            </a:extLst>
          </p:cNvPr>
          <p:cNvSpPr>
            <a:spLocks noGrp="1"/>
          </p:cNvSpPr>
          <p:nvPr>
            <p:ph type="title"/>
          </p:nvPr>
        </p:nvSpPr>
        <p:spPr/>
        <p:txBody>
          <a:bodyPr>
            <a:normAutofit fontScale="90000"/>
          </a:bodyPr>
          <a:lstStyle/>
          <a:p>
            <a:r>
              <a:rPr lang="en-GB" noProof="0" dirty="0"/>
              <a:t>Conducting a test of significance</a:t>
            </a:r>
            <a:br>
              <a:rPr lang="en-GB" noProof="0" dirty="0"/>
            </a:br>
            <a:endParaRPr lang="en-GB" noProof="0" dirty="0"/>
          </a:p>
        </p:txBody>
      </p:sp>
      <p:sp>
        <p:nvSpPr>
          <p:cNvPr id="3" name="Text Placeholder 2">
            <a:extLst>
              <a:ext uri="{FF2B5EF4-FFF2-40B4-BE49-F238E27FC236}">
                <a16:creationId xmlns:a16="http://schemas.microsoft.com/office/drawing/2014/main" id="{C5A1C063-2A6F-B8D8-5306-26705293E457}"/>
              </a:ext>
            </a:extLst>
          </p:cNvPr>
          <p:cNvSpPr>
            <a:spLocks noGrp="1"/>
          </p:cNvSpPr>
          <p:nvPr>
            <p:ph type="body" sz="quarter" idx="11"/>
          </p:nvPr>
        </p:nvSpPr>
        <p:spPr>
          <a:xfrm>
            <a:off x="900112" y="1700213"/>
            <a:ext cx="7632327" cy="5157787"/>
          </a:xfrm>
        </p:spPr>
        <p:txBody>
          <a:bodyPr/>
          <a:lstStyle/>
          <a:p>
            <a:pPr marL="342900" lvl="0" indent="-342900">
              <a:buFont typeface="Arial" panose="020B0604020202020204" pitchFamily="34" charset="0"/>
              <a:buChar char="•"/>
            </a:pPr>
            <a:r>
              <a:rPr lang="en-GB" sz="2400" dirty="0"/>
              <a:t>A </a:t>
            </a:r>
            <a:r>
              <a:rPr lang="en-GB" sz="2400" i="1" dirty="0">
                <a:solidFill>
                  <a:srgbClr val="FF0000"/>
                </a:solidFill>
              </a:rPr>
              <a:t>t</a:t>
            </a:r>
            <a:r>
              <a:rPr lang="en-GB" sz="2400" dirty="0">
                <a:solidFill>
                  <a:srgbClr val="FF0000"/>
                </a:solidFill>
              </a:rPr>
              <a:t> test </a:t>
            </a:r>
            <a:r>
              <a:rPr lang="en-GB" sz="2400" dirty="0"/>
              <a:t>is focussing on one coefficient at a time; it can be a slope coefficient or the intercept. </a:t>
            </a:r>
          </a:p>
          <a:p>
            <a:pPr marL="342900" lvl="0" indent="-342900">
              <a:buFont typeface="Arial" panose="020B0604020202020204" pitchFamily="34" charset="0"/>
              <a:buChar char="•"/>
            </a:pPr>
            <a:r>
              <a:rPr lang="en-GB" sz="2400" dirty="0"/>
              <a:t>A</a:t>
            </a:r>
            <a:r>
              <a:rPr lang="en-GB" sz="2400" i="1" dirty="0"/>
              <a:t> t </a:t>
            </a:r>
            <a:r>
              <a:rPr lang="en-GB" sz="2400" dirty="0"/>
              <a:t>test can be one-sided or two-sided depending on the question.</a:t>
            </a:r>
          </a:p>
          <a:p>
            <a:pPr marL="342900" lvl="0" indent="-342900">
              <a:buFont typeface="Arial" panose="020B0604020202020204" pitchFamily="34" charset="0"/>
              <a:buChar char="•"/>
            </a:pPr>
            <a:r>
              <a:rPr lang="en-GB" sz="2400" dirty="0"/>
              <a:t>We start with a two-sided test. Is the slope coefficient statistically significant? Meaning: Can we sure that it is not zero. </a:t>
            </a:r>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p:spTree>
    <p:extLst>
      <p:ext uri="{BB962C8B-B14F-4D97-AF65-F5344CB8AC3E}">
        <p14:creationId xmlns:p14="http://schemas.microsoft.com/office/powerpoint/2010/main" val="1868549678"/>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99EBA-61F6-2F91-22AB-FD78B71D4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D60173-DFB4-79FC-032B-47C4309024B1}"/>
              </a:ext>
            </a:extLst>
          </p:cNvPr>
          <p:cNvSpPr>
            <a:spLocks noGrp="1"/>
          </p:cNvSpPr>
          <p:nvPr>
            <p:ph type="title"/>
          </p:nvPr>
        </p:nvSpPr>
        <p:spPr/>
        <p:txBody>
          <a:bodyPr>
            <a:normAutofit fontScale="90000"/>
          </a:bodyPr>
          <a:lstStyle/>
          <a:p>
            <a:r>
              <a:rPr lang="en-GB" i="1" dirty="0"/>
              <a:t>t </a:t>
            </a:r>
            <a:r>
              <a:rPr lang="en-GB" dirty="0"/>
              <a:t>test: two-sided, for the slope, relative to 0. </a:t>
            </a: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ABAA2E4-D535-5C73-C43E-F9E54C398F6F}"/>
                  </a:ext>
                </a:extLst>
              </p:cNvPr>
              <p:cNvSpPr>
                <a:spLocks noGrp="1"/>
              </p:cNvSpPr>
              <p:nvPr>
                <p:ph type="body" sz="quarter" idx="11"/>
              </p:nvPr>
            </p:nvSpPr>
            <p:spPr>
              <a:xfrm>
                <a:off x="900112" y="1700213"/>
                <a:ext cx="7632327" cy="5157787"/>
              </a:xfrm>
            </p:spPr>
            <p:txBody>
              <a:bodyPr/>
              <a:lstStyle/>
              <a:p>
                <a:r>
                  <a:rPr lang="en-GB" sz="2400" dirty="0"/>
                  <a:t>Write down what you are testing: Null and alternative hypothesis.</a:t>
                </a:r>
              </a:p>
              <a:p>
                <a:pPr marL="0" lvl="0" indent="0">
                  <a:buNone/>
                </a:pPr>
                <a:endParaRPr lang="en-GB" sz="2400" dirty="0"/>
              </a:p>
              <a:p>
                <a:pPr marL="0" lvl="0" indent="0">
                  <a:buNone/>
                </a:pPr>
                <a14:m>
                  <m:oMathPara xmlns:m="http://schemas.openxmlformats.org/officeDocument/2006/math">
                    <m:oMathParaPr>
                      <m:jc m:val="left"/>
                    </m:oMathParaPr>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𝐻</m:t>
                          </m:r>
                        </m:e>
                        <m:sub>
                          <m:r>
                            <a:rPr lang="en-GB" sz="2400" b="0" i="1" smtClean="0">
                              <a:latin typeface="Cambria Math" panose="02040503050406030204" pitchFamily="18" charset="0"/>
                            </a:rPr>
                            <m:t>0</m:t>
                          </m:r>
                        </m:sub>
                      </m:sSub>
                      <m:r>
                        <a:rPr lang="en-GB" sz="2400" b="0" i="1" smtClean="0">
                          <a:latin typeface="Cambria Math" panose="02040503050406030204" pitchFamily="18" charset="0"/>
                        </a:rPr>
                        <m:t>: </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𝐵</m:t>
                          </m:r>
                        </m:e>
                        <m:sub>
                          <m:r>
                            <a:rPr lang="en-GB" sz="2400" b="0" i="1" smtClean="0">
                              <a:latin typeface="Cambria Math" panose="02040503050406030204" pitchFamily="18" charset="0"/>
                            </a:rPr>
                            <m:t>1</m:t>
                          </m:r>
                        </m:sub>
                      </m:sSub>
                      <m:r>
                        <a:rPr lang="en-GB" sz="2400" b="0" i="1" smtClean="0">
                          <a:latin typeface="Cambria Math" panose="02040503050406030204" pitchFamily="18" charset="0"/>
                        </a:rPr>
                        <m:t>=0</m:t>
                      </m:r>
                    </m:oMath>
                  </m:oMathPara>
                </a14:m>
                <a:endParaRPr lang="en-GB" sz="2400" dirty="0"/>
              </a:p>
              <a:p>
                <a:pPr marL="0" indent="0">
                  <a:buNone/>
                </a:pPr>
                <a14:m>
                  <m:oMathPara xmlns:m="http://schemas.openxmlformats.org/officeDocument/2006/math">
                    <m:oMathParaPr>
                      <m:jc m:val="left"/>
                    </m:oMathParaPr>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𝐻</m:t>
                          </m:r>
                        </m:e>
                        <m:sub>
                          <m:r>
                            <a:rPr lang="en-GB" sz="2400" b="0" i="1" smtClean="0">
                              <a:latin typeface="Cambria Math" panose="02040503050406030204" pitchFamily="18" charset="0"/>
                            </a:rPr>
                            <m:t>1</m:t>
                          </m:r>
                        </m:sub>
                      </m:sSub>
                      <m:r>
                        <a:rPr lang="en-GB" sz="2400" i="1">
                          <a:latin typeface="Cambria Math" panose="02040503050406030204" pitchFamily="18" charset="0"/>
                        </a:rPr>
                        <m:t>: </m:t>
                      </m:r>
                      <m:sSub>
                        <m:sSubPr>
                          <m:ctrlPr>
                            <a:rPr lang="en-GB" sz="2400" i="1">
                              <a:latin typeface="Cambria Math" panose="02040503050406030204" pitchFamily="18" charset="0"/>
                            </a:rPr>
                          </m:ctrlPr>
                        </m:sSubPr>
                        <m:e>
                          <m:r>
                            <a:rPr lang="en-GB" sz="2400" i="1">
                              <a:latin typeface="Cambria Math" panose="02040503050406030204" pitchFamily="18" charset="0"/>
                            </a:rPr>
                            <m:t>𝐵</m:t>
                          </m:r>
                        </m:e>
                        <m:sub>
                          <m:r>
                            <a:rPr lang="en-GB" sz="2400" i="1">
                              <a:latin typeface="Cambria Math" panose="02040503050406030204" pitchFamily="18" charset="0"/>
                            </a:rPr>
                            <m:t>1</m:t>
                          </m:r>
                        </m:sub>
                      </m:sSub>
                      <m:r>
                        <a:rPr lang="en-GB" sz="2400" i="1" smtClean="0">
                          <a:latin typeface="Cambria Math" panose="02040503050406030204" pitchFamily="18" charset="0"/>
                          <a:ea typeface="Cambria Math" panose="02040503050406030204" pitchFamily="18" charset="0"/>
                        </a:rPr>
                        <m:t>≠</m:t>
                      </m:r>
                      <m:r>
                        <a:rPr lang="en-GB" sz="2400" i="1">
                          <a:latin typeface="Cambria Math" panose="02040503050406030204" pitchFamily="18" charset="0"/>
                        </a:rPr>
                        <m:t>0</m:t>
                      </m:r>
                    </m:oMath>
                  </m:oMathPara>
                </a14:m>
                <a:endParaRPr lang="en-GB" sz="2400" dirty="0"/>
              </a:p>
              <a:p>
                <a:pPr marL="0" lvl="0" indent="0">
                  <a:buNone/>
                </a:pPr>
                <a:endParaRPr lang="en-GB" sz="2400" dirty="0"/>
              </a:p>
              <a:p>
                <a:pPr marL="0" lvl="0" indent="0">
                  <a:buNone/>
                </a:pPr>
                <a:endParaRPr lang="en-GB" sz="2400" dirty="0"/>
              </a:p>
              <a:p>
                <a:pPr marL="0" lvl="0" indent="0">
                  <a:buNone/>
                </a:pPr>
                <a:r>
                  <a:rPr lang="en-GB" sz="2400" dirty="0"/>
                  <a:t>Note, that this is concerned with the true unknown parameter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𝐵</m:t>
                        </m:r>
                      </m:e>
                      <m:sub>
                        <m:r>
                          <a:rPr lang="en-GB" sz="2400" b="0" i="1" smtClean="0">
                            <a:latin typeface="Cambria Math" panose="02040503050406030204" pitchFamily="18" charset="0"/>
                          </a:rPr>
                          <m:t>1</m:t>
                        </m:r>
                      </m:sub>
                    </m:sSub>
                  </m:oMath>
                </a14:m>
                <a:r>
                  <a:rPr lang="en-GB" sz="2400" dirty="0"/>
                  <a:t>. If the null is true, advertisement has no effect on sales revenues.</a:t>
                </a:r>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5ABAA2E4-D535-5C73-C43E-F9E54C398F6F}"/>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2009" r="-1118"/>
                </a:stretch>
              </a:blipFill>
            </p:spPr>
            <p:txBody>
              <a:bodyPr/>
              <a:lstStyle/>
              <a:p>
                <a:r>
                  <a:rPr lang="en-GB">
                    <a:noFill/>
                  </a:rPr>
                  <a:t> </a:t>
                </a:r>
              </a:p>
            </p:txBody>
          </p:sp>
        </mc:Fallback>
      </mc:AlternateContent>
    </p:spTree>
    <p:extLst>
      <p:ext uri="{BB962C8B-B14F-4D97-AF65-F5344CB8AC3E}">
        <p14:creationId xmlns:p14="http://schemas.microsoft.com/office/powerpoint/2010/main" val="2349810991"/>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75F24-D0EF-060B-5177-2A82343361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9F8859-182D-D329-1507-19A00F92B6DC}"/>
              </a:ext>
            </a:extLst>
          </p:cNvPr>
          <p:cNvSpPr>
            <a:spLocks noGrp="1"/>
          </p:cNvSpPr>
          <p:nvPr>
            <p:ph type="title"/>
          </p:nvPr>
        </p:nvSpPr>
        <p:spPr/>
        <p:txBody>
          <a:bodyPr>
            <a:normAutofit fontScale="90000"/>
          </a:bodyPr>
          <a:lstStyle/>
          <a:p>
            <a:r>
              <a:rPr lang="en-GB" i="1" dirty="0"/>
              <a:t>t </a:t>
            </a:r>
            <a:r>
              <a:rPr lang="en-GB" dirty="0"/>
              <a:t>test: two-sided, for the slope, relative to 0. </a:t>
            </a:r>
            <a:br>
              <a:rPr lang="en-GB" noProof="0" dirty="0"/>
            </a:br>
            <a:endParaRPr lang="en-GB" noProof="0" dirty="0"/>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99499F2E-B784-04EB-5E83-CF318701EFBD}"/>
                  </a:ext>
                </a:extLst>
              </p:cNvPr>
              <p:cNvSpPr>
                <a:spLocks noGrp="1"/>
              </p:cNvSpPr>
              <p:nvPr>
                <p:ph type="body" sz="quarter" idx="11"/>
              </p:nvPr>
            </p:nvSpPr>
            <p:spPr>
              <a:xfrm>
                <a:off x="900112" y="1700213"/>
                <a:ext cx="7632327" cy="5157787"/>
              </a:xfrm>
            </p:spPr>
            <p:txBody>
              <a:bodyPr/>
              <a:lstStyle/>
              <a:p>
                <a:pPr lvl="0">
                  <a:buFont typeface="+mj-lt"/>
                  <a:buAutoNum type="arabicPeriod" startAt="2"/>
                </a:pPr>
                <a:r>
                  <a:rPr lang="en-GB" sz="2400" dirty="0"/>
                  <a:t> Compute a </a:t>
                </a:r>
                <a:r>
                  <a:rPr lang="en-GB" sz="2400" dirty="0">
                    <a:solidFill>
                      <a:srgbClr val="FF0000"/>
                    </a:solidFill>
                  </a:rPr>
                  <a:t>test statistic </a:t>
                </a:r>
                <a:r>
                  <a:rPr lang="en-GB" sz="2400" dirty="0"/>
                  <a:t>from the sample data:</a:t>
                </a:r>
              </a:p>
              <a:p>
                <a:pPr marL="0" lvl="0" indent="0">
                  <a:buNone/>
                </a:pPr>
                <a:endParaRPr lang="en-GB" sz="2400" dirty="0"/>
              </a:p>
              <a:p>
                <a:pPr marL="0" lvl="0" indent="0">
                  <a:buNone/>
                </a:pPr>
                <a14:m>
                  <m:oMathPara xmlns:m="http://schemas.openxmlformats.org/officeDocument/2006/math">
                    <m:oMathParaPr>
                      <m:jc m:val="left"/>
                    </m:oMathParaPr>
                    <m:oMath xmlns:m="http://schemas.openxmlformats.org/officeDocument/2006/math">
                      <m:r>
                        <a:rPr lang="en-GB" sz="2400" b="0" i="1" smtClean="0">
                          <a:latin typeface="Cambria Math" panose="02040503050406030204" pitchFamily="18" charset="0"/>
                        </a:rPr>
                        <m:t>𝑡</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𝑏</m:t>
                              </m:r>
                            </m:e>
                            <m:sub>
                              <m:r>
                                <a:rPr lang="en-GB" sz="2400" b="0" i="1" smtClean="0">
                                  <a:latin typeface="Cambria Math" panose="02040503050406030204" pitchFamily="18" charset="0"/>
                                </a:rPr>
                                <m:t>1</m:t>
                              </m:r>
                            </m:sub>
                          </m:sSub>
                          <m:r>
                            <a:rPr lang="en-GB" sz="2400" b="0" i="1" smtClean="0">
                              <a:latin typeface="Cambria Math" panose="02040503050406030204" pitchFamily="18" charset="0"/>
                            </a:rPr>
                            <m: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𝐵</m:t>
                              </m:r>
                            </m:e>
                            <m:sup>
                              <m:r>
                                <a:rPr lang="en-GB" sz="2400" b="0" i="1" smtClean="0">
                                  <a:latin typeface="Cambria Math" panose="02040503050406030204" pitchFamily="18" charset="0"/>
                                </a:rPr>
                                <m:t>∗</m:t>
                              </m:r>
                            </m:sup>
                          </m:sSup>
                        </m:num>
                        <m:den>
                          <m:r>
                            <a:rPr lang="en-GB" sz="2400" b="0" i="1" smtClean="0">
                              <a:latin typeface="Cambria Math" panose="02040503050406030204" pitchFamily="18" charset="0"/>
                            </a:rPr>
                            <m:t>𝑠𝑒</m:t>
                          </m:r>
                          <m:r>
                            <a:rPr lang="en-GB" sz="2400" b="0" i="1" smtClean="0">
                              <a:latin typeface="Cambria Math" panose="02040503050406030204" pitchFamily="18" charset="0"/>
                            </a:rPr>
                            <m:t>(</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𝑏</m:t>
                              </m:r>
                            </m:e>
                            <m:sub>
                              <m:r>
                                <a:rPr lang="en-GB" sz="2400" b="0" i="1" smtClean="0">
                                  <a:latin typeface="Cambria Math" panose="02040503050406030204" pitchFamily="18" charset="0"/>
                                </a:rPr>
                                <m:t>1</m:t>
                              </m:r>
                            </m:sub>
                          </m:sSub>
                          <m:r>
                            <a:rPr lang="en-GB" sz="2400" b="0" i="1" smtClean="0">
                              <a:latin typeface="Cambria Math" panose="02040503050406030204" pitchFamily="18" charset="0"/>
                            </a:rPr>
                            <m:t>)</m:t>
                          </m:r>
                        </m:den>
                      </m:f>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r>
                            <a:rPr lang="en-GB" sz="2400" b="0" i="1" smtClean="0">
                              <a:latin typeface="Cambria Math" panose="02040503050406030204" pitchFamily="18" charset="0"/>
                            </a:rPr>
                            <m:t>3.533−0</m:t>
                          </m:r>
                        </m:num>
                        <m:den>
                          <m:r>
                            <a:rPr lang="en-GB" sz="2400" b="0" i="1" smtClean="0">
                              <a:latin typeface="Cambria Math" panose="02040503050406030204" pitchFamily="18" charset="0"/>
                            </a:rPr>
                            <m:t>0.52</m:t>
                          </m:r>
                        </m:den>
                      </m:f>
                      <m:r>
                        <a:rPr lang="en-GB" sz="2400" b="0" i="1" smtClean="0">
                          <a:latin typeface="Cambria Math" panose="02040503050406030204" pitchFamily="18" charset="0"/>
                        </a:rPr>
                        <m:t>=6.79</m:t>
                      </m:r>
                    </m:oMath>
                  </m:oMathPara>
                </a14:m>
                <a:endParaRPr lang="en-GB" sz="2400" dirty="0"/>
              </a:p>
              <a:p>
                <a:pPr marL="0" lvl="0" indent="0">
                  <a:buNone/>
                </a:pPr>
                <a:endParaRPr lang="en-GB" sz="2400" dirty="0"/>
              </a:p>
              <a:p>
                <a:pPr marL="342900" lvl="0" indent="-342900">
                  <a:buFont typeface="Arial" panose="020B0604020202020204" pitchFamily="34" charset="0"/>
                  <a:buChar char="•"/>
                </a:pPr>
                <a14:m>
                  <m:oMath xmlns:m="http://schemas.openxmlformats.org/officeDocument/2006/math">
                    <m:sSup>
                      <m:sSupPr>
                        <m:ctrlPr>
                          <a:rPr lang="en-GB" sz="2400" i="1" smtClean="0">
                            <a:latin typeface="Cambria Math" panose="02040503050406030204" pitchFamily="18" charset="0"/>
                          </a:rPr>
                        </m:ctrlPr>
                      </m:sSupPr>
                      <m:e>
                        <m:r>
                          <a:rPr lang="en-GB" sz="2400" b="0" i="1" smtClean="0">
                            <a:latin typeface="Cambria Math" panose="02040503050406030204" pitchFamily="18" charset="0"/>
                          </a:rPr>
                          <m:t>𝐵</m:t>
                        </m:r>
                      </m:e>
                      <m:sup>
                        <m:r>
                          <a:rPr lang="en-GB" sz="2400" b="0" i="1" smtClean="0">
                            <a:latin typeface="Cambria Math" panose="02040503050406030204" pitchFamily="18" charset="0"/>
                          </a:rPr>
                          <m:t>∗</m:t>
                        </m:r>
                      </m:sup>
                    </m:sSup>
                  </m:oMath>
                </a14:m>
                <a:r>
                  <a:rPr lang="en-GB" sz="2400" dirty="0"/>
                  <a:t> is the value under the null, the value we are testing against, here it is 0.</a:t>
                </a:r>
              </a:p>
              <a:p>
                <a:pPr marL="342900" indent="-342900">
                  <a:buFont typeface="Arial" panose="020B0604020202020204" pitchFamily="34" charset="0"/>
                  <a:buChar char="•"/>
                </a:pPr>
                <a:r>
                  <a:rPr lang="en-GB" sz="2400" dirty="0"/>
                  <a:t>The result means, that </a:t>
                </a:r>
                <a14:m>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𝑏</m:t>
                        </m:r>
                      </m:e>
                      <m:sub>
                        <m:r>
                          <a:rPr lang="en-GB" sz="2400" i="1">
                            <a:latin typeface="Cambria Math" panose="02040503050406030204" pitchFamily="18" charset="0"/>
                          </a:rPr>
                          <m:t>1</m:t>
                        </m:r>
                      </m:sub>
                    </m:sSub>
                  </m:oMath>
                </a14:m>
                <a:r>
                  <a:rPr lang="en-GB" sz="2400" dirty="0"/>
                  <a:t> is </a:t>
                </a:r>
                <a14:m>
                  <m:oMath xmlns:m="http://schemas.openxmlformats.org/officeDocument/2006/math">
                    <m:r>
                      <a:rPr lang="en-GB" sz="2400" b="0" i="1" smtClean="0">
                        <a:latin typeface="Cambria Math" panose="02040503050406030204" pitchFamily="18" charset="0"/>
                      </a:rPr>
                      <m:t>6.79</m:t>
                    </m:r>
                  </m:oMath>
                </a14:m>
                <a:r>
                  <a:rPr lang="en-GB" sz="2400" dirty="0"/>
                  <a:t> standard errors away from 0. </a:t>
                </a:r>
              </a:p>
              <a:p>
                <a:pPr marL="342900" lvl="0" indent="-342900">
                  <a:buFont typeface="Arial" panose="020B0604020202020204" pitchFamily="34" charset="0"/>
                  <a:buChar char="•"/>
                </a:pPr>
                <a:r>
                  <a:rPr lang="en-GB" sz="2400" dirty="0"/>
                  <a:t>The </a:t>
                </a:r>
                <a:r>
                  <a:rPr lang="en-GB" sz="2400" i="1" dirty="0"/>
                  <a:t>t </a:t>
                </a:r>
                <a:r>
                  <a:rPr lang="en-GB" sz="2400" dirty="0"/>
                  <a:t>statistics or also called</a:t>
                </a:r>
                <a:r>
                  <a:rPr lang="en-GB" sz="2400" i="1" dirty="0"/>
                  <a:t> t </a:t>
                </a:r>
                <a:r>
                  <a:rPr lang="en-GB" sz="2400" dirty="0"/>
                  <a:t>values can be negative or positive, depending on the sign of the coefficient, as standard errors are always positive.</a:t>
                </a:r>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p:sp>
            <p:nvSpPr>
              <p:cNvPr id="3" name="Text Placeholder 2">
                <a:extLst>
                  <a:ext uri="{FF2B5EF4-FFF2-40B4-BE49-F238E27FC236}">
                    <a16:creationId xmlns:a16="http://schemas.microsoft.com/office/drawing/2014/main" id="{99499F2E-B784-04EB-5E83-CF318701EFBD}"/>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2009"/>
                </a:stretch>
              </a:blipFill>
            </p:spPr>
            <p:txBody>
              <a:bodyPr/>
              <a:lstStyle/>
              <a:p>
                <a:r>
                  <a:rPr lang="en-GB">
                    <a:noFill/>
                  </a:rPr>
                  <a:t> </a:t>
                </a:r>
              </a:p>
            </p:txBody>
          </p:sp>
        </mc:Fallback>
      </mc:AlternateContent>
    </p:spTree>
    <p:extLst>
      <p:ext uri="{BB962C8B-B14F-4D97-AF65-F5344CB8AC3E}">
        <p14:creationId xmlns:p14="http://schemas.microsoft.com/office/powerpoint/2010/main" val="2633922389"/>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4D813-C2DB-968B-C414-39874DCF34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8F54A8-EA37-B8C0-6E3F-373C53B643CA}"/>
              </a:ext>
            </a:extLst>
          </p:cNvPr>
          <p:cNvSpPr>
            <a:spLocks noGrp="1"/>
          </p:cNvSpPr>
          <p:nvPr>
            <p:ph type="title"/>
          </p:nvPr>
        </p:nvSpPr>
        <p:spPr/>
        <p:txBody>
          <a:bodyPr>
            <a:normAutofit fontScale="90000"/>
          </a:bodyPr>
          <a:lstStyle/>
          <a:p>
            <a:r>
              <a:rPr lang="en-GB" i="1" dirty="0"/>
              <a:t>t </a:t>
            </a:r>
            <a:r>
              <a:rPr lang="en-GB" dirty="0"/>
              <a:t>test: two-sided, for the slope, relative to 0. </a:t>
            </a:r>
            <a:br>
              <a:rPr lang="en-GB" noProof="0" dirty="0"/>
            </a:br>
            <a:endParaRPr lang="en-GB" noProof="0" dirty="0"/>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5B166233-B613-F757-F182-582C5EBFDD59}"/>
                  </a:ext>
                </a:extLst>
              </p:cNvPr>
              <p:cNvSpPr>
                <a:spLocks noGrp="1"/>
              </p:cNvSpPr>
              <p:nvPr>
                <p:ph type="body" sz="quarter" idx="11"/>
              </p:nvPr>
            </p:nvSpPr>
            <p:spPr>
              <a:xfrm>
                <a:off x="900112" y="1700213"/>
                <a:ext cx="7632327" cy="5157787"/>
              </a:xfrm>
            </p:spPr>
            <p:txBody>
              <a:bodyPr/>
              <a:lstStyle/>
              <a:p>
                <a:pPr>
                  <a:buFont typeface="+mj-lt"/>
                  <a:buAutoNum type="arabicPeriod" startAt="3"/>
                </a:pPr>
                <a:r>
                  <a:rPr lang="en-GB" sz="2400" dirty="0"/>
                  <a:t>Look up a </a:t>
                </a:r>
                <a:r>
                  <a:rPr lang="en-GB" sz="2400" dirty="0">
                    <a:solidFill>
                      <a:srgbClr val="FF0000"/>
                    </a:solidFill>
                  </a:rPr>
                  <a:t>critical value </a:t>
                </a:r>
                <a14:m>
                  <m:oMath xmlns:m="http://schemas.openxmlformats.org/officeDocument/2006/math">
                    <m:sSup>
                      <m:sSupPr>
                        <m:ctrlPr>
                          <a:rPr lang="en-GB" sz="2400" i="1" smtClean="0">
                            <a:latin typeface="Cambria Math" panose="02040503050406030204" pitchFamily="18" charset="0"/>
                          </a:rPr>
                        </m:ctrlPr>
                      </m:sSupPr>
                      <m:e>
                        <m:r>
                          <a:rPr lang="en-GB" sz="2400" b="0" i="1" smtClean="0">
                            <a:latin typeface="Cambria Math" panose="02040503050406030204" pitchFamily="18" charset="0"/>
                          </a:rPr>
                          <m:t>𝑡</m:t>
                        </m:r>
                      </m:e>
                      <m:sup>
                        <m:r>
                          <a:rPr lang="en-GB" sz="2400" b="0" i="1" smtClean="0">
                            <a:latin typeface="Cambria Math" panose="02040503050406030204" pitchFamily="18" charset="0"/>
                          </a:rPr>
                          <m:t>∗</m:t>
                        </m:r>
                      </m:sup>
                    </m:sSup>
                  </m:oMath>
                </a14:m>
                <a:r>
                  <a:rPr lang="en-GB" sz="2400" dirty="0"/>
                  <a:t> in a statistical table.</a:t>
                </a:r>
              </a:p>
              <a:p>
                <a:pPr marL="0" indent="0">
                  <a:buNone/>
                </a:pPr>
                <a:endParaRPr lang="en-GB" sz="2400" dirty="0"/>
              </a:p>
              <a:p>
                <a:pPr marL="342900" lvl="0" indent="-342900">
                  <a:buFont typeface="Arial" panose="020B0604020202020204" pitchFamily="34" charset="0"/>
                  <a:buChar char="•"/>
                </a:pPr>
                <a:r>
                  <a:rPr lang="en-GB" sz="2400" dirty="0"/>
                  <a:t>Using a 5% significance level, and a two-sided test, we put 2.5% in each tail. This information is necessary to find the correct column in the </a:t>
                </a:r>
                <a:r>
                  <a:rPr lang="en-GB" sz="2400" i="1" dirty="0"/>
                  <a:t>t</a:t>
                </a:r>
                <a:r>
                  <a:rPr lang="en-GB" sz="2400" dirty="0"/>
                  <a:t> table.</a:t>
                </a:r>
              </a:p>
              <a:p>
                <a:pPr marL="342900" lvl="0" indent="-342900">
                  <a:buFont typeface="Arial" panose="020B0604020202020204" pitchFamily="34" charset="0"/>
                  <a:buChar char="•"/>
                </a:pPr>
                <a:r>
                  <a:rPr lang="en-GB" sz="2400" dirty="0"/>
                  <a:t>We need to compute the degrees of freedom to determine the correct column. </a:t>
                </a:r>
              </a:p>
              <a:p>
                <a:pPr marL="0" lvl="0" indent="0">
                  <a:buNone/>
                </a:pPr>
                <a14:m>
                  <m:oMathPara xmlns:m="http://schemas.openxmlformats.org/officeDocument/2006/math">
                    <m:oMathParaPr>
                      <m:jc m:val="centerGroup"/>
                    </m:oMathParaPr>
                    <m:oMath xmlns:m="http://schemas.openxmlformats.org/officeDocument/2006/math">
                      <m:r>
                        <a:rPr lang="en-GB" sz="2400" b="0" i="1" smtClean="0">
                          <a:latin typeface="Cambria Math" panose="02040503050406030204" pitchFamily="18" charset="0"/>
                        </a:rPr>
                        <m:t>𝑑𝑓</m:t>
                      </m:r>
                      <m:r>
                        <a:rPr lang="en-GB" sz="2400" b="0" i="1" smtClean="0">
                          <a:latin typeface="Cambria Math" panose="02040503050406030204" pitchFamily="18" charset="0"/>
                        </a:rPr>
                        <m:t>=</m:t>
                      </m:r>
                      <m:r>
                        <a:rPr lang="en-GB" sz="2400" b="0" i="1" smtClean="0">
                          <a:latin typeface="Cambria Math" panose="02040503050406030204" pitchFamily="18" charset="0"/>
                        </a:rPr>
                        <m:t>𝑛</m:t>
                      </m:r>
                      <m:r>
                        <a:rPr lang="en-GB" sz="2400" b="0" i="1" smtClean="0">
                          <a:latin typeface="Cambria Math" panose="02040503050406030204" pitchFamily="18" charset="0"/>
                        </a:rPr>
                        <m:t>−</m:t>
                      </m:r>
                      <m:r>
                        <a:rPr lang="en-GB" sz="2400" b="0" i="1" smtClean="0">
                          <a:latin typeface="Cambria Math" panose="02040503050406030204" pitchFamily="18" charset="0"/>
                        </a:rPr>
                        <m:t>𝑘</m:t>
                      </m:r>
                      <m:r>
                        <a:rPr lang="en-GB" sz="2400" b="0" i="1" smtClean="0">
                          <a:latin typeface="Cambria Math" panose="02040503050406030204" pitchFamily="18" charset="0"/>
                        </a:rPr>
                        <m:t>=10−2=8</m:t>
                      </m:r>
                    </m:oMath>
                  </m:oMathPara>
                </a14:m>
                <a:endParaRPr lang="en-GB" sz="2400" dirty="0"/>
              </a:p>
              <a:p>
                <a:pPr marL="342900" lvl="0" indent="-342900">
                  <a:buFont typeface="Arial" panose="020B0604020202020204" pitchFamily="34" charset="0"/>
                  <a:buChar char="•"/>
                </a:pPr>
                <a:r>
                  <a:rPr lang="en-GB" sz="2400" dirty="0"/>
                  <a:t>Using the </a:t>
                </a:r>
                <a:r>
                  <a:rPr lang="en-GB" sz="2400" i="1" dirty="0"/>
                  <a:t>t </a:t>
                </a:r>
                <a:r>
                  <a:rPr lang="en-GB" sz="2400" dirty="0"/>
                  <a:t>distribution table, we find a critical value of </a:t>
                </a:r>
                <a14:m>
                  <m:oMath xmlns:m="http://schemas.openxmlformats.org/officeDocument/2006/math">
                    <m:sSup>
                      <m:sSupPr>
                        <m:ctrlPr>
                          <a:rPr lang="en-GB" sz="2400" i="1" smtClean="0">
                            <a:latin typeface="Cambria Math" panose="02040503050406030204" pitchFamily="18" charset="0"/>
                          </a:rPr>
                        </m:ctrlPr>
                      </m:sSupPr>
                      <m:e>
                        <m:r>
                          <a:rPr lang="en-GB" sz="2400" b="0" i="1" smtClean="0">
                            <a:latin typeface="Cambria Math" panose="02040503050406030204" pitchFamily="18" charset="0"/>
                          </a:rPr>
                          <m:t>𝑡</m:t>
                        </m:r>
                      </m:e>
                      <m:sup>
                        <m:r>
                          <a:rPr lang="en-GB" sz="2400" b="0" i="1" smtClean="0">
                            <a:latin typeface="Cambria Math" panose="02040503050406030204" pitchFamily="18" charset="0"/>
                          </a:rPr>
                          <m:t>∗</m:t>
                        </m:r>
                      </m:sup>
                    </m:sSup>
                    <m:r>
                      <a:rPr lang="en-GB" sz="2400" b="0" i="1" smtClean="0">
                        <a:latin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±2.306</m:t>
                    </m:r>
                  </m:oMath>
                </a14:m>
                <a:r>
                  <a:rPr lang="en-GB" sz="2400" dirty="0"/>
                  <a:t>. </a:t>
                </a:r>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p:sp>
            <p:nvSpPr>
              <p:cNvPr id="3" name="Text Placeholder 2">
                <a:extLst>
                  <a:ext uri="{FF2B5EF4-FFF2-40B4-BE49-F238E27FC236}">
                    <a16:creationId xmlns:a16="http://schemas.microsoft.com/office/drawing/2014/main" id="{5B166233-B613-F757-F182-582C5EBFDD59}"/>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2009" r="-3115"/>
                </a:stretch>
              </a:blipFill>
            </p:spPr>
            <p:txBody>
              <a:bodyPr/>
              <a:lstStyle/>
              <a:p>
                <a:r>
                  <a:rPr lang="en-GB">
                    <a:noFill/>
                  </a:rPr>
                  <a:t> </a:t>
                </a:r>
              </a:p>
            </p:txBody>
          </p:sp>
        </mc:Fallback>
      </mc:AlternateContent>
    </p:spTree>
    <p:extLst>
      <p:ext uri="{BB962C8B-B14F-4D97-AF65-F5344CB8AC3E}">
        <p14:creationId xmlns:p14="http://schemas.microsoft.com/office/powerpoint/2010/main" val="2320105413"/>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6EB09-C973-E1FB-5327-9DC53B7B6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26ABA6-2659-F518-34A0-69AEC1C7A695}"/>
              </a:ext>
            </a:extLst>
          </p:cNvPr>
          <p:cNvSpPr>
            <a:spLocks noGrp="1"/>
          </p:cNvSpPr>
          <p:nvPr>
            <p:ph type="title"/>
          </p:nvPr>
        </p:nvSpPr>
        <p:spPr/>
        <p:txBody>
          <a:bodyPr>
            <a:normAutofit fontScale="90000"/>
          </a:bodyPr>
          <a:lstStyle/>
          <a:p>
            <a:r>
              <a:rPr lang="en-GB" i="1" dirty="0"/>
              <a:t>t </a:t>
            </a:r>
            <a:r>
              <a:rPr lang="en-GB" dirty="0"/>
              <a:t>test: two-sided, for the slope, relative to 0. </a:t>
            </a:r>
            <a:br>
              <a:rPr lang="en-GB" noProof="0" dirty="0"/>
            </a:br>
            <a:endParaRPr lang="en-GB" noProof="0" dirty="0"/>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0880E6B9-D46A-E7BE-E17D-FFD54C479B52}"/>
                  </a:ext>
                </a:extLst>
              </p:cNvPr>
              <p:cNvSpPr>
                <a:spLocks noGrp="1"/>
              </p:cNvSpPr>
              <p:nvPr>
                <p:ph type="body" sz="quarter" idx="11"/>
              </p:nvPr>
            </p:nvSpPr>
            <p:spPr>
              <a:xfrm>
                <a:off x="900112" y="1700213"/>
                <a:ext cx="7632327" cy="5157787"/>
              </a:xfrm>
            </p:spPr>
            <p:txBody>
              <a:bodyPr/>
              <a:lstStyle/>
              <a:p>
                <a:pPr>
                  <a:buFont typeface="+mj-lt"/>
                  <a:buAutoNum type="arabicPeriod" startAt="4"/>
                </a:pPr>
                <a:r>
                  <a:rPr lang="en-GB" sz="2400" dirty="0">
                    <a:solidFill>
                      <a:srgbClr val="FF0000"/>
                    </a:solidFill>
                  </a:rPr>
                  <a:t>Decision</a:t>
                </a:r>
                <a:r>
                  <a:rPr lang="en-GB" sz="2400" dirty="0"/>
                  <a:t>: Reject the null hypothesis.</a:t>
                </a:r>
              </a:p>
              <a:p>
                <a:pPr marL="0" indent="0">
                  <a:buNone/>
                </a:pPr>
                <a:r>
                  <a:rPr lang="en-GB" sz="2400" dirty="0"/>
                  <a:t>As </a:t>
                </a:r>
                <a14:m>
                  <m:oMath xmlns:m="http://schemas.openxmlformats.org/officeDocument/2006/math">
                    <m:r>
                      <a:rPr lang="en-GB" sz="2400" b="0" i="1" smtClean="0">
                        <a:latin typeface="Cambria Math" panose="02040503050406030204" pitchFamily="18" charset="0"/>
                      </a:rPr>
                      <m:t>𝑡</m:t>
                    </m:r>
                    <m:r>
                      <a:rPr lang="en-GB" sz="2400" b="0" i="1" smtClean="0">
                        <a:latin typeface="Cambria Math" panose="02040503050406030204" pitchFamily="18" charset="0"/>
                      </a:rPr>
                      <m:t>&gt;</m:t>
                    </m:r>
                    <m:sSup>
                      <m:sSupPr>
                        <m:ctrlPr>
                          <a:rPr lang="en-GB" sz="2400" b="0" i="1" smtClean="0">
                            <a:latin typeface="Cambria Math" panose="02040503050406030204" pitchFamily="18" charset="0"/>
                          </a:rPr>
                        </m:ctrlPr>
                      </m:sSupPr>
                      <m:e>
                        <m:r>
                          <a:rPr lang="en-GB" sz="2400" b="0" i="1" smtClean="0">
                            <a:latin typeface="Cambria Math" panose="02040503050406030204" pitchFamily="18" charset="0"/>
                          </a:rPr>
                          <m:t>𝑡</m:t>
                        </m:r>
                      </m:e>
                      <m:sup>
                        <m:r>
                          <a:rPr lang="en-GB" sz="2400" b="0" i="1" smtClean="0">
                            <a:latin typeface="Cambria Math" panose="02040503050406030204" pitchFamily="18" charset="0"/>
                          </a:rPr>
                          <m:t>∗</m:t>
                        </m:r>
                      </m:sup>
                    </m:sSup>
                  </m:oMath>
                </a14:m>
                <a:r>
                  <a:rPr lang="en-GB" sz="2400" dirty="0"/>
                  <a:t> with </a:t>
                </a:r>
                <a14:m>
                  <m:oMath xmlns:m="http://schemas.openxmlformats.org/officeDocument/2006/math">
                    <m:r>
                      <a:rPr lang="en-GB" sz="2400" b="0" i="1" smtClean="0">
                        <a:latin typeface="Cambria Math" panose="02040503050406030204" pitchFamily="18" charset="0"/>
                      </a:rPr>
                      <m:t>6.79&gt;2.306</m:t>
                    </m:r>
                  </m:oMath>
                </a14:m>
                <a:r>
                  <a:rPr lang="en-GB" sz="2400" dirty="0"/>
                  <a:t> we reject the null hypothesis. The test statistics is larger than the critical value. Hence, the test statistics is in the rejection area. The null is rejected the alternative seems to be true.</a:t>
                </a:r>
              </a:p>
              <a:p>
                <a:pPr marL="0" indent="0">
                  <a:buNone/>
                </a:pPr>
                <a:endParaRPr lang="en-GB" sz="2400" dirty="0"/>
              </a:p>
              <a:p>
                <a:pPr>
                  <a:buFont typeface="+mj-lt"/>
                  <a:buAutoNum type="arabicPeriod" startAt="5"/>
                </a:pPr>
                <a:r>
                  <a:rPr lang="en-GB" sz="2400" dirty="0">
                    <a:solidFill>
                      <a:srgbClr val="FF0000"/>
                    </a:solidFill>
                  </a:rPr>
                  <a:t>Conclusion</a:t>
                </a:r>
              </a:p>
              <a:p>
                <a:pPr marL="0" indent="0">
                  <a:buNone/>
                </a:pPr>
                <a:r>
                  <a:rPr lang="en-GB" sz="2400" dirty="0"/>
                  <a:t>As we reject the null, there is an effect from advertisement on sales revenues. </a:t>
                </a:r>
              </a:p>
              <a:p>
                <a:pPr mar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p:sp>
            <p:nvSpPr>
              <p:cNvPr id="3" name="Text Placeholder 2">
                <a:extLst>
                  <a:ext uri="{FF2B5EF4-FFF2-40B4-BE49-F238E27FC236}">
                    <a16:creationId xmlns:a16="http://schemas.microsoft.com/office/drawing/2014/main" id="{0880E6B9-D46A-E7BE-E17D-FFD54C479B52}"/>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2009" r="-160"/>
                </a:stretch>
              </a:blipFill>
            </p:spPr>
            <p:txBody>
              <a:bodyPr/>
              <a:lstStyle/>
              <a:p>
                <a:r>
                  <a:rPr lang="en-GB">
                    <a:noFill/>
                  </a:rPr>
                  <a:t> </a:t>
                </a:r>
              </a:p>
            </p:txBody>
          </p:sp>
        </mc:Fallback>
      </mc:AlternateContent>
    </p:spTree>
    <p:extLst>
      <p:ext uri="{BB962C8B-B14F-4D97-AF65-F5344CB8AC3E}">
        <p14:creationId xmlns:p14="http://schemas.microsoft.com/office/powerpoint/2010/main" val="2204510172"/>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6F579-703A-8895-5704-4F3EF0E9F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78AFF4-C9DE-05D5-B4D3-F375157D28DD}"/>
              </a:ext>
            </a:extLst>
          </p:cNvPr>
          <p:cNvSpPr>
            <a:spLocks noGrp="1"/>
          </p:cNvSpPr>
          <p:nvPr>
            <p:ph type="title"/>
          </p:nvPr>
        </p:nvSpPr>
        <p:spPr/>
        <p:txBody>
          <a:bodyPr>
            <a:normAutofit fontScale="90000"/>
          </a:bodyPr>
          <a:lstStyle/>
          <a:p>
            <a:r>
              <a:rPr lang="en-GB" i="1" dirty="0"/>
              <a:t>Conducting a one-sided t </a:t>
            </a:r>
            <a:r>
              <a:rPr lang="en-GB" dirty="0"/>
              <a:t>test </a:t>
            </a: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A14EA13-27F2-DE2F-B437-FC3085E78516}"/>
                  </a:ext>
                </a:extLst>
              </p:cNvPr>
              <p:cNvSpPr>
                <a:spLocks noGrp="1"/>
              </p:cNvSpPr>
              <p:nvPr>
                <p:ph type="body" sz="quarter" idx="11"/>
              </p:nvPr>
            </p:nvSpPr>
            <p:spPr>
              <a:xfrm>
                <a:off x="900112" y="1700213"/>
                <a:ext cx="7632327" cy="5157787"/>
              </a:xfrm>
            </p:spPr>
            <p:txBody>
              <a:bodyPr/>
              <a:lstStyle/>
              <a:p>
                <a:pPr marL="0" lvl="0" indent="0">
                  <a:buNone/>
                </a:pPr>
                <a:r>
                  <a:rPr lang="en-GB" sz="2400" dirty="0"/>
                  <a:t>Test whether the slope, </a:t>
                </a:r>
                <a14:m>
                  <m:oMath xmlns:m="http://schemas.openxmlformats.org/officeDocument/2006/math">
                    <m:sSub>
                      <m:sSubPr>
                        <m:ctrlPr>
                          <a:rPr lang="en-GB" sz="2400" i="1" smtClean="0">
                            <a:latin typeface="Cambria Math" panose="02040503050406030204" pitchFamily="18" charset="0"/>
                          </a:rPr>
                        </m:ctrlPr>
                      </m:sSubPr>
                      <m:e>
                        <m:r>
                          <a:rPr lang="en-GB" sz="2400" b="0" i="1" smtClean="0">
                            <a:latin typeface="Cambria Math" panose="02040503050406030204" pitchFamily="18" charset="0"/>
                          </a:rPr>
                          <m:t>𝐵</m:t>
                        </m:r>
                      </m:e>
                      <m:sub>
                        <m:r>
                          <a:rPr lang="en-GB" sz="2400" b="0" i="1" smtClean="0">
                            <a:latin typeface="Cambria Math" panose="02040503050406030204" pitchFamily="18" charset="0"/>
                          </a:rPr>
                          <m:t>1</m:t>
                        </m:r>
                      </m:sub>
                    </m:sSub>
                  </m:oMath>
                </a14:m>
                <a:r>
                  <a:rPr lang="en-GB" sz="2400" dirty="0"/>
                  <a:t>, is significantly greater than 2.5 at α=5%:</a:t>
                </a:r>
              </a:p>
              <a:p>
                <a:pPr marL="0" lvl="0" indent="0">
                  <a:buNone/>
                </a:pPr>
                <a:endParaRPr lang="en-GB" sz="2400" dirty="0"/>
              </a:p>
              <a:p>
                <a:pPr marL="0" lvl="0" indent="0">
                  <a:buNone/>
                </a:pPr>
                <a14:m>
                  <m:oMathPara xmlns:m="http://schemas.openxmlformats.org/officeDocument/2006/math">
                    <m:oMathParaPr>
                      <m:jc m:val="left"/>
                    </m:oMathParaPr>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𝐻</m:t>
                          </m:r>
                        </m:e>
                        <m:sub>
                          <m:r>
                            <a:rPr lang="en-GB" sz="2400" i="1">
                              <a:latin typeface="Cambria Math" panose="02040503050406030204" pitchFamily="18" charset="0"/>
                            </a:rPr>
                            <m:t>0</m:t>
                          </m:r>
                        </m:sub>
                      </m:sSub>
                      <m:r>
                        <a:rPr lang="en-GB" sz="2400" i="1">
                          <a:latin typeface="Cambria Math" panose="02040503050406030204" pitchFamily="18" charset="0"/>
                        </a:rPr>
                        <m:t>: </m:t>
                      </m:r>
                      <m:sSub>
                        <m:sSubPr>
                          <m:ctrlPr>
                            <a:rPr lang="en-GB" sz="2400" i="1">
                              <a:latin typeface="Cambria Math" panose="02040503050406030204" pitchFamily="18" charset="0"/>
                            </a:rPr>
                          </m:ctrlPr>
                        </m:sSubPr>
                        <m:e>
                          <m:r>
                            <a:rPr lang="en-GB" sz="2400" i="1">
                              <a:latin typeface="Cambria Math" panose="02040503050406030204" pitchFamily="18" charset="0"/>
                            </a:rPr>
                            <m:t>𝐵</m:t>
                          </m:r>
                        </m:e>
                        <m:sub>
                          <m:r>
                            <a:rPr lang="en-GB" sz="2400" i="1">
                              <a:latin typeface="Cambria Math" panose="02040503050406030204" pitchFamily="18" charset="0"/>
                            </a:rPr>
                            <m:t>1</m:t>
                          </m:r>
                        </m:sub>
                      </m:sSub>
                      <m:r>
                        <a:rPr lang="en-GB" sz="2400" i="1" smtClean="0">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2.5</m:t>
                      </m:r>
                    </m:oMath>
                  </m:oMathPara>
                </a14:m>
                <a:endParaRPr lang="en-GB" sz="2400" dirty="0"/>
              </a:p>
              <a:p>
                <a:pPr marL="0" indent="0">
                  <a:buNone/>
                </a:pPr>
                <a14:m>
                  <m:oMathPara xmlns:m="http://schemas.openxmlformats.org/officeDocument/2006/math">
                    <m:oMathParaPr>
                      <m:jc m:val="left"/>
                    </m:oMathParaPr>
                    <m:oMath xmlns:m="http://schemas.openxmlformats.org/officeDocument/2006/math">
                      <m:sSub>
                        <m:sSubPr>
                          <m:ctrlPr>
                            <a:rPr lang="en-GB" sz="2400" i="1">
                              <a:latin typeface="Cambria Math" panose="02040503050406030204" pitchFamily="18" charset="0"/>
                            </a:rPr>
                          </m:ctrlPr>
                        </m:sSubPr>
                        <m:e>
                          <m:r>
                            <a:rPr lang="en-GB" sz="2400" i="1">
                              <a:latin typeface="Cambria Math" panose="02040503050406030204" pitchFamily="18" charset="0"/>
                            </a:rPr>
                            <m:t>𝐻</m:t>
                          </m:r>
                        </m:e>
                        <m:sub>
                          <m:r>
                            <a:rPr lang="en-GB" sz="2400" i="1">
                              <a:latin typeface="Cambria Math" panose="02040503050406030204" pitchFamily="18" charset="0"/>
                            </a:rPr>
                            <m:t>1</m:t>
                          </m:r>
                        </m:sub>
                      </m:sSub>
                      <m:r>
                        <a:rPr lang="en-GB" sz="2400" i="1">
                          <a:latin typeface="Cambria Math" panose="02040503050406030204" pitchFamily="18" charset="0"/>
                        </a:rPr>
                        <m:t>: </m:t>
                      </m:r>
                      <m:sSub>
                        <m:sSubPr>
                          <m:ctrlPr>
                            <a:rPr lang="en-GB" sz="2400" i="1">
                              <a:latin typeface="Cambria Math" panose="02040503050406030204" pitchFamily="18" charset="0"/>
                            </a:rPr>
                          </m:ctrlPr>
                        </m:sSubPr>
                        <m:e>
                          <m:r>
                            <a:rPr lang="en-GB" sz="2400" i="1">
                              <a:latin typeface="Cambria Math" panose="02040503050406030204" pitchFamily="18" charset="0"/>
                            </a:rPr>
                            <m:t>𝐵</m:t>
                          </m:r>
                        </m:e>
                        <m:sub>
                          <m:r>
                            <a:rPr lang="en-GB" sz="2400" i="1">
                              <a:latin typeface="Cambria Math" panose="02040503050406030204" pitchFamily="18" charset="0"/>
                            </a:rPr>
                            <m:t>1</m:t>
                          </m:r>
                        </m:sub>
                      </m:sSub>
                      <m:r>
                        <a:rPr lang="en-GB" sz="2400" i="1" smtClean="0">
                          <a:latin typeface="Cambria Math" panose="02040503050406030204" pitchFamily="18" charset="0"/>
                          <a:ea typeface="Cambria Math" panose="02040503050406030204" pitchFamily="18" charset="0"/>
                        </a:rPr>
                        <m:t>&gt;</m:t>
                      </m:r>
                      <m:r>
                        <a:rPr lang="en-GB" sz="2400" b="0" i="1" smtClean="0">
                          <a:latin typeface="Cambria Math" panose="02040503050406030204" pitchFamily="18" charset="0"/>
                          <a:ea typeface="Cambria Math" panose="02040503050406030204" pitchFamily="18" charset="0"/>
                        </a:rPr>
                        <m:t>2.5</m:t>
                      </m:r>
                    </m:oMath>
                  </m:oMathPara>
                </a14:m>
                <a:endParaRPr lang="en-GB" sz="2400" dirty="0"/>
              </a:p>
              <a:p>
                <a:pPr marL="0" indent="0">
                  <a:buNone/>
                </a:pPr>
                <a:r>
                  <a:rPr lang="en-GB" sz="2400" dirty="0"/>
                  <a:t>We put what we want to show in the alternative. If we can reject the null, we have shown what we want to show.</a:t>
                </a:r>
              </a:p>
              <a:p>
                <a:pPr marL="0" indent="0">
                  <a:buNone/>
                </a:pPr>
                <a:endParaRPr lang="en-GB" sz="2400" dirty="0"/>
              </a:p>
              <a:p>
                <a:pPr marL="0" indent="0">
                  <a:buNone/>
                </a:pPr>
                <a:r>
                  <a:rPr lang="en-GB" sz="2400" dirty="0"/>
                  <a:t>The test statistic:</a:t>
                </a:r>
              </a:p>
              <a:p>
                <a:pPr marL="0" indent="0">
                  <a:buNone/>
                </a:pPr>
                <a14:m>
                  <m:oMathPara xmlns:m="http://schemas.openxmlformats.org/officeDocument/2006/math">
                    <m:oMathParaPr>
                      <m:jc m:val="left"/>
                    </m:oMathParaPr>
                    <m:oMath xmlns:m="http://schemas.openxmlformats.org/officeDocument/2006/math">
                      <m:r>
                        <a:rPr lang="en-GB" sz="2400" i="1">
                          <a:latin typeface="Cambria Math" panose="02040503050406030204" pitchFamily="18" charset="0"/>
                        </a:rPr>
                        <m:t>𝑡</m:t>
                      </m:r>
                      <m:r>
                        <a:rPr lang="en-GB" sz="2400" i="1">
                          <a:latin typeface="Cambria Math" panose="02040503050406030204" pitchFamily="18" charset="0"/>
                        </a:rPr>
                        <m:t>=</m:t>
                      </m:r>
                      <m:f>
                        <m:fPr>
                          <m:ctrlPr>
                            <a:rPr lang="en-GB" sz="2400" i="1">
                              <a:latin typeface="Cambria Math" panose="02040503050406030204" pitchFamily="18" charset="0"/>
                            </a:rPr>
                          </m:ctrlPr>
                        </m:fPr>
                        <m:num>
                          <m:sSub>
                            <m:sSubPr>
                              <m:ctrlPr>
                                <a:rPr lang="en-GB" sz="2400" i="1">
                                  <a:latin typeface="Cambria Math" panose="02040503050406030204" pitchFamily="18" charset="0"/>
                                </a:rPr>
                              </m:ctrlPr>
                            </m:sSubPr>
                            <m:e>
                              <m:r>
                                <a:rPr lang="en-GB" sz="2400" i="1">
                                  <a:latin typeface="Cambria Math" panose="02040503050406030204" pitchFamily="18" charset="0"/>
                                </a:rPr>
                                <m:t>𝑏</m:t>
                              </m:r>
                            </m:e>
                            <m:sub>
                              <m:r>
                                <a:rPr lang="en-GB" sz="2400" i="1">
                                  <a:latin typeface="Cambria Math" panose="02040503050406030204" pitchFamily="18" charset="0"/>
                                </a:rPr>
                                <m:t>1</m:t>
                              </m:r>
                            </m:sub>
                          </m:sSub>
                          <m:r>
                            <a:rPr lang="en-GB" sz="2400" i="1">
                              <a:latin typeface="Cambria Math" panose="02040503050406030204" pitchFamily="18" charset="0"/>
                            </a:rPr>
                            <m:t>−</m:t>
                          </m:r>
                          <m:sSup>
                            <m:sSupPr>
                              <m:ctrlPr>
                                <a:rPr lang="en-GB" sz="2400" i="1">
                                  <a:latin typeface="Cambria Math" panose="02040503050406030204" pitchFamily="18" charset="0"/>
                                </a:rPr>
                              </m:ctrlPr>
                            </m:sSupPr>
                            <m:e>
                              <m:r>
                                <a:rPr lang="en-GB" sz="2400" i="1">
                                  <a:latin typeface="Cambria Math" panose="02040503050406030204" pitchFamily="18" charset="0"/>
                                </a:rPr>
                                <m:t>𝐵</m:t>
                              </m:r>
                            </m:e>
                            <m:sup>
                              <m:r>
                                <a:rPr lang="en-GB" sz="2400" i="1">
                                  <a:latin typeface="Cambria Math" panose="02040503050406030204" pitchFamily="18" charset="0"/>
                                </a:rPr>
                                <m:t>∗</m:t>
                              </m:r>
                            </m:sup>
                          </m:sSup>
                        </m:num>
                        <m:den>
                          <m:r>
                            <a:rPr lang="en-GB" sz="2400" i="1">
                              <a:latin typeface="Cambria Math" panose="02040503050406030204" pitchFamily="18" charset="0"/>
                            </a:rPr>
                            <m:t>𝑠𝑒</m:t>
                          </m:r>
                          <m:r>
                            <a:rPr lang="en-GB" sz="2400" i="1">
                              <a:latin typeface="Cambria Math" panose="02040503050406030204" pitchFamily="18" charset="0"/>
                            </a:rPr>
                            <m:t>(</m:t>
                          </m:r>
                          <m:sSub>
                            <m:sSubPr>
                              <m:ctrlPr>
                                <a:rPr lang="en-GB" sz="2400" i="1">
                                  <a:latin typeface="Cambria Math" panose="02040503050406030204" pitchFamily="18" charset="0"/>
                                </a:rPr>
                              </m:ctrlPr>
                            </m:sSubPr>
                            <m:e>
                              <m:r>
                                <a:rPr lang="en-GB" sz="2400" i="1">
                                  <a:latin typeface="Cambria Math" panose="02040503050406030204" pitchFamily="18" charset="0"/>
                                </a:rPr>
                                <m:t>𝑏</m:t>
                              </m:r>
                            </m:e>
                            <m:sub>
                              <m:r>
                                <a:rPr lang="en-GB" sz="2400" i="1">
                                  <a:latin typeface="Cambria Math" panose="02040503050406030204" pitchFamily="18" charset="0"/>
                                </a:rPr>
                                <m:t>1</m:t>
                              </m:r>
                            </m:sub>
                          </m:sSub>
                          <m:r>
                            <a:rPr lang="en-GB" sz="2400" i="1">
                              <a:latin typeface="Cambria Math" panose="02040503050406030204" pitchFamily="18" charset="0"/>
                            </a:rPr>
                            <m:t>)</m:t>
                          </m:r>
                        </m:den>
                      </m:f>
                      <m:r>
                        <a:rPr lang="en-GB" sz="2400" i="1">
                          <a:latin typeface="Cambria Math" panose="02040503050406030204" pitchFamily="18" charset="0"/>
                        </a:rPr>
                        <m:t>=</m:t>
                      </m:r>
                      <m:f>
                        <m:fPr>
                          <m:ctrlPr>
                            <a:rPr lang="en-GB" sz="2400" i="1">
                              <a:latin typeface="Cambria Math" panose="02040503050406030204" pitchFamily="18" charset="0"/>
                            </a:rPr>
                          </m:ctrlPr>
                        </m:fPr>
                        <m:num>
                          <m:r>
                            <a:rPr lang="en-GB" sz="2400" i="1">
                              <a:latin typeface="Cambria Math" panose="02040503050406030204" pitchFamily="18" charset="0"/>
                            </a:rPr>
                            <m:t>3.533−</m:t>
                          </m:r>
                          <m:r>
                            <a:rPr lang="en-GB" sz="2400" b="0" i="1" smtClean="0">
                              <a:latin typeface="Cambria Math" panose="02040503050406030204" pitchFamily="18" charset="0"/>
                            </a:rPr>
                            <m:t>2.5</m:t>
                          </m:r>
                        </m:num>
                        <m:den>
                          <m:r>
                            <a:rPr lang="en-GB" sz="2400" i="1">
                              <a:latin typeface="Cambria Math" panose="02040503050406030204" pitchFamily="18" charset="0"/>
                            </a:rPr>
                            <m:t>0.52</m:t>
                          </m:r>
                        </m:den>
                      </m:f>
                      <m:r>
                        <a:rPr lang="en-GB" sz="2400" i="1">
                          <a:latin typeface="Cambria Math" panose="02040503050406030204" pitchFamily="18" charset="0"/>
                        </a:rPr>
                        <m:t>=</m:t>
                      </m:r>
                      <m:r>
                        <a:rPr lang="en-GB" sz="2400" b="0" i="1" smtClean="0">
                          <a:latin typeface="Cambria Math" panose="02040503050406030204" pitchFamily="18" charset="0"/>
                        </a:rPr>
                        <m:t>1.987</m:t>
                      </m:r>
                    </m:oMath>
                  </m:oMathPara>
                </a14:m>
                <a:endParaRPr lang="en-GB" sz="2400" dirty="0"/>
              </a:p>
              <a:p>
                <a:pPr mar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2A14EA13-27F2-DE2F-B437-FC3085E78516}"/>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1891" r="-1837"/>
                </a:stretch>
              </a:blipFill>
            </p:spPr>
            <p:txBody>
              <a:bodyPr/>
              <a:lstStyle/>
              <a:p>
                <a:r>
                  <a:rPr lang="en-GB">
                    <a:noFill/>
                  </a:rPr>
                  <a:t> </a:t>
                </a:r>
              </a:p>
            </p:txBody>
          </p:sp>
        </mc:Fallback>
      </mc:AlternateContent>
    </p:spTree>
    <p:extLst>
      <p:ext uri="{BB962C8B-B14F-4D97-AF65-F5344CB8AC3E}">
        <p14:creationId xmlns:p14="http://schemas.microsoft.com/office/powerpoint/2010/main" val="791871681"/>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97F80-FAF4-FE20-9DE0-D89EA2EAF8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F1D62-DFD5-3458-A074-2515B77EF823}"/>
              </a:ext>
            </a:extLst>
          </p:cNvPr>
          <p:cNvSpPr>
            <a:spLocks noGrp="1"/>
          </p:cNvSpPr>
          <p:nvPr>
            <p:ph type="title"/>
          </p:nvPr>
        </p:nvSpPr>
        <p:spPr/>
        <p:txBody>
          <a:bodyPr>
            <a:normAutofit fontScale="90000"/>
          </a:bodyPr>
          <a:lstStyle/>
          <a:p>
            <a:r>
              <a:rPr lang="en-GB" i="1" dirty="0"/>
              <a:t>Conducting a one-sided t </a:t>
            </a:r>
            <a:r>
              <a:rPr lang="en-GB" dirty="0"/>
              <a:t>test continues </a:t>
            </a:r>
            <a:br>
              <a:rPr lang="en-GB" noProof="0" dirty="0"/>
            </a:br>
            <a:endParaRPr lang="en-GB" noProof="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223B4CF-3126-1430-83A8-1F1F007E6D0A}"/>
                  </a:ext>
                </a:extLst>
              </p:cNvPr>
              <p:cNvSpPr>
                <a:spLocks noGrp="1"/>
              </p:cNvSpPr>
              <p:nvPr>
                <p:ph type="body" sz="quarter" idx="11"/>
              </p:nvPr>
            </p:nvSpPr>
            <p:spPr>
              <a:xfrm>
                <a:off x="900112" y="1700213"/>
                <a:ext cx="7632327" cy="5157787"/>
              </a:xfrm>
            </p:spPr>
            <p:txBody>
              <a:bodyPr/>
              <a:lstStyle/>
              <a:p>
                <a:pPr marL="0" lvl="0" indent="0">
                  <a:buNone/>
                </a:pPr>
                <a:r>
                  <a:rPr lang="en-GB" sz="2400" dirty="0"/>
                  <a:t>The critical value:</a:t>
                </a:r>
              </a:p>
              <a:p>
                <a:pPr marL="0" lvl="0" indent="0">
                  <a:buNone/>
                </a:pPr>
                <a:r>
                  <a:rPr lang="en-GB" sz="2400" dirty="0"/>
                  <a:t>As this is a one-sided test, we put all the 5% rejection area in one tail. </a:t>
                </a:r>
                <a:r>
                  <a:rPr lang="en-GB" sz="2400" b="0" dirty="0"/>
                  <a:t>The degree of freedom is unchanged: </a:t>
                </a:r>
                <a14:m>
                  <m:oMath xmlns:m="http://schemas.openxmlformats.org/officeDocument/2006/math">
                    <m:r>
                      <a:rPr lang="en-GB" sz="2400" b="0" i="1" smtClean="0">
                        <a:latin typeface="Cambria Math" panose="02040503050406030204" pitchFamily="18" charset="0"/>
                      </a:rPr>
                      <m:t>𝑑𝑓</m:t>
                    </m:r>
                    <m:r>
                      <a:rPr lang="en-GB" sz="2400" b="0" i="1" smtClean="0">
                        <a:latin typeface="Cambria Math" panose="02040503050406030204" pitchFamily="18" charset="0"/>
                      </a:rPr>
                      <m:t>=8</m:t>
                    </m:r>
                  </m:oMath>
                </a14:m>
                <a:endParaRPr lang="en-GB" sz="2400" dirty="0"/>
              </a:p>
              <a:p>
                <a:pPr marL="0" lvl="0" indent="0">
                  <a:buNone/>
                </a:pPr>
                <a:r>
                  <a:rPr lang="en-GB" sz="2400" dirty="0"/>
                  <a:t>The critical value from the </a:t>
                </a:r>
                <a:r>
                  <a:rPr lang="en-GB" sz="2400" i="1" dirty="0"/>
                  <a:t>t</a:t>
                </a:r>
                <a:r>
                  <a:rPr lang="en-GB" sz="2400" dirty="0"/>
                  <a:t> table is: 1.860.</a:t>
                </a:r>
              </a:p>
              <a:p>
                <a:pPr marL="0" lvl="0" indent="0">
                  <a:buNone/>
                </a:pPr>
                <a:endParaRPr lang="en-GB" sz="2400" dirty="0"/>
              </a:p>
              <a:p>
                <a:pPr marL="0" lvl="0" indent="0">
                  <a:buNone/>
                </a:pPr>
                <a:r>
                  <a:rPr lang="en-GB" sz="2400" dirty="0"/>
                  <a:t>Decision: As </a:t>
                </a:r>
                <a14:m>
                  <m:oMath xmlns:m="http://schemas.openxmlformats.org/officeDocument/2006/math">
                    <m:r>
                      <a:rPr lang="en-GB" sz="2400" i="1">
                        <a:latin typeface="Cambria Math" panose="02040503050406030204" pitchFamily="18" charset="0"/>
                      </a:rPr>
                      <m:t>𝑡</m:t>
                    </m:r>
                    <m:r>
                      <a:rPr lang="en-GB" sz="2400" i="1">
                        <a:latin typeface="Cambria Math" panose="02040503050406030204" pitchFamily="18" charset="0"/>
                      </a:rPr>
                      <m:t>&gt;</m:t>
                    </m:r>
                    <m:sSup>
                      <m:sSupPr>
                        <m:ctrlPr>
                          <a:rPr lang="en-GB" sz="2400" i="1">
                            <a:latin typeface="Cambria Math" panose="02040503050406030204" pitchFamily="18" charset="0"/>
                          </a:rPr>
                        </m:ctrlPr>
                      </m:sSupPr>
                      <m:e>
                        <m:r>
                          <a:rPr lang="en-GB" sz="2400" i="1">
                            <a:latin typeface="Cambria Math" panose="02040503050406030204" pitchFamily="18" charset="0"/>
                          </a:rPr>
                          <m:t>𝑡</m:t>
                        </m:r>
                      </m:e>
                      <m:sup>
                        <m:r>
                          <a:rPr lang="en-GB" sz="2400" i="1">
                            <a:latin typeface="Cambria Math" panose="02040503050406030204" pitchFamily="18" charset="0"/>
                          </a:rPr>
                          <m:t>∗</m:t>
                        </m:r>
                      </m:sup>
                    </m:sSup>
                  </m:oMath>
                </a14:m>
                <a:r>
                  <a:rPr lang="en-GB" sz="2400" dirty="0"/>
                  <a:t> with </a:t>
                </a:r>
                <a14:m>
                  <m:oMath xmlns:m="http://schemas.openxmlformats.org/officeDocument/2006/math">
                    <m:r>
                      <a:rPr lang="en-GB" sz="2400" i="1" dirty="0" smtClean="0">
                        <a:latin typeface="Cambria Math" panose="02040503050406030204" pitchFamily="18" charset="0"/>
                      </a:rPr>
                      <m:t>1</m:t>
                    </m:r>
                    <m:r>
                      <a:rPr lang="en-GB" sz="2400" b="0" i="1" dirty="0" smtClean="0">
                        <a:latin typeface="Cambria Math" panose="02040503050406030204" pitchFamily="18" charset="0"/>
                      </a:rPr>
                      <m:t>.987</m:t>
                    </m:r>
                    <m:r>
                      <a:rPr lang="en-GB" sz="2400" i="1">
                        <a:latin typeface="Cambria Math" panose="02040503050406030204" pitchFamily="18" charset="0"/>
                      </a:rPr>
                      <m:t>&gt;</m:t>
                    </m:r>
                    <m:r>
                      <a:rPr lang="en-GB" sz="2400" b="0" i="1" smtClean="0">
                        <a:latin typeface="Cambria Math" panose="02040503050406030204" pitchFamily="18" charset="0"/>
                      </a:rPr>
                      <m:t>1.860</m:t>
                    </m:r>
                  </m:oMath>
                </a14:m>
                <a:r>
                  <a:rPr lang="en-GB" sz="2400" dirty="0"/>
                  <a:t> we reject the null hypothesis. </a:t>
                </a:r>
              </a:p>
              <a:p>
                <a:pPr marL="0" lvl="0" indent="0">
                  <a:buNone/>
                </a:pPr>
                <a:endParaRPr lang="en-GB" sz="2400" dirty="0"/>
              </a:p>
              <a:p>
                <a:pPr marL="0" lvl="0" indent="0">
                  <a:buNone/>
                </a:pPr>
                <a:r>
                  <a:rPr lang="en-GB" sz="2400" dirty="0"/>
                  <a:t>Conclusion: We are 95% confident that the true slope parameter is larger than 2.5.</a:t>
                </a:r>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0" lvl="0" indent="0">
                  <a:buNone/>
                </a:pPr>
                <a:endParaRPr lang="en-GB" sz="2400" dirty="0"/>
              </a:p>
              <a:p>
                <a:pPr marL="342900" lvl="0" indent="-342900">
                  <a:buFont typeface="Arial" panose="020B0604020202020204" pitchFamily="34" charset="0"/>
                  <a:buChar char="•"/>
                </a:pPr>
                <a:endParaRPr lang="en-GB" sz="2400" dirty="0"/>
              </a:p>
              <a:p>
                <a:pPr marL="342900" lvl="0" indent="-342900">
                  <a:buFont typeface="Arial" panose="020B0604020202020204" pitchFamily="34" charset="0"/>
                  <a:buChar char="•"/>
                </a:pPr>
                <a:endParaRPr lang="en-GB" sz="2400" noProof="0" dirty="0"/>
              </a:p>
              <a:p>
                <a:pPr marL="0" lvl="0" indent="0">
                  <a:buNone/>
                </a:pPr>
                <a:endParaRPr lang="en-GB" sz="2400" noProof="0" dirty="0"/>
              </a:p>
              <a:p>
                <a:pPr marL="0" lvl="0" indent="0">
                  <a:buNone/>
                </a:pPr>
                <a:endParaRPr lang="en-GB" sz="2400" noProof="0" dirty="0"/>
              </a:p>
            </p:txBody>
          </p:sp>
        </mc:Choice>
        <mc:Fallback xmlns="">
          <p:sp>
            <p:nvSpPr>
              <p:cNvPr id="3" name="Text Placeholder 2">
                <a:extLst>
                  <a:ext uri="{FF2B5EF4-FFF2-40B4-BE49-F238E27FC236}">
                    <a16:creationId xmlns:a16="http://schemas.microsoft.com/office/drawing/2014/main" id="{8223B4CF-3126-1430-83A8-1F1F007E6D0A}"/>
                  </a:ext>
                </a:extLst>
              </p:cNvPr>
              <p:cNvSpPr>
                <a:spLocks noGrp="1" noRot="1" noChangeAspect="1" noMove="1" noResize="1" noEditPoints="1" noAdjustHandles="1" noChangeArrowheads="1" noChangeShapeType="1" noTextEdit="1"/>
              </p:cNvSpPr>
              <p:nvPr>
                <p:ph type="body" sz="quarter" idx="11"/>
              </p:nvPr>
            </p:nvSpPr>
            <p:spPr>
              <a:xfrm>
                <a:off x="900112" y="1700213"/>
                <a:ext cx="7632327" cy="5157787"/>
              </a:xfrm>
              <a:blipFill>
                <a:blip r:embed="rId2"/>
                <a:stretch>
                  <a:fillRect l="-2476" t="-1891" r="-1278"/>
                </a:stretch>
              </a:blipFill>
            </p:spPr>
            <p:txBody>
              <a:bodyPr/>
              <a:lstStyle/>
              <a:p>
                <a:r>
                  <a:rPr lang="en-GB">
                    <a:noFill/>
                  </a:rPr>
                  <a:t> </a:t>
                </a:r>
              </a:p>
            </p:txBody>
          </p:sp>
        </mc:Fallback>
      </mc:AlternateContent>
    </p:spTree>
    <p:extLst>
      <p:ext uri="{BB962C8B-B14F-4D97-AF65-F5344CB8AC3E}">
        <p14:creationId xmlns:p14="http://schemas.microsoft.com/office/powerpoint/2010/main" val="932615570"/>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DCE13-887D-424D-9C90-08C9AE0EA795}"/>
              </a:ext>
            </a:extLst>
          </p:cNvPr>
          <p:cNvSpPr>
            <a:spLocks noGrp="1"/>
          </p:cNvSpPr>
          <p:nvPr>
            <p:ph type="title"/>
          </p:nvPr>
        </p:nvSpPr>
        <p:spPr/>
        <p:txBody>
          <a:bodyPr>
            <a:normAutofit/>
          </a:bodyPr>
          <a:lstStyle/>
          <a:p>
            <a:r>
              <a:rPr lang="en-GB" sz="3200" noProof="0" dirty="0"/>
              <a:t>Next Lecture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DEBF03B-6FBE-4B0C-93A0-8DB46AC1EDBD}"/>
                  </a:ext>
                </a:extLst>
              </p:cNvPr>
              <p:cNvSpPr>
                <a:spLocks noGrp="1"/>
              </p:cNvSpPr>
              <p:nvPr>
                <p:ph type="body" sz="quarter" idx="11"/>
              </p:nvPr>
            </p:nvSpPr>
            <p:spPr>
              <a:xfrm>
                <a:off x="899591" y="1412776"/>
                <a:ext cx="6551612" cy="2880320"/>
              </a:xfrm>
            </p:spPr>
            <p:txBody>
              <a:bodyPr/>
              <a:lstStyle/>
              <a:p>
                <a:r>
                  <a:rPr lang="en-GB" sz="2400" dirty="0"/>
                  <a:t>Regression inference</a:t>
                </a:r>
              </a:p>
              <a:p>
                <a:r>
                  <a:rPr lang="en-GB" sz="2400" noProof="0" dirty="0"/>
                  <a:t>Coefficient of determination </a:t>
                </a:r>
                <a14:m>
                  <m:oMath xmlns:m="http://schemas.openxmlformats.org/officeDocument/2006/math">
                    <m:sSup>
                      <m:sSupPr>
                        <m:ctrlPr>
                          <a:rPr lang="en-GB" sz="2400" i="1" noProof="0" smtClean="0">
                            <a:latin typeface="Cambria Math" panose="02040503050406030204" pitchFamily="18" charset="0"/>
                          </a:rPr>
                        </m:ctrlPr>
                      </m:sSupPr>
                      <m:e>
                        <m:r>
                          <a:rPr lang="en-GB" sz="2400" b="0" i="1" noProof="0" smtClean="0">
                            <a:latin typeface="Cambria Math" panose="02040503050406030204" pitchFamily="18" charset="0"/>
                          </a:rPr>
                          <m:t>𝑅</m:t>
                        </m:r>
                      </m:e>
                      <m:sup>
                        <m:r>
                          <a:rPr lang="en-GB" sz="2400" b="0" i="1" noProof="0" smtClean="0">
                            <a:latin typeface="Cambria Math" panose="02040503050406030204" pitchFamily="18" charset="0"/>
                          </a:rPr>
                          <m:t>2</m:t>
                        </m:r>
                      </m:sup>
                    </m:sSup>
                  </m:oMath>
                </a14:m>
                <a:endParaRPr lang="en-GB" sz="2400" noProof="0" dirty="0"/>
              </a:p>
              <a:p>
                <a:r>
                  <a:rPr lang="en-GB" sz="2400" dirty="0"/>
                  <a:t>Overall significance of a model: </a:t>
                </a:r>
                <a:r>
                  <a:rPr lang="en-GB" sz="2400" i="1" dirty="0"/>
                  <a:t>F</a:t>
                </a:r>
                <a:r>
                  <a:rPr lang="en-GB" sz="2400" dirty="0"/>
                  <a:t> test</a:t>
                </a:r>
                <a:endParaRPr lang="en-GB" sz="2400" noProof="0" dirty="0"/>
              </a:p>
              <a:p>
                <a:pPr marL="9525" indent="0">
                  <a:buNone/>
                </a:pPr>
                <a:endParaRPr lang="en-GB" noProof="0" dirty="0"/>
              </a:p>
            </p:txBody>
          </p:sp>
        </mc:Choice>
        <mc:Fallback xmlns="">
          <p:sp>
            <p:nvSpPr>
              <p:cNvPr id="3" name="Text Placeholder 2">
                <a:extLst>
                  <a:ext uri="{FF2B5EF4-FFF2-40B4-BE49-F238E27FC236}">
                    <a16:creationId xmlns:a16="http://schemas.microsoft.com/office/drawing/2014/main" id="{ADEBF03B-6FBE-4B0C-93A0-8DB46AC1EDBD}"/>
                  </a:ext>
                </a:extLst>
              </p:cNvPr>
              <p:cNvSpPr>
                <a:spLocks noGrp="1" noRot="1" noChangeAspect="1" noMove="1" noResize="1" noEditPoints="1" noAdjustHandles="1" noChangeArrowheads="1" noChangeShapeType="1" noTextEdit="1"/>
              </p:cNvSpPr>
              <p:nvPr>
                <p:ph type="body" sz="quarter" idx="11"/>
              </p:nvPr>
            </p:nvSpPr>
            <p:spPr>
              <a:xfrm>
                <a:off x="899591" y="1412776"/>
                <a:ext cx="6551612" cy="2880320"/>
              </a:xfrm>
              <a:blipFill>
                <a:blip r:embed="rId2"/>
                <a:stretch>
                  <a:fillRect l="-2514" t="-3390"/>
                </a:stretch>
              </a:blipFill>
            </p:spPr>
            <p:txBody>
              <a:bodyPr/>
              <a:lstStyle/>
              <a:p>
                <a:r>
                  <a:rPr lang="en-GB">
                    <a:noFill/>
                  </a:rPr>
                  <a:t> </a:t>
                </a:r>
              </a:p>
            </p:txBody>
          </p:sp>
        </mc:Fallback>
      </mc:AlternateContent>
    </p:spTree>
    <p:extLst>
      <p:ext uri="{BB962C8B-B14F-4D97-AF65-F5344CB8AC3E}">
        <p14:creationId xmlns:p14="http://schemas.microsoft.com/office/powerpoint/2010/main" val="1363191569"/>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8.0&quot;&gt;&lt;object type=&quot;1&quot; unique_id=&quot;10001&quot;&gt;&lt;object type=&quot;2&quot; unique_id=&quot;10073&quot;&gt;&lt;object type=&quot;3&quot; unique_id=&quot;10074&quot;&gt;&lt;property id=&quot;20148&quot; value=&quot;5&quot;/&gt;&lt;property id=&quot;20300&quot; value=&quot;Slide 1&quot;/&gt;&lt;property id=&quot;20307&quot; value=&quot;256&quot;/&gt;&lt;/object&gt;&lt;object type=&quot;3&quot; unique_id=&quot;10075&quot;&gt;&lt;property id=&quot;20148&quot; value=&quot;5&quot;/&gt;&lt;property id=&quot;20300&quot; value=&quot;Slide 2&quot;/&gt;&lt;property id=&quot;20307&quot; value=&quot;260&quot;/&gt;&lt;/object&gt;&lt;object type=&quot;3&quot; unique_id=&quot;10076&quot;&gt;&lt;property id=&quot;20148&quot; value=&quot;5&quot;/&gt;&lt;property id=&quot;20300&quot; value=&quot;Slide 3&quot;/&gt;&lt;property id=&quot;20307&quot; value=&quot;267&quot;/&gt;&lt;/object&gt;&lt;object type=&quot;3&quot; unique_id=&quot;10077&quot;&gt;&lt;property id=&quot;20148&quot; value=&quot;5&quot;/&gt;&lt;property id=&quot;20300&quot; value=&quot;Slide 4&quot;/&gt;&lt;property id=&quot;20307&quot; value=&quot;264&quot;/&gt;&lt;/object&gt;&lt;object type=&quot;3&quot; unique_id=&quot;10078&quot;&gt;&lt;property id=&quot;20148&quot; value=&quot;5&quot;/&gt;&lt;property id=&quot;20300&quot; value=&quot;Slide 5&quot;/&gt;&lt;property id=&quot;20307&quot; value=&quot;268&quot;/&gt;&lt;/object&gt;&lt;object type=&quot;3&quot; unique_id=&quot;10079&quot;&gt;&lt;property id=&quot;20148&quot; value=&quot;5&quot;/&gt;&lt;property id=&quot;20300&quot; value=&quot;Slide 6&quot;/&gt;&lt;property id=&quot;20307&quot; value=&quot;265&quot;/&gt;&lt;/object&gt;&lt;object type=&quot;3&quot; unique_id=&quot;10080&quot;&gt;&lt;property id=&quot;20148&quot; value=&quot;5&quot;/&gt;&lt;property id=&quot;20300&quot; value=&quot;Slide 7&quot;/&gt;&lt;property id=&quot;20307&quot; value=&quot;266&quot;/&gt;&lt;/object&gt;&lt;object type=&quot;3&quot; unique_id=&quot;10081&quot;&gt;&lt;property id=&quot;20148&quot; value=&quot;5&quot;/&gt;&lt;property id=&quot;20300&quot; value=&quot;Slide 8&quot;/&gt;&lt;property id=&quot;20307&quot; value=&quot;262&quot;/&gt;&lt;/object&gt;&lt;object type=&quot;3&quot; unique_id=&quot;10082&quot;&gt;&lt;property id=&quot;20148&quot; value=&quot;5&quot;/&gt;&lt;property id=&quot;20300&quot; value=&quot;Slide 9&quot;/&gt;&lt;property id=&quot;20307&quot; value=&quot;269&quot;/&gt;&lt;/object&gt;&lt;object type=&quot;3&quot; unique_id=&quot;10083&quot;&gt;&lt;property id=&quot;20148&quot; value=&quot;5&quot;/&gt;&lt;property id=&quot;20300&quot; value=&quot;Slide 10&quot;/&gt;&lt;property id=&quot;20307&quot; value=&quot;259&quot;/&gt;&lt;/object&gt;&lt;/object&gt;&lt;object type=&quot;8&quot; unique_id=&quot;10095&quot;&gt;&lt;/object&gt;&lt;/object&gt;&lt;/database&gt;"/>
  <p:tag name="MMPROD_NEXTUNIQUEID" val="10009"/>
  <p:tag name="SECTOMILLISECCONVERTED"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WE Lilac standard" id="{B50C80D3-D9F5-4009-9938-F1B85FF744A3}" vid="{FD532FFD-1352-4344-A026-1EC031F17F7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0a63ec7c-6655-44e7-8cc1-d1896a7f84b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8489C2B03CC9B4B848357AD3FCA0F8D" ma:contentTypeVersion="18" ma:contentTypeDescription="Create a new document." ma:contentTypeScope="" ma:versionID="9c70d1b8ff5784da77d5e8ac5f5ee068">
  <xsd:schema xmlns:xsd="http://www.w3.org/2001/XMLSchema" xmlns:xs="http://www.w3.org/2001/XMLSchema" xmlns:p="http://schemas.microsoft.com/office/2006/metadata/properties" xmlns:ns3="0a63ec7c-6655-44e7-8cc1-d1896a7f84b6" xmlns:ns4="eaad8dcd-1243-433a-a0b1-5eb79d1ccaf5" targetNamespace="http://schemas.microsoft.com/office/2006/metadata/properties" ma:root="true" ma:fieldsID="c3c62d2be93880894511948f698c4aa4" ns3:_="" ns4:_="">
    <xsd:import namespace="0a63ec7c-6655-44e7-8cc1-d1896a7f84b6"/>
    <xsd:import namespace="eaad8dcd-1243-433a-a0b1-5eb79d1ccaf5"/>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MediaServiceAutoKeyPoints" minOccurs="0"/>
                <xsd:element ref="ns3:MediaServiceKeyPoints"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63ec7c-6655-44e7-8cc1-d1896a7f84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aad8dcd-1243-433a-a0b1-5eb79d1ccaf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C5552B4-89B5-4F8D-B1E4-E0A34EA58D51}">
  <ds:schemaRefs>
    <ds:schemaRef ds:uri="http://schemas.microsoft.com/sharepoint/v3/contenttype/forms"/>
  </ds:schemaRefs>
</ds:datastoreItem>
</file>

<file path=customXml/itemProps2.xml><?xml version="1.0" encoding="utf-8"?>
<ds:datastoreItem xmlns:ds="http://schemas.openxmlformats.org/officeDocument/2006/customXml" ds:itemID="{98D2D201-97C8-4E70-BF77-76D11DC8600F}">
  <ds:schemaRefs>
    <ds:schemaRef ds:uri="http://schemas.microsoft.com/office/2006/documentManagement/types"/>
    <ds:schemaRef ds:uri="http://purl.org/dc/dcmitype/"/>
    <ds:schemaRef ds:uri="http://schemas.openxmlformats.org/package/2006/metadata/core-properties"/>
    <ds:schemaRef ds:uri="http://schemas.microsoft.com/office/2006/metadata/properties"/>
    <ds:schemaRef ds:uri="http://www.w3.org/XML/1998/namespace"/>
    <ds:schemaRef ds:uri="http://purl.org/dc/elements/1.1/"/>
    <ds:schemaRef ds:uri="eaad8dcd-1243-433a-a0b1-5eb79d1ccaf5"/>
    <ds:schemaRef ds:uri="0a63ec7c-6655-44e7-8cc1-d1896a7f84b6"/>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AFDFFD38-5222-4053-9C14-8FD6BB649EA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63ec7c-6655-44e7-8cc1-d1896a7f84b6"/>
    <ds:schemaRef ds:uri="eaad8dcd-1243-433a-a0b1-5eb79d1cca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c0de803-e079-4d4f-96bc-6f3b3b6923e3}" enabled="1" method="Privileged" siteId="{07ef1208-413c-4b5e-9cdd-64ef305754f0}" removed="0"/>
</clbl:labelList>
</file>

<file path=docProps/app.xml><?xml version="1.0" encoding="utf-8"?>
<Properties xmlns="http://schemas.openxmlformats.org/officeDocument/2006/extended-properties" xmlns:vt="http://schemas.openxmlformats.org/officeDocument/2006/docPropsVTypes">
  <Template>UWE Lilac standard</Template>
  <TotalTime>6939</TotalTime>
  <Words>1171</Words>
  <Application>Microsoft Office PowerPoint</Application>
  <PresentationFormat>On-screen Show (4:3)</PresentationFormat>
  <Paragraphs>333</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 Narrow</vt:lpstr>
      <vt:lpstr>Arial</vt:lpstr>
      <vt:lpstr>Calibri</vt:lpstr>
      <vt:lpstr>Cambria Math</vt:lpstr>
      <vt:lpstr>Courier New</vt:lpstr>
      <vt:lpstr>Georgia</vt:lpstr>
      <vt:lpstr>Tahoma</vt:lpstr>
      <vt:lpstr>Custom Design</vt:lpstr>
      <vt:lpstr>UMET9U-30-1- Professional Skills for Banking and Finance   Lecture 23</vt:lpstr>
      <vt:lpstr>Lecture content</vt:lpstr>
      <vt:lpstr>Regression analysis  </vt:lpstr>
      <vt:lpstr>Precision and standard errors  </vt:lpstr>
      <vt:lpstr>Estimating the variance of the error term  </vt:lpstr>
      <vt:lpstr>Computing the standard errors of the coefficients  </vt:lpstr>
      <vt:lpstr>Standard error for slope coefficient in the advertisement-sales example lecture 21 </vt:lpstr>
      <vt:lpstr>Significance test of individual coefficient </vt:lpstr>
      <vt:lpstr>Conducting a test of significance </vt:lpstr>
      <vt:lpstr>Conducting a test of significance </vt:lpstr>
      <vt:lpstr>t test: two-sided, for the slope, relative to 0.  </vt:lpstr>
      <vt:lpstr>t test: two-sided, for the slope, relative to 0.  </vt:lpstr>
      <vt:lpstr>t test: two-sided, for the slope, relative to 0.  </vt:lpstr>
      <vt:lpstr>t test: two-sided, for the slope, relative to 0.  </vt:lpstr>
      <vt:lpstr>Conducting a one-sided t test  </vt:lpstr>
      <vt:lpstr>Conducting a one-sided t test continues  </vt:lpstr>
      <vt:lpstr>Next Lecture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UMED8M-15-2 - Introductory econometrics   Lecture 1</dc:title>
  <dc:creator>Reinhold Heinlein</dc:creator>
  <cp:lastModifiedBy>Reinhold Heinlein</cp:lastModifiedBy>
  <cp:revision>24</cp:revision>
  <cp:lastPrinted>2016-09-22T10:08:48Z</cp:lastPrinted>
  <dcterms:created xsi:type="dcterms:W3CDTF">2021-06-15T10:15:29Z</dcterms:created>
  <dcterms:modified xsi:type="dcterms:W3CDTF">2026-02-17T08:46:11Z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0x01010078489C2B03CC9B4B848357AD3FCA0F8D</vt:lpwstr>
  </property>
</Properties>
</file>